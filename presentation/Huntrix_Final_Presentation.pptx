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6499d0494c4430" /><Relationship Type="http://schemas.openxmlformats.org/officeDocument/2006/relationships/extended-properties" Target="/docProps/app.xml" Id="R6d231e79c0214419" /><Relationship Type="http://schemas.openxmlformats.org/officeDocument/2006/relationships/officeDocument" Target="/ppt/presentation.xml" Id="Ra9fc473e767348ee" /></Relationships>
</file>

<file path=ppt/presentation.xml><?xml version="1.0" encoding="utf-8"?>
<p:presentation xmlns:p="http://schemas.openxmlformats.org/presentationml/2006/main">
  <p:sldMasterIdLst>
    <p:sldMasterId xmlns:r="http://schemas.openxmlformats.org/officeDocument/2006/relationships" id="2147483648" r:id="Rce9f940102c44ed7"/>
  </p:sldMasterIdLst>
  <p:notesMasterIdLst>
    <p:notesMasterId xmlns:r="http://schemas.openxmlformats.org/officeDocument/2006/relationships" r:id="R1273ba06c7da4852"/>
  </p:notesMasterIdLst>
  <p:sldIdLst>
    <p:sldId xmlns:r="http://schemas.openxmlformats.org/officeDocument/2006/relationships" id="256" r:id="R29363b378e324677"/>
    <p:sldId xmlns:r="http://schemas.openxmlformats.org/officeDocument/2006/relationships" id="257" r:id="R0f1a184b86b249bf"/>
    <p:sldId xmlns:r="http://schemas.openxmlformats.org/officeDocument/2006/relationships" id="258" r:id="Rf0a9f2ed086445bf"/>
    <p:sldId xmlns:r="http://schemas.openxmlformats.org/officeDocument/2006/relationships" id="259" r:id="R90fa7263adb949a3"/>
    <p:sldId xmlns:r="http://schemas.openxmlformats.org/officeDocument/2006/relationships" id="260" r:id="Re9189a3256a54018"/>
    <p:sldId xmlns:r="http://schemas.openxmlformats.org/officeDocument/2006/relationships" id="261" r:id="Rd08406c8fac545c8"/>
    <p:sldId xmlns:r="http://schemas.openxmlformats.org/officeDocument/2006/relationships" id="262" r:id="R8ac512196e2543a9"/>
    <p:sldId xmlns:r="http://schemas.openxmlformats.org/officeDocument/2006/relationships" id="263" r:id="R64042761e1174aab"/>
    <p:sldId xmlns:r="http://schemas.openxmlformats.org/officeDocument/2006/relationships" id="264" r:id="Ra33af1f652b94f3c"/>
    <p:sldId xmlns:r="http://schemas.openxmlformats.org/officeDocument/2006/relationships" id="265" r:id="Rd1ec57c334184421"/>
    <p:sldId xmlns:r="http://schemas.openxmlformats.org/officeDocument/2006/relationships" id="266" r:id="R91c29b80b3834bad"/>
    <p:sldId xmlns:r="http://schemas.openxmlformats.org/officeDocument/2006/relationships" id="267" r:id="R55a1bf1609eb49e0"/>
    <p:sldId xmlns:r="http://schemas.openxmlformats.org/officeDocument/2006/relationships" id="268" r:id="R7b9be203b8cd4abd"/>
    <p:sldId xmlns:r="http://schemas.openxmlformats.org/officeDocument/2006/relationships" id="269" r:id="R5f42ecc1757c4f3e"/>
    <p:sldId xmlns:r="http://schemas.openxmlformats.org/officeDocument/2006/relationships" id="270" r:id="Ra5efd66682b94b7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fced32be5584494" /><Relationship Type="http://schemas.openxmlformats.org/officeDocument/2006/relationships/slideMaster" Target="/ppt/slideMasters/slideMaster1.xml" Id="Rce9f940102c44ed7" /><Relationship Type="http://schemas.openxmlformats.org/officeDocument/2006/relationships/notesMaster" Target="/ppt/notesMasters/notesMaster1.xml" Id="R1273ba06c7da4852" /><Relationship Type="http://schemas.openxmlformats.org/officeDocument/2006/relationships/presProps" Target="/ppt/presProps.xml" Id="R6a0f3a0ea3224ea9" /><Relationship Type="http://schemas.openxmlformats.org/officeDocument/2006/relationships/tableStyles" Target="/ppt/tableStyles.xml" Id="R8e9bb83a933c423e" /><Relationship Type="http://schemas.openxmlformats.org/officeDocument/2006/relationships/slide" Target="/ppt/slides/slide1.xml" Id="R29363b378e324677" /><Relationship Type="http://schemas.openxmlformats.org/officeDocument/2006/relationships/slide" Target="/ppt/slides/slide2.xml" Id="R0f1a184b86b249bf" /><Relationship Type="http://schemas.openxmlformats.org/officeDocument/2006/relationships/slide" Target="/ppt/slides/slide3.xml" Id="Rf0a9f2ed086445bf" /><Relationship Type="http://schemas.openxmlformats.org/officeDocument/2006/relationships/slide" Target="/ppt/slides/slide4.xml" Id="R90fa7263adb949a3" /><Relationship Type="http://schemas.openxmlformats.org/officeDocument/2006/relationships/slide" Target="/ppt/slides/slide5.xml" Id="Re9189a3256a54018" /><Relationship Type="http://schemas.openxmlformats.org/officeDocument/2006/relationships/slide" Target="/ppt/slides/slide6.xml" Id="Rd08406c8fac545c8" /><Relationship Type="http://schemas.openxmlformats.org/officeDocument/2006/relationships/slide" Target="/ppt/slides/slide7.xml" Id="R8ac512196e2543a9" /><Relationship Type="http://schemas.openxmlformats.org/officeDocument/2006/relationships/slide" Target="/ppt/slides/slide8.xml" Id="R64042761e1174aab" /><Relationship Type="http://schemas.openxmlformats.org/officeDocument/2006/relationships/slide" Target="/ppt/slides/slide9.xml" Id="Ra33af1f652b94f3c" /><Relationship Type="http://schemas.openxmlformats.org/officeDocument/2006/relationships/slide" Target="/ppt/slides/slide10.xml" Id="Rd1ec57c334184421" /><Relationship Type="http://schemas.openxmlformats.org/officeDocument/2006/relationships/slide" Target="/ppt/slides/slide11.xml" Id="R91c29b80b3834bad" /><Relationship Type="http://schemas.openxmlformats.org/officeDocument/2006/relationships/slide" Target="/ppt/slides/slide12.xml" Id="R55a1bf1609eb49e0" /><Relationship Type="http://schemas.openxmlformats.org/officeDocument/2006/relationships/slide" Target="/ppt/slides/slide13.xml" Id="R7b9be203b8cd4abd" /><Relationship Type="http://schemas.openxmlformats.org/officeDocument/2006/relationships/slide" Target="/ppt/slides/slide14.xml" Id="R5f42ecc1757c4f3e" /><Relationship Type="http://schemas.openxmlformats.org/officeDocument/2006/relationships/slide" Target="/ppt/slides/slide15.xml" Id="Ra5efd66682b94b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ef31d40b1842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dcf0607beab4b17" /><Relationship Type="http://schemas.openxmlformats.org/officeDocument/2006/relationships/notesMaster" Target="/ppt/notesMasters/notesMaster1.xml" Id="R1a9730a492ba4e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59ea16e9c74530" /><Relationship Type="http://schemas.openxmlformats.org/officeDocument/2006/relationships/notesMaster" Target="/ppt/notesMasters/notesMaster1.xml" Id="R9ce50678966e46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a6df834df14e83" /><Relationship Type="http://schemas.openxmlformats.org/officeDocument/2006/relationships/notesMaster" Target="/ppt/notesMasters/notesMaster1.xml" Id="Rca7e4dcffc134ed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df8391943a4c1f" /><Relationship Type="http://schemas.openxmlformats.org/officeDocument/2006/relationships/notesMaster" Target="/ppt/notesMasters/notesMaster1.xml" Id="R16d75933854b4a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c939d2d7ff543f5" /><Relationship Type="http://schemas.openxmlformats.org/officeDocument/2006/relationships/notesMaster" Target="/ppt/notesMasters/notesMaster1.xml" Id="Ra3bcf32f488f44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0199b14dce41e3" /><Relationship Type="http://schemas.openxmlformats.org/officeDocument/2006/relationships/notesMaster" Target="/ppt/notesMasters/notesMaster1.xml" Id="Rb21b434210b74f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832b251c16469e" /><Relationship Type="http://schemas.openxmlformats.org/officeDocument/2006/relationships/notesMaster" Target="/ppt/notesMasters/notesMaster1.xml" Id="R7c5c589328aa48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10fd25da86e4193" /><Relationship Type="http://schemas.openxmlformats.org/officeDocument/2006/relationships/notesMaster" Target="/ppt/notesMasters/notesMaster1.xml" Id="R72bc74dc28cc4a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4afb2c66625548ba" /><Relationship Type="http://schemas.openxmlformats.org/officeDocument/2006/relationships/notesMaster" Target="/ppt/notesMasters/notesMaster1.xml" Id="Rca5fe79593bf40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ba47e4a97f44fb" /><Relationship Type="http://schemas.openxmlformats.org/officeDocument/2006/relationships/notesMaster" Target="/ppt/notesMasters/notesMaster1.xml" Id="R06b11622523e49e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c65d6e8b0424d6b" /><Relationship Type="http://schemas.openxmlformats.org/officeDocument/2006/relationships/notesMaster" Target="/ppt/notesMasters/notesMaster1.xml" Id="Rdb1beb998cc448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cb1abfa49b4331" /><Relationship Type="http://schemas.openxmlformats.org/officeDocument/2006/relationships/notesMaster" Target="/ppt/notesMasters/notesMaster1.xml" Id="R2443bed4aeb748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d3d25e135a4663" /><Relationship Type="http://schemas.openxmlformats.org/officeDocument/2006/relationships/notesMaster" Target="/ppt/notesMasters/notesMaster1.xml" Id="R2d82b1c6097e4f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481ada7e98470c" /><Relationship Type="http://schemas.openxmlformats.org/officeDocument/2006/relationships/notesMaster" Target="/ppt/notesMasters/notesMaster1.xml" Id="Rda5344d4cd9a492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9dc2e93ff04d86" /><Relationship Type="http://schemas.openxmlformats.org/officeDocument/2006/relationships/notesMaster" Target="/ppt/notesMasters/notesMaster1.xml" Id="R1772ea34ad6043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The technical contribution is the combination of selective routing, small task solvers, claim-level verification, typed provenance, and an offline two-T4 fallback. Exact lineage can decide an exact source match. Structured solvers can decide a parsed number or option. Context checks can decide a contradiction inside the supplied passage. Each stage can also return nothing. If the source is only similar, or the relation is unclear,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released example shows why semantic similarity was not enough. The context says that Tareque Masud's latest feature film was Runway and that it was released in 2010. The prompt asks when the film was released. The response says Runway. That is a correct title and the correct entity, but it has the wrong semantic type. The expected predicate is release year, while the response supplies a film title. A retrieval system may see a highly related answer. Our relation gate rejects it and emits label zero. This is the concrete failure mode that motivated the predicate field used in later slides.</a:t>
            </a:r>
          </a:p>
          <a:p xmlns:a="http://schemas.openxmlformats.org/drawingml/2006/main">
            <a:r>
              <a:t/>
            </a:r>
          </a:p>
          <a:p xmlns:a="http://schemas.openxmlformats.org/drawingml/2006/main">
            <a:r>
              <a:t>Sources:</a:t>
            </a:r>
          </a:p>
          <a:p xmlns:a="http://schemas.openxmlformats.org/drawingml/2006/main">
            <a:r>
              <a:t>[1] Competition-released dataset samples.json, sample 4. [7] Frozen v91 predicate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This is the expanded presentation view of Figure 2a in the report. [3]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This is the expanded presentation view of Figure 2b in the report. [7]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This table makes the evolution easier to compare, but it is not a controlled ablation because each version accumulates more than one change. The baseline scored 0.657. A uniform Qwen judge raised that to 0.797 but judged every row under one policy. v6 introduced source and structured routing and reached 0.903, the largest observed step. v37 tightened provenance and reduced the unresolved queue to 312 rows. v85 added a reproducible two-source anchor and left 193 rows. v91 required typed idiom and predicate guards, reached 0.967 publicly, and left 158 rows. The important evidence is the alignment between score movement, queue reduction, and documented architectural changes, not a claim that each row is a pure single-variable experiment.</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We treated reproducibility as a result, not an administrative detail. The codebase had 249 automated tests, including 225 deterministic controls. The notebook reads the organizer's literal test path, loads pinned model, runtime, and evidence assets, and uses a fixed row, prompt, and batch schedule. One local llama.cpp server tensor-splits the model equally across the two T4 GPUs. The final validator preserves incoming IDs and writes exactly id and label. Three full runs produced byte-identical files, the frozen hash matched the scored CSV, and the organizer-run notebook validated 5,000 Phase 2 rows in 3 hours and 52 minutes. These checks establish execution integrity; they do not substitute for an unreleased Phase 2 accuracy score. Orny will cover the measured deployment run next.</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It is measured runtime evidence, not a Phase 2 accuracy score.</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Accuracy remains an open question until the organizer provides a score.</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main limitations are equally important. We had only 299 released labels, aggregate competition scores provide no row-level errors, and the Phase 2 accuracy result is still unknown. When those labels or analyses become available, the next work is to inspect the judged tail, recalibrate uncertain cases, and expand licensed evidence for civic and news domains. What we can already verify is reproducibility and runtime compliance.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52c13e95e848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042e0235d14431" /><Relationship Type="http://schemas.openxmlformats.org/officeDocument/2006/relationships/slideLayout" Target="/ppt/slideLayouts/slideLayout1.xml" Id="R4eb144b1fe084a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b144b1fe084a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f9cd7e2a8e4a12" /><Relationship Type="http://schemas.openxmlformats.org/officeDocument/2006/relationships/notesSlide" Target="/ppt/notesSlides/notesSlide1.xml" Id="R483d4f427abf4a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0c0f7ae34db4eb7" /><Relationship Type="http://schemas.openxmlformats.org/officeDocument/2006/relationships/notesSlide" Target="/ppt/notesSlides/notesSlide2.xml" Id="Racbbeb6625bc44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0dfa710d534464" /><Relationship Type="http://schemas.openxmlformats.org/officeDocument/2006/relationships/notesSlide" Target="/ppt/notesSlides/notesSlide3.xml" Id="R14b66eaf787e4b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458ff14b4741f5" /><Relationship Type="http://schemas.openxmlformats.org/officeDocument/2006/relationships/notesSlide" Target="/ppt/notesSlides/notesSlide4.xml" Id="Rabba0c9ceaca4c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7721660fd8b497a" /><Relationship Type="http://schemas.openxmlformats.org/officeDocument/2006/relationships/notesSlide" Target="/ppt/notesSlides/notesSlide5.xml" Id="R8ce61ae024f645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c17c9bf8bfc44c6" /><Relationship Type="http://schemas.openxmlformats.org/officeDocument/2006/relationships/notesSlide" Target="/ppt/notesSlides/notesSlide6.xml" Id="R211e399ab09e4d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5951a2d7a554dfb" /><Relationship Type="http://schemas.openxmlformats.org/officeDocument/2006/relationships/notesSlide" Target="/ppt/notesSlides/notesSlide7.xml" Id="R8a5e73b340ef45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112b07024d41f5" /><Relationship Type="http://schemas.openxmlformats.org/officeDocument/2006/relationships/notesSlide" Target="/ppt/notesSlides/notesSlide8.xml" Id="R91dfac9375ce492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54d4b54fe3c4b69" /><Relationship Type="http://schemas.openxmlformats.org/officeDocument/2006/relationships/notesSlide" Target="/ppt/notesSlides/notesSlide9.xml" Id="R8724aff10f4f4a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dc6b9cacc94dfc" /><Relationship Type="http://schemas.openxmlformats.org/officeDocument/2006/relationships/notesSlide" Target="/ppt/notesSlides/notesSlide10.xml" Id="R4c51d73423b347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c089fb1174d4b87" /><Relationship Type="http://schemas.openxmlformats.org/officeDocument/2006/relationships/notesSlide" Target="/ppt/notesSlides/notesSlide11.xml" Id="R08aefc2af88040b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0d0836bd47d42c2" /><Relationship Type="http://schemas.openxmlformats.org/officeDocument/2006/relationships/notesSlide" Target="/ppt/notesSlides/notesSlide12.xml" Id="R01b0030b4d7e44c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adc3e9cb0da47de" /><Relationship Type="http://schemas.openxmlformats.org/officeDocument/2006/relationships/notesSlide" Target="/ppt/notesSlides/notesSlide13.xml" Id="R3f136718b2ca485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efe5f1a1df74d24" /><Relationship Type="http://schemas.openxmlformats.org/officeDocument/2006/relationships/notesSlide" Target="/ppt/notesSlides/notesSlide14.xml" Id="Rac9b2ed9ad7f49a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96d695f59294f49" /><Relationship Type="http://schemas.openxmlformats.org/officeDocument/2006/relationships/notesSlide" Target="/ppt/notesSlides/notesSlide15.xml" Id="R9c806672102e4c9d"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A8DF26-6BE0-42CF-B3E8-E67F43CFB69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35EB80A1-2A0C-4F10-B1B1-0CC577C3AEB4}"/>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CE18E8FE-B679-4334-8E19-DDFA025F5A45}"/>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525" b="1">
                <a:solidFill>
                  <a:srgbClr val="0F172A"/>
                </a:solidFill>
              </a:defRPr>
            </a:pPr>
            <a:r>
              <a:rPr sz="3525" b="1">
                <a:solidFill>
                  <a:srgbClr val="0F172A"/>
                </a:solidFill>
              </a:rPr>
              <a:t>Evidence-first selective inference</a:t>
            </a:r>
          </a:p>
          <a:p xmlns:a="http://schemas.openxmlformats.org/drawingml/2006/main">
            <a:pPr algn="l">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7B6A14FA-74DF-4F2F-B211-DD00B34642B8}"/>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A7E234C8-EE93-4461-8539-AE508AD455F3}"/>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6A5A1960-7CFE-4B14-8CDF-1DAA66E5EF42}"/>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4042306-E46F-4B58-9D04-D6B0D654154C}"/>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A3918071-8E5A-497A-A13F-45323B3D2334}"/>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82F4C6A0-B57B-4034-ADA6-2561B683440A}"/>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4DC3A532-DF95-45D8-85FA-958E99802C7C}"/>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C67A41FD-3413-45FC-AA7D-E7B5F25C0407}"/>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526174"/>
                </a:solidFill>
              </a:defRPr>
            </a:pPr>
            <a:r>
              <a:rPr sz="1200"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31357488-84AD-44C2-80C8-4D93FAB28305}"/>
              </a:ext>
            </a:extLst>
          </p:cNvPr>
          <p:cNvSpPr>
            <a:spLocks xmlns:a="http://schemas.openxmlformats.org/drawingml/2006/main" noGrp="1"/>
          </p:cNvSpPr>
          <p:nvPr/>
        </p:nvSpPr>
        <p:spPr>
          <a:xfrm xmlns:a="http://schemas.openxmlformats.org/drawingml/2006/main">
            <a:off x="914400" y="6477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C7BEE67A-BC27-41F8-8F6A-82E50970D98B}"/>
              </a:ext>
            </a:extLst>
          </p:cNvPr>
          <p:cNvSpPr>
            <a:spLocks xmlns:a="http://schemas.openxmlformats.org/drawingml/2006/main" noGrp="1"/>
          </p:cNvSpPr>
          <p:nvPr/>
        </p:nvSpPr>
        <p:spPr>
          <a:xfrm xmlns:a="http://schemas.openxmlformats.org/drawingml/2006/main">
            <a:off x="10810875" y="647700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01</a:t>
            </a:r>
          </a:p>
        </p:txBody>
      </p:sp>
    </p:spTree>
    <p:extLst>
      <p:ext uri="{BB962C8B-B14F-4D97-AF65-F5344CB8AC3E}">
        <p14:creationId xmlns:p14="http://schemas.microsoft.com/office/powerpoint/2010/main" val="716758062"/>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8A1BB54D-40A7-4131-AA8F-94E7A2D7F3C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060DC2FB-6889-42E5-93C7-9FF171D9D7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EDB27EDC-74EF-4A95-9558-F53C6B6DE7C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9A126D8-0CCA-4EDD-9F5D-B10DE4601137}"/>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6143A4ED-172B-4B5C-B499-167E92C9E556}"/>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D41AEE24-4490-427E-A8BF-D65DEEE6DEAA}"/>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AC6F6B49-4715-459D-9FF5-68AD69FACA12}"/>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4992E8A9-6E74-48F0-8DF7-C045EF311DA8}"/>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320B7F74-FF4A-47B0-876E-66FE96C6ED56}"/>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32FE9981-E1C6-47F2-AE38-42D01F71B9EA}"/>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4A21850A-91D2-4E7B-893D-C329867B3676}"/>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374201EA-216B-4CD8-92B0-E03D008B68F9}"/>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D6667195-88F4-42D3-9089-212D43C279C1}"/>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1587C96D-B992-4EB6-83D5-52416EBF641E}"/>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76FFA939-AB49-47F6-BFDA-ABD5021665C3}"/>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E46BDF94-898E-4674-9B9C-DF712B9BA9E0}"/>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6C84E3DB-508A-4453-9836-8F88E0BA42D0}"/>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7BEEA1AE-8476-42EF-8289-A342032A6327}"/>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B6D57B8E-E03A-4013-A238-D6A167A3BF1A}"/>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D22F9F81-FB8E-4DF4-9B98-7B8D41E98F78}"/>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81EC5322-2D30-4D7E-B95B-5C8F6DD955BF}"/>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F412CAF1-26A9-40F4-B12A-5C3756E349FB}"/>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CA05B86D-0377-4D0C-9038-E0680F05CF80}"/>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D56080C3-CF35-4B55-9639-3E2776C3C9C4}"/>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D2A535F5-EB34-4C5B-985D-9B257F9AA4FC}"/>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BD307A9F-B5EB-417D-8907-D4BAF2600034}"/>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7F0C4C40-3F59-44C4-B185-9D0119689C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0F979E75-7588-4B51-B64C-055E8C57085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D99FF97B-59FE-470A-86EE-87C88F7A513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02</a:t>
            </a:r>
          </a:p>
        </p:txBody>
      </p:sp>
    </p:spTree>
    <p:extLst>
      <p:ext uri="{BB962C8B-B14F-4D97-AF65-F5344CB8AC3E}">
        <p14:creationId xmlns:p14="http://schemas.microsoft.com/office/powerpoint/2010/main" val="2118966615"/>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3">
            <a:extLst xmlns:a="http://schemas.openxmlformats.org/drawingml/2006/main">
              <a:ext uri="{FF2B5EF4-FFF2-40B4-BE49-F238E27FC236}">
                <a16:creationId xmlns:a16="http://schemas.microsoft.com/office/drawing/2014/main" id="{B61467C4-E471-42F4-B02A-78A4F4875D7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BE17C739-6F38-4040-B03A-1D3284D9519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FD940233-DFD4-4E34-8BC1-CF38F0B9C2F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BD6C581-8B52-4CC4-8E2D-4C81093CEB70}"/>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685AB5A2-68E5-488C-8288-AEDE338C88E1}"/>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2DDF67A9-B0A2-42BC-8B79-123C49302AFD}"/>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47489E50-1A45-4FCD-A5E4-5571C534C006}"/>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F2243D48-28D8-45CB-82AF-44634B38DDB8}"/>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47FEA968-353B-4191-A3E2-3F4C2EC3E746}"/>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3CEE776C-FE6F-4032-BA74-BA7EB81BC73C}"/>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CD660309-BEF3-470B-97A5-4CC7652B1C04}"/>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digits, options,</a:t>
            </a:r>
          </a:p>
          <a:p xmlns:a="http://schemas.openxmlformats.org/drawingml/2006/main">
            <a:pPr algn="ctr">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25A0EDE7-5784-4941-93A2-288CD83DCE5D}"/>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F66EC480-DE8D-4EFF-8EA0-51DE31B183D2}"/>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BE3D061D-371C-4228-8399-5EE383A7071F}"/>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context, numeric,</a:t>
            </a:r>
          </a:p>
          <a:p xmlns:a="http://schemas.openxmlformats.org/drawingml/2006/main">
            <a:pPr algn="ctr">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4296F9FA-D919-4E2E-8DC5-C36D8AF60870}"/>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6CB89BF5-4C97-42FF-A318-94A19E118EC9}"/>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CFA43481-11BC-415A-8132-02E185B25D0A}"/>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exact lineage and</a:t>
            </a:r>
          </a:p>
          <a:p xmlns:a="http://schemas.openxmlformats.org/drawingml/2006/main">
            <a:pPr algn="ctr">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70B442B2-7888-4C5F-8CEE-C5F5F6A025EF}"/>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5E83B1DB-E7E9-4494-819A-8E961AE447BD}"/>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47D17432-AA13-4E40-8E7D-D03F45CEB7A6}"/>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resolved label or</a:t>
            </a:r>
          </a:p>
          <a:p xmlns:a="http://schemas.openxmlformats.org/drawingml/2006/main">
            <a:pPr algn="ctr">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724903D4-28F7-4213-B923-105D9BC4C634}"/>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63376F8C-DBCF-4DE1-97D2-94A840AB3C35}"/>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5B56EDAA-ED8B-4836-B539-E6F033CC9798}"/>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Qwen binary</a:t>
            </a:r>
          </a:p>
          <a:p xmlns:a="http://schemas.openxmlformats.org/drawingml/2006/main">
            <a:pPr algn="ctr">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0CCBD389-74E3-4439-953B-B768C89E7775}"/>
              </a:ext>
            </a:extLst>
          </p:cNvPr>
          <p:cNvSpPr>
            <a:spLocks xmlns:a="http://schemas.openxmlformats.org/drawingml/2006/main" noGrp="1"/>
          </p:cNvSpPr>
          <p:nvPr/>
        </p:nvSpPr>
        <p:spPr>
          <a:xfrm xmlns:a="http://schemas.openxmlformats.org/drawingml/2006/main">
            <a:off x="1428750" y="447675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Technical contributions</a:t>
            </a:r>
          </a:p>
        </p:txBody>
      </p:sp>
      <p:sp>
        <p:nvSpPr>
          <p:cNvPr id="25" name="">
            <a:extLst xmlns:a="http://schemas.openxmlformats.org/drawingml/2006/main">
              <a:ext uri="{FF2B5EF4-FFF2-40B4-BE49-F238E27FC236}">
                <a16:creationId xmlns:a16="http://schemas.microsoft.com/office/drawing/2014/main" id="{43568C9F-D533-4920-BD48-4FD3A4A25067}"/>
              </a:ext>
            </a:extLst>
          </p:cNvPr>
          <p:cNvSpPr>
            <a:spLocks xmlns:a="http://schemas.openxmlformats.org/drawingml/2006/main" noGrp="1"/>
          </p:cNvSpPr>
          <p:nvPr/>
        </p:nvSpPr>
        <p:spPr>
          <a:xfrm xmlns:a="http://schemas.openxmlformats.org/drawingml/2006/main">
            <a:off x="1066800" y="49720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Selective routing  •  task solvers  •  claim verification  •  typed provenance  •  offline T4×2</a:t>
            </a:r>
          </a:p>
        </p:txBody>
      </p:sp>
      <p:sp>
        <p:nvSpPr>
          <p:cNvPr id="26" name="">
            <a:extLst xmlns:a="http://schemas.openxmlformats.org/drawingml/2006/main">
              <a:ext uri="{FF2B5EF4-FFF2-40B4-BE49-F238E27FC236}">
                <a16:creationId xmlns:a16="http://schemas.microsoft.com/office/drawing/2014/main" id="{FD30615A-7D2C-4B2B-8107-41F5C8456A4A}"/>
              </a:ext>
            </a:extLst>
          </p:cNvPr>
          <p:cNvSpPr>
            <a:spLocks xmlns:a="http://schemas.openxmlformats.org/drawingml/2006/main" noGrp="1"/>
          </p:cNvSpPr>
          <p:nvPr/>
        </p:nvSpPr>
        <p:spPr>
          <a:xfrm xmlns:a="http://schemas.openxmlformats.org/drawingml/2006/main">
            <a:off x="1809750" y="546735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Every deterministic decision records its source family and requested relation.</a:t>
            </a:r>
          </a:p>
        </p:txBody>
      </p:sp>
      <p:sp>
        <p:nvSpPr>
          <p:cNvPr id="27" name="">
            <a:extLst xmlns:a="http://schemas.openxmlformats.org/drawingml/2006/main">
              <a:ext uri="{FF2B5EF4-FFF2-40B4-BE49-F238E27FC236}">
                <a16:creationId xmlns:a16="http://schemas.microsoft.com/office/drawing/2014/main" id="{34BA0A81-6071-464E-B633-6B5E1055B51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3">
            <a:extLst xmlns:a="http://schemas.openxmlformats.org/drawingml/2006/main">
              <a:ext uri="{FF2B5EF4-FFF2-40B4-BE49-F238E27FC236}">
                <a16:creationId xmlns:a16="http://schemas.microsoft.com/office/drawing/2014/main" id="{F93DD858-C72B-41D2-8A67-DD21C12DC3D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[3] BenHalluEval  [4] Bengali idiom benchmark  [7] Frozen v91 architecture</a:t>
            </a:r>
          </a:p>
        </p:txBody>
      </p:sp>
      <p:sp>
        <p:nvSpPr>
          <p:cNvPr id="29" name="page-3">
            <a:extLst xmlns:a="http://schemas.openxmlformats.org/drawingml/2006/main">
              <a:ext uri="{FF2B5EF4-FFF2-40B4-BE49-F238E27FC236}">
                <a16:creationId xmlns:a16="http://schemas.microsoft.com/office/drawing/2014/main" id="{8DC4715B-0E33-4CB6-9900-8C70CE3D97E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03</a:t>
            </a:r>
          </a:p>
        </p:txBody>
      </p:sp>
    </p:spTree>
    <p:extLst>
      <p:ext uri="{BB962C8B-B14F-4D97-AF65-F5344CB8AC3E}">
        <p14:creationId xmlns:p14="http://schemas.microsoft.com/office/powerpoint/2010/main" val="73191116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Context</a:t>
            </a:r>
          </a:p>
          <a:p xmlns:a="http://schemas.openxmlformats.org/drawingml/2006/main">
            <a:pPr algn="ctr">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Structured</a:t>
            </a:r>
          </a:p>
          <a:p xmlns:a="http://schemas.openxmlformats.org/drawingml/2006/main">
            <a:pPr algn="ctr">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Exact source</a:t>
            </a:r>
          </a:p>
          <a:p xmlns:a="http://schemas.openxmlformats.org/drawingml/2006/main">
            <a:pPr algn="ctr">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Context</a:t>
            </a:r>
          </a:p>
          <a:p xmlns:a="http://schemas.openxmlformats.org/drawingml/2006/main">
            <a:pPr algn="ctr">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support or contradict</a:t>
            </a:r>
          </a:p>
          <a:p xmlns:a="http://schemas.openxmlformats.org/drawingml/2006/main">
            <a:pPr algn="ctr">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Structured</a:t>
            </a:r>
          </a:p>
          <a:p xmlns:a="http://schemas.openxmlformats.org/drawingml/2006/main">
            <a:pPr algn="ctr">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numeric / MCQ</a:t>
            </a:r>
          </a:p>
          <a:p xmlns:a="http://schemas.openxmlformats.org/drawingml/2006/main">
            <a:pPr algn="ctr">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Typed</a:t>
            </a:r>
          </a:p>
          <a:p xmlns:a="http://schemas.openxmlformats.org/drawingml/2006/main">
            <a:pPr algn="ctr">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 predicate</a:t>
            </a:r>
          </a:p>
          <a:p xmlns:a="http://schemas.openxmlformats.org/drawingml/2006/main">
            <a:pPr algn="ctr">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no rule or conflict</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unresolved tail</a:t>
            </a:r>
          </a:p>
          <a:p xmlns:a="http://schemas.openxmlformats.org/drawingml/2006/main">
            <a:pPr algn="ctr">
              <a:defRPr sz="1200" b="0">
                <a:solidFill>
                  <a:srgbClr val="526174"/>
                </a:solidFill>
              </a:defRPr>
            </a:pPr>
            <a:r>
              <a:rPr sz="1200" b="0">
                <a:solidFill>
                  <a:srgbClr val="526174"/>
                </a:solidFill>
              </a:rPr>
              <a:t>only</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04</a:t>
            </a:r>
          </a:p>
        </p:txBody>
      </p:sp>
    </p:spTree>
    <p:extLst>
      <p:ext uri="{BB962C8B-B14F-4D97-AF65-F5344CB8AC3E}">
        <p14:creationId xmlns:p14="http://schemas.microsoft.com/office/powerpoint/2010/main" val="47181633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05</a:t>
            </a:r>
          </a:p>
        </p:txBody>
      </p:sp>
    </p:spTree>
    <p:extLst>
      <p:ext uri="{BB962C8B-B14F-4D97-AF65-F5344CB8AC3E}">
        <p14:creationId xmlns:p14="http://schemas.microsoft.com/office/powerpoint/2010/main" val="1248703227"/>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6">
            <a:extLst xmlns:a="http://schemas.openxmlformats.org/drawingml/2006/main">
              <a:ext uri="{FF2B5EF4-FFF2-40B4-BE49-F238E27FC236}">
                <a16:creationId xmlns:a16="http://schemas.microsoft.com/office/drawing/2014/main" id="{42801365-F285-45DD-8B42-D668DEFF3FA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8F6851D2-DB83-451B-BE05-8F2A496193E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correct fact can still answer the wrong relation</a:t>
            </a:r>
          </a:p>
        </p:txBody>
      </p:sp>
      <p:sp>
        <p:nvSpPr>
          <p:cNvPr id="3" name="">
            <a:extLst xmlns:a="http://schemas.openxmlformats.org/drawingml/2006/main">
              <a:ext uri="{FF2B5EF4-FFF2-40B4-BE49-F238E27FC236}">
                <a16:creationId xmlns:a16="http://schemas.microsoft.com/office/drawing/2014/main" id="{79AF736C-198F-41D0-84B1-1B79BD7BDE9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DB4089A-AC56-4A7F-8546-B04A8294C5C0}"/>
              </a:ext>
            </a:extLst>
          </p:cNvPr>
          <p:cNvSpPr>
            <a:spLocks xmlns:a="http://schemas.openxmlformats.org/drawingml/2006/main" noGrp="1"/>
          </p:cNvSpPr>
          <p:nvPr/>
        </p:nvSpPr>
        <p:spPr>
          <a:xfrm xmlns:a="http://schemas.openxmlformats.org/drawingml/2006/main">
            <a:off x="685800" y="1381125"/>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Released sample 4 contains both the film title and year; the prompt asks specifically for the year.</a:t>
            </a:r>
          </a:p>
        </p:txBody>
      </p:sp>
      <p:sp>
        <p:nvSpPr>
          <p:cNvPr id="5" name="">
            <a:extLst xmlns:a="http://schemas.openxmlformats.org/drawingml/2006/main">
              <a:ext uri="{FF2B5EF4-FFF2-40B4-BE49-F238E27FC236}">
                <a16:creationId xmlns:a16="http://schemas.microsoft.com/office/drawing/2014/main" id="{FB4470C1-1CEE-4AAA-ABCC-A3AAB88BA8CF}"/>
              </a:ext>
            </a:extLst>
          </p:cNvPr>
          <p:cNvSpPr>
            <a:spLocks xmlns:a="http://schemas.openxmlformats.org/drawingml/2006/main" noGrp="1"/>
          </p:cNvSpPr>
          <p:nvPr/>
        </p:nvSpPr>
        <p:spPr>
          <a:xfrm xmlns:a="http://schemas.openxmlformats.org/drawingml/2006/main">
            <a:off x="6048375" y="3429000"/>
            <a:ext cx="666750" cy="3048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6CF15EE-62AC-4DB2-844C-664FA9DE7A47}"/>
              </a:ext>
            </a:extLst>
          </p:cNvPr>
          <p:cNvSpPr>
            <a:spLocks xmlns:a="http://schemas.openxmlformats.org/drawingml/2006/main" noGrp="1"/>
          </p:cNvSpPr>
          <p:nvPr/>
        </p:nvSpPr>
        <p:spPr>
          <a:xfrm xmlns:a="http://schemas.openxmlformats.org/drawingml/2006/main">
            <a:off x="742950" y="2076450"/>
            <a:ext cx="531495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3737E8B-B18B-4387-9BA8-3FADDB4D103B}"/>
              </a:ext>
            </a:extLst>
          </p:cNvPr>
          <p:cNvSpPr>
            <a:spLocks xmlns:a="http://schemas.openxmlformats.org/drawingml/2006/main" noGrp="1"/>
          </p:cNvSpPr>
          <p:nvPr/>
        </p:nvSpPr>
        <p:spPr>
          <a:xfrm xmlns:a="http://schemas.openxmlformats.org/drawingml/2006/main">
            <a:off x="1028700" y="22860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F5A7A"/>
                </a:solidFill>
              </a:defRPr>
            </a:pPr>
            <a:r>
              <a:rPr sz="1650" b="1">
                <a:solidFill>
                  <a:srgbClr val="1F5A7A"/>
                </a:solidFill>
              </a:rPr>
              <a:t>Released labeled example</a:t>
            </a:r>
          </a:p>
        </p:txBody>
      </p:sp>
      <p:sp>
        <p:nvSpPr>
          <p:cNvPr id="8" name="">
            <a:extLst xmlns:a="http://schemas.openxmlformats.org/drawingml/2006/main">
              <a:ext uri="{FF2B5EF4-FFF2-40B4-BE49-F238E27FC236}">
                <a16:creationId xmlns:a16="http://schemas.microsoft.com/office/drawing/2014/main" id="{7423D10F-44DC-4823-A5CF-77AD5D0C12DF}"/>
              </a:ext>
            </a:extLst>
          </p:cNvPr>
          <p:cNvSpPr>
            <a:spLocks xmlns:a="http://schemas.openxmlformats.org/drawingml/2006/main" noGrp="1"/>
          </p:cNvSpPr>
          <p:nvPr/>
        </p:nvSpPr>
        <p:spPr>
          <a:xfrm xmlns:a="http://schemas.openxmlformats.org/drawingml/2006/main">
            <a:off x="1028700" y="27622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2A8C82"/>
                </a:solidFill>
              </a:defRPr>
            </a:pPr>
            <a:r>
              <a:rPr sz="1275" b="1">
                <a:solidFill>
                  <a:srgbClr val="2A8C82"/>
                </a:solidFill>
              </a:rPr>
              <a:t>Context excerpt</a:t>
            </a:r>
          </a:p>
        </p:txBody>
      </p:sp>
      <p:sp>
        <p:nvSpPr>
          <p:cNvPr id="9" name="">
            <a:extLst xmlns:a="http://schemas.openxmlformats.org/drawingml/2006/main">
              <a:ext uri="{FF2B5EF4-FFF2-40B4-BE49-F238E27FC236}">
                <a16:creationId xmlns:a16="http://schemas.microsoft.com/office/drawing/2014/main" id="{8A3C3A45-5959-4F2D-BD1D-4016EB31B563}"/>
              </a:ext>
            </a:extLst>
          </p:cNvPr>
          <p:cNvSpPr>
            <a:spLocks xmlns:a="http://schemas.openxmlformats.org/drawingml/2006/main" noGrp="1"/>
          </p:cNvSpPr>
          <p:nvPr/>
        </p:nvSpPr>
        <p:spPr>
          <a:xfrm xmlns:a="http://schemas.openxmlformats.org/drawingml/2006/main">
            <a:off x="1028700" y="3067050"/>
            <a:ext cx="4572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0F172A"/>
                </a:solidFill>
              </a:defRPr>
            </a:pPr>
            <a:r>
              <a:rPr sz="1575" b="0">
                <a:solidFill>
                  <a:srgbClr val="0F172A"/>
                </a:solidFill>
              </a:rPr>
              <a:t>তারেক মাসুদের সর্বশেষ পূর্ণদৈর্ঘ্য চলচ্চিত্র ‘রানওয়ে’ মুক্তি পায় ২০১০ সালে।</a:t>
            </a:r>
          </a:p>
        </p:txBody>
      </p:sp>
      <p:sp>
        <p:nvSpPr>
          <p:cNvPr id="10" name="">
            <a:extLst xmlns:a="http://schemas.openxmlformats.org/drawingml/2006/main">
              <a:ext uri="{FF2B5EF4-FFF2-40B4-BE49-F238E27FC236}">
                <a16:creationId xmlns:a16="http://schemas.microsoft.com/office/drawing/2014/main" id="{960123F4-2BED-4500-8C62-9FE703E5186D}"/>
              </a:ext>
            </a:extLst>
          </p:cNvPr>
          <p:cNvSpPr>
            <a:spLocks xmlns:a="http://schemas.openxmlformats.org/drawingml/2006/main" noGrp="1"/>
          </p:cNvSpPr>
          <p:nvPr/>
        </p:nvSpPr>
        <p:spPr>
          <a:xfrm xmlns:a="http://schemas.openxmlformats.org/drawingml/2006/main">
            <a:off x="1028700" y="3790950"/>
            <a:ext cx="4552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39270B24-E48A-4AFB-945B-8F14EE8E1816}"/>
              </a:ext>
            </a:extLst>
          </p:cNvPr>
          <p:cNvSpPr>
            <a:spLocks xmlns:a="http://schemas.openxmlformats.org/drawingml/2006/main" noGrp="1"/>
          </p:cNvSpPr>
          <p:nvPr/>
        </p:nvSpPr>
        <p:spPr>
          <a:xfrm xmlns:a="http://schemas.openxmlformats.org/drawingml/2006/main">
            <a:off x="1028700" y="4000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2A8C82"/>
                </a:solidFill>
              </a:defRPr>
            </a:pPr>
            <a:r>
              <a:rPr sz="1275" b="1">
                <a:solidFill>
                  <a:srgbClr val="2A8C82"/>
                </a:solidFill>
              </a:rPr>
              <a:t>Prompt</a:t>
            </a:r>
          </a:p>
        </p:txBody>
      </p:sp>
      <p:sp>
        <p:nvSpPr>
          <p:cNvPr id="12" name="">
            <a:extLst xmlns:a="http://schemas.openxmlformats.org/drawingml/2006/main">
              <a:ext uri="{FF2B5EF4-FFF2-40B4-BE49-F238E27FC236}">
                <a16:creationId xmlns:a16="http://schemas.microsoft.com/office/drawing/2014/main" id="{D996BB65-A02B-467D-A329-2D889970A8FE}"/>
              </a:ext>
            </a:extLst>
          </p:cNvPr>
          <p:cNvSpPr>
            <a:spLocks xmlns:a="http://schemas.openxmlformats.org/drawingml/2006/main" noGrp="1"/>
          </p:cNvSpPr>
          <p:nvPr/>
        </p:nvSpPr>
        <p:spPr>
          <a:xfrm xmlns:a="http://schemas.openxmlformats.org/drawingml/2006/main">
            <a:off x="1028700" y="4305300"/>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সর্বশেষ চলচ্চিত্রটি কত সালে মুক্তি পায়?</a:t>
            </a:r>
          </a:p>
        </p:txBody>
      </p:sp>
      <p:sp>
        <p:nvSpPr>
          <p:cNvPr id="13" name="">
            <a:extLst xmlns:a="http://schemas.openxmlformats.org/drawingml/2006/main">
              <a:ext uri="{FF2B5EF4-FFF2-40B4-BE49-F238E27FC236}">
                <a16:creationId xmlns:a16="http://schemas.microsoft.com/office/drawing/2014/main" id="{1A39E986-BF7C-4DC8-B5F1-6D8958069A21}"/>
              </a:ext>
            </a:extLst>
          </p:cNvPr>
          <p:cNvSpPr>
            <a:spLocks xmlns:a="http://schemas.openxmlformats.org/drawingml/2006/main" noGrp="1"/>
          </p:cNvSpPr>
          <p:nvPr/>
        </p:nvSpPr>
        <p:spPr>
          <a:xfrm xmlns:a="http://schemas.openxmlformats.org/drawingml/2006/main">
            <a:off x="1028700" y="48768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B5483A"/>
                </a:solidFill>
              </a:defRPr>
            </a:pPr>
            <a:r>
              <a:rPr sz="1275" b="1">
                <a:solidFill>
                  <a:srgbClr val="B5483A"/>
                </a:solidFill>
              </a:rPr>
              <a:t>Response</a:t>
            </a:r>
          </a:p>
        </p:txBody>
      </p:sp>
      <p:sp>
        <p:nvSpPr>
          <p:cNvPr id="14" name="">
            <a:extLst xmlns:a="http://schemas.openxmlformats.org/drawingml/2006/main">
              <a:ext uri="{FF2B5EF4-FFF2-40B4-BE49-F238E27FC236}">
                <a16:creationId xmlns:a16="http://schemas.microsoft.com/office/drawing/2014/main" id="{8DBCA879-03F9-4FDF-844D-459169FDFA9A}"/>
              </a:ext>
            </a:extLst>
          </p:cNvPr>
          <p:cNvSpPr>
            <a:spLocks xmlns:a="http://schemas.openxmlformats.org/drawingml/2006/main" noGrp="1"/>
          </p:cNvSpPr>
          <p:nvPr/>
        </p:nvSpPr>
        <p:spPr>
          <a:xfrm xmlns:a="http://schemas.openxmlformats.org/drawingml/2006/main">
            <a:off x="2247900" y="4819650"/>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B5483A"/>
                </a:solidFill>
              </a:defRPr>
            </a:pPr>
            <a:r>
              <a:rPr sz="1800" b="1">
                <a:solidFill>
                  <a:srgbClr val="B5483A"/>
                </a:solidFill>
              </a:rPr>
              <a:t>রানওয়ে</a:t>
            </a:r>
          </a:p>
        </p:txBody>
      </p:sp>
      <p:sp>
        <p:nvSpPr>
          <p:cNvPr id="15" name="">
            <a:extLst xmlns:a="http://schemas.openxmlformats.org/drawingml/2006/main">
              <a:ext uri="{FF2B5EF4-FFF2-40B4-BE49-F238E27FC236}">
                <a16:creationId xmlns:a16="http://schemas.microsoft.com/office/drawing/2014/main" id="{43BF0021-9A4A-4A3E-B404-E503066C0004}"/>
              </a:ext>
            </a:extLst>
          </p:cNvPr>
          <p:cNvSpPr>
            <a:spLocks xmlns:a="http://schemas.openxmlformats.org/drawingml/2006/main" noGrp="1"/>
          </p:cNvSpPr>
          <p:nvPr/>
        </p:nvSpPr>
        <p:spPr>
          <a:xfrm xmlns:a="http://schemas.openxmlformats.org/drawingml/2006/main">
            <a:off x="1028700" y="53149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Released label: 0</a:t>
            </a:r>
          </a:p>
        </p:txBody>
      </p:sp>
      <p:sp>
        <p:nvSpPr>
          <p:cNvPr id="16" name="">
            <a:extLst xmlns:a="http://schemas.openxmlformats.org/drawingml/2006/main">
              <a:ext uri="{FF2B5EF4-FFF2-40B4-BE49-F238E27FC236}">
                <a16:creationId xmlns:a16="http://schemas.microsoft.com/office/drawing/2014/main" id="{5052D6A4-E502-4C1C-B2CC-729143491A66}"/>
              </a:ext>
            </a:extLst>
          </p:cNvPr>
          <p:cNvSpPr>
            <a:spLocks xmlns:a="http://schemas.openxmlformats.org/drawingml/2006/main" noGrp="1"/>
          </p:cNvSpPr>
          <p:nvPr/>
        </p:nvSpPr>
        <p:spPr>
          <a:xfrm xmlns:a="http://schemas.openxmlformats.org/drawingml/2006/main">
            <a:off x="6705600" y="2076450"/>
            <a:ext cx="47625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161519CA-BB45-49E4-A1D0-1F93147C92DE}"/>
              </a:ext>
            </a:extLst>
          </p:cNvPr>
          <p:cNvSpPr>
            <a:spLocks xmlns:a="http://schemas.openxmlformats.org/drawingml/2006/main" noGrp="1"/>
          </p:cNvSpPr>
          <p:nvPr/>
        </p:nvSpPr>
        <p:spPr>
          <a:xfrm xmlns:a="http://schemas.openxmlformats.org/drawingml/2006/main">
            <a:off x="7010400" y="2286000"/>
            <a:ext cx="415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2A8C82"/>
                </a:solidFill>
              </a:defRPr>
            </a:pPr>
            <a:r>
              <a:rPr sz="1650" b="1">
                <a:solidFill>
                  <a:srgbClr val="2A8C82"/>
                </a:solidFill>
              </a:rPr>
              <a:t>Relation check</a:t>
            </a:r>
          </a:p>
        </p:txBody>
      </p:sp>
      <p:sp>
        <p:nvSpPr>
          <p:cNvPr id="18" name="">
            <a:extLst xmlns:a="http://schemas.openxmlformats.org/drawingml/2006/main">
              <a:ext uri="{FF2B5EF4-FFF2-40B4-BE49-F238E27FC236}">
                <a16:creationId xmlns:a16="http://schemas.microsoft.com/office/drawing/2014/main" id="{25F7D93A-4495-42C5-A1F8-19C1F34CBAAF}"/>
              </a:ext>
            </a:extLst>
          </p:cNvPr>
          <p:cNvSpPr>
            <a:spLocks xmlns:a="http://schemas.openxmlformats.org/drawingml/2006/main" noGrp="1"/>
          </p:cNvSpPr>
          <p:nvPr/>
        </p:nvSpPr>
        <p:spPr>
          <a:xfrm xmlns:a="http://schemas.openxmlformats.org/drawingml/2006/main">
            <a:off x="7029450" y="28003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26174"/>
                </a:solidFill>
              </a:defRPr>
            </a:pPr>
            <a:r>
              <a:rPr sz="1275" b="1">
                <a:solidFill>
                  <a:srgbClr val="526174"/>
                </a:solidFill>
              </a:rPr>
              <a:t>Entity</a:t>
            </a:r>
          </a:p>
        </p:txBody>
      </p:sp>
      <p:sp>
        <p:nvSpPr>
          <p:cNvPr id="19" name="">
            <a:extLst xmlns:a="http://schemas.openxmlformats.org/drawingml/2006/main">
              <a:ext uri="{FF2B5EF4-FFF2-40B4-BE49-F238E27FC236}">
                <a16:creationId xmlns:a16="http://schemas.microsoft.com/office/drawing/2014/main" id="{63E4F18B-9580-4962-825C-BF513DE0A8AD}"/>
              </a:ext>
            </a:extLst>
          </p:cNvPr>
          <p:cNvSpPr>
            <a:spLocks xmlns:a="http://schemas.openxmlformats.org/drawingml/2006/main" noGrp="1"/>
          </p:cNvSpPr>
          <p:nvPr/>
        </p:nvSpPr>
        <p:spPr>
          <a:xfrm xmlns:a="http://schemas.openxmlformats.org/drawingml/2006/main">
            <a:off x="8782050" y="28003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Runway</a:t>
            </a:r>
          </a:p>
        </p:txBody>
      </p:sp>
      <p:sp>
        <p:nvSpPr>
          <p:cNvPr id="20" name="">
            <a:extLst xmlns:a="http://schemas.openxmlformats.org/drawingml/2006/main">
              <a:ext uri="{FF2B5EF4-FFF2-40B4-BE49-F238E27FC236}">
                <a16:creationId xmlns:a16="http://schemas.microsoft.com/office/drawing/2014/main" id="{704B4357-5E18-4E2A-B885-1239977DFD5F}"/>
              </a:ext>
            </a:extLst>
          </p:cNvPr>
          <p:cNvSpPr>
            <a:spLocks xmlns:a="http://schemas.openxmlformats.org/drawingml/2006/main" noGrp="1"/>
          </p:cNvSpPr>
          <p:nvPr/>
        </p:nvSpPr>
        <p:spPr>
          <a:xfrm xmlns:a="http://schemas.openxmlformats.org/drawingml/2006/main">
            <a:off x="10191750" y="28003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2A8C82"/>
                </a:solidFill>
              </a:defRPr>
            </a:pPr>
            <a:r>
              <a:rPr sz="1200" b="1">
                <a:solidFill>
                  <a:srgbClr val="2A8C82"/>
                </a:solidFill>
              </a:rPr>
              <a:t>matches</a:t>
            </a:r>
          </a:p>
        </p:txBody>
      </p:sp>
      <p:sp>
        <p:nvSpPr>
          <p:cNvPr id="21" name="">
            <a:extLst xmlns:a="http://schemas.openxmlformats.org/drawingml/2006/main">
              <a:ext uri="{FF2B5EF4-FFF2-40B4-BE49-F238E27FC236}">
                <a16:creationId xmlns:a16="http://schemas.microsoft.com/office/drawing/2014/main" id="{58D65BA3-BEC0-478E-930D-F55FB5F0CE76}"/>
              </a:ext>
            </a:extLst>
          </p:cNvPr>
          <p:cNvSpPr>
            <a:spLocks xmlns:a="http://schemas.openxmlformats.org/drawingml/2006/main" noGrp="1"/>
          </p:cNvSpPr>
          <p:nvPr/>
        </p:nvSpPr>
        <p:spPr>
          <a:xfrm xmlns:a="http://schemas.openxmlformats.org/drawingml/2006/main">
            <a:off x="7029450" y="31813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35F87DDA-027D-474F-9F94-A890D5B80CD8}"/>
              </a:ext>
            </a:extLst>
          </p:cNvPr>
          <p:cNvSpPr>
            <a:spLocks xmlns:a="http://schemas.openxmlformats.org/drawingml/2006/main" noGrp="1"/>
          </p:cNvSpPr>
          <p:nvPr/>
        </p:nvSpPr>
        <p:spPr>
          <a:xfrm xmlns:a="http://schemas.openxmlformats.org/drawingml/2006/main">
            <a:off x="7029450" y="3467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26174"/>
                </a:solidFill>
              </a:defRPr>
            </a:pPr>
            <a:r>
              <a:rPr sz="1275" b="1">
                <a:solidFill>
                  <a:srgbClr val="526174"/>
                </a:solidFill>
              </a:rPr>
              <a:t>Requested predicate</a:t>
            </a:r>
          </a:p>
        </p:txBody>
      </p:sp>
      <p:sp>
        <p:nvSpPr>
          <p:cNvPr id="23" name="">
            <a:extLst xmlns:a="http://schemas.openxmlformats.org/drawingml/2006/main">
              <a:ext uri="{FF2B5EF4-FFF2-40B4-BE49-F238E27FC236}">
                <a16:creationId xmlns:a16="http://schemas.microsoft.com/office/drawing/2014/main" id="{BD62F074-F446-481B-BA64-1D7DCF101FAC}"/>
              </a:ext>
            </a:extLst>
          </p:cNvPr>
          <p:cNvSpPr>
            <a:spLocks xmlns:a="http://schemas.openxmlformats.org/drawingml/2006/main" noGrp="1"/>
          </p:cNvSpPr>
          <p:nvPr/>
        </p:nvSpPr>
        <p:spPr>
          <a:xfrm xmlns:a="http://schemas.openxmlformats.org/drawingml/2006/main">
            <a:off x="8782050" y="34671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release_year</a:t>
            </a:r>
          </a:p>
        </p:txBody>
      </p:sp>
      <p:sp>
        <p:nvSpPr>
          <p:cNvPr id="24" name="">
            <a:extLst xmlns:a="http://schemas.openxmlformats.org/drawingml/2006/main">
              <a:ext uri="{FF2B5EF4-FFF2-40B4-BE49-F238E27FC236}">
                <a16:creationId xmlns:a16="http://schemas.microsoft.com/office/drawing/2014/main" id="{01468A19-A986-4314-A5C9-E38BC14BEC35}"/>
              </a:ext>
            </a:extLst>
          </p:cNvPr>
          <p:cNvSpPr>
            <a:spLocks xmlns:a="http://schemas.openxmlformats.org/drawingml/2006/main" noGrp="1"/>
          </p:cNvSpPr>
          <p:nvPr/>
        </p:nvSpPr>
        <p:spPr>
          <a:xfrm xmlns:a="http://schemas.openxmlformats.org/drawingml/2006/main">
            <a:off x="10191750" y="346710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1F5A7A"/>
                </a:solidFill>
              </a:defRPr>
            </a:pPr>
            <a:r>
              <a:rPr sz="1200" b="1">
                <a:solidFill>
                  <a:srgbClr val="1F5A7A"/>
                </a:solidFill>
              </a:rPr>
              <a:t>expected</a:t>
            </a:r>
          </a:p>
        </p:txBody>
      </p:sp>
      <p:sp>
        <p:nvSpPr>
          <p:cNvPr id="25" name="">
            <a:extLst xmlns:a="http://schemas.openxmlformats.org/drawingml/2006/main">
              <a:ext uri="{FF2B5EF4-FFF2-40B4-BE49-F238E27FC236}">
                <a16:creationId xmlns:a16="http://schemas.microsoft.com/office/drawing/2014/main" id="{BCDB3E40-EA8B-4CE7-AD52-F46BCF025575}"/>
              </a:ext>
            </a:extLst>
          </p:cNvPr>
          <p:cNvSpPr>
            <a:spLocks xmlns:a="http://schemas.openxmlformats.org/drawingml/2006/main" noGrp="1"/>
          </p:cNvSpPr>
          <p:nvPr/>
        </p:nvSpPr>
        <p:spPr>
          <a:xfrm xmlns:a="http://schemas.openxmlformats.org/drawingml/2006/main">
            <a:off x="7029450" y="384810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F8D649F-2C2E-4D17-A627-134C9078B2A6}"/>
              </a:ext>
            </a:extLst>
          </p:cNvPr>
          <p:cNvSpPr>
            <a:spLocks xmlns:a="http://schemas.openxmlformats.org/drawingml/2006/main" noGrp="1"/>
          </p:cNvSpPr>
          <p:nvPr/>
        </p:nvSpPr>
        <p:spPr>
          <a:xfrm xmlns:a="http://schemas.openxmlformats.org/drawingml/2006/main">
            <a:off x="7029450" y="41338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26174"/>
                </a:solidFill>
              </a:defRPr>
            </a:pPr>
            <a:r>
              <a:rPr sz="1275" b="1">
                <a:solidFill>
                  <a:srgbClr val="526174"/>
                </a:solidFill>
              </a:rPr>
              <a:t>Response type</a:t>
            </a:r>
          </a:p>
        </p:txBody>
      </p:sp>
      <p:sp>
        <p:nvSpPr>
          <p:cNvPr id="27" name="">
            <a:extLst xmlns:a="http://schemas.openxmlformats.org/drawingml/2006/main">
              <a:ext uri="{FF2B5EF4-FFF2-40B4-BE49-F238E27FC236}">
                <a16:creationId xmlns:a16="http://schemas.microsoft.com/office/drawing/2014/main" id="{6A3C62A6-9CBF-474A-BE4A-D9E6B1166B0D}"/>
              </a:ext>
            </a:extLst>
          </p:cNvPr>
          <p:cNvSpPr>
            <a:spLocks xmlns:a="http://schemas.openxmlformats.org/drawingml/2006/main" noGrp="1"/>
          </p:cNvSpPr>
          <p:nvPr/>
        </p:nvSpPr>
        <p:spPr>
          <a:xfrm xmlns:a="http://schemas.openxmlformats.org/drawingml/2006/main">
            <a:off x="8782050" y="4133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film_title</a:t>
            </a:r>
          </a:p>
        </p:txBody>
      </p:sp>
      <p:sp>
        <p:nvSpPr>
          <p:cNvPr id="28" name="">
            <a:extLst xmlns:a="http://schemas.openxmlformats.org/drawingml/2006/main">
              <a:ext uri="{FF2B5EF4-FFF2-40B4-BE49-F238E27FC236}">
                <a16:creationId xmlns:a16="http://schemas.microsoft.com/office/drawing/2014/main" id="{B6E67E58-3D35-4880-AC67-62EFF8B2D227}"/>
              </a:ext>
            </a:extLst>
          </p:cNvPr>
          <p:cNvSpPr>
            <a:spLocks xmlns:a="http://schemas.openxmlformats.org/drawingml/2006/main" noGrp="1"/>
          </p:cNvSpPr>
          <p:nvPr/>
        </p:nvSpPr>
        <p:spPr>
          <a:xfrm xmlns:a="http://schemas.openxmlformats.org/drawingml/2006/main">
            <a:off x="10191750" y="41338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D59B32"/>
                </a:solidFill>
              </a:defRPr>
            </a:pPr>
            <a:r>
              <a:rPr sz="1200" b="1">
                <a:solidFill>
                  <a:srgbClr val="D59B32"/>
                </a:solidFill>
              </a:rPr>
              <a:t>observed</a:t>
            </a:r>
          </a:p>
        </p:txBody>
      </p:sp>
      <p:sp>
        <p:nvSpPr>
          <p:cNvPr id="29" name="">
            <a:extLst xmlns:a="http://schemas.openxmlformats.org/drawingml/2006/main">
              <a:ext uri="{FF2B5EF4-FFF2-40B4-BE49-F238E27FC236}">
                <a16:creationId xmlns:a16="http://schemas.microsoft.com/office/drawing/2014/main" id="{857F2D87-E453-4B9D-9213-8AE73D5B264F}"/>
              </a:ext>
            </a:extLst>
          </p:cNvPr>
          <p:cNvSpPr>
            <a:spLocks xmlns:a="http://schemas.openxmlformats.org/drawingml/2006/main" noGrp="1"/>
          </p:cNvSpPr>
          <p:nvPr/>
        </p:nvSpPr>
        <p:spPr>
          <a:xfrm xmlns:a="http://schemas.openxmlformats.org/drawingml/2006/main">
            <a:off x="7029450" y="45148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CE59EA0-4A49-4400-AAA3-8EAF95457DFC}"/>
              </a:ext>
            </a:extLst>
          </p:cNvPr>
          <p:cNvSpPr>
            <a:spLocks xmlns:a="http://schemas.openxmlformats.org/drawingml/2006/main" noGrp="1"/>
          </p:cNvSpPr>
          <p:nvPr/>
        </p:nvSpPr>
        <p:spPr>
          <a:xfrm xmlns:a="http://schemas.openxmlformats.org/drawingml/2006/main">
            <a:off x="7124700" y="4914900"/>
            <a:ext cx="3924300" cy="590550"/>
          </a:xfrm>
          <a:prstGeom xmlns:a="http://schemas.openxmlformats.org/drawingml/2006/main" prst="roundRect">
            <a:avLst>
              <a:gd name="adj" fmla="val 19355"/>
            </a:avLst>
          </a:prstGeom>
          <a:solidFill xmlns:a="http://schemas.openxmlformats.org/drawingml/2006/main">
            <a:srgbClr val="F7E5E1"/>
          </a:solidFill>
          <a:ln xmlns:a="http://schemas.openxmlformats.org/drawingml/2006/main" w="9525">
            <a:solidFill>
              <a:srgbClr val="B5483A"/>
            </a:solidFill>
            <a:prstDash val="solid"/>
          </a:ln>
        </p:spPr>
      </p:sp>
      <p:sp>
        <p:nvSpPr>
          <p:cNvPr id="31" name="">
            <a:extLst xmlns:a="http://schemas.openxmlformats.org/drawingml/2006/main">
              <a:ext uri="{FF2B5EF4-FFF2-40B4-BE49-F238E27FC236}">
                <a16:creationId xmlns:a16="http://schemas.microsoft.com/office/drawing/2014/main" id="{4B16FD4E-6963-42F1-973A-A6429703465F}"/>
              </a:ext>
            </a:extLst>
          </p:cNvPr>
          <p:cNvSpPr>
            <a:spLocks xmlns:a="http://schemas.openxmlformats.org/drawingml/2006/main" noGrp="1"/>
          </p:cNvSpPr>
          <p:nvPr/>
        </p:nvSpPr>
        <p:spPr>
          <a:xfrm xmlns:a="http://schemas.openxmlformats.org/drawingml/2006/main">
            <a:off x="7353300" y="5076825"/>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B5483A"/>
                </a:solidFill>
              </a:defRPr>
            </a:pPr>
            <a:r>
              <a:rPr sz="1650" b="1">
                <a:solidFill>
                  <a:srgbClr val="B5483A"/>
                </a:solidFill>
              </a:rPr>
              <a:t>predicate mismatch  →  label 0</a:t>
            </a:r>
          </a:p>
        </p:txBody>
      </p:sp>
      <p:sp>
        <p:nvSpPr>
          <p:cNvPr id="32" name="">
            <a:extLst xmlns:a="http://schemas.openxmlformats.org/drawingml/2006/main">
              <a:ext uri="{FF2B5EF4-FFF2-40B4-BE49-F238E27FC236}">
                <a16:creationId xmlns:a16="http://schemas.microsoft.com/office/drawing/2014/main" id="{07FCBF51-C3E5-4A84-B769-2AA74ABEC560}"/>
              </a:ext>
            </a:extLst>
          </p:cNvPr>
          <p:cNvSpPr>
            <a:spLocks xmlns:a="http://schemas.openxmlformats.org/drawingml/2006/main" noGrp="1"/>
          </p:cNvSpPr>
          <p:nvPr/>
        </p:nvSpPr>
        <p:spPr>
          <a:xfrm xmlns:a="http://schemas.openxmlformats.org/drawingml/2006/main">
            <a:off x="6858000" y="58674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Similarity finds a related answer. The relation gate rejects it.</a:t>
            </a:r>
          </a:p>
        </p:txBody>
      </p:sp>
      <p:sp>
        <p:nvSpPr>
          <p:cNvPr id="33" name="">
            <a:extLst xmlns:a="http://schemas.openxmlformats.org/drawingml/2006/main">
              <a:ext uri="{FF2B5EF4-FFF2-40B4-BE49-F238E27FC236}">
                <a16:creationId xmlns:a16="http://schemas.microsoft.com/office/drawing/2014/main" id="{30000E33-A0DE-4A14-8011-7041E298031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6">
            <a:extLst xmlns:a="http://schemas.openxmlformats.org/drawingml/2006/main">
              <a:ext uri="{FF2B5EF4-FFF2-40B4-BE49-F238E27FC236}">
                <a16:creationId xmlns:a16="http://schemas.microsoft.com/office/drawing/2014/main" id="{A4DB96C9-64F6-4880-8856-D71217AA6D3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[1] Competition-released labeled sample 4  [7] v91 predicate gate</a:t>
            </a:r>
          </a:p>
        </p:txBody>
      </p:sp>
      <p:sp>
        <p:nvSpPr>
          <p:cNvPr id="35" name="page-6">
            <a:extLst xmlns:a="http://schemas.openxmlformats.org/drawingml/2006/main">
              <a:ext uri="{FF2B5EF4-FFF2-40B4-BE49-F238E27FC236}">
                <a16:creationId xmlns:a16="http://schemas.microsoft.com/office/drawing/2014/main" id="{E61EBC4D-4E30-4C20-95C3-4FF50712265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06</a:t>
            </a:r>
          </a:p>
        </p:txBody>
      </p:sp>
    </p:spTree>
    <p:extLst>
      <p:ext uri="{BB962C8B-B14F-4D97-AF65-F5344CB8AC3E}">
        <p14:creationId xmlns:p14="http://schemas.microsoft.com/office/powerpoint/2010/main" val="1822816628"/>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7D7A4F50-4021-4493-89C5-44922ADC229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DED1E81-0260-4C0A-824D-29800D6E6F5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0DF7FDC-B97E-4D81-878F-9D718FC60A3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DDC0752-2554-4B47-B863-F4F234CF8CA4}"/>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A30FFEAA-D089-46D3-8740-3C5E26236F8B}"/>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D10DD7F2-F8C5-4BA9-8C68-7191BFB3870A}"/>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291149CA-9347-49D1-9FDB-7A1130944FF1}"/>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DA09B373-81A0-41C0-B69D-6BF24E70B7F5}"/>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51BF6E31-CFF4-4395-B31D-4C671365F92D}"/>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BE40A079-ACAE-4FEE-B8B9-83513ADE6F0F}"/>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10E81093-FB89-48CC-B02F-C331F12FB1E4}"/>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segment into</a:t>
            </a:r>
          </a:p>
          <a:p xmlns:a="http://schemas.openxmlformats.org/drawingml/2006/main">
            <a:pPr algn="ctr">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4FFD879C-7ECD-4C1B-8BA3-CBE950E84CF2}"/>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7737D56E-467C-4AB0-8668-B7CAD7DFE92F}"/>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D01BEED4-34B0-4961-B94F-54016421078E}"/>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extract atomic</a:t>
            </a:r>
          </a:p>
          <a:p xmlns:a="http://schemas.openxmlformats.org/drawingml/2006/main">
            <a:pPr algn="ctr">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4ED1ACAF-C688-4069-991C-E4FFA8B68499}"/>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E3A2FA5F-D8A2-4233-AEE3-F99C9D68DE86}"/>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15A6EDA6-51C8-42BD-97A4-1362D177227A}"/>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number,</a:t>
            </a:r>
          </a:p>
          <a:p xmlns:a="http://schemas.openxmlformats.org/drawingml/2006/main">
            <a:pPr algn="ctr">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44EAAF04-8907-4E4F-AD3C-ADBF85942358}"/>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67AC4948-4EAA-41C2-86F7-AE3DE7AFE462}"/>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4424736B-165B-4143-B347-FA609ADF0CB1}"/>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best applicable</a:t>
            </a:r>
          </a:p>
          <a:p xmlns:a="http://schemas.openxmlformats.org/drawingml/2006/main">
            <a:pPr algn="ctr">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7F7B1DD6-CB80-4C60-B020-B93463C6169A}"/>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A73AE4B8-27B0-4458-8481-071DE62236FF}"/>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9C90B000-FC96-407D-A12F-08DCF1D7E833}"/>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 support / C contradict</a:t>
            </a:r>
          </a:p>
          <a:p xmlns:a="http://schemas.openxmlformats.org/drawingml/2006/main">
            <a:pPr algn="ctr">
              <a:defRPr sz="1200" b="0">
                <a:solidFill>
                  <a:srgbClr val="526174"/>
                </a:solidFill>
              </a:defRPr>
            </a:pPr>
            <a:r>
              <a:rPr sz="1200" b="0">
                <a:solidFill>
                  <a:srgbClr val="526174"/>
                </a:solidFill>
              </a:rPr>
              <a:t>/ U unknown</a:t>
            </a:r>
          </a:p>
        </p:txBody>
      </p:sp>
      <p:sp>
        <p:nvSpPr>
          <p:cNvPr id="24" name="">
            <a:extLst xmlns:a="http://schemas.openxmlformats.org/drawingml/2006/main">
              <a:ext uri="{FF2B5EF4-FFF2-40B4-BE49-F238E27FC236}">
                <a16:creationId xmlns:a16="http://schemas.microsoft.com/office/drawing/2014/main" id="{87EBA29B-EF82-4340-BF4B-3F555F45E900}"/>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B897D94A-C1B2-4A5D-B222-8081E6E0AA11}"/>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5843389-38D1-41D4-8CEF-E17C42001002}"/>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CFDA2308-FEED-4A16-ADD4-8FAA159FF915}"/>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exists i: state(ci) = C</a:t>
            </a:r>
          </a:p>
        </p:txBody>
      </p:sp>
      <p:sp>
        <p:nvSpPr>
          <p:cNvPr id="28" name="">
            <a:extLst xmlns:a="http://schemas.openxmlformats.org/drawingml/2006/main">
              <a:ext uri="{FF2B5EF4-FFF2-40B4-BE49-F238E27FC236}">
                <a16:creationId xmlns:a16="http://schemas.microsoft.com/office/drawing/2014/main" id="{D98C57F3-6C17-4DE1-95C3-72FB6E1E7B95}"/>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F51D6580-B2FF-4920-9F27-F9960A74FBCD}"/>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B419A719-B8AC-49F0-8183-3A084F96BC78}"/>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898074B9-975B-4E38-8660-F9332CA55179}"/>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for all i: state(ci) = S; no extra factual claim</a:t>
            </a:r>
          </a:p>
        </p:txBody>
      </p:sp>
      <p:sp>
        <p:nvSpPr>
          <p:cNvPr id="32" name="">
            <a:extLst xmlns:a="http://schemas.openxmlformats.org/drawingml/2006/main">
              <a:ext uri="{FF2B5EF4-FFF2-40B4-BE49-F238E27FC236}">
                <a16:creationId xmlns:a16="http://schemas.microsoft.com/office/drawing/2014/main" id="{E3C00D96-6D01-4109-8FC9-0FC2B9213737}"/>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4F2F9C0C-1DC6-4375-ADAE-D70731BA1587}"/>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B7CE9F4D-F433-441C-96A8-34D673675D12}"/>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C83E159B-A90E-4919-ACFE-90D8C19FA99F}"/>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9183107D-F567-4281-9A76-9557A44C0C5E}"/>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44D3C8B9-5B59-47A1-8318-AE71EA0C9A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E5B9D1A5-D4CC-4F4E-A871-C828120885A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8FFB5AD0-C52C-4DF5-B44D-6877374BC84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07</a:t>
            </a:r>
          </a:p>
        </p:txBody>
      </p:sp>
    </p:spTree>
    <p:extLst>
      <p:ext uri="{BB962C8B-B14F-4D97-AF65-F5344CB8AC3E}">
        <p14:creationId xmlns:p14="http://schemas.microsoft.com/office/powerpoint/2010/main" val="1424654819"/>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D85C6EC4-40CF-4EE8-A91B-4914215D9AB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0C72DA74-6FA3-4637-AA13-95E5237E96C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FABD7773-F378-46D6-A376-D7FE19545DB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20ED478E-2C8E-4015-97E1-2EB8E8DD4DD5}"/>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ACAA3E6F-7202-402E-9092-49BFE2D4B776}"/>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A967460-6F3E-48C0-8907-12F9C8A2EBB9}"/>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0D2019EA-A1D7-47B6-9BB7-1D63A227B0D1}"/>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FC59DB85-1346-4518-9C51-D4DD4FCFEEEE}"/>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1D5C912B-36EF-4AE5-899F-B35527818B9F}"/>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0EE2EEEF-3CE9-427D-84EA-D47A4615AF39}"/>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81641F71-C01B-4179-915E-C6ECB777DE6A}"/>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194D14D8-44C3-466D-82A0-8073C7F64941}"/>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36F4F052-AD63-47FA-AD45-8D015AB47A5E}"/>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C0B3EEC1-D034-4C64-92B5-DEE5C554854E}"/>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D36B03E2-464E-4D7B-BE11-46409B2A8474}"/>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C11FE44-4481-4EB3-AA33-FE3630A910C0}"/>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4F3E40AC-F69B-483F-873D-8DAFC1A3434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B7A848B1-D2D3-4947-A71B-9F0728DC1F6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BB6FBEA7-B029-4374-8F9A-F189E13622B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08</a:t>
            </a:r>
          </a:p>
        </p:txBody>
      </p:sp>
    </p:spTree>
    <p:extLst>
      <p:ext uri="{BB962C8B-B14F-4D97-AF65-F5344CB8AC3E}">
        <p14:creationId xmlns:p14="http://schemas.microsoft.com/office/powerpoint/2010/main" val="175299940"/>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trace records why a row was resolved, its source, and the relation that was tested.</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Typed evidence</a:t>
            </a:r>
          </a:p>
          <a:p xmlns:a="http://schemas.openxmlformats.org/drawingml/2006/main">
            <a:pPr algn="ctr">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value</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commencement date</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B5483A"/>
                </a:solidFill>
              </a:defRPr>
            </a:pPr>
            <a:r>
              <a:rPr sz="1200" b="1">
                <a:solidFill>
                  <a:srgbClr val="B5483A"/>
                </a:solidFill>
              </a:rPr>
              <a:t>If any gate fails: abstain (verdict = null)</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09</a:t>
            </a:r>
          </a:p>
        </p:txBody>
      </p:sp>
    </p:spTree>
    <p:extLst>
      <p:ext uri="{BB962C8B-B14F-4D97-AF65-F5344CB8AC3E}">
        <p14:creationId xmlns:p14="http://schemas.microsoft.com/office/powerpoint/2010/main" val="1439275797"/>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6" name="kicker-10">
            <a:extLst xmlns:a="http://schemas.openxmlformats.org/drawingml/2006/main">
              <a:ext uri="{FF2B5EF4-FFF2-40B4-BE49-F238E27FC236}">
                <a16:creationId xmlns:a16="http://schemas.microsoft.com/office/drawing/2014/main" id="{70DE1D79-8DC7-43D6-9761-6E4E60C79C5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1365A60E-E84E-4C00-AE43-7E62CB205D7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Versioned comparisons locate the main design pivots</a:t>
            </a:r>
          </a:p>
        </p:txBody>
      </p:sp>
      <p:sp>
        <p:nvSpPr>
          <p:cNvPr id="3" name="">
            <a:extLst xmlns:a="http://schemas.openxmlformats.org/drawingml/2006/main">
              <a:ext uri="{FF2B5EF4-FFF2-40B4-BE49-F238E27FC236}">
                <a16:creationId xmlns:a16="http://schemas.microsoft.com/office/drawing/2014/main" id="{3C47268A-662D-4394-849C-AAF82247981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5D304B-EA3C-4248-9DF7-8D4EFAC312A5}"/>
              </a:ext>
            </a:extLst>
          </p:cNvPr>
          <p:cNvSpPr>
            <a:spLocks xmlns:a="http://schemas.openxmlformats.org/drawingml/2006/main" noGrp="1"/>
          </p:cNvSpPr>
          <p:nvPr/>
        </p:nvSpPr>
        <p:spPr>
          <a:xfrm xmlns:a="http://schemas.openxmlformats.org/drawingml/2006/main">
            <a:off x="685800" y="1381125"/>
            <a:ext cx="885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These are cumulative versions, not controlled single-factor ablations.</a:t>
            </a:r>
          </a:p>
        </p:txBody>
      </p:sp>
      <p:sp>
        <p:nvSpPr>
          <p:cNvPr id="5" name="">
            <a:extLst xmlns:a="http://schemas.openxmlformats.org/drawingml/2006/main">
              <a:ext uri="{FF2B5EF4-FFF2-40B4-BE49-F238E27FC236}">
                <a16:creationId xmlns:a16="http://schemas.microsoft.com/office/drawing/2014/main" id="{C6228EE5-54FA-45E2-B593-1FE151A053BA}"/>
              </a:ext>
            </a:extLst>
          </p:cNvPr>
          <p:cNvSpPr>
            <a:spLocks xmlns:a="http://schemas.openxmlformats.org/drawingml/2006/main" noGrp="1"/>
          </p:cNvSpPr>
          <p:nvPr/>
        </p:nvSpPr>
        <p:spPr>
          <a:xfrm xmlns:a="http://schemas.openxmlformats.org/drawingml/2006/main">
            <a:off x="876300" y="20764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Version</a:t>
            </a:r>
          </a:p>
        </p:txBody>
      </p:sp>
      <p:sp>
        <p:nvSpPr>
          <p:cNvPr id="6" name="">
            <a:extLst xmlns:a="http://schemas.openxmlformats.org/drawingml/2006/main">
              <a:ext uri="{FF2B5EF4-FFF2-40B4-BE49-F238E27FC236}">
                <a16:creationId xmlns:a16="http://schemas.microsoft.com/office/drawing/2014/main" id="{F08ABB47-7095-4A05-AC0E-6E719ECD2BEA}"/>
              </a:ext>
            </a:extLst>
          </p:cNvPr>
          <p:cNvSpPr>
            <a:spLocks xmlns:a="http://schemas.openxmlformats.org/drawingml/2006/main" noGrp="1"/>
          </p:cNvSpPr>
          <p:nvPr/>
        </p:nvSpPr>
        <p:spPr>
          <a:xfrm xmlns:a="http://schemas.openxmlformats.org/drawingml/2006/main">
            <a:off x="3524250" y="20764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Public F1</a:t>
            </a:r>
          </a:p>
        </p:txBody>
      </p:sp>
      <p:sp>
        <p:nvSpPr>
          <p:cNvPr id="7" name="">
            <a:extLst xmlns:a="http://schemas.openxmlformats.org/drawingml/2006/main">
              <a:ext uri="{FF2B5EF4-FFF2-40B4-BE49-F238E27FC236}">
                <a16:creationId xmlns:a16="http://schemas.microsoft.com/office/drawing/2014/main" id="{D0E29E5F-02F0-47B4-A94D-4085E3FB43E2}"/>
              </a:ext>
            </a:extLst>
          </p:cNvPr>
          <p:cNvSpPr>
            <a:spLocks xmlns:a="http://schemas.openxmlformats.org/drawingml/2006/main" noGrp="1"/>
          </p:cNvSpPr>
          <p:nvPr/>
        </p:nvSpPr>
        <p:spPr>
          <a:xfrm xmlns:a="http://schemas.openxmlformats.org/drawingml/2006/main">
            <a:off x="5048250" y="20764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Rows judged</a:t>
            </a:r>
          </a:p>
        </p:txBody>
      </p:sp>
      <p:sp>
        <p:nvSpPr>
          <p:cNvPr id="8" name="">
            <a:extLst xmlns:a="http://schemas.openxmlformats.org/drawingml/2006/main">
              <a:ext uri="{FF2B5EF4-FFF2-40B4-BE49-F238E27FC236}">
                <a16:creationId xmlns:a16="http://schemas.microsoft.com/office/drawing/2014/main" id="{ECD69B70-C1AC-4014-9A36-50D942417569}"/>
              </a:ext>
            </a:extLst>
          </p:cNvPr>
          <p:cNvSpPr>
            <a:spLocks xmlns:a="http://schemas.openxmlformats.org/drawingml/2006/main" noGrp="1"/>
          </p:cNvSpPr>
          <p:nvPr/>
        </p:nvSpPr>
        <p:spPr>
          <a:xfrm xmlns:a="http://schemas.openxmlformats.org/drawingml/2006/main">
            <a:off x="70866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Main methodological change</a:t>
            </a:r>
          </a:p>
        </p:txBody>
      </p:sp>
      <p:sp>
        <p:nvSpPr>
          <p:cNvPr id="9" name="">
            <a:extLst xmlns:a="http://schemas.openxmlformats.org/drawingml/2006/main">
              <a:ext uri="{FF2B5EF4-FFF2-40B4-BE49-F238E27FC236}">
                <a16:creationId xmlns:a16="http://schemas.microsoft.com/office/drawing/2014/main" id="{73B804FA-64A6-4B82-B1A8-4F1FB355F668}"/>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0" name="">
            <a:extLst xmlns:a="http://schemas.openxmlformats.org/drawingml/2006/main">
              <a:ext uri="{FF2B5EF4-FFF2-40B4-BE49-F238E27FC236}">
                <a16:creationId xmlns:a16="http://schemas.microsoft.com/office/drawing/2014/main" id="{40BC6826-8277-467A-B9CF-A767D2B30ABF}"/>
              </a:ext>
            </a:extLst>
          </p:cNvPr>
          <p:cNvSpPr>
            <a:spLocks xmlns:a="http://schemas.openxmlformats.org/drawingml/2006/main" noGrp="1"/>
          </p:cNvSpPr>
          <p:nvPr/>
        </p:nvSpPr>
        <p:spPr>
          <a:xfrm xmlns:a="http://schemas.openxmlformats.org/drawingml/2006/main">
            <a:off x="914400" y="25717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Baseline</a:t>
            </a:r>
          </a:p>
        </p:txBody>
      </p:sp>
      <p:sp>
        <p:nvSpPr>
          <p:cNvPr id="11" name="">
            <a:extLst xmlns:a="http://schemas.openxmlformats.org/drawingml/2006/main">
              <a:ext uri="{FF2B5EF4-FFF2-40B4-BE49-F238E27FC236}">
                <a16:creationId xmlns:a16="http://schemas.microsoft.com/office/drawing/2014/main" id="{82471643-58C3-4CF7-8C46-3ADB607B6EB2}"/>
              </a:ext>
            </a:extLst>
          </p:cNvPr>
          <p:cNvSpPr>
            <a:spLocks xmlns:a="http://schemas.openxmlformats.org/drawingml/2006/main" noGrp="1"/>
          </p:cNvSpPr>
          <p:nvPr/>
        </p:nvSpPr>
        <p:spPr>
          <a:xfrm xmlns:a="http://schemas.openxmlformats.org/drawingml/2006/main">
            <a:off x="3524250" y="25717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0.657</a:t>
            </a:r>
          </a:p>
        </p:txBody>
      </p:sp>
      <p:sp>
        <p:nvSpPr>
          <p:cNvPr id="12" name="">
            <a:extLst xmlns:a="http://schemas.openxmlformats.org/drawingml/2006/main">
              <a:ext uri="{FF2B5EF4-FFF2-40B4-BE49-F238E27FC236}">
                <a16:creationId xmlns:a16="http://schemas.microsoft.com/office/drawing/2014/main" id="{E51D2073-5BA9-40FD-87E0-6428604E7466}"/>
              </a:ext>
            </a:extLst>
          </p:cNvPr>
          <p:cNvSpPr>
            <a:spLocks xmlns:a="http://schemas.openxmlformats.org/drawingml/2006/main" noGrp="1"/>
          </p:cNvSpPr>
          <p:nvPr/>
        </p:nvSpPr>
        <p:spPr>
          <a:xfrm xmlns:a="http://schemas.openxmlformats.org/drawingml/2006/main">
            <a:off x="5048250" y="2571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none</a:t>
            </a:r>
          </a:p>
        </p:txBody>
      </p:sp>
      <p:sp>
        <p:nvSpPr>
          <p:cNvPr id="13" name="">
            <a:extLst xmlns:a="http://schemas.openxmlformats.org/drawingml/2006/main">
              <a:ext uri="{FF2B5EF4-FFF2-40B4-BE49-F238E27FC236}">
                <a16:creationId xmlns:a16="http://schemas.microsoft.com/office/drawing/2014/main" id="{32BF2E88-70E7-43C4-A35A-6F2143D5A47A}"/>
              </a:ext>
            </a:extLst>
          </p:cNvPr>
          <p:cNvSpPr>
            <a:spLocks xmlns:a="http://schemas.openxmlformats.org/drawingml/2006/main" noGrp="1"/>
          </p:cNvSpPr>
          <p:nvPr/>
        </p:nvSpPr>
        <p:spPr>
          <a:xfrm xmlns:a="http://schemas.openxmlformats.org/drawingml/2006/main">
            <a:off x="7086600" y="2571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character and embedding reference</a:t>
            </a:r>
          </a:p>
        </p:txBody>
      </p:sp>
      <p:sp>
        <p:nvSpPr>
          <p:cNvPr id="14" name="">
            <a:extLst xmlns:a="http://schemas.openxmlformats.org/drawingml/2006/main">
              <a:ext uri="{FF2B5EF4-FFF2-40B4-BE49-F238E27FC236}">
                <a16:creationId xmlns:a16="http://schemas.microsoft.com/office/drawing/2014/main" id="{4051CF53-48E8-4E69-B5EA-A73FE2A7D748}"/>
              </a:ext>
            </a:extLst>
          </p:cNvPr>
          <p:cNvSpPr>
            <a:spLocks xmlns:a="http://schemas.openxmlformats.org/drawingml/2006/main" noGrp="1"/>
          </p:cNvSpPr>
          <p:nvPr/>
        </p:nvSpPr>
        <p:spPr>
          <a:xfrm xmlns:a="http://schemas.openxmlformats.org/drawingml/2006/main">
            <a:off x="876300" y="29432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CC148678-77FC-47A3-B554-06C8358E5111}"/>
              </a:ext>
            </a:extLst>
          </p:cNvPr>
          <p:cNvSpPr>
            <a:spLocks xmlns:a="http://schemas.openxmlformats.org/drawingml/2006/main" noGrp="1"/>
          </p:cNvSpPr>
          <p:nvPr/>
        </p:nvSpPr>
        <p:spPr>
          <a:xfrm xmlns:a="http://schemas.openxmlformats.org/drawingml/2006/main">
            <a:off x="914400" y="30956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Uniform Qwen</a:t>
            </a:r>
          </a:p>
        </p:txBody>
      </p:sp>
      <p:sp>
        <p:nvSpPr>
          <p:cNvPr id="16" name="">
            <a:extLst xmlns:a="http://schemas.openxmlformats.org/drawingml/2006/main">
              <a:ext uri="{FF2B5EF4-FFF2-40B4-BE49-F238E27FC236}">
                <a16:creationId xmlns:a16="http://schemas.microsoft.com/office/drawing/2014/main" id="{DF54593B-AC23-47E8-9FFC-50FBB5F6575D}"/>
              </a:ext>
            </a:extLst>
          </p:cNvPr>
          <p:cNvSpPr>
            <a:spLocks xmlns:a="http://schemas.openxmlformats.org/drawingml/2006/main" noGrp="1"/>
          </p:cNvSpPr>
          <p:nvPr/>
        </p:nvSpPr>
        <p:spPr>
          <a:xfrm xmlns:a="http://schemas.openxmlformats.org/drawingml/2006/main">
            <a:off x="3524250" y="30956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0.797</a:t>
            </a:r>
          </a:p>
        </p:txBody>
      </p:sp>
      <p:sp>
        <p:nvSpPr>
          <p:cNvPr id="17" name="">
            <a:extLst xmlns:a="http://schemas.openxmlformats.org/drawingml/2006/main">
              <a:ext uri="{FF2B5EF4-FFF2-40B4-BE49-F238E27FC236}">
                <a16:creationId xmlns:a16="http://schemas.microsoft.com/office/drawing/2014/main" id="{756C660D-8537-4B83-8AC7-038C7B37B023}"/>
              </a:ext>
            </a:extLst>
          </p:cNvPr>
          <p:cNvSpPr>
            <a:spLocks xmlns:a="http://schemas.openxmlformats.org/drawingml/2006/main" noGrp="1"/>
          </p:cNvSpPr>
          <p:nvPr/>
        </p:nvSpPr>
        <p:spPr>
          <a:xfrm xmlns:a="http://schemas.openxmlformats.org/drawingml/2006/main">
            <a:off x="5048250" y="30956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all rows</a:t>
            </a:r>
          </a:p>
        </p:txBody>
      </p:sp>
      <p:sp>
        <p:nvSpPr>
          <p:cNvPr id="18" name="">
            <a:extLst xmlns:a="http://schemas.openxmlformats.org/drawingml/2006/main">
              <a:ext uri="{FF2B5EF4-FFF2-40B4-BE49-F238E27FC236}">
                <a16:creationId xmlns:a16="http://schemas.microsoft.com/office/drawing/2014/main" id="{5CB67B70-7A6F-48C1-B90D-F935A9F2BC21}"/>
              </a:ext>
            </a:extLst>
          </p:cNvPr>
          <p:cNvSpPr>
            <a:spLocks xmlns:a="http://schemas.openxmlformats.org/drawingml/2006/main" noGrp="1"/>
          </p:cNvSpPr>
          <p:nvPr/>
        </p:nvSpPr>
        <p:spPr>
          <a:xfrm xmlns:a="http://schemas.openxmlformats.org/drawingml/2006/main">
            <a:off x="7086600" y="30956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general reasoning improved; one policy remained</a:t>
            </a:r>
          </a:p>
        </p:txBody>
      </p:sp>
      <p:sp>
        <p:nvSpPr>
          <p:cNvPr id="19" name="">
            <a:extLst xmlns:a="http://schemas.openxmlformats.org/drawingml/2006/main">
              <a:ext uri="{FF2B5EF4-FFF2-40B4-BE49-F238E27FC236}">
                <a16:creationId xmlns:a16="http://schemas.microsoft.com/office/drawing/2014/main" id="{74E5D18F-E1C2-4EC5-8946-3EAE8CBC7531}"/>
              </a:ext>
            </a:extLst>
          </p:cNvPr>
          <p:cNvSpPr>
            <a:spLocks xmlns:a="http://schemas.openxmlformats.org/drawingml/2006/main" noGrp="1"/>
          </p:cNvSpPr>
          <p:nvPr/>
        </p:nvSpPr>
        <p:spPr>
          <a:xfrm xmlns:a="http://schemas.openxmlformats.org/drawingml/2006/main">
            <a:off x="876300" y="34671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EDB9081F-6888-4BC1-B41A-295A47474768}"/>
              </a:ext>
            </a:extLst>
          </p:cNvPr>
          <p:cNvSpPr>
            <a:spLocks xmlns:a="http://schemas.openxmlformats.org/drawingml/2006/main" noGrp="1"/>
          </p:cNvSpPr>
          <p:nvPr/>
        </p:nvSpPr>
        <p:spPr>
          <a:xfrm xmlns:a="http://schemas.openxmlformats.org/drawingml/2006/main">
            <a:off x="819150" y="3552825"/>
            <a:ext cx="10477500" cy="457200"/>
          </a:xfrm>
          <a:prstGeom xmlns:a="http://schemas.openxmlformats.org/drawingml/2006/main" prst="rect">
            <a:avLst/>
          </a:prstGeom>
          <a:solidFill xmlns:a="http://schemas.openxmlformats.org/drawingml/2006/main">
            <a:srgbClr val="DDF2EE"/>
          </a:solidFill>
          <a:ln xmlns:a="http://schemas.openxmlformats.org/drawingml/2006/main" w="0">
            <a:solidFill>
              <a:srgbClr val="DDF2EE"/>
            </a:solidFill>
            <a:prstDash val="solid"/>
          </a:ln>
        </p:spPr>
      </p:sp>
      <p:sp>
        <p:nvSpPr>
          <p:cNvPr id="21" name="">
            <a:extLst xmlns:a="http://schemas.openxmlformats.org/drawingml/2006/main">
              <a:ext uri="{FF2B5EF4-FFF2-40B4-BE49-F238E27FC236}">
                <a16:creationId xmlns:a16="http://schemas.microsoft.com/office/drawing/2014/main" id="{319312EF-363E-4DAD-9545-7906F12331C8}"/>
              </a:ext>
            </a:extLst>
          </p:cNvPr>
          <p:cNvSpPr>
            <a:spLocks xmlns:a="http://schemas.openxmlformats.org/drawingml/2006/main" noGrp="1"/>
          </p:cNvSpPr>
          <p:nvPr/>
        </p:nvSpPr>
        <p:spPr>
          <a:xfrm xmlns:a="http://schemas.openxmlformats.org/drawingml/2006/main">
            <a:off x="914400" y="361950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2A8C82"/>
                </a:solidFill>
              </a:defRPr>
            </a:pPr>
            <a:r>
              <a:rPr sz="1425" b="1">
                <a:solidFill>
                  <a:srgbClr val="2A8C82"/>
                </a:solidFill>
              </a:rPr>
              <a:t>v6</a:t>
            </a:r>
          </a:p>
        </p:txBody>
      </p:sp>
      <p:sp>
        <p:nvSpPr>
          <p:cNvPr id="22" name="">
            <a:extLst xmlns:a="http://schemas.openxmlformats.org/drawingml/2006/main">
              <a:ext uri="{FF2B5EF4-FFF2-40B4-BE49-F238E27FC236}">
                <a16:creationId xmlns:a16="http://schemas.microsoft.com/office/drawing/2014/main" id="{67F113F1-1B36-45F2-97A8-600DDAD0C6C8}"/>
              </a:ext>
            </a:extLst>
          </p:cNvPr>
          <p:cNvSpPr>
            <a:spLocks xmlns:a="http://schemas.openxmlformats.org/drawingml/2006/main" noGrp="1"/>
          </p:cNvSpPr>
          <p:nvPr/>
        </p:nvSpPr>
        <p:spPr>
          <a:xfrm xmlns:a="http://schemas.openxmlformats.org/drawingml/2006/main">
            <a:off x="3524250" y="36195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0.903</a:t>
            </a:r>
          </a:p>
        </p:txBody>
      </p:sp>
      <p:sp>
        <p:nvSpPr>
          <p:cNvPr id="23" name="">
            <a:extLst xmlns:a="http://schemas.openxmlformats.org/drawingml/2006/main">
              <a:ext uri="{FF2B5EF4-FFF2-40B4-BE49-F238E27FC236}">
                <a16:creationId xmlns:a16="http://schemas.microsoft.com/office/drawing/2014/main" id="{932C4F4C-5B6C-4D5C-9214-209BD07098ED}"/>
              </a:ext>
            </a:extLst>
          </p:cNvPr>
          <p:cNvSpPr>
            <a:spLocks xmlns:a="http://schemas.openxmlformats.org/drawingml/2006/main" noGrp="1"/>
          </p:cNvSpPr>
          <p:nvPr/>
        </p:nvSpPr>
        <p:spPr>
          <a:xfrm xmlns:a="http://schemas.openxmlformats.org/drawingml/2006/main">
            <a:off x="5048250" y="36195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reduced</a:t>
            </a:r>
          </a:p>
        </p:txBody>
      </p:sp>
      <p:sp>
        <p:nvSpPr>
          <p:cNvPr id="24" name="">
            <a:extLst xmlns:a="http://schemas.openxmlformats.org/drawingml/2006/main">
              <a:ext uri="{FF2B5EF4-FFF2-40B4-BE49-F238E27FC236}">
                <a16:creationId xmlns:a16="http://schemas.microsoft.com/office/drawing/2014/main" id="{3C236A13-B93B-46FD-939A-36EEF4B776B9}"/>
              </a:ext>
            </a:extLst>
          </p:cNvPr>
          <p:cNvSpPr>
            <a:spLocks xmlns:a="http://schemas.openxmlformats.org/drawingml/2006/main" noGrp="1"/>
          </p:cNvSpPr>
          <p:nvPr/>
        </p:nvSpPr>
        <p:spPr>
          <a:xfrm xmlns:a="http://schemas.openxmlformats.org/drawingml/2006/main">
            <a:off x="7086600" y="36195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source and structured routing</a:t>
            </a:r>
          </a:p>
        </p:txBody>
      </p:sp>
      <p:sp>
        <p:nvSpPr>
          <p:cNvPr id="25" name="">
            <a:extLst xmlns:a="http://schemas.openxmlformats.org/drawingml/2006/main">
              <a:ext uri="{FF2B5EF4-FFF2-40B4-BE49-F238E27FC236}">
                <a16:creationId xmlns:a16="http://schemas.microsoft.com/office/drawing/2014/main" id="{B12F059F-383F-49FA-9F3E-F0B5EFA473C5}"/>
              </a:ext>
            </a:extLst>
          </p:cNvPr>
          <p:cNvSpPr>
            <a:spLocks xmlns:a="http://schemas.openxmlformats.org/drawingml/2006/main" noGrp="1"/>
          </p:cNvSpPr>
          <p:nvPr/>
        </p:nvSpPr>
        <p:spPr>
          <a:xfrm xmlns:a="http://schemas.openxmlformats.org/drawingml/2006/main">
            <a:off x="876300" y="399097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DA98BE0-6DE4-4B31-8C9D-F58611F2C8E0}"/>
              </a:ext>
            </a:extLst>
          </p:cNvPr>
          <p:cNvSpPr>
            <a:spLocks xmlns:a="http://schemas.openxmlformats.org/drawingml/2006/main" noGrp="1"/>
          </p:cNvSpPr>
          <p:nvPr/>
        </p:nvSpPr>
        <p:spPr>
          <a:xfrm xmlns:a="http://schemas.openxmlformats.org/drawingml/2006/main">
            <a:off x="914400" y="414337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v37</a:t>
            </a:r>
          </a:p>
        </p:txBody>
      </p:sp>
      <p:sp>
        <p:nvSpPr>
          <p:cNvPr id="27" name="">
            <a:extLst xmlns:a="http://schemas.openxmlformats.org/drawingml/2006/main">
              <a:ext uri="{FF2B5EF4-FFF2-40B4-BE49-F238E27FC236}">
                <a16:creationId xmlns:a16="http://schemas.microsoft.com/office/drawing/2014/main" id="{EF79539B-E7EB-42D6-866A-3A21377BA7CE}"/>
              </a:ext>
            </a:extLst>
          </p:cNvPr>
          <p:cNvSpPr>
            <a:spLocks xmlns:a="http://schemas.openxmlformats.org/drawingml/2006/main" noGrp="1"/>
          </p:cNvSpPr>
          <p:nvPr/>
        </p:nvSpPr>
        <p:spPr>
          <a:xfrm xmlns:a="http://schemas.openxmlformats.org/drawingml/2006/main">
            <a:off x="3524250" y="41433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0.961</a:t>
            </a:r>
          </a:p>
        </p:txBody>
      </p:sp>
      <p:sp>
        <p:nvSpPr>
          <p:cNvPr id="28" name="">
            <a:extLst xmlns:a="http://schemas.openxmlformats.org/drawingml/2006/main">
              <a:ext uri="{FF2B5EF4-FFF2-40B4-BE49-F238E27FC236}">
                <a16:creationId xmlns:a16="http://schemas.microsoft.com/office/drawing/2014/main" id="{F28035BB-0D79-43B6-A2E5-26B313048C16}"/>
              </a:ext>
            </a:extLst>
          </p:cNvPr>
          <p:cNvSpPr>
            <a:spLocks xmlns:a="http://schemas.openxmlformats.org/drawingml/2006/main" noGrp="1"/>
          </p:cNvSpPr>
          <p:nvPr/>
        </p:nvSpPr>
        <p:spPr>
          <a:xfrm xmlns:a="http://schemas.openxmlformats.org/drawingml/2006/main">
            <a:off x="5048250" y="41433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526174"/>
                </a:solidFill>
              </a:defRPr>
            </a:pPr>
            <a:r>
              <a:rPr sz="1350" b="1">
                <a:solidFill>
                  <a:srgbClr val="526174"/>
                </a:solidFill>
              </a:rPr>
              <a:t>312</a:t>
            </a:r>
          </a:p>
        </p:txBody>
      </p:sp>
      <p:sp>
        <p:nvSpPr>
          <p:cNvPr id="29" name="">
            <a:extLst xmlns:a="http://schemas.openxmlformats.org/drawingml/2006/main">
              <a:ext uri="{FF2B5EF4-FFF2-40B4-BE49-F238E27FC236}">
                <a16:creationId xmlns:a16="http://schemas.microsoft.com/office/drawing/2014/main" id="{7F693F92-3733-4DB2-90B0-B6085BE41E75}"/>
              </a:ext>
            </a:extLst>
          </p:cNvPr>
          <p:cNvSpPr>
            <a:spLocks xmlns:a="http://schemas.openxmlformats.org/drawingml/2006/main" noGrp="1"/>
          </p:cNvSpPr>
          <p:nvPr/>
        </p:nvSpPr>
        <p:spPr>
          <a:xfrm xmlns:a="http://schemas.openxmlformats.org/drawingml/2006/main">
            <a:off x="7086600" y="4143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stricter provenance gate</a:t>
            </a:r>
          </a:p>
        </p:txBody>
      </p:sp>
      <p:sp>
        <p:nvSpPr>
          <p:cNvPr id="30" name="">
            <a:extLst xmlns:a="http://schemas.openxmlformats.org/drawingml/2006/main">
              <a:ext uri="{FF2B5EF4-FFF2-40B4-BE49-F238E27FC236}">
                <a16:creationId xmlns:a16="http://schemas.microsoft.com/office/drawing/2014/main" id="{8D850C4A-65C5-4EC4-90DD-8702C4D00FC0}"/>
              </a:ext>
            </a:extLst>
          </p:cNvPr>
          <p:cNvSpPr>
            <a:spLocks xmlns:a="http://schemas.openxmlformats.org/drawingml/2006/main" noGrp="1"/>
          </p:cNvSpPr>
          <p:nvPr/>
        </p:nvSpPr>
        <p:spPr>
          <a:xfrm xmlns:a="http://schemas.openxmlformats.org/drawingml/2006/main">
            <a:off x="876300" y="4514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1" name="">
            <a:extLst xmlns:a="http://schemas.openxmlformats.org/drawingml/2006/main">
              <a:ext uri="{FF2B5EF4-FFF2-40B4-BE49-F238E27FC236}">
                <a16:creationId xmlns:a16="http://schemas.microsoft.com/office/drawing/2014/main" id="{4933FA2A-2C4C-44C1-BD05-CAF058C3CC51}"/>
              </a:ext>
            </a:extLst>
          </p:cNvPr>
          <p:cNvSpPr>
            <a:spLocks xmlns:a="http://schemas.openxmlformats.org/drawingml/2006/main" noGrp="1"/>
          </p:cNvSpPr>
          <p:nvPr/>
        </p:nvSpPr>
        <p:spPr>
          <a:xfrm xmlns:a="http://schemas.openxmlformats.org/drawingml/2006/main">
            <a:off x="914400" y="46672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v85</a:t>
            </a:r>
          </a:p>
        </p:txBody>
      </p:sp>
      <p:sp>
        <p:nvSpPr>
          <p:cNvPr id="32" name="">
            <a:extLst xmlns:a="http://schemas.openxmlformats.org/drawingml/2006/main">
              <a:ext uri="{FF2B5EF4-FFF2-40B4-BE49-F238E27FC236}">
                <a16:creationId xmlns:a16="http://schemas.microsoft.com/office/drawing/2014/main" id="{6DC67C3E-91B1-4714-A545-3DB3C04FA1DA}"/>
              </a:ext>
            </a:extLst>
          </p:cNvPr>
          <p:cNvSpPr>
            <a:spLocks xmlns:a="http://schemas.openxmlformats.org/drawingml/2006/main" noGrp="1"/>
          </p:cNvSpPr>
          <p:nvPr/>
        </p:nvSpPr>
        <p:spPr>
          <a:xfrm xmlns:a="http://schemas.openxmlformats.org/drawingml/2006/main">
            <a:off x="3524250" y="4667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0.966</a:t>
            </a:r>
          </a:p>
        </p:txBody>
      </p:sp>
      <p:sp>
        <p:nvSpPr>
          <p:cNvPr id="33" name="">
            <a:extLst xmlns:a="http://schemas.openxmlformats.org/drawingml/2006/main">
              <a:ext uri="{FF2B5EF4-FFF2-40B4-BE49-F238E27FC236}">
                <a16:creationId xmlns:a16="http://schemas.microsoft.com/office/drawing/2014/main" id="{11166A62-E6A0-4C5B-B17D-EFB7990A9FB9}"/>
              </a:ext>
            </a:extLst>
          </p:cNvPr>
          <p:cNvSpPr>
            <a:spLocks xmlns:a="http://schemas.openxmlformats.org/drawingml/2006/main" noGrp="1"/>
          </p:cNvSpPr>
          <p:nvPr/>
        </p:nvSpPr>
        <p:spPr>
          <a:xfrm xmlns:a="http://schemas.openxmlformats.org/drawingml/2006/main">
            <a:off x="5048250" y="46672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526174"/>
                </a:solidFill>
              </a:defRPr>
            </a:pPr>
            <a:r>
              <a:rPr sz="1350" b="1">
                <a:solidFill>
                  <a:srgbClr val="526174"/>
                </a:solidFill>
              </a:rPr>
              <a:t>193</a:t>
            </a:r>
          </a:p>
        </p:txBody>
      </p:sp>
      <p:sp>
        <p:nvSpPr>
          <p:cNvPr id="34" name="">
            <a:extLst xmlns:a="http://schemas.openxmlformats.org/drawingml/2006/main">
              <a:ext uri="{FF2B5EF4-FFF2-40B4-BE49-F238E27FC236}">
                <a16:creationId xmlns:a16="http://schemas.microsoft.com/office/drawing/2014/main" id="{BE0991A4-AE6C-4C95-B379-A6166A5E715E}"/>
              </a:ext>
            </a:extLst>
          </p:cNvPr>
          <p:cNvSpPr>
            <a:spLocks xmlns:a="http://schemas.openxmlformats.org/drawingml/2006/main" noGrp="1"/>
          </p:cNvSpPr>
          <p:nvPr/>
        </p:nvSpPr>
        <p:spPr>
          <a:xfrm xmlns:a="http://schemas.openxmlformats.org/drawingml/2006/main">
            <a:off x="7086600" y="46672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reproducible two-source anchor</a:t>
            </a:r>
          </a:p>
        </p:txBody>
      </p:sp>
      <p:sp>
        <p:nvSpPr>
          <p:cNvPr id="35" name="">
            <a:extLst xmlns:a="http://schemas.openxmlformats.org/drawingml/2006/main">
              <a:ext uri="{FF2B5EF4-FFF2-40B4-BE49-F238E27FC236}">
                <a16:creationId xmlns:a16="http://schemas.microsoft.com/office/drawing/2014/main" id="{6D0D048E-1EFB-4CFA-B52E-5C5D70E2C7BE}"/>
              </a:ext>
            </a:extLst>
          </p:cNvPr>
          <p:cNvSpPr>
            <a:spLocks xmlns:a="http://schemas.openxmlformats.org/drawingml/2006/main" noGrp="1"/>
          </p:cNvSpPr>
          <p:nvPr/>
        </p:nvSpPr>
        <p:spPr>
          <a:xfrm xmlns:a="http://schemas.openxmlformats.org/drawingml/2006/main">
            <a:off x="876300" y="50387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BC334C9B-56F2-48D5-AA12-285571825044}"/>
              </a:ext>
            </a:extLst>
          </p:cNvPr>
          <p:cNvSpPr>
            <a:spLocks xmlns:a="http://schemas.openxmlformats.org/drawingml/2006/main" noGrp="1"/>
          </p:cNvSpPr>
          <p:nvPr/>
        </p:nvSpPr>
        <p:spPr>
          <a:xfrm xmlns:a="http://schemas.openxmlformats.org/drawingml/2006/main">
            <a:off x="819150" y="5124450"/>
            <a:ext cx="10477500" cy="457200"/>
          </a:xfrm>
          <a:prstGeom xmlns:a="http://schemas.openxmlformats.org/drawingml/2006/main" prst="rect">
            <a:avLst/>
          </a:prstGeom>
          <a:solidFill xmlns:a="http://schemas.openxmlformats.org/drawingml/2006/main">
            <a:srgbClr val="FBF0D8"/>
          </a:solidFill>
          <a:ln xmlns:a="http://schemas.openxmlformats.org/drawingml/2006/main" w="0">
            <a:solidFill>
              <a:srgbClr val="FBF0D8"/>
            </a:solidFill>
            <a:prstDash val="solid"/>
          </a:ln>
        </p:spPr>
      </p:sp>
      <p:sp>
        <p:nvSpPr>
          <p:cNvPr id="37" name="">
            <a:extLst xmlns:a="http://schemas.openxmlformats.org/drawingml/2006/main">
              <a:ext uri="{FF2B5EF4-FFF2-40B4-BE49-F238E27FC236}">
                <a16:creationId xmlns:a16="http://schemas.microsoft.com/office/drawing/2014/main" id="{4DA894E2-5D6A-4D38-A0D5-E0FAA5BCFEE6}"/>
              </a:ext>
            </a:extLst>
          </p:cNvPr>
          <p:cNvSpPr>
            <a:spLocks xmlns:a="http://schemas.openxmlformats.org/drawingml/2006/main" noGrp="1"/>
          </p:cNvSpPr>
          <p:nvPr/>
        </p:nvSpPr>
        <p:spPr>
          <a:xfrm xmlns:a="http://schemas.openxmlformats.org/drawingml/2006/main">
            <a:off x="914400" y="51911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D59B32"/>
                </a:solidFill>
              </a:defRPr>
            </a:pPr>
            <a:r>
              <a:rPr sz="1425" b="1">
                <a:solidFill>
                  <a:srgbClr val="D59B32"/>
                </a:solidFill>
              </a:rPr>
              <a:t>v91</a:t>
            </a:r>
          </a:p>
        </p:txBody>
      </p:sp>
      <p:sp>
        <p:nvSpPr>
          <p:cNvPr id="38" name="">
            <a:extLst xmlns:a="http://schemas.openxmlformats.org/drawingml/2006/main">
              <a:ext uri="{FF2B5EF4-FFF2-40B4-BE49-F238E27FC236}">
                <a16:creationId xmlns:a16="http://schemas.microsoft.com/office/drawing/2014/main" id="{F8D14C7C-DC43-44C3-8F96-889B471D8A99}"/>
              </a:ext>
            </a:extLst>
          </p:cNvPr>
          <p:cNvSpPr>
            <a:spLocks xmlns:a="http://schemas.openxmlformats.org/drawingml/2006/main" noGrp="1"/>
          </p:cNvSpPr>
          <p:nvPr/>
        </p:nvSpPr>
        <p:spPr>
          <a:xfrm xmlns:a="http://schemas.openxmlformats.org/drawingml/2006/main">
            <a:off x="3524250" y="51911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0.967</a:t>
            </a:r>
          </a:p>
        </p:txBody>
      </p:sp>
      <p:sp>
        <p:nvSpPr>
          <p:cNvPr id="39" name="">
            <a:extLst xmlns:a="http://schemas.openxmlformats.org/drawingml/2006/main">
              <a:ext uri="{FF2B5EF4-FFF2-40B4-BE49-F238E27FC236}">
                <a16:creationId xmlns:a16="http://schemas.microsoft.com/office/drawing/2014/main" id="{1EBD9334-F942-4086-BCB5-61A440EE63F9}"/>
              </a:ext>
            </a:extLst>
          </p:cNvPr>
          <p:cNvSpPr>
            <a:spLocks xmlns:a="http://schemas.openxmlformats.org/drawingml/2006/main" noGrp="1"/>
          </p:cNvSpPr>
          <p:nvPr/>
        </p:nvSpPr>
        <p:spPr>
          <a:xfrm xmlns:a="http://schemas.openxmlformats.org/drawingml/2006/main">
            <a:off x="5048250" y="51911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526174"/>
                </a:solidFill>
              </a:defRPr>
            </a:pPr>
            <a:r>
              <a:rPr sz="1350" b="1">
                <a:solidFill>
                  <a:srgbClr val="526174"/>
                </a:solidFill>
              </a:rPr>
              <a:t>158</a:t>
            </a:r>
          </a:p>
        </p:txBody>
      </p:sp>
      <p:sp>
        <p:nvSpPr>
          <p:cNvPr id="40" name="">
            <a:extLst xmlns:a="http://schemas.openxmlformats.org/drawingml/2006/main">
              <a:ext uri="{FF2B5EF4-FFF2-40B4-BE49-F238E27FC236}">
                <a16:creationId xmlns:a16="http://schemas.microsoft.com/office/drawing/2014/main" id="{1E35ADB7-6EBD-4DA8-9D12-1C5AF8F68226}"/>
              </a:ext>
            </a:extLst>
          </p:cNvPr>
          <p:cNvSpPr>
            <a:spLocks xmlns:a="http://schemas.openxmlformats.org/drawingml/2006/main" noGrp="1"/>
          </p:cNvSpPr>
          <p:nvPr/>
        </p:nvSpPr>
        <p:spPr>
          <a:xfrm xmlns:a="http://schemas.openxmlformats.org/drawingml/2006/main">
            <a:off x="7086600" y="51911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typed idiom and predicate guards</a:t>
            </a:r>
          </a:p>
        </p:txBody>
      </p:sp>
      <p:sp>
        <p:nvSpPr>
          <p:cNvPr id="41" name="">
            <a:extLst xmlns:a="http://schemas.openxmlformats.org/drawingml/2006/main">
              <a:ext uri="{FF2B5EF4-FFF2-40B4-BE49-F238E27FC236}">
                <a16:creationId xmlns:a16="http://schemas.microsoft.com/office/drawing/2014/main" id="{51F1E0C3-67AE-48EE-9DF0-1DB94A9A1594}"/>
              </a:ext>
            </a:extLst>
          </p:cNvPr>
          <p:cNvSpPr>
            <a:spLocks xmlns:a="http://schemas.openxmlformats.org/drawingml/2006/main" noGrp="1"/>
          </p:cNvSpPr>
          <p:nvPr/>
        </p:nvSpPr>
        <p:spPr>
          <a:xfrm xmlns:a="http://schemas.openxmlformats.org/drawingml/2006/main">
            <a:off x="876300" y="55626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2" name="">
            <a:extLst xmlns:a="http://schemas.openxmlformats.org/drawingml/2006/main">
              <a:ext uri="{FF2B5EF4-FFF2-40B4-BE49-F238E27FC236}">
                <a16:creationId xmlns:a16="http://schemas.microsoft.com/office/drawing/2014/main" id="{9A0EB313-E1E1-4998-A094-F58FE7597B66}"/>
              </a:ext>
            </a:extLst>
          </p:cNvPr>
          <p:cNvSpPr>
            <a:spLocks xmlns:a="http://schemas.openxmlformats.org/drawingml/2006/main" noGrp="1"/>
          </p:cNvSpPr>
          <p:nvPr/>
        </p:nvSpPr>
        <p:spPr>
          <a:xfrm xmlns:a="http://schemas.openxmlformats.org/drawingml/2006/main">
            <a:off x="1524000" y="5886450"/>
            <a:ext cx="914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A8C82"/>
                </a:solidFill>
              </a:defRPr>
            </a:pPr>
            <a:r>
              <a:rPr sz="1500" b="1">
                <a:solidFill>
                  <a:srgbClr val="2A8C82"/>
                </a:solidFill>
              </a:rPr>
              <a:t>The largest observed step coincided with routing: 0.797 → 0.903.</a:t>
            </a:r>
          </a:p>
        </p:txBody>
      </p:sp>
      <p:sp>
        <p:nvSpPr>
          <p:cNvPr id="43" name="">
            <a:extLst xmlns:a="http://schemas.openxmlformats.org/drawingml/2006/main">
              <a:ext uri="{FF2B5EF4-FFF2-40B4-BE49-F238E27FC236}">
                <a16:creationId xmlns:a16="http://schemas.microsoft.com/office/drawing/2014/main" id="{35BCF703-F8C1-4209-B95A-10EC8329E39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4" name="source-10">
            <a:extLst xmlns:a="http://schemas.openxmlformats.org/drawingml/2006/main">
              <a:ext uri="{FF2B5EF4-FFF2-40B4-BE49-F238E27FC236}">
                <a16:creationId xmlns:a16="http://schemas.microsoft.com/office/drawing/2014/main" id="{C325922F-B7FF-4972-85F3-E668293137C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Scored Phase 1 experiment ledger and Kaggle public leaderboard</a:t>
            </a:r>
          </a:p>
        </p:txBody>
      </p:sp>
      <p:sp>
        <p:nvSpPr>
          <p:cNvPr id="45" name="page-10">
            <a:extLst xmlns:a="http://schemas.openxmlformats.org/drawingml/2006/main">
              <a:ext uri="{FF2B5EF4-FFF2-40B4-BE49-F238E27FC236}">
                <a16:creationId xmlns:a16="http://schemas.microsoft.com/office/drawing/2014/main" id="{48E3BAE2-DC47-4C85-BFB1-CF4EB19F643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10</a:t>
            </a:r>
          </a:p>
        </p:txBody>
      </p:sp>
    </p:spTree>
    <p:extLst>
      <p:ext uri="{BB962C8B-B14F-4D97-AF65-F5344CB8AC3E}">
        <p14:creationId xmlns:p14="http://schemas.microsoft.com/office/powerpoint/2010/main" val="2139972927"/>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FBA6E5D5-3FD8-48FC-84C9-880965CBC98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5A9C8C4D-3902-4BE8-AF24-CB099C51556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FBE5D8CB-5EAE-49FF-8076-0F178199F79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B23159F-2413-4BF4-BDFE-FB86E247005D}"/>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B1010340-9A9A-4496-93C2-BF0D34567949}"/>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0E84A8EA-2E4B-4EB7-A89F-91D797C3AA03}"/>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2A21159E-1664-448E-A0AA-04FCB2DAFFB9}"/>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0565CAA6-8237-4885-80BA-A476B44D36CD}"/>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FFB3AE57-E655-4D9F-847B-EDE301283FB5}"/>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D530B28B-4CFF-493B-8D5C-35E6FD7671CF}"/>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98972ACF-F41F-4443-BA6D-CCB32007930A}"/>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9E0EB938-7E6F-4D27-BBAF-D44E5347D685}"/>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DD35140A-910A-48A9-BD35-7E4E08C89826}"/>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A28039F2-D0EA-4383-9E35-B19709EEFED3}"/>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727DD5F1-E643-4D99-8A8A-AF94F7BC26AA}"/>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C2AECBDC-1D0D-49F0-8B40-D633C812FE49}"/>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167CDB02-8DF0-4CD6-8BE0-AAB639163919}"/>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363C1570-8C19-4F0F-9E37-4839B6A7C60F}"/>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1E3B809B-72FC-43C9-8B62-085B63D9DE29}"/>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9A1AA02E-B891-4133-A939-2FD48E9ED555}"/>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F831E87-D104-47BC-A892-BCD479F7B849}"/>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9D0D269E-1B19-4849-BE54-1C086F6E7148}"/>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F6C55C9B-1E86-477F-8151-26BC09102323}"/>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744243E3-375E-4DA4-93AA-4294E593C452}"/>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29EFD0DC-B388-4476-A62A-338BC2C07F9D}"/>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606B725C-818B-44BD-9619-91C2C55B01B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F6268502-DD88-4C8E-AFC2-F3735EDC5F3A}"/>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BA6637E6-7E5D-4167-8869-67A5BAC6055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11</a:t>
            </a:r>
          </a:p>
        </p:txBody>
      </p:sp>
    </p:spTree>
    <p:extLst>
      <p:ext uri="{BB962C8B-B14F-4D97-AF65-F5344CB8AC3E}">
        <p14:creationId xmlns:p14="http://schemas.microsoft.com/office/powerpoint/2010/main" val="837753142"/>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Reproducibility was treated as an evaluation result</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Correctness, deterministic execution, output integrity, and runtime were checked separately.</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Literal path</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organizer test path</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Pinned assets</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model + runtime + evidence</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Fixed schedule</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rows + prompts + batches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T4×2 inference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one tensor-split server</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D59B32"/>
                </a:solidFill>
              </a:defRPr>
            </a:pPr>
            <a:r>
              <a:rPr sz="1425" b="1">
                <a:solidFill>
                  <a:srgbClr val="D59B32"/>
                </a:solidFill>
              </a:rPr>
              <a:t>Validated CSV</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ordered id,label</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3 runs matched byte-for-byte  •  scored CSV hash matched  •  5,000 Phase 2 rows validated in 3:52:02</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Regression suite, freeze manifest, evaluation ledger  [8] Phase 2 runtime evidence</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12</a:t>
            </a:r>
          </a:p>
        </p:txBody>
      </p:sp>
    </p:spTree>
    <p:extLst>
      <p:ext uri="{BB962C8B-B14F-4D97-AF65-F5344CB8AC3E}">
        <p14:creationId xmlns:p14="http://schemas.microsoft.com/office/powerpoint/2010/main" val="1722569808"/>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1515D7EA-7C1E-424C-9365-9E703170CF4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9CBDE1AC-996D-4140-B259-DE951A849DF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completed in 3 h 52 min with 95.9% judged</a:t>
            </a:r>
          </a:p>
        </p:txBody>
      </p:sp>
      <p:sp>
        <p:nvSpPr>
          <p:cNvPr id="3" name="">
            <a:extLst xmlns:a="http://schemas.openxmlformats.org/drawingml/2006/main">
              <a:ext uri="{FF2B5EF4-FFF2-40B4-BE49-F238E27FC236}">
                <a16:creationId xmlns:a16="http://schemas.microsoft.com/office/drawing/2014/main" id="{3F85B47B-9034-4171-8DE0-E26C64512BE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9A8B2D2-345A-4001-ACFB-90DD8BD36ED4}"/>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Measured organizer-run inference on 5,000 rows using Kaggle Tesla T4 x2.</a:t>
            </a:r>
          </a:p>
        </p:txBody>
      </p:sp>
      <p:sp>
        <p:nvSpPr>
          <p:cNvPr id="5" name="">
            <a:extLst xmlns:a="http://schemas.openxmlformats.org/drawingml/2006/main">
              <a:ext uri="{FF2B5EF4-FFF2-40B4-BE49-F238E27FC236}">
                <a16:creationId xmlns:a16="http://schemas.microsoft.com/office/drawing/2014/main" id="{F4F23D1D-E1EF-47E0-9F17-AA0FF61629CA}"/>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5,000</a:t>
            </a:r>
          </a:p>
        </p:txBody>
      </p:sp>
      <p:sp>
        <p:nvSpPr>
          <p:cNvPr id="6" name="">
            <a:extLst xmlns:a="http://schemas.openxmlformats.org/drawingml/2006/main">
              <a:ext uri="{FF2B5EF4-FFF2-40B4-BE49-F238E27FC236}">
                <a16:creationId xmlns:a16="http://schemas.microsoft.com/office/drawing/2014/main" id="{DDEC418C-6FEF-49FC-ABD6-5D70DA6E4243}"/>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held-out rows</a:t>
            </a:r>
          </a:p>
        </p:txBody>
      </p:sp>
      <p:sp>
        <p:nvSpPr>
          <p:cNvPr id="7" name="">
            <a:extLst xmlns:a="http://schemas.openxmlformats.org/drawingml/2006/main">
              <a:ext uri="{FF2B5EF4-FFF2-40B4-BE49-F238E27FC236}">
                <a16:creationId xmlns:a16="http://schemas.microsoft.com/office/drawing/2014/main" id="{67F1B708-C6AE-4794-AB6B-C81E80CFAAD7}"/>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207</a:t>
            </a:r>
          </a:p>
        </p:txBody>
      </p:sp>
      <p:sp>
        <p:nvSpPr>
          <p:cNvPr id="8" name="">
            <a:extLst xmlns:a="http://schemas.openxmlformats.org/drawingml/2006/main">
              <a:ext uri="{FF2B5EF4-FFF2-40B4-BE49-F238E27FC236}">
                <a16:creationId xmlns:a16="http://schemas.microsoft.com/office/drawing/2014/main" id="{361C308C-08C1-423D-A8FF-BDA70BBAB123}"/>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(4.14%)</a:t>
            </a:r>
          </a:p>
        </p:txBody>
      </p:sp>
      <p:sp>
        <p:nvSpPr>
          <p:cNvPr id="9" name="">
            <a:extLst xmlns:a="http://schemas.openxmlformats.org/drawingml/2006/main">
              <a:ext uri="{FF2B5EF4-FFF2-40B4-BE49-F238E27FC236}">
                <a16:creationId xmlns:a16="http://schemas.microsoft.com/office/drawing/2014/main" id="{0DE803D9-85D5-4C74-8917-D21B6D2B8322}"/>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81A1FF96-D508-482B-B3E1-50C3C04F1BE8}"/>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80A785F7-F043-46DD-B629-5563143EA3F8}"/>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9745065D-18A3-49F5-B422-FE791C5815D4}"/>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validated end to end</a:t>
            </a:r>
          </a:p>
        </p:txBody>
      </p:sp>
      <p:sp>
        <p:nvSpPr>
          <p:cNvPr id="13" name="">
            <a:extLst xmlns:a="http://schemas.openxmlformats.org/drawingml/2006/main">
              <a:ext uri="{FF2B5EF4-FFF2-40B4-BE49-F238E27FC236}">
                <a16:creationId xmlns:a16="http://schemas.microsoft.com/office/drawing/2014/main" id="{F13DCB45-6328-46C7-9F78-A93788098544}"/>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B818CCB0-86F6-442F-BFD2-A4A73F082115}"/>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AC90211E-356E-4FF0-8C9C-8F3F3A8B5F66}"/>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6A46EC01-E823-45CA-9BF2-4838B5F9BFC8}"/>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C29F6B35-5C93-49F3-9D28-CAF25BF70D11}"/>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8CC1E3D9-14ED-44EB-97B0-4F749CA76901}"/>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78220494-A5A4-48E8-80F9-A264D5CAF2ED}"/>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1696F7E3-707D-428A-8F7C-18B3B033B65F}"/>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D92A2359-2E7A-4443-8169-79B97E0C2059}"/>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6B385DE0-BA4A-471A-B834-285082D85A1D}"/>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9E799F49-DE36-456A-8043-2345AB2A4E41}"/>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301E4E6E-0361-460F-A7F6-EADE60375C1D}"/>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A6E36677-D556-495A-8379-7F9A40FA2D6F}"/>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EA15D5F2-CF9F-4A69-B1AB-FDCFC0CF9CBE}"/>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77AFDDF9-CB7A-43A3-9D9E-6ED4A10C3A7B}"/>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C16E0CB5-88DB-4755-B5D3-7D0910A9EB32}"/>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C6C40E55-62DE-4F90-A086-92F2D927155B}"/>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18ED38FA-5DAA-4734-A0DC-F859F6756EF2}"/>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63C8B2DA-DDDF-4534-B6FF-EE531BB7D501}"/>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A36BCA44-7F28-4598-BBA0-4707B77B62A5}"/>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35FBF6CB-E886-4974-846F-255370A4F36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BFC6A061-DF5B-495E-A48F-0FFD1211856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[8] Organizer-executed Phase 2 notebook and runtime report</a:t>
            </a:r>
          </a:p>
        </p:txBody>
      </p:sp>
      <p:sp>
        <p:nvSpPr>
          <p:cNvPr id="35" name="page-13">
            <a:extLst xmlns:a="http://schemas.openxmlformats.org/drawingml/2006/main">
              <a:ext uri="{FF2B5EF4-FFF2-40B4-BE49-F238E27FC236}">
                <a16:creationId xmlns:a16="http://schemas.microsoft.com/office/drawing/2014/main" id="{54D3B0D4-1D47-428C-9E2B-904D05515CA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13</a:t>
            </a:r>
          </a:p>
        </p:txBody>
      </p:sp>
    </p:spTree>
    <p:extLst>
      <p:ext uri="{BB962C8B-B14F-4D97-AF65-F5344CB8AC3E}">
        <p14:creationId xmlns:p14="http://schemas.microsoft.com/office/powerpoint/2010/main" val="79480487"/>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7898B36C-2C17-4FA9-BC6A-0D01F26EC5F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E1FA00B2-9F61-4CD6-8714-670B1604275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F1D2DA00-8135-4FC2-8DD1-5ED1F949EC5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37652AF-533C-46B0-936E-4DDE5982FAC1}"/>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D86C0F2D-5369-48DE-B292-43C5413DBC76}"/>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DBA22544-F6E8-40A1-99A7-97BD1413F865}"/>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66837C75-E250-448F-8CC1-81F0EA41F4BA}"/>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F48A290B-F30C-48FA-9CC3-300B0EF9B466}"/>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1A516C28-5D76-4721-BF70-C535191608A1}"/>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94941702-B6A1-4DF5-974A-723D57DFF41F}"/>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EDA2D85-3F9B-4AA6-B5B6-DBF722A2E122}"/>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AD340C7F-F4D1-402B-B31B-49A49F24DA1F}"/>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1280E1E0-4F88-4641-98FB-BD649F4B9E64}"/>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927C0264-7C1E-408F-8AF4-BF346F231730}"/>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10F51C8C-3815-4750-BB05-4CBBE3068C20}"/>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C9AEC63A-FD5C-453C-8CD6-60CD5E7A6069}"/>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D1723AA7-B375-477F-AB07-268AE8F2EFE5}"/>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FEF20AA6-0E65-4BA0-8217-AA867FE18D93}"/>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93B6DF69-081D-4B90-86C6-FD19C42EDCDF}"/>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8EED23B5-0773-4A3A-AC6E-6E175D1178C9}"/>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79E4F740-8365-4B46-A6FA-859377D5F35B}"/>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0">
                <a:solidFill>
                  <a:srgbClr val="526174"/>
                </a:solidFill>
              </a:defRPr>
            </a:pPr>
            <a:r>
              <a:rPr sz="1425" b="0">
                <a:solidFill>
                  <a:srgbClr val="526174"/>
                </a:solidFill>
              </a:rPr>
              <a:t>context clauses</a:t>
            </a:r>
          </a:p>
          <a:p xmlns:a="http://schemas.openxmlformats.org/drawingml/2006/main">
            <a:pPr algn="ctr">
              <a:defRPr sz="1425" b="0">
                <a:solidFill>
                  <a:srgbClr val="526174"/>
                </a:solidFill>
              </a:defRPr>
            </a:pPr>
            <a:r>
              <a:rPr sz="1425" b="0">
                <a:solidFill>
                  <a:srgbClr val="526174"/>
                </a:solidFill>
              </a:rPr>
              <a:t>structured solvers</a:t>
            </a:r>
          </a:p>
          <a:p xmlns:a="http://schemas.openxmlformats.org/drawingml/2006/main">
            <a:pPr algn="ctr">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B7FC16EF-370C-4042-B77A-FE7F4B05B1B4}"/>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A2543E8D-C76C-4378-8C70-6CB3AD1BED34}"/>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8C5E981E-3684-4EDC-890A-D3FF2122BFF8}"/>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skip lineage</a:t>
            </a:r>
          </a:p>
          <a:p xmlns:a="http://schemas.openxmlformats.org/drawingml/2006/main">
            <a:pPr algn="ctr">
              <a:defRPr sz="1350" b="0">
                <a:solidFill>
                  <a:srgbClr val="526174"/>
                </a:solidFill>
              </a:defRPr>
            </a:pPr>
            <a:r>
              <a:rPr sz="1350" b="0">
                <a:solidFill>
                  <a:srgbClr val="526174"/>
                </a:solidFill>
              </a:rPr>
              <a:t>use the fixed judge</a:t>
            </a:r>
          </a:p>
          <a:p xmlns:a="http://schemas.openxmlformats.org/drawingml/2006/main">
            <a:pPr algn="ctr">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751B1260-DF46-4828-B92D-B2C29E05BEDE}"/>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B6547CB1-52FC-4436-9DBE-F5FC4BE55915}"/>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C4387042-6B0B-4701-B898-EDC0B5A37C7C}"/>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The fixed judge absorbed the shift and still finished in 3:52:02.</a:t>
            </a:r>
          </a:p>
        </p:txBody>
      </p:sp>
      <p:sp>
        <p:nvSpPr>
          <p:cNvPr id="28" name="">
            <a:extLst xmlns:a="http://schemas.openxmlformats.org/drawingml/2006/main">
              <a:ext uri="{FF2B5EF4-FFF2-40B4-BE49-F238E27FC236}">
                <a16:creationId xmlns:a16="http://schemas.microsoft.com/office/drawing/2014/main" id="{20E05A06-5957-4BD6-A7F7-9AAD3AB3A09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93F53662-130E-413B-975B-D87C85E9E30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[2] Phase 2 source preview  [8] Measured held-out run</a:t>
            </a:r>
          </a:p>
        </p:txBody>
      </p:sp>
      <p:sp>
        <p:nvSpPr>
          <p:cNvPr id="30" name="page-14">
            <a:extLst xmlns:a="http://schemas.openxmlformats.org/drawingml/2006/main">
              <a:ext uri="{FF2B5EF4-FFF2-40B4-BE49-F238E27FC236}">
                <a16:creationId xmlns:a16="http://schemas.microsoft.com/office/drawing/2014/main" id="{68315756-396F-4268-A6A1-DE3FE1C54A5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14</a:t>
            </a:r>
          </a:p>
        </p:txBody>
      </p:sp>
    </p:spTree>
    <p:extLst>
      <p:ext uri="{BB962C8B-B14F-4D97-AF65-F5344CB8AC3E}">
        <p14:creationId xmlns:p14="http://schemas.microsoft.com/office/powerpoint/2010/main" val="624765838"/>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00" b="1">
                <a:solidFill>
                  <a:srgbClr val="0F172A"/>
                </a:solidFill>
              </a:defRPr>
            </a:pPr>
            <a:r>
              <a:rPr sz="3300" b="1">
                <a:solidFill>
                  <a:srgbClr val="0F172A"/>
                </a:solidFill>
              </a:rPr>
              <a:t>What the experiments support—</a:t>
            </a:r>
          </a:p>
          <a:p xmlns:a="http://schemas.openxmlformats.org/drawingml/2006/main">
            <a:pPr algn="l">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Task families need separate policies.</a:t>
            </a:r>
          </a:p>
          <a:p xmlns:a="http://schemas.openxmlformats.org/drawingml/2006/main">
            <a:pPr algn="l">
              <a:defRPr sz="1275" b="0">
                <a:solidFill>
                  <a:srgbClr val="0F172A"/>
                </a:solidFill>
              </a:defRPr>
            </a:pPr>
            <a:r>
              <a:rPr sz="1275" b="0">
                <a:solidFill>
                  <a:srgbClr val="0F172A"/>
                </a:solidFill>
              </a:rPr>
              <a:t>Predicate alignment prevents relation swaps.</a:t>
            </a:r>
          </a:p>
          <a:p xmlns:a="http://schemas.openxmlformats.org/drawingml/2006/main">
            <a:pPr algn="l">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Only 299 released labels.</a:t>
            </a:r>
          </a:p>
          <a:p xmlns:a="http://schemas.openxmlformats.org/drawingml/2006/main">
            <a:pPr algn="l">
              <a:defRPr sz="1275" b="0">
                <a:solidFill>
                  <a:srgbClr val="0F172A"/>
                </a:solidFill>
              </a:defRPr>
            </a:pPr>
            <a:r>
              <a:rPr sz="1275" b="0">
                <a:solidFill>
                  <a:srgbClr val="0F172A"/>
                </a:solidFill>
              </a:rPr>
              <a:t>Aggregate splits provide no row-level errors.</a:t>
            </a:r>
          </a:p>
          <a:p xmlns:a="http://schemas.openxmlformats.org/drawingml/2006/main">
            <a:pPr algn="l">
              <a:defRPr sz="1275" b="0">
                <a:solidFill>
                  <a:srgbClr val="0F172A"/>
                </a:solidFill>
              </a:defRPr>
            </a:pPr>
            <a:r>
              <a:rPr sz="1275" b="0">
                <a:solidFill>
                  <a:srgbClr val="0F172A"/>
                </a:solidFill>
              </a:rPr>
              <a:t>Phase 2 accuracy is still unknown.</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Inspect Phase 2 errors when released.</a:t>
            </a:r>
          </a:p>
          <a:p xmlns:a="http://schemas.openxmlformats.org/drawingml/2006/main">
            <a:pPr algn="l">
              <a:defRPr sz="1275" b="0">
                <a:solidFill>
                  <a:srgbClr val="0F172A"/>
                </a:solidFill>
              </a:defRPr>
            </a:pPr>
            <a:r>
              <a:rPr sz="1275" b="0">
                <a:solidFill>
                  <a:srgbClr val="0F172A"/>
                </a:solidFill>
              </a:rPr>
              <a:t>Calibrate the judged tail.</a:t>
            </a:r>
          </a:p>
          <a:p xmlns:a="http://schemas.openxmlformats.org/drawingml/2006/main">
            <a:pPr algn="l">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350" b="1">
                <a:solidFill>
                  <a:srgbClr val="526174"/>
                </a:solidFill>
              </a:defRPr>
            </a:pPr>
            <a:r>
              <a:rPr sz="1350" b="1">
                <a:solidFill>
                  <a:srgbClr val="526174"/>
                </a:solidFill>
              </a:rPr>
              <a:t>Selective inference remained reproducible and completed the held-out run within the runtime limit.</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15</a:t>
            </a:r>
          </a:p>
        </p:txBody>
      </p:sp>
    </p:spTree>
    <p:extLst>
      <p:ext uri="{BB962C8B-B14F-4D97-AF65-F5344CB8AC3E}">
        <p14:creationId xmlns:p14="http://schemas.microsoft.com/office/powerpoint/2010/main" val="18773956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2026-07-23T06:52:35.6750000Z</dcterms:created>
  <dcterms:modified xsi:type="dcterms:W3CDTF">2026-07-23T06:52:35.6750000Z</dcterms:modified>
</coreProperties>
</file>