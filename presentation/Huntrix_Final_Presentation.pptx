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1.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c7a0ebcdabb4c42" /><Relationship Type="http://schemas.openxmlformats.org/officeDocument/2006/relationships/extended-properties" Target="/docProps/app.xml" Id="R5f54a3f1d64b452c" /><Relationship Type="http://schemas.openxmlformats.org/officeDocument/2006/relationships/officeDocument" Target="/ppt/presentation.xml" Id="R260a11a12d904876" /></Relationships>
</file>

<file path=ppt/presentation.xml><?xml version="1.0" encoding="utf-8"?>
<p:presentation xmlns:p="http://schemas.openxmlformats.org/presentationml/2006/main">
  <p:sldMasterIdLst>
    <p:sldMasterId xmlns:r="http://schemas.openxmlformats.org/officeDocument/2006/relationships" id="2147483648" r:id="R6b6ff65730f342bf"/>
  </p:sldMasterIdLst>
  <p:notesMasterIdLst>
    <p:notesMasterId xmlns:r="http://schemas.openxmlformats.org/officeDocument/2006/relationships" r:id="R57ad75208c704732"/>
  </p:notesMasterIdLst>
  <p:sldIdLst>
    <p:sldId xmlns:r="http://schemas.openxmlformats.org/officeDocument/2006/relationships" id="256" r:id="R6a76667459894b27"/>
    <p:sldId xmlns:r="http://schemas.openxmlformats.org/officeDocument/2006/relationships" id="257" r:id="R6141e9b68e824a10"/>
    <p:sldId xmlns:r="http://schemas.openxmlformats.org/officeDocument/2006/relationships" id="258" r:id="Ra3319167e7844f34"/>
    <p:sldId xmlns:r="http://schemas.openxmlformats.org/officeDocument/2006/relationships" id="259" r:id="R2d1211d625a24aed"/>
    <p:sldId xmlns:r="http://schemas.openxmlformats.org/officeDocument/2006/relationships" id="260" r:id="R2091e6e7363c4b49"/>
    <p:sldId xmlns:r="http://schemas.openxmlformats.org/officeDocument/2006/relationships" id="261" r:id="R1c2f7737ab314ea5"/>
    <p:sldId xmlns:r="http://schemas.openxmlformats.org/officeDocument/2006/relationships" id="262" r:id="Rd0de256fbb6f4810"/>
    <p:sldId xmlns:r="http://schemas.openxmlformats.org/officeDocument/2006/relationships" id="263" r:id="Reb19ec0f0e4b4bec"/>
    <p:sldId xmlns:r="http://schemas.openxmlformats.org/officeDocument/2006/relationships" id="264" r:id="Re240d1a48f67418f"/>
    <p:sldId xmlns:r="http://schemas.openxmlformats.org/officeDocument/2006/relationships" id="265" r:id="Raf8bb525e1e241ff"/>
    <p:sldId xmlns:r="http://schemas.openxmlformats.org/officeDocument/2006/relationships" id="266" r:id="R8c1ab1570bd24b43"/>
    <p:sldId xmlns:r="http://schemas.openxmlformats.org/officeDocument/2006/relationships" id="267" r:id="R6c364c9c39ed428f"/>
    <p:sldId xmlns:r="http://schemas.openxmlformats.org/officeDocument/2006/relationships" id="268" r:id="R1ede7cb391104e3d"/>
    <p:sldId xmlns:r="http://schemas.openxmlformats.org/officeDocument/2006/relationships" id="269" r:id="R1603c598aa964fbc"/>
    <p:sldId xmlns:r="http://schemas.openxmlformats.org/officeDocument/2006/relationships" id="270" r:id="Rec7e59056b9a4beb"/>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c70f4d7e0c84d43" /><Relationship Type="http://schemas.openxmlformats.org/officeDocument/2006/relationships/slideMaster" Target="/ppt/slideMasters/slideMaster1.xml" Id="R6b6ff65730f342bf" /><Relationship Type="http://schemas.openxmlformats.org/officeDocument/2006/relationships/notesMaster" Target="/ppt/notesMasters/notesMaster1.xml" Id="R57ad75208c704732" /><Relationship Type="http://schemas.openxmlformats.org/officeDocument/2006/relationships/presProps" Target="/ppt/presProps.xml" Id="Rcdc9b80a68f64d4c" /><Relationship Type="http://schemas.openxmlformats.org/officeDocument/2006/relationships/tableStyles" Target="/ppt/tableStyles.xml" Id="Rc5aab5467806491a" /><Relationship Type="http://schemas.openxmlformats.org/officeDocument/2006/relationships/slide" Target="/ppt/slides/slide1.xml" Id="R6a76667459894b27" /><Relationship Type="http://schemas.openxmlformats.org/officeDocument/2006/relationships/slide" Target="/ppt/slides/slide2.xml" Id="R6141e9b68e824a10" /><Relationship Type="http://schemas.openxmlformats.org/officeDocument/2006/relationships/slide" Target="/ppt/slides/slide3.xml" Id="Ra3319167e7844f34" /><Relationship Type="http://schemas.openxmlformats.org/officeDocument/2006/relationships/slide" Target="/ppt/slides/slide4.xml" Id="R2d1211d625a24aed" /><Relationship Type="http://schemas.openxmlformats.org/officeDocument/2006/relationships/slide" Target="/ppt/slides/slide5.xml" Id="R2091e6e7363c4b49" /><Relationship Type="http://schemas.openxmlformats.org/officeDocument/2006/relationships/slide" Target="/ppt/slides/slide6.xml" Id="R1c2f7737ab314ea5" /><Relationship Type="http://schemas.openxmlformats.org/officeDocument/2006/relationships/slide" Target="/ppt/slides/slide7.xml" Id="Rd0de256fbb6f4810" /><Relationship Type="http://schemas.openxmlformats.org/officeDocument/2006/relationships/slide" Target="/ppt/slides/slide8.xml" Id="Reb19ec0f0e4b4bec" /><Relationship Type="http://schemas.openxmlformats.org/officeDocument/2006/relationships/slide" Target="/ppt/slides/slide9.xml" Id="Re240d1a48f67418f" /><Relationship Type="http://schemas.openxmlformats.org/officeDocument/2006/relationships/slide" Target="/ppt/slides/slide10.xml" Id="Raf8bb525e1e241ff" /><Relationship Type="http://schemas.openxmlformats.org/officeDocument/2006/relationships/slide" Target="/ppt/slides/slide11.xml" Id="R8c1ab1570bd24b43" /><Relationship Type="http://schemas.openxmlformats.org/officeDocument/2006/relationships/slide" Target="/ppt/slides/slide12.xml" Id="R6c364c9c39ed428f" /><Relationship Type="http://schemas.openxmlformats.org/officeDocument/2006/relationships/slide" Target="/ppt/slides/slide13.xml" Id="R1ede7cb391104e3d" /><Relationship Type="http://schemas.openxmlformats.org/officeDocument/2006/relationships/slide" Target="/ppt/slides/slide14.xml" Id="R1603c598aa964fbc" /><Relationship Type="http://schemas.openxmlformats.org/officeDocument/2006/relationships/slide" Target="/ppt/slides/slide15.xml" Id="Rec7e59056b9a4be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7dfd923e6014e6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d01b4afc3794ff2" /><Relationship Type="http://schemas.openxmlformats.org/officeDocument/2006/relationships/notesMaster" Target="/ppt/notesMasters/notesMaster1.xml" Id="Rbe052ffd514642da" /></Relationships>
</file>

<file path=ppt/notesSlides/_rels/notesSlide2.xml.rels>&#65279;<?xml version="1.0" encoding="utf-8"?><Relationships xmlns="http://schemas.openxmlformats.org/package/2006/relationships"><Relationship Type="http://schemas.openxmlformats.org/officeDocument/2006/relationships/slide" Target="/ppt/slides/slide2.xml" Id="R5d80e10c308644ce" /><Relationship Type="http://schemas.openxmlformats.org/officeDocument/2006/relationships/notesMaster" Target="/ppt/notesMasters/notesMaster1.xml" Id="Rb8831759388c4777" /></Relationships>
</file>

<file path=ppt/notesSlides/_rels/notesSlide3.xml.rels>&#65279;<?xml version="1.0" encoding="utf-8"?><Relationships xmlns="http://schemas.openxmlformats.org/package/2006/relationships"><Relationship Type="http://schemas.openxmlformats.org/officeDocument/2006/relationships/slide" Target="/ppt/slides/slide3.xml" Id="R818b98d767db4992" /><Relationship Type="http://schemas.openxmlformats.org/officeDocument/2006/relationships/notesMaster" Target="/ppt/notesMasters/notesMaster1.xml" Id="Rab45173da99f4d5a" /></Relationships>
</file>

<file path=ppt/notesSlides/_rels/notesSlide4.xml.rels>&#65279;<?xml version="1.0" encoding="utf-8"?><Relationships xmlns="http://schemas.openxmlformats.org/package/2006/relationships"><Relationship Type="http://schemas.openxmlformats.org/officeDocument/2006/relationships/slide" Target="/ppt/slides/slide4.xml" Id="R6fbd02958ca043dc" /><Relationship Type="http://schemas.openxmlformats.org/officeDocument/2006/relationships/notesMaster" Target="/ppt/notesMasters/notesMaster1.xml" Id="Rf7acc53c86aa4d6a" /></Relationships>
</file>

<file path=ppt/notesSlides/_rels/notesSlide5.xml.rels>&#65279;<?xml version="1.0" encoding="utf-8"?><Relationships xmlns="http://schemas.openxmlformats.org/package/2006/relationships"><Relationship Type="http://schemas.openxmlformats.org/officeDocument/2006/relationships/slide" Target="/ppt/slides/slide5.xml" Id="R6935a7b8901e4bec" /><Relationship Type="http://schemas.openxmlformats.org/officeDocument/2006/relationships/notesMaster" Target="/ppt/notesMasters/notesMaster1.xml" Id="Re6822d079f904eae" /></Relationships>
</file>

<file path=ppt/notesSlides/_rels/notesSlide6.xml.rels>&#65279;<?xml version="1.0" encoding="utf-8"?><Relationships xmlns="http://schemas.openxmlformats.org/package/2006/relationships"><Relationship Type="http://schemas.openxmlformats.org/officeDocument/2006/relationships/slide" Target="/ppt/slides/slide6.xml" Id="R1a09321afb7e4a21" /><Relationship Type="http://schemas.openxmlformats.org/officeDocument/2006/relationships/notesMaster" Target="/ppt/notesMasters/notesMaster1.xml" Id="Rccd66d0e46e44b62" /></Relationships>
</file>

<file path=ppt/notesSlides/_rels/notesSlide7.xml.rels>&#65279;<?xml version="1.0" encoding="utf-8"?><Relationships xmlns="http://schemas.openxmlformats.org/package/2006/relationships"><Relationship Type="http://schemas.openxmlformats.org/officeDocument/2006/relationships/slide" Target="/ppt/slides/slide7.xml" Id="R209f53e671764c10" /><Relationship Type="http://schemas.openxmlformats.org/officeDocument/2006/relationships/notesMaster" Target="/ppt/notesMasters/notesMaster1.xml" Id="R5dc8130e09a84c78" /></Relationships>
</file>

<file path=ppt/notesSlides/_rels/notesSlide8.xml.rels>&#65279;<?xml version="1.0" encoding="utf-8"?><Relationships xmlns="http://schemas.openxmlformats.org/package/2006/relationships"><Relationship Type="http://schemas.openxmlformats.org/officeDocument/2006/relationships/slide" Target="/ppt/slides/slide8.xml" Id="R3eb8239bea314457" /><Relationship Type="http://schemas.openxmlformats.org/officeDocument/2006/relationships/notesMaster" Target="/ppt/notesMasters/notesMaster1.xml" Id="Rcccf151158c84f08" /></Relationships>
</file>

<file path=ppt/notesSlides/_rels/notesSlide9.xml.rels>&#65279;<?xml version="1.0" encoding="utf-8"?><Relationships xmlns="http://schemas.openxmlformats.org/package/2006/relationships"><Relationship Type="http://schemas.openxmlformats.org/officeDocument/2006/relationships/slide" Target="/ppt/slides/slide9.xml" Id="R0d34af2295624e77" /><Relationship Type="http://schemas.openxmlformats.org/officeDocument/2006/relationships/notesMaster" Target="/ppt/notesMasters/notesMaster1.xml" Id="Ra4144fa6c221427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a1a5ba9a7b0417c" /><Relationship Type="http://schemas.openxmlformats.org/officeDocument/2006/relationships/notesMaster" Target="/ppt/notesMasters/notesMaster1.xml" Id="R5889d2e8dc4f4b2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73f9e4bbc824d77" /><Relationship Type="http://schemas.openxmlformats.org/officeDocument/2006/relationships/notesMaster" Target="/ppt/notesMasters/notesMaster1.xml" Id="Rfa14e7f9aa6047f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0319988d8e24575" /><Relationship Type="http://schemas.openxmlformats.org/officeDocument/2006/relationships/notesMaster" Target="/ppt/notesMasters/notesMaster1.xml" Id="Re6c0656a9ef3467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3a45d8cc0bd4533" /><Relationship Type="http://schemas.openxmlformats.org/officeDocument/2006/relationships/notesMaster" Target="/ppt/notesMasters/notesMaster1.xml" Id="R99e51eadd8dd474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46c67ab5ee3481f" /><Relationship Type="http://schemas.openxmlformats.org/officeDocument/2006/relationships/notesMaster" Target="/ppt/notesMasters/notesMaster1.xml" Id="R2da21b234097449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d46f57b2091433d" /><Relationship Type="http://schemas.openxmlformats.org/officeDocument/2006/relationships/notesMaster" Target="/ppt/notesMasters/notesMaster1.xml" Id="R4b209b19c07842f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Touhidul Alam Seyam</a:t>
            </a:r>
          </a:p>
          <a:p xmlns:a="http://schemas.openxmlformats.org/drawingml/2006/main">
            <a:r>
              <a:t>Target time: 45 seconds</a:t>
            </a:r>
          </a:p>
          <a:p xmlns:a="http://schemas.openxmlformats.org/drawingml/2006/main">
            <a:r>
              <a:t/>
            </a:r>
          </a:p>
          <a:p xmlns:a="http://schemas.openxmlformats.org/drawingml/2006/main">
            <a:r>
              <a:t>Script:</a:t>
            </a:r>
          </a:p>
          <a:p xmlns:a="http://schemas.openxmlformats.org/drawingml/2006/main">
            <a:r>
              <a:t>Good morning. We are Team Huntrix. Our final Phase 1 system scored 0.982 on the private leaderboard and finished first. The public score was 0.967. The main reason was not a larger model or a large fine-tune. We changed which method was allowed to answer each kind of question. Exact cases went through deterministic evidence. Only the uncertain remainder went to the language model. This talk explains that decision, what failed before it, and how we packaged the result for Phase 2.</a:t>
            </a:r>
          </a:p>
          <a:p xmlns:a="http://schemas.openxmlformats.org/drawingml/2006/main">
            <a:r>
              <a:t/>
            </a:r>
          </a:p>
          <a:p xmlns:a="http://schemas.openxmlformats.org/drawingml/2006/main">
            <a:r>
              <a:t>Sources:</a:t>
            </a:r>
          </a:p>
          <a:p xmlns:a="http://schemas.openxmlformats.org/drawingml/2006/main">
            <a:r>
              <a:t>[1] Competition leaderboard and rules. [7] Team Huntrix final leaderboard and freeze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Touhidul Alam Seyam</a:t>
            </a:r>
          </a:p>
          <a:p xmlns:a="http://schemas.openxmlformats.org/drawingml/2006/main">
            <a:r>
              <a:t>Target time: 50 seconds</a:t>
            </a:r>
          </a:p>
          <a:p xmlns:a="http://schemas.openxmlformats.org/drawingml/2006/main">
            <a:r>
              <a:t/>
            </a:r>
          </a:p>
          <a:p xmlns:a="http://schemas.openxmlformats.org/drawingml/2006/main">
            <a:r>
              <a:t>Script:</a:t>
            </a:r>
          </a:p>
          <a:p xmlns:a="http://schemas.openxmlformats.org/drawingml/2006/main">
            <a:r>
              <a:t>The label looked simple: zero for hallucinated and one for faithful. The rows were not simple. Some asked whether a response followed a supplied passage. Others needed arithmetic, option parsing, Bengali morphology, idiom meaning, legal sections, or a historical fact. One generic judge prompt had to switch between all of these without being told which evidence standard to use. It gave us a useful baseline, but it also created a ceiling. A response could sound reasonable while answering the wrong relation. That pushed us toward task routing.</a:t>
            </a:r>
          </a:p>
          <a:p xmlns:a="http://schemas.openxmlformats.org/drawingml/2006/main">
            <a:r>
              <a:t/>
            </a:r>
          </a:p>
          <a:p xmlns:a="http://schemas.openxmlformats.org/drawingml/2006/main">
            <a:r>
              <a:t>Sources:</a:t>
            </a:r>
          </a:p>
          <a:p xmlns:a="http://schemas.openxmlformats.org/drawingml/2006/main">
            <a:r>
              <a:t>[1] Competition data description. [3] BenHalluEval. [4] Sakhawat et al., Bengali idiom benchmark.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Touhidul Alam Seyam</a:t>
            </a:r>
          </a:p>
          <a:p xmlns:a="http://schemas.openxmlformats.org/drawingml/2006/main">
            <a:r>
              <a:t>Target time: 55 seconds</a:t>
            </a:r>
          </a:p>
          <a:p xmlns:a="http://schemas.openxmlformats.org/drawingml/2006/main">
            <a:r>
              <a:t/>
            </a:r>
          </a:p>
          <a:p xmlns:a="http://schemas.openxmlformats.org/drawingml/2006/main">
            <a:r>
              <a:t>Script:</a:t>
            </a:r>
          </a:p>
          <a:p xmlns:a="http://schemas.openxmlformats.org/drawingml/2006/main">
            <a:r>
              <a:t>Our fix was a selective cascade. We normalize the row, identify its task family, and try only the rules that belong to that family. Exact lineage can decide an exact source match. Structured solvers can decide a parsed number or option. Context checks can decide a contradiction inside the supplied passage. Typed evidence can decide an idiom or legal relation. Each stage can also return nothing. If the source is only similar, or the relation is unclear, we do not force a label. The row reaches the judge. The next slide opens this router and shows the actual branch conditions.</a:t>
            </a:r>
          </a:p>
          <a:p xmlns:a="http://schemas.openxmlformats.org/drawingml/2006/main">
            <a:r>
              <a:t/>
            </a:r>
          </a:p>
          <a:p xmlns:a="http://schemas.openxmlformats.org/drawingml/2006/main">
            <a:r>
              <a:t>Sources:</a:t>
            </a:r>
          </a:p>
          <a:p xmlns:a="http://schemas.openxmlformats.org/drawingml/2006/main">
            <a:r>
              <a:t>[3] BenHalluEval. [4] Bengali idiom benchmark. [7] Frozen v91 architecture and trace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Touhidul Alam Seyam</a:t>
            </a:r>
          </a:p>
          <a:p xmlns:a="http://schemas.openxmlformats.org/drawingml/2006/main">
            <a:r>
              <a:t>Target time: 65 seconds</a:t>
            </a:r>
          </a:p>
          <a:p xmlns:a="http://schemas.openxmlformats.org/drawingml/2006/main">
            <a:r>
              <a:t/>
            </a:r>
          </a:p>
          <a:p xmlns:a="http://schemas.openxmlformats.org/drawingml/2006/main">
            <a:r>
              <a:t>Script:</a:t>
            </a:r>
          </a:p>
          <a:p xmlns:a="http://schemas.openxmlformats.org/drawingml/2006/main">
            <a:r>
              <a:t>This is the router in operational form. After normalization, the first question is whether the row contains an answer-bearing context. If it does, the context verifier compares atomic claims. Without context, the router checks for a structured task such as a number, range, option, or morphology problem. The next branch asks whether an exact source lineage exists. Even then, typed evidence must match the entity, predicate, and value. A conflict between sources of equal trust forces abstention. Every branch has the same contract: return zero, one, or null. Null is not an error. It sends the row forward. Only the final unresolved tail reaches the LLM judge. Abtahee will now quantify that split and then open the two main verification paths.</a:t>
            </a:r>
          </a:p>
          <a:p xmlns:a="http://schemas.openxmlformats.org/drawingml/2006/main">
            <a:r>
              <a:t/>
            </a:r>
          </a:p>
          <a:p xmlns:a="http://schemas.openxmlformats.org/drawingml/2006/main">
            <a:r>
              <a:t>Sources:</a:t>
            </a:r>
          </a:p>
          <a:p xmlns:a="http://schemas.openxmlformats.org/drawingml/2006/main">
            <a:r>
              <a:t>[3] BenHalluEval task decomposition. [7] Frozen v91 router implementation and trace schema.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MD. Abtahee Kabir</a:t>
            </a:r>
          </a:p>
          <a:p xmlns:a="http://schemas.openxmlformats.org/drawingml/2006/main">
            <a:r>
              <a:t>Target time: 50 seconds</a:t>
            </a:r>
          </a:p>
          <a:p xmlns:a="http://schemas.openxmlformats.org/drawingml/2006/main">
            <a:r>
              <a:t/>
            </a:r>
          </a:p>
          <a:p xmlns:a="http://schemas.openxmlformats.org/drawingml/2006/main">
            <a:r>
              <a:t>Script:</a:t>
            </a:r>
          </a:p>
          <a:p xmlns:a="http://schemas.openxmlformats.org/drawingml/2006/main">
            <a:r>
              <a:t>The final router resolved 2,358 of the 2,516 Phase 1 rows before LLM inference. That is 93.72 percent. The judge saw 158 unique rows, or 6.28 percent. Earlier in development the uncertain queue was 620, so the deterministic layers removed almost three quarters of the expensive tail. This did more than save time. It also reduced the number of rows exposed to prompt variation. One detail: 158 is a row count. Some no-context rows received two or three views, so the number of model requests was higher than 158.</a:t>
            </a:r>
          </a:p>
          <a:p xmlns:a="http://schemas.openxmlformats.org/drawingml/2006/main">
            <a:r>
              <a:t/>
            </a:r>
          </a:p>
          <a:p xmlns:a="http://schemas.openxmlformats.org/drawingml/2006/main">
            <a:r>
              <a:t>Sources:</a:t>
            </a:r>
          </a:p>
          <a:p xmlns:a="http://schemas.openxmlformats.org/drawingml/2006/main">
            <a:r>
              <a:t>[7] Frozen v91 Phase 1 trace and experiment log.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MD. Abtahee Kabir</a:t>
            </a:r>
          </a:p>
          <a:p xmlns:a="http://schemas.openxmlformats.org/drawingml/2006/main">
            <a:r>
              <a:t>Target time: 60 seconds</a:t>
            </a:r>
          </a:p>
          <a:p xmlns:a="http://schemas.openxmlformats.org/drawingml/2006/main">
            <a:r>
              <a:t/>
            </a:r>
          </a:p>
          <a:p xmlns:a="http://schemas.openxmlformats.org/drawingml/2006/main">
            <a:r>
              <a:t>Script:</a:t>
            </a:r>
          </a:p>
          <a:p xmlns:a="http://schemas.openxmlformats.org/drawingml/2006/main">
            <a:r>
              <a:t>Coverage alone would have been dangerous, so we imposed an evidence order. A contradiction inside the supplied context came first. Exact source lineage followed. Structured solvers needed the value, entity, and requested predicate to agree. Idiom, legal, and public fact records were typed by relation. A year near the right entity was not enough if the prompt asked about a different event. Fuzzy retrieval had the weakest role. It could surface a candidate, but it could not decide against stronger evidence. If two equally trusted sources disagreed, the router abstained. That policy sometimes increased the judge queue, but it prevented confident relation swaps.</a:t>
            </a:r>
          </a:p>
          <a:p xmlns:a="http://schemas.openxmlformats.org/drawingml/2006/main">
            <a:r>
              <a:t/>
            </a:r>
          </a:p>
          <a:p xmlns:a="http://schemas.openxmlformats.org/drawingml/2006/main">
            <a:r>
              <a:t>Sources:</a:t>
            </a:r>
          </a:p>
          <a:p xmlns:a="http://schemas.openxmlformats.org/drawingml/2006/main">
            <a:r>
              <a:t>[3] BenHalluEval. [4] Bengali idiom benchmark. [7] v91 evidence hierarchy and conflict gate.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MD. Abtahee Kabir</a:t>
            </a:r>
          </a:p>
          <a:p xmlns:a="http://schemas.openxmlformats.org/drawingml/2006/main">
            <a:r>
              <a:t>Target time: 65 seconds</a:t>
            </a:r>
          </a:p>
          <a:p xmlns:a="http://schemas.openxmlformats.org/drawingml/2006/main">
            <a:r>
              <a:t/>
            </a:r>
          </a:p>
          <a:p xmlns:a="http://schemas.openxmlformats.org/drawingml/2006/main">
            <a:r>
              <a:t>Script:</a:t>
            </a:r>
          </a:p>
          <a:p xmlns:a="http://schemas.openxmlformats.org/drawingml/2006/main">
            <a:r>
              <a:t>For context rows, raw similarity was not the decision variable. We split the context into clauses and the response into atomic factual claims. Alignment used anchors such as named entities, numbers, negation, and the requested relation. Each claim then received one of three states: supported, contradicted, or unknown. A single contradiction was enough for label zero. Label one required support for every factual claim and no unsupported addition. Anything between those cases produced abstention and moved to the judge. This claim-level rule matters when most of a response copies the context but changes one year, person, quantity, or polarity.</a:t>
            </a:r>
          </a:p>
          <a:p xmlns:a="http://schemas.openxmlformats.org/drawingml/2006/main">
            <a:r>
              <a:t/>
            </a:r>
          </a:p>
          <a:p xmlns:a="http://schemas.openxmlformats.org/drawingml/2006/main">
            <a:r>
              <a:t>Sources:</a:t>
            </a:r>
          </a:p>
          <a:p xmlns:a="http://schemas.openxmlformats.org/drawingml/2006/main">
            <a:r>
              <a:t>[3] BenHalluEval context-faithfulness tasks. [7] Frozen v91 clause segmentation, anchor alignment, and claim decision policy.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MD. Abtahee Kabir</a:t>
            </a:r>
          </a:p>
          <a:p xmlns:a="http://schemas.openxmlformats.org/drawingml/2006/main">
            <a:r>
              <a:t>Target time: 55 seconds</a:t>
            </a:r>
          </a:p>
          <a:p xmlns:a="http://schemas.openxmlformats.org/drawingml/2006/main">
            <a:r>
              <a:t/>
            </a:r>
          </a:p>
          <a:p xmlns:a="http://schemas.openxmlformats.org/drawingml/2006/main">
            <a:r>
              <a:t>Script:</a:t>
            </a:r>
          </a:p>
          <a:p xmlns:a="http://schemas.openxmlformats.org/drawingml/2006/main">
            <a:r>
              <a:t>The fallback used Qwen3.6 27B in a 16.332 GiB quantized checkpoint. Context rows received one entailment view. No-context rows received up to three short views: a factual check, strict exam grading, and a check that was deliberately cautious about faithful labels. A no-context response needed unanimous positive votes to receive label one. The first zero ended evaluation early. We disabled thinking and constrained generation to one binary token. Row order, prompt order, seeds, and batch boundaries were fixed. That made the judge fast enough to be a tail component rather than the whole system. Joyeta will now show how every accepted evidence record was traced back to a source and relation.</a:t>
            </a:r>
          </a:p>
          <a:p xmlns:a="http://schemas.openxmlformats.org/drawingml/2006/main">
            <a:r>
              <a:t/>
            </a:r>
          </a:p>
          <a:p xmlns:a="http://schemas.openxmlformats.org/drawingml/2006/main">
            <a:r>
              <a:t>Sources:</a:t>
            </a:r>
          </a:p>
          <a:p xmlns:a="http://schemas.openxmlformats.org/drawingml/2006/main">
            <a:r>
              <a:t>[5] Qwen3.6 model card. [6] llama.cpp, pinned b9637. [7] Frozen v91 judge configuration.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Joyeta Barua Moni</a:t>
            </a:r>
          </a:p>
          <a:p xmlns:a="http://schemas.openxmlformats.org/drawingml/2006/main">
            <a:r>
              <a:t>Target time: 65 seconds</a:t>
            </a:r>
          </a:p>
          <a:p xmlns:a="http://schemas.openxmlformats.org/drawingml/2006/main">
            <a:r>
              <a:t/>
            </a:r>
          </a:p>
          <a:p xmlns:a="http://schemas.openxmlformats.org/drawingml/2006/main">
            <a:r>
              <a:t>Script:</a:t>
            </a:r>
          </a:p>
          <a:p xmlns:a="http://schemas.openxmlformats.org/drawingml/2006/main">
            <a:r>
              <a:t>Every deterministic fact was stored as a typed evidence record. The record carried a source identifier, source family, normalized entity, predicate, value, and provenance. At prediction time, four gates had to pass. The entity had to match. The requested predicate had to match, not merely appear near the same topic. The value needed exact or task-specific equivalence. Finally, no source of equal trust could contradict it. The resulting trace recorded the route, source, predicate, and verdict. If any gate failed, the verdict was null and the row moved forward. This trace made error analysis possible without storing a manual label vector for the test set.</a:t>
            </a:r>
          </a:p>
          <a:p xmlns:a="http://schemas.openxmlformats.org/drawingml/2006/main">
            <a:r>
              <a:t/>
            </a:r>
          </a:p>
          <a:p xmlns:a="http://schemas.openxmlformats.org/drawingml/2006/main">
            <a:r>
              <a:t>Sources:</a:t>
            </a:r>
          </a:p>
          <a:p xmlns:a="http://schemas.openxmlformats.org/drawingml/2006/main">
            <a:r>
              <a:t>[7] Frozen v91 evidence schema, provenance ledger, conflict audit, and row-level trace format.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Joyeta Barua Moni</a:t>
            </a:r>
          </a:p>
          <a:p xmlns:a="http://schemas.openxmlformats.org/drawingml/2006/main">
            <a:r>
              <a:t>Target time: 55 seconds</a:t>
            </a:r>
          </a:p>
          <a:p xmlns:a="http://schemas.openxmlformats.org/drawingml/2006/main">
            <a:r>
              <a:t/>
            </a:r>
          </a:p>
          <a:p xmlns:a="http://schemas.openxmlformats.org/drawingml/2006/main">
            <a:r>
              <a:t>Script:</a:t>
            </a:r>
          </a:p>
          <a:p xmlns:a="http://schemas.openxmlformats.org/drawingml/2006/main">
            <a:r>
              <a:t>This score history changed how we thought about the problem. The early character and embedding baseline scored 0.657. Gemma reached 0.742, and a Qwen judge reached 0.797. The largest single jump came at v6, when source and structured routing raised the score to 0.903. After that, progress was smaller and more forensic. We tightened provenance, repaired relation checks, and added legal and idiom evidence. v85 reached 0.966. v87 is the small dip on the right. We reverted it. v91 finished at 0.967 publicly.</a:t>
            </a:r>
          </a:p>
          <a:p xmlns:a="http://schemas.openxmlformats.org/drawingml/2006/main">
            <a:r>
              <a:t/>
            </a:r>
          </a:p>
          <a:p xmlns:a="http://schemas.openxmlformats.org/drawingml/2006/main">
            <a:r>
              <a:t>Sources:</a:t>
            </a:r>
          </a:p>
          <a:p xmlns:a="http://schemas.openxmlformats.org/drawingml/2006/main">
            <a:r>
              <a:t>[7] Team Huntrix experiment log and public leaderboard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Joyeta Barua Moni</a:t>
            </a:r>
          </a:p>
          <a:p xmlns:a="http://schemas.openxmlformats.org/drawingml/2006/main">
            <a:r>
              <a:t>Target time: 60 seconds</a:t>
            </a:r>
          </a:p>
          <a:p xmlns:a="http://schemas.openxmlformats.org/drawingml/2006/main">
            <a:r>
              <a:t/>
            </a:r>
          </a:p>
          <a:p xmlns:a="http://schemas.openxmlformats.org/drawingml/2006/main">
            <a:r>
              <a:t>Script:</a:t>
            </a:r>
          </a:p>
          <a:p xmlns:a="http://schemas.openxmlformats.org/drawingml/2006/main">
            <a:r>
              <a:t>Some of the most useful experiments were failures. Prompt voting looked decent on the released set and scored only 0.783 publicly. The compact TF-IDF verifier improved out of fold but struggled with cultural facts that had no context. Raw QA retrieval often found a passage about the right entity but the wrong relation. v87 was the clearest warning. We changed two labels using facts that looked plausible, and the public score fell from 0.966 to 0.965. We reverted those edits. From that point, a source was not enough. Every accepted record also needed the exact predicate the question asked for.</a:t>
            </a:r>
          </a:p>
          <a:p xmlns:a="http://schemas.openxmlformats.org/drawingml/2006/main">
            <a:r>
              <a:t/>
            </a:r>
          </a:p>
          <a:p xmlns:a="http://schemas.openxmlformats.org/drawingml/2006/main">
            <a:r>
              <a:t>Sources:</a:t>
            </a:r>
          </a:p>
          <a:p xmlns:a="http://schemas.openxmlformats.org/drawingml/2006/main">
            <a:r>
              <a:t>[7] Team Huntrix EXPERIMENT.log and scored submission history.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Joyeta Barua Moni</a:t>
            </a:r>
          </a:p>
          <a:p xmlns:a="http://schemas.openxmlformats.org/drawingml/2006/main">
            <a:r>
              <a:t>Target time: 55 seconds</a:t>
            </a:r>
          </a:p>
          <a:p xmlns:a="http://schemas.openxmlformats.org/drawingml/2006/main">
            <a:r>
              <a:t/>
            </a:r>
          </a:p>
          <a:p xmlns:a="http://schemas.openxmlformats.org/drawingml/2006/main">
            <a:r>
              <a:t>Script:</a:t>
            </a:r>
          </a:p>
          <a:p xmlns:a="http://schemas.openxmlformats.org/drawingml/2006/main">
            <a:r>
              <a:t>We kept the evaluation views separate. On the 299 released labels, the full cascade reached 0.9933 macro F1. The deterministic subset covered 225 of those rows without an error. The public leaderboard score was 0.967 at rank five. The final private score was 0.982 at rank one. That private result tells us the conservative policy generalized better than the public slice suggested. It does not tell us that every individual v91 rule will survive Phase 2. The source mix is broader, so we treat the private score as evidence, not a guarantee. Orny will cover that deployment side now.</a:t>
            </a:r>
          </a:p>
          <a:p xmlns:a="http://schemas.openxmlformats.org/drawingml/2006/main">
            <a:r>
              <a:t/>
            </a:r>
          </a:p>
          <a:p xmlns:a="http://schemas.openxmlformats.org/drawingml/2006/main">
            <a:r>
              <a:t>Sources:</a:t>
            </a:r>
          </a:p>
          <a:p xmlns:a="http://schemas.openxmlformats.org/drawingml/2006/main">
            <a:r>
              <a:t>[7] Released-label evaluation and final Kaggle leaderboard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Noore Tamanna Orny</a:t>
            </a:r>
          </a:p>
          <a:p xmlns:a="http://schemas.openxmlformats.org/drawingml/2006/main">
            <a:r>
              <a:t>Target time: 55 seconds</a:t>
            </a:r>
          </a:p>
          <a:p xmlns:a="http://schemas.openxmlformats.org/drawingml/2006/main">
            <a:r>
              <a:t/>
            </a:r>
          </a:p>
          <a:p xmlns:a="http://schemas.openxmlformats.org/drawingml/2006/main">
            <a:r>
              <a:t>Script:</a:t>
            </a:r>
          </a:p>
          <a:p xmlns:a="http://schemas.openxmlformats.org/drawingml/2006/main">
            <a:r>
              <a:t>We ran the frozen notebook three times on Kaggle with two T4 GPUs. The complete 2,516-row runs took 440.87, 527.03, and 593.43 seconds. All three produced the same CSV bytes and the same SHA-256 hash as the scored submission. We reported 0.17 hours, or 612 seconds, as a conservative form value. A 5,000-row same-mix test took 14.60 minutes. We also estimated the pessimistic case where every row needs all three judge views. That stays around 5.2 to 5.5 hours, below the nine-hour limit.</a:t>
            </a:r>
          </a:p>
          <a:p xmlns:a="http://schemas.openxmlformats.org/drawingml/2006/main">
            <a:r>
              <a:t/>
            </a:r>
          </a:p>
          <a:p xmlns:a="http://schemas.openxmlformats.org/drawingml/2006/main">
            <a:r>
              <a:t>Sources:</a:t>
            </a:r>
          </a:p>
          <a:p xmlns:a="http://schemas.openxmlformats.org/drawingml/2006/main">
            <a:r>
              <a:t>[7] Frozen Kaggle notebook runs, output SHA, and runtime manifest.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Noore Tamanna Orny</a:t>
            </a:r>
          </a:p>
          <a:p xmlns:a="http://schemas.openxmlformats.org/drawingml/2006/main">
            <a:r>
              <a:t>Target time: 60 seconds</a:t>
            </a:r>
          </a:p>
          <a:p xmlns:a="http://schemas.openxmlformats.org/drawingml/2006/main">
            <a:r>
              <a:t/>
            </a:r>
          </a:p>
          <a:p xmlns:a="http://schemas.openxmlformats.org/drawingml/2006/main">
            <a:r>
              <a:t>Script:</a:t>
            </a:r>
          </a:p>
          <a:p xmlns:a="http://schemas.openxmlformats.org/drawingml/2006/main">
            <a:r>
              <a:t>Phase 2 changes the source distribution. The organizer listed Common Crawl, recent newspapers, Wikipedia, Banglapedia, government service pages, Bangladesh law, NCTB textbooks, and literature. Exact Phase 1 lineage will naturally cover less. The router handles this by failing closed. It first tries context clauses, structured solvers, and exact entity-relation checks. If those checks fail, the row skips lineage and reaches the same fixed judge. Lower deterministic coverage will increase runtime, but it should not make approximate retrieval more powerful. Our all-uncertain timing gives us room for that shift. Accuracy is still the open question, which is why abstention remains important.</a:t>
            </a:r>
          </a:p>
          <a:p xmlns:a="http://schemas.openxmlformats.org/drawingml/2006/main">
            <a:r>
              <a:t/>
            </a:r>
          </a:p>
          <a:p xmlns:a="http://schemas.openxmlformats.org/drawingml/2006/main">
            <a:r>
              <a:t>Sources:</a:t>
            </a:r>
          </a:p>
          <a:p xmlns:a="http://schemas.openxmlformats.org/drawingml/2006/main">
            <a:r>
              <a:t>[2] Organizer Phase 2 source preview. [7] Held-out routing policy and runtime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Noore Tamanna Orny</a:t>
            </a:r>
          </a:p>
          <a:p xmlns:a="http://schemas.openxmlformats.org/drawingml/2006/main">
            <a:r>
              <a:t>Target time: 45 seconds</a:t>
            </a:r>
          </a:p>
          <a:p xmlns:a="http://schemas.openxmlformats.org/drawingml/2006/main">
            <a:r>
              <a:t/>
            </a:r>
          </a:p>
          <a:p xmlns:a="http://schemas.openxmlformats.org/drawingml/2006/main">
            <a:r>
              <a:t>Script:</a:t>
            </a:r>
          </a:p>
          <a:p xmlns:a="http://schemas.openxmlformats.org/drawingml/2006/main">
            <a:r>
              <a:t>We will close with three lessons. First, this benchmark is a mixture of tasks, and those tasks need different evidence standards. Second, a related passage is not enough. The entity and the requested relation must match. Third, selective judging made the system faster and steadier because the LLM handled only the unresolved tail. That combination produced a private score of 0.982, reproduced the scored CSV offline, and stayed within the Phase 2 runtime limit. We are ready for your questions.</a:t>
            </a:r>
          </a:p>
          <a:p xmlns:a="http://schemas.openxmlformats.org/drawingml/2006/main">
            <a:r>
              <a:t/>
            </a:r>
          </a:p>
          <a:p xmlns:a="http://schemas.openxmlformats.org/drawingml/2006/main">
            <a:r>
              <a:t>Sources:</a:t>
            </a:r>
          </a:p>
          <a:p xmlns:a="http://schemas.openxmlformats.org/drawingml/2006/main">
            <a:r>
              <a:t>[7] Team Huntrix final system, leaderboard result, and reproducibility package.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9e84bf3087a438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8a5b085b6c54550" /><Relationship Type="http://schemas.openxmlformats.org/officeDocument/2006/relationships/slideLayout" Target="/ppt/slideLayouts/slideLayout1.xml" Id="Rf585bd0419fa466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585bd0419fa466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c320b826ccb4744" /><Relationship Type="http://schemas.openxmlformats.org/officeDocument/2006/relationships/notesSlide" Target="/ppt/notesSlides/notesSlide1.xml" Id="R6335c9e3aa9f400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28a9198244047e9" /><Relationship Type="http://schemas.openxmlformats.org/officeDocument/2006/relationships/notesSlide" Target="/ppt/notesSlides/notesSlide2.xml" Id="Rb151edfa211b44f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f62258591594934" /><Relationship Type="http://schemas.openxmlformats.org/officeDocument/2006/relationships/notesSlide" Target="/ppt/notesSlides/notesSlide3.xml" Id="R1286d03a0c66421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e0de2817ec34868" /><Relationship Type="http://schemas.openxmlformats.org/officeDocument/2006/relationships/notesSlide" Target="/ppt/notesSlides/notesSlide4.xml" Id="Rb3ec12aee5aa4f6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383d4711c7a44cd" /><Relationship Type="http://schemas.openxmlformats.org/officeDocument/2006/relationships/notesSlide" Target="/ppt/notesSlides/notesSlide5.xml" Id="R110cb9e1715f431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b21fa597074450c" /><Relationship Type="http://schemas.openxmlformats.org/officeDocument/2006/relationships/notesSlide" Target="/ppt/notesSlides/notesSlide6.xml" Id="R5fd05abb6ca3494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d5c3fa185f54066" /><Relationship Type="http://schemas.openxmlformats.org/officeDocument/2006/relationships/notesSlide" Target="/ppt/notesSlides/notesSlide7.xml" Id="R95ba37d844134ed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79eb78c23d24e51" /><Relationship Type="http://schemas.openxmlformats.org/officeDocument/2006/relationships/notesSlide" Target="/ppt/notesSlides/notesSlide8.xml" Id="Ra1e866880e8e45b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1fab39307544c60" /><Relationship Type="http://schemas.openxmlformats.org/officeDocument/2006/relationships/notesSlide" Target="/ppt/notesSlides/notesSlide9.xml" Id="Rf3ec03f3554740c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438967d23844447" /><Relationship Type="http://schemas.openxmlformats.org/officeDocument/2006/relationships/chart" Target="/ppt/slides/charts/chart1.xml" Id="R55cc168817414a4a" /><Relationship Type="http://schemas.openxmlformats.org/officeDocument/2006/relationships/notesSlide" Target="/ppt/notesSlides/notesSlide10.xml" Id="R418da94bf1594c1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9f82e2a1ffe429b" /><Relationship Type="http://schemas.openxmlformats.org/officeDocument/2006/relationships/notesSlide" Target="/ppt/notesSlides/notesSlide11.xml" Id="R4497c85db0b741b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c6a2f07d0b54ed2" /><Relationship Type="http://schemas.openxmlformats.org/officeDocument/2006/relationships/notesSlide" Target="/ppt/notesSlides/notesSlide12.xml" Id="Rb9ad4a240243441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9fbe72f6d2d4225" /><Relationship Type="http://schemas.openxmlformats.org/officeDocument/2006/relationships/notesSlide" Target="/ppt/notesSlides/notesSlide13.xml" Id="Rc47993950e3f4bd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ae7b67fbf004585" /><Relationship Type="http://schemas.openxmlformats.org/officeDocument/2006/relationships/notesSlide" Target="/ppt/notesSlides/notesSlide14.xml" Id="Re72b920e163044d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d2e303044b364732" /><Relationship Type="http://schemas.openxmlformats.org/officeDocument/2006/relationships/notesSlide" Target="/ppt/notesSlides/notesSlide15.xml" Id="R0fd677dce5f5473b" /></Relationships>
</file>

<file path=ppt/slides/charts/chart1.xml><?xml version="1.0" encoding="utf-8"?>
<c:chartSpace xmlns:c="http://schemas.openxmlformats.org/drawingml/2006/chart">
  <c:lang val="en-US"/>
  <c:chart>
    <c:plotArea>
      <c:lineChart>
        <c:grouping val="standard"/>
        <c:ser>
          <c:idx val="0"/>
          <c:order val="0"/>
          <c:tx>
            <c:v>Public macro F1</c:v>
          </c:tx>
          <c:spPr>
            <a:ln xmlns:a="http://schemas.openxmlformats.org/drawingml/2006/main" w="38100">
              <a:solidFill>
                <a:srgbClr val="1F5A7A"/>
              </a:solidFill>
              <a:prstDash val="solid"/>
            </a:ln>
          </c:spPr>
          <c:marker>
            <c:symbol val="circle"/>
            <c:size val="7"/>
          </c:marker>
          <c:cat>
            <c:strLit>
              <c:ptCount val="11"/>
              <c:pt idx="0">
                <c:v>Base</c:v>
              </c:pt>
              <c:pt idx="1">
                <c:v>Gemma</c:v>
              </c:pt>
              <c:pt idx="2">
                <c:v>Qwen</c:v>
              </c:pt>
              <c:pt idx="3">
                <c:v>v6</c:v>
              </c:pt>
              <c:pt idx="4">
                <c:v>v15</c:v>
              </c:pt>
              <c:pt idx="5">
                <c:v>v23</c:v>
              </c:pt>
              <c:pt idx="6">
                <c:v>v37</c:v>
              </c:pt>
              <c:pt idx="7">
                <c:v>v60</c:v>
              </c:pt>
              <c:pt idx="8">
                <c:v>v85</c:v>
              </c:pt>
              <c:pt idx="9">
                <c:v>v87</c:v>
              </c:pt>
              <c:pt idx="10">
                <c:v>v91</c:v>
              </c:pt>
            </c:strLit>
          </c:cat>
          <c:val>
            <c:numLit>
              <c:formatCode>0.000</c:formatCode>
              <c:ptCount val="11"/>
              <c:pt idx="0">
                <c:v>0.657</c:v>
              </c:pt>
              <c:pt idx="1">
                <c:v>0.742</c:v>
              </c:pt>
              <c:pt idx="2">
                <c:v>0.797</c:v>
              </c:pt>
              <c:pt idx="3">
                <c:v>0.903</c:v>
              </c:pt>
              <c:pt idx="4">
                <c:v>0.934</c:v>
              </c:pt>
              <c:pt idx="5">
                <c:v>0.945</c:v>
              </c:pt>
              <c:pt idx="6">
                <c:v>0.961</c:v>
              </c:pt>
              <c:pt idx="7">
                <c:v>0.963</c:v>
              </c:pt>
              <c:pt idx="8">
                <c:v>0.966</c:v>
              </c:pt>
              <c:pt idx="9">
                <c:v>0.965</c:v>
              </c:pt>
              <c:pt idx="10">
                <c:v>0.967</c:v>
              </c:pt>
            </c:numLit>
          </c:val>
        </c:ser>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8E0EA"/>
            </a:solidFill>
            <a:prstDash val="solid"/>
          </a:ln>
        </c:spPr>
        <c:txPr>
          <a:bodyPr xmlns:a="http://schemas.openxmlformats.org/drawingml/2006/main" anchorCtr="1"/>
          <a:lstStyle xmlns:a="http://schemas.openxmlformats.org/drawingml/2006/main"/>
          <a:p xmlns:a="http://schemas.openxmlformats.org/drawingml/2006/main">
            <a:pPr>
              <a:defRPr sz="975">
                <a:solidFill>
                  <a:srgbClr val="526174"/>
                </a:solidFill>
              </a:defRPr>
            </a:pPr>
          </a:p>
        </c:txPr>
        <c:crossAx val="48672768"/>
        <c:lblAlgn val="ctr"/>
        <c:lblOffset val="100"/>
        <c:noMultiLvlLbl val="0"/>
      </c:catAx>
      <c:valAx>
        <c:axId val="48672768"/>
        <c:scaling>
          <c:orientation val="minMax"/>
          <c:max val="1"/>
          <c:min val="0.6"/>
        </c:scaling>
        <c:delete val="0"/>
        <c:axPos val="l"/>
        <c:majorGridlines>
          <c:spPr>
            <a:ln xmlns:a="http://schemas.openxmlformats.org/drawingml/2006/main" w="9525">
              <a:solidFill>
                <a:srgbClr val="D8E0EA"/>
              </a:solidFill>
              <a:prstDash val="solid"/>
            </a:ln>
          </c:spPr>
        </c:majorGridlines>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526174"/>
                </a:solidFill>
              </a:defRPr>
            </a:pPr>
          </a:p>
        </c:txPr>
        <c:crossAx val="48650112"/>
        <c:crossBetween val="between"/>
        <c:majorUnit val="0.1"/>
      </c:valAx>
      <c:spPr>
        <a:solidFill xmlns:a="http://schemas.openxmlformats.org/drawingml/2006/main">
          <a:srgbClr val="FFFFFF"/>
        </a:solidFill>
        <a:ln xmlns:a="http://schemas.openxmlformats.org/drawingml/2006/main" w="9525">
          <a:solidFill>
            <a:srgbClr val="D8E0EA"/>
          </a:solidFill>
          <a:prstDash val="solid"/>
        </a:ln>
      </c:spPr>
    </c:plotArea>
    <c:plotVisOnly val="1"/>
  </c:chart>
  <c:spPr>
    <a:solidFill xmlns:a="http://schemas.openxmlformats.org/drawingml/2006/main">
      <a:srgbClr val="F7F9FC"/>
    </a:solidFill>
  </c:spPr>
</c:chartSpace>
</file>

<file path=ppt/slides/slide1.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C30D1F82-C532-4179-8C6E-8946A379EB6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A8C82"/>
          </a:solidFill>
          <a:ln xmlns:a="http://schemas.openxmlformats.org/drawingml/2006/main" w="0">
            <a:solidFill>
              <a:srgbClr val="2A8C82"/>
            </a:solidFill>
            <a:prstDash val="solid"/>
          </a:ln>
        </p:spPr>
      </p:sp>
      <p:sp>
        <p:nvSpPr>
          <p:cNvPr id="2" name="">
            <a:extLst xmlns:a="http://schemas.openxmlformats.org/drawingml/2006/main">
              <a:ext uri="{FF2B5EF4-FFF2-40B4-BE49-F238E27FC236}">
                <a16:creationId xmlns:a16="http://schemas.microsoft.com/office/drawing/2014/main" id="{FAA1683F-3908-4323-80C5-D88DF666007A}"/>
              </a:ext>
            </a:extLst>
          </p:cNvPr>
          <p:cNvSpPr>
            <a:spLocks xmlns:a="http://schemas.openxmlformats.org/drawingml/2006/main" noGrp="1"/>
          </p:cNvSpPr>
          <p:nvPr/>
        </p:nvSpPr>
        <p:spPr>
          <a:xfrm xmlns:a="http://schemas.openxmlformats.org/drawingml/2006/main">
            <a:off x="876300" y="6667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1F5A7A"/>
                </a:solidFill>
              </a:defRPr>
            </a:pPr>
            <a:r>
              <a:rPr sz="1200" b="1">
                <a:solidFill>
                  <a:srgbClr val="1F5A7A"/>
                </a:solidFill>
              </a:rPr>
              <a:t>BENGALI HALLUCINATION DETECTION</a:t>
            </a:r>
          </a:p>
        </p:txBody>
      </p:sp>
      <p:sp>
        <p:nvSpPr>
          <p:cNvPr id="3" name="">
            <a:extLst xmlns:a="http://schemas.openxmlformats.org/drawingml/2006/main">
              <a:ext uri="{FF2B5EF4-FFF2-40B4-BE49-F238E27FC236}">
                <a16:creationId xmlns:a16="http://schemas.microsoft.com/office/drawing/2014/main" id="{3066FCFF-8E98-43F5-9BA0-33F6CCC9A4CB}"/>
              </a:ext>
            </a:extLst>
          </p:cNvPr>
          <p:cNvSpPr>
            <a:spLocks xmlns:a="http://schemas.openxmlformats.org/drawingml/2006/main" noGrp="1"/>
          </p:cNvSpPr>
          <p:nvPr/>
        </p:nvSpPr>
        <p:spPr>
          <a:xfrm xmlns:a="http://schemas.openxmlformats.org/drawingml/2006/main">
            <a:off x="876300" y="1162050"/>
            <a:ext cx="74295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900" b="1">
                <a:solidFill>
                  <a:srgbClr val="0F172A"/>
                </a:solidFill>
              </a:defRPr>
            </a:pPr>
            <a:r>
              <a:rPr sz="3900" b="1">
                <a:solidFill>
                  <a:srgbClr val="0F172A"/>
                </a:solidFill>
              </a:rPr>
              <a:t>Private rank 1 came from</a:t>
            </a:r>
          </a:p>
          <a:p xmlns:a="http://schemas.openxmlformats.org/drawingml/2006/main">
            <a:pPr algn="l">
              <a:defRPr sz="3900" b="1">
                <a:solidFill>
                  <a:srgbClr val="0F172A"/>
                </a:solidFill>
              </a:defRPr>
            </a:pPr>
            <a:r>
              <a:rPr sz="3900" b="1">
                <a:solidFill>
                  <a:srgbClr val="0F172A"/>
                </a:solidFill>
              </a:rPr>
              <a:t>changing the decision path</a:t>
            </a:r>
          </a:p>
        </p:txBody>
      </p:sp>
      <p:sp>
        <p:nvSpPr>
          <p:cNvPr id="4" name="">
            <a:extLst xmlns:a="http://schemas.openxmlformats.org/drawingml/2006/main">
              <a:ext uri="{FF2B5EF4-FFF2-40B4-BE49-F238E27FC236}">
                <a16:creationId xmlns:a16="http://schemas.microsoft.com/office/drawing/2014/main" id="{4AA47C31-23D0-41B1-89CE-B42E6E87BFC7}"/>
              </a:ext>
            </a:extLst>
          </p:cNvPr>
          <p:cNvSpPr>
            <a:spLocks xmlns:a="http://schemas.openxmlformats.org/drawingml/2006/main" noGrp="1"/>
          </p:cNvSpPr>
          <p:nvPr/>
        </p:nvSpPr>
        <p:spPr>
          <a:xfrm xmlns:a="http://schemas.openxmlformats.org/drawingml/2006/main">
            <a:off x="914400" y="2762250"/>
            <a:ext cx="6381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526174"/>
                </a:solidFill>
              </a:defRPr>
            </a:pPr>
            <a:r>
              <a:rPr sz="1800" b="0">
                <a:solidFill>
                  <a:srgbClr val="526174"/>
                </a:solidFill>
              </a:rPr>
              <a:t>Evidence-first selective inference for Olikbochon</a:t>
            </a:r>
          </a:p>
        </p:txBody>
      </p:sp>
      <p:sp>
        <p:nvSpPr>
          <p:cNvPr id="5" name="">
            <a:extLst xmlns:a="http://schemas.openxmlformats.org/drawingml/2006/main">
              <a:ext uri="{FF2B5EF4-FFF2-40B4-BE49-F238E27FC236}">
                <a16:creationId xmlns:a16="http://schemas.microsoft.com/office/drawing/2014/main" id="{534BCF77-C69F-4794-A55F-C3A86CDACF58}"/>
              </a:ext>
            </a:extLst>
          </p:cNvPr>
          <p:cNvSpPr>
            <a:spLocks xmlns:a="http://schemas.openxmlformats.org/drawingml/2006/main" noGrp="1"/>
          </p:cNvSpPr>
          <p:nvPr/>
        </p:nvSpPr>
        <p:spPr>
          <a:xfrm xmlns:a="http://schemas.openxmlformats.org/drawingml/2006/main">
            <a:off x="914400" y="3390900"/>
            <a:ext cx="990600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6" name="">
            <a:extLst xmlns:a="http://schemas.openxmlformats.org/drawingml/2006/main">
              <a:ext uri="{FF2B5EF4-FFF2-40B4-BE49-F238E27FC236}">
                <a16:creationId xmlns:a16="http://schemas.microsoft.com/office/drawing/2014/main" id="{9E84A24D-C124-4CC7-A3BC-1C389E1BFA7B}"/>
              </a:ext>
            </a:extLst>
          </p:cNvPr>
          <p:cNvSpPr>
            <a:spLocks xmlns:a="http://schemas.openxmlformats.org/drawingml/2006/main" noGrp="1"/>
          </p:cNvSpPr>
          <p:nvPr/>
        </p:nvSpPr>
        <p:spPr>
          <a:xfrm xmlns:a="http://schemas.openxmlformats.org/drawingml/2006/main">
            <a:off x="914400" y="3714750"/>
            <a:ext cx="2238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600" b="1">
                <a:solidFill>
                  <a:srgbClr val="2A8C82"/>
                </a:solidFill>
              </a:defRPr>
            </a:pPr>
            <a:r>
              <a:rPr sz="3600" b="1">
                <a:solidFill>
                  <a:srgbClr val="2A8C82"/>
                </a:solidFill>
              </a:rPr>
              <a:t>0.982</a:t>
            </a:r>
          </a:p>
        </p:txBody>
      </p:sp>
      <p:sp>
        <p:nvSpPr>
          <p:cNvPr id="7" name="">
            <a:extLst xmlns:a="http://schemas.openxmlformats.org/drawingml/2006/main">
              <a:ext uri="{FF2B5EF4-FFF2-40B4-BE49-F238E27FC236}">
                <a16:creationId xmlns:a16="http://schemas.microsoft.com/office/drawing/2014/main" id="{7C527BAE-F006-4690-9536-0C471F53B67F}"/>
              </a:ext>
            </a:extLst>
          </p:cNvPr>
          <p:cNvSpPr>
            <a:spLocks xmlns:a="http://schemas.openxmlformats.org/drawingml/2006/main" noGrp="1"/>
          </p:cNvSpPr>
          <p:nvPr/>
        </p:nvSpPr>
        <p:spPr>
          <a:xfrm xmlns:a="http://schemas.openxmlformats.org/drawingml/2006/main">
            <a:off x="914400" y="4400550"/>
            <a:ext cx="22383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526174"/>
                </a:solidFill>
              </a:defRPr>
            </a:pPr>
            <a:r>
              <a:rPr sz="1350" b="0">
                <a:solidFill>
                  <a:srgbClr val="526174"/>
                </a:solidFill>
              </a:rPr>
              <a:t>private macro F1</a:t>
            </a:r>
          </a:p>
        </p:txBody>
      </p:sp>
      <p:sp>
        <p:nvSpPr>
          <p:cNvPr id="8" name="">
            <a:extLst xmlns:a="http://schemas.openxmlformats.org/drawingml/2006/main">
              <a:ext uri="{FF2B5EF4-FFF2-40B4-BE49-F238E27FC236}">
                <a16:creationId xmlns:a16="http://schemas.microsoft.com/office/drawing/2014/main" id="{9B83DF07-3C97-425E-98EF-6C57CCA3A4CC}"/>
              </a:ext>
            </a:extLst>
          </p:cNvPr>
          <p:cNvSpPr>
            <a:spLocks xmlns:a="http://schemas.openxmlformats.org/drawingml/2006/main" noGrp="1"/>
          </p:cNvSpPr>
          <p:nvPr/>
        </p:nvSpPr>
        <p:spPr>
          <a:xfrm xmlns:a="http://schemas.openxmlformats.org/drawingml/2006/main">
            <a:off x="3619500" y="3714750"/>
            <a:ext cx="2238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600" b="1">
                <a:solidFill>
                  <a:srgbClr val="1F5A7A"/>
                </a:solidFill>
              </a:defRPr>
            </a:pPr>
            <a:r>
              <a:rPr sz="3600" b="1">
                <a:solidFill>
                  <a:srgbClr val="1F5A7A"/>
                </a:solidFill>
              </a:rPr>
              <a:t>#1</a:t>
            </a:r>
          </a:p>
        </p:txBody>
      </p:sp>
      <p:sp>
        <p:nvSpPr>
          <p:cNvPr id="9" name="">
            <a:extLst xmlns:a="http://schemas.openxmlformats.org/drawingml/2006/main">
              <a:ext uri="{FF2B5EF4-FFF2-40B4-BE49-F238E27FC236}">
                <a16:creationId xmlns:a16="http://schemas.microsoft.com/office/drawing/2014/main" id="{360DDAC2-7DAD-47E5-AE7A-ADDA1704E09F}"/>
              </a:ext>
            </a:extLst>
          </p:cNvPr>
          <p:cNvSpPr>
            <a:spLocks xmlns:a="http://schemas.openxmlformats.org/drawingml/2006/main" noGrp="1"/>
          </p:cNvSpPr>
          <p:nvPr/>
        </p:nvSpPr>
        <p:spPr>
          <a:xfrm xmlns:a="http://schemas.openxmlformats.org/drawingml/2006/main">
            <a:off x="3619500" y="4400550"/>
            <a:ext cx="22383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526174"/>
                </a:solidFill>
              </a:defRPr>
            </a:pPr>
            <a:r>
              <a:rPr sz="1350" b="0">
                <a:solidFill>
                  <a:srgbClr val="526174"/>
                </a:solidFill>
              </a:rPr>
              <a:t>private leaderboard</a:t>
            </a:r>
          </a:p>
        </p:txBody>
      </p:sp>
      <p:sp>
        <p:nvSpPr>
          <p:cNvPr id="10" name="">
            <a:extLst xmlns:a="http://schemas.openxmlformats.org/drawingml/2006/main">
              <a:ext uri="{FF2B5EF4-FFF2-40B4-BE49-F238E27FC236}">
                <a16:creationId xmlns:a16="http://schemas.microsoft.com/office/drawing/2014/main" id="{F22D24B4-634B-4AB1-8504-2EA1EAC7AC65}"/>
              </a:ext>
            </a:extLst>
          </p:cNvPr>
          <p:cNvSpPr>
            <a:spLocks xmlns:a="http://schemas.openxmlformats.org/drawingml/2006/main" noGrp="1"/>
          </p:cNvSpPr>
          <p:nvPr/>
        </p:nvSpPr>
        <p:spPr>
          <a:xfrm xmlns:a="http://schemas.openxmlformats.org/drawingml/2006/main">
            <a:off x="6324600" y="3714750"/>
            <a:ext cx="2238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600" b="1">
                <a:solidFill>
                  <a:srgbClr val="D59B32"/>
                </a:solidFill>
              </a:defRPr>
            </a:pPr>
            <a:r>
              <a:rPr sz="3600" b="1">
                <a:solidFill>
                  <a:srgbClr val="D59B32"/>
                </a:solidFill>
              </a:rPr>
              <a:t>0.967</a:t>
            </a:r>
          </a:p>
        </p:txBody>
      </p:sp>
      <p:sp>
        <p:nvSpPr>
          <p:cNvPr id="11" name="">
            <a:extLst xmlns:a="http://schemas.openxmlformats.org/drawingml/2006/main">
              <a:ext uri="{FF2B5EF4-FFF2-40B4-BE49-F238E27FC236}">
                <a16:creationId xmlns:a16="http://schemas.microsoft.com/office/drawing/2014/main" id="{FA74559B-0B82-42AF-975C-1CAF28E16E3D}"/>
              </a:ext>
            </a:extLst>
          </p:cNvPr>
          <p:cNvSpPr>
            <a:spLocks xmlns:a="http://schemas.openxmlformats.org/drawingml/2006/main" noGrp="1"/>
          </p:cNvSpPr>
          <p:nvPr/>
        </p:nvSpPr>
        <p:spPr>
          <a:xfrm xmlns:a="http://schemas.openxmlformats.org/drawingml/2006/main">
            <a:off x="6324600" y="4400550"/>
            <a:ext cx="22383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526174"/>
                </a:solidFill>
              </a:defRPr>
            </a:pPr>
            <a:r>
              <a:rPr sz="1350" b="0">
                <a:solidFill>
                  <a:srgbClr val="526174"/>
                </a:solidFill>
              </a:rPr>
              <a:t>public macro F1</a:t>
            </a:r>
          </a:p>
        </p:txBody>
      </p:sp>
      <p:sp>
        <p:nvSpPr>
          <p:cNvPr id="12" name="">
            <a:extLst xmlns:a="http://schemas.openxmlformats.org/drawingml/2006/main">
              <a:ext uri="{FF2B5EF4-FFF2-40B4-BE49-F238E27FC236}">
                <a16:creationId xmlns:a16="http://schemas.microsoft.com/office/drawing/2014/main" id="{31901245-2C0A-40ED-B29F-2B6B4B3BEEB5}"/>
              </a:ext>
            </a:extLst>
          </p:cNvPr>
          <p:cNvSpPr>
            <a:spLocks xmlns:a="http://schemas.openxmlformats.org/drawingml/2006/main" noGrp="1"/>
          </p:cNvSpPr>
          <p:nvPr/>
        </p:nvSpPr>
        <p:spPr>
          <a:xfrm xmlns:a="http://schemas.openxmlformats.org/drawingml/2006/main">
            <a:off x="914400" y="5619750"/>
            <a:ext cx="990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0F172A"/>
                </a:solidFill>
              </a:defRPr>
            </a:pPr>
            <a:r>
              <a:rPr sz="1275" b="1">
                <a:solidFill>
                  <a:srgbClr val="0F172A"/>
                </a:solidFill>
              </a:rPr>
              <a:t>Touhidul Alam Seyam  |  MD. Abtahee Kabir  |  Joyeta Barua Moni  |  Noore Tamanna Orny</a:t>
            </a:r>
          </a:p>
        </p:txBody>
      </p:sp>
      <p:sp>
        <p:nvSpPr>
          <p:cNvPr id="13" name="">
            <a:extLst xmlns:a="http://schemas.openxmlformats.org/drawingml/2006/main">
              <a:ext uri="{FF2B5EF4-FFF2-40B4-BE49-F238E27FC236}">
                <a16:creationId xmlns:a16="http://schemas.microsoft.com/office/drawing/2014/main" id="{17E7DFFF-1274-48A2-84D7-706341F8DBB5}"/>
              </a:ext>
            </a:extLst>
          </p:cNvPr>
          <p:cNvSpPr>
            <a:spLocks xmlns:a="http://schemas.openxmlformats.org/drawingml/2006/main" noGrp="1"/>
          </p:cNvSpPr>
          <p:nvPr/>
        </p:nvSpPr>
        <p:spPr>
          <a:xfrm xmlns:a="http://schemas.openxmlformats.org/drawingml/2006/main">
            <a:off x="914400" y="5953125"/>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526174"/>
                </a:solidFill>
              </a:defRPr>
            </a:pPr>
            <a:r>
              <a:rPr sz="1125" b="0">
                <a:solidFill>
                  <a:srgbClr val="526174"/>
                </a:solidFill>
              </a:rPr>
              <a:t>BGC Trust University Bangladesh  |  Chittagong University of Engineering &amp; Technology</a:t>
            </a:r>
          </a:p>
        </p:txBody>
      </p:sp>
      <p:sp>
        <p:nvSpPr>
          <p:cNvPr id="14" name="">
            <a:extLst xmlns:a="http://schemas.openxmlformats.org/drawingml/2006/main">
              <a:ext uri="{FF2B5EF4-FFF2-40B4-BE49-F238E27FC236}">
                <a16:creationId xmlns:a16="http://schemas.microsoft.com/office/drawing/2014/main" id="{7D1DF9A9-E4D1-4C8D-99D3-3A484FA96CB7}"/>
              </a:ext>
            </a:extLst>
          </p:cNvPr>
          <p:cNvSpPr>
            <a:spLocks xmlns:a="http://schemas.openxmlformats.org/drawingml/2006/main" noGrp="1"/>
          </p:cNvSpPr>
          <p:nvPr/>
        </p:nvSpPr>
        <p:spPr>
          <a:xfrm xmlns:a="http://schemas.openxmlformats.org/drawingml/2006/main">
            <a:off x="91440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526174"/>
                </a:solidFill>
              </a:defRPr>
            </a:pPr>
            <a:r>
              <a:rPr sz="975" b="0">
                <a:solidFill>
                  <a:srgbClr val="526174"/>
                </a:solidFill>
              </a:rPr>
              <a:t>[1] Competition leaderboard and rules  [7] Frozen v91 records</a:t>
            </a:r>
          </a:p>
        </p:txBody>
      </p:sp>
      <p:sp>
        <p:nvSpPr>
          <p:cNvPr id="15" name="">
            <a:extLst xmlns:a="http://schemas.openxmlformats.org/drawingml/2006/main">
              <a:ext uri="{FF2B5EF4-FFF2-40B4-BE49-F238E27FC236}">
                <a16:creationId xmlns:a16="http://schemas.microsoft.com/office/drawing/2014/main" id="{A3B77FB2-5027-49A7-B531-5C3AC934171A}"/>
              </a:ext>
            </a:extLst>
          </p:cNvPr>
          <p:cNvSpPr>
            <a:spLocks xmlns:a="http://schemas.openxmlformats.org/drawingml/2006/main" noGrp="1"/>
          </p:cNvSpPr>
          <p:nvPr/>
        </p:nvSpPr>
        <p:spPr>
          <a:xfrm xmlns:a="http://schemas.openxmlformats.org/drawingml/2006/main">
            <a:off x="10810875" y="6496050"/>
            <a:ext cx="6953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1F5A7A"/>
                </a:solidFill>
              </a:defRPr>
            </a:pPr>
            <a:r>
              <a:rPr sz="975" b="1">
                <a:solidFill>
                  <a:srgbClr val="1F5A7A"/>
                </a:solidFill>
              </a:rPr>
              <a:t>01</a:t>
            </a:r>
          </a:p>
        </p:txBody>
      </p:sp>
    </p:spTree>
    <p:extLst>
      <p:ext uri="{BB962C8B-B14F-4D97-AF65-F5344CB8AC3E}">
        <p14:creationId xmlns:p14="http://schemas.microsoft.com/office/powerpoint/2010/main" val="1037285134"/>
      </p:ext>
    </p:extLst>
  </p:cSld>
</p:sld>
</file>

<file path=ppt/slides/slide2.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30" name="kicker-2">
            <a:extLst xmlns:a="http://schemas.openxmlformats.org/drawingml/2006/main">
              <a:ext uri="{FF2B5EF4-FFF2-40B4-BE49-F238E27FC236}">
                <a16:creationId xmlns:a16="http://schemas.microsoft.com/office/drawing/2014/main" id="{084FE228-C260-4B07-9947-33FEFD51A6A9}"/>
              </a:ext>
            </a:extLst>
          </p:cNvPr>
          <p:cNvSpPr>
            <a:spLocks xmlns:a="http://schemas.openxmlformats.org/drawingml/2006/main" noGrp="1"/>
          </p:cNvSpPr>
          <p:nvPr/>
        </p:nvSpPr>
        <p:spPr>
          <a:xfrm xmlns:a="http://schemas.openxmlformats.org/drawingml/2006/main">
            <a:off x="685800" y="32385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F5A7A"/>
                </a:solidFill>
              </a:defRPr>
            </a:pPr>
            <a:r>
              <a:rPr sz="1050" b="1">
                <a:solidFill>
                  <a:srgbClr val="1F5A7A"/>
                </a:solidFill>
              </a:rPr>
              <a:t>TEAM HUNTRIX</a:t>
            </a:r>
          </a:p>
        </p:txBody>
      </p:sp>
      <p:sp>
        <p:nvSpPr>
          <p:cNvPr id="2" name="title-2">
            <a:extLst xmlns:a="http://schemas.openxmlformats.org/drawingml/2006/main">
              <a:ext uri="{FF2B5EF4-FFF2-40B4-BE49-F238E27FC236}">
                <a16:creationId xmlns:a16="http://schemas.microsoft.com/office/drawing/2014/main" id="{03F9D40E-ADD4-4274-983C-3BF25C360C7F}"/>
              </a:ext>
            </a:extLst>
          </p:cNvPr>
          <p:cNvSpPr>
            <a:spLocks xmlns:a="http://schemas.openxmlformats.org/drawingml/2006/main" noGrp="1"/>
          </p:cNvSpPr>
          <p:nvPr/>
        </p:nvSpPr>
        <p:spPr>
          <a:xfrm xmlns:a="http://schemas.openxmlformats.org/drawingml/2006/main">
            <a:off x="685800" y="590550"/>
            <a:ext cx="10820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F172A"/>
                </a:solidFill>
              </a:defRPr>
            </a:pPr>
            <a:r>
              <a:rPr sz="2700" b="1">
                <a:solidFill>
                  <a:srgbClr val="0F172A"/>
                </a:solidFill>
              </a:rPr>
              <a:t>One binary label hid many different reasoning tasks</a:t>
            </a:r>
          </a:p>
        </p:txBody>
      </p:sp>
      <p:sp>
        <p:nvSpPr>
          <p:cNvPr id="3" name="">
            <a:extLst xmlns:a="http://schemas.openxmlformats.org/drawingml/2006/main">
              <a:ext uri="{FF2B5EF4-FFF2-40B4-BE49-F238E27FC236}">
                <a16:creationId xmlns:a16="http://schemas.microsoft.com/office/drawing/2014/main" id="{A0BC24D1-CF5C-4DAE-B763-2AF5FAFA1D49}"/>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4" name="">
            <a:extLst xmlns:a="http://schemas.openxmlformats.org/drawingml/2006/main">
              <a:ext uri="{FF2B5EF4-FFF2-40B4-BE49-F238E27FC236}">
                <a16:creationId xmlns:a16="http://schemas.microsoft.com/office/drawing/2014/main" id="{DC4A647E-6372-4D3A-B6FC-83322C2C03DF}"/>
              </a:ext>
            </a:extLst>
          </p:cNvPr>
          <p:cNvSpPr>
            <a:spLocks xmlns:a="http://schemas.openxmlformats.org/drawingml/2006/main" noGrp="1"/>
          </p:cNvSpPr>
          <p:nvPr/>
        </p:nvSpPr>
        <p:spPr>
          <a:xfrm xmlns:a="http://schemas.openxmlformats.org/drawingml/2006/main">
            <a:off x="685800" y="1409700"/>
            <a:ext cx="857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526174"/>
                </a:solidFill>
              </a:defRPr>
            </a:pPr>
            <a:r>
              <a:rPr sz="1650" b="0">
                <a:solidFill>
                  <a:srgbClr val="526174"/>
                </a:solidFill>
              </a:rPr>
              <a:t>The same label had to cover context faithfulness, language knowledge, and outside facts.</a:t>
            </a:r>
          </a:p>
        </p:txBody>
      </p:sp>
      <p:sp>
        <p:nvSpPr>
          <p:cNvPr id="5" name="">
            <a:extLst xmlns:a="http://schemas.openxmlformats.org/drawingml/2006/main">
              <a:ext uri="{FF2B5EF4-FFF2-40B4-BE49-F238E27FC236}">
                <a16:creationId xmlns:a16="http://schemas.microsoft.com/office/drawing/2014/main" id="{BAA93FD3-85F5-49B1-A676-ECF863ABB717}"/>
              </a:ext>
            </a:extLst>
          </p:cNvPr>
          <p:cNvSpPr>
            <a:spLocks xmlns:a="http://schemas.openxmlformats.org/drawingml/2006/main" noGrp="1"/>
          </p:cNvSpPr>
          <p:nvPr/>
        </p:nvSpPr>
        <p:spPr>
          <a:xfrm xmlns:a="http://schemas.openxmlformats.org/drawingml/2006/main">
            <a:off x="1104900" y="2971800"/>
            <a:ext cx="9953625" cy="0"/>
          </a:xfrm>
          <a:prstGeom xmlns:a="http://schemas.openxmlformats.org/drawingml/2006/main" prst="line">
            <a:avLst/>
          </a:prstGeom>
          <a:noFill xmlns:a="http://schemas.openxmlformats.org/drawingml/2006/main"/>
          <a:ln xmlns:a="http://schemas.openxmlformats.org/drawingml/2006/main" w="47625">
            <a:solidFill>
              <a:srgbClr val="D8E0EA"/>
            </a:solidFill>
            <a:prstDash val="solid"/>
          </a:ln>
        </p:spPr>
      </p:sp>
      <p:sp>
        <p:nvSpPr>
          <p:cNvPr id="6" name="">
            <a:extLst xmlns:a="http://schemas.openxmlformats.org/drawingml/2006/main">
              <a:ext uri="{FF2B5EF4-FFF2-40B4-BE49-F238E27FC236}">
                <a16:creationId xmlns:a16="http://schemas.microsoft.com/office/drawing/2014/main" id="{1ADD32C6-524A-4601-BA71-420FC208CB6E}"/>
              </a:ext>
            </a:extLst>
          </p:cNvPr>
          <p:cNvSpPr>
            <a:spLocks xmlns:a="http://schemas.openxmlformats.org/drawingml/2006/main" noGrp="1"/>
          </p:cNvSpPr>
          <p:nvPr/>
        </p:nvSpPr>
        <p:spPr>
          <a:xfrm xmlns:a="http://schemas.openxmlformats.org/drawingml/2006/main">
            <a:off x="1009650" y="2847975"/>
            <a:ext cx="228600" cy="228600"/>
          </a:xfrm>
          <a:prstGeom xmlns:a="http://schemas.openxmlformats.org/drawingml/2006/main" prst="ellipse">
            <a:avLst/>
          </a:prstGeom>
          <a:solidFill xmlns:a="http://schemas.openxmlformats.org/drawingml/2006/main">
            <a:srgbClr val="2A8C82"/>
          </a:solidFill>
          <a:ln xmlns:a="http://schemas.openxmlformats.org/drawingml/2006/main" w="0">
            <a:solidFill>
              <a:srgbClr val="2A8C82"/>
            </a:solidFill>
            <a:prstDash val="solid"/>
          </a:ln>
        </p:spPr>
      </p:sp>
      <p:sp>
        <p:nvSpPr>
          <p:cNvPr id="7" name="">
            <a:extLst xmlns:a="http://schemas.openxmlformats.org/drawingml/2006/main">
              <a:ext uri="{FF2B5EF4-FFF2-40B4-BE49-F238E27FC236}">
                <a16:creationId xmlns:a16="http://schemas.microsoft.com/office/drawing/2014/main" id="{3624F3AF-8C77-474B-B595-3C5CD5A0B6F9}"/>
              </a:ext>
            </a:extLst>
          </p:cNvPr>
          <p:cNvSpPr>
            <a:spLocks xmlns:a="http://schemas.openxmlformats.org/drawingml/2006/main" noGrp="1"/>
          </p:cNvSpPr>
          <p:nvPr/>
        </p:nvSpPr>
        <p:spPr>
          <a:xfrm xmlns:a="http://schemas.openxmlformats.org/drawingml/2006/main">
            <a:off x="552450" y="2190750"/>
            <a:ext cx="133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F172A"/>
                </a:solidFill>
              </a:defRPr>
            </a:pPr>
            <a:r>
              <a:rPr sz="1575" b="1">
                <a:solidFill>
                  <a:srgbClr val="0F172A"/>
                </a:solidFill>
              </a:rPr>
              <a:t>Context</a:t>
            </a:r>
          </a:p>
        </p:txBody>
      </p:sp>
      <p:sp>
        <p:nvSpPr>
          <p:cNvPr id="8" name="">
            <a:extLst xmlns:a="http://schemas.openxmlformats.org/drawingml/2006/main">
              <a:ext uri="{FF2B5EF4-FFF2-40B4-BE49-F238E27FC236}">
                <a16:creationId xmlns:a16="http://schemas.microsoft.com/office/drawing/2014/main" id="{3F24C246-E403-455E-8734-684B117CD159}"/>
              </a:ext>
            </a:extLst>
          </p:cNvPr>
          <p:cNvSpPr>
            <a:spLocks xmlns:a="http://schemas.openxmlformats.org/drawingml/2006/main" noGrp="1"/>
          </p:cNvSpPr>
          <p:nvPr/>
        </p:nvSpPr>
        <p:spPr>
          <a:xfrm xmlns:a="http://schemas.openxmlformats.org/drawingml/2006/main">
            <a:off x="390525" y="2495550"/>
            <a:ext cx="16668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a:solidFill>
                  <a:srgbClr val="526174"/>
                </a:solidFill>
              </a:defRPr>
            </a:pPr>
            <a:r>
              <a:rPr sz="1200" b="0">
                <a:solidFill>
                  <a:srgbClr val="526174"/>
                </a:solidFill>
              </a:rPr>
              <a:t>entailment</a:t>
            </a:r>
          </a:p>
        </p:txBody>
      </p:sp>
      <p:sp>
        <p:nvSpPr>
          <p:cNvPr id="9" name="">
            <a:extLst xmlns:a="http://schemas.openxmlformats.org/drawingml/2006/main">
              <a:ext uri="{FF2B5EF4-FFF2-40B4-BE49-F238E27FC236}">
                <a16:creationId xmlns:a16="http://schemas.microsoft.com/office/drawing/2014/main" id="{39F5DDFA-15AC-4692-85A1-580D3E3DEFF8}"/>
              </a:ext>
            </a:extLst>
          </p:cNvPr>
          <p:cNvSpPr>
            <a:spLocks xmlns:a="http://schemas.openxmlformats.org/drawingml/2006/main" noGrp="1"/>
          </p:cNvSpPr>
          <p:nvPr/>
        </p:nvSpPr>
        <p:spPr>
          <a:xfrm xmlns:a="http://schemas.openxmlformats.org/drawingml/2006/main">
            <a:off x="3000375" y="2847975"/>
            <a:ext cx="228600" cy="228600"/>
          </a:xfrm>
          <a:prstGeom xmlns:a="http://schemas.openxmlformats.org/drawingml/2006/main" prst="ellipse">
            <a:avLst/>
          </a:prstGeom>
          <a:solidFill xmlns:a="http://schemas.openxmlformats.org/drawingml/2006/main">
            <a:srgbClr val="1F5A7A"/>
          </a:solidFill>
          <a:ln xmlns:a="http://schemas.openxmlformats.org/drawingml/2006/main" w="0">
            <a:solidFill>
              <a:srgbClr val="1F5A7A"/>
            </a:solidFill>
            <a:prstDash val="solid"/>
          </a:ln>
        </p:spPr>
      </p:sp>
      <p:sp>
        <p:nvSpPr>
          <p:cNvPr id="10" name="">
            <a:extLst xmlns:a="http://schemas.openxmlformats.org/drawingml/2006/main">
              <a:ext uri="{FF2B5EF4-FFF2-40B4-BE49-F238E27FC236}">
                <a16:creationId xmlns:a16="http://schemas.microsoft.com/office/drawing/2014/main" id="{F1767DD8-0AFA-4E73-BE26-EE364CD708BD}"/>
              </a:ext>
            </a:extLst>
          </p:cNvPr>
          <p:cNvSpPr>
            <a:spLocks xmlns:a="http://schemas.openxmlformats.org/drawingml/2006/main" noGrp="1"/>
          </p:cNvSpPr>
          <p:nvPr/>
        </p:nvSpPr>
        <p:spPr>
          <a:xfrm xmlns:a="http://schemas.openxmlformats.org/drawingml/2006/main">
            <a:off x="2543175" y="3257550"/>
            <a:ext cx="133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F172A"/>
                </a:solidFill>
              </a:defRPr>
            </a:pPr>
            <a:r>
              <a:rPr sz="1575" b="1">
                <a:solidFill>
                  <a:srgbClr val="0F172A"/>
                </a:solidFill>
              </a:rPr>
              <a:t>Numbers</a:t>
            </a:r>
          </a:p>
        </p:txBody>
      </p:sp>
      <p:sp>
        <p:nvSpPr>
          <p:cNvPr id="11" name="">
            <a:extLst xmlns:a="http://schemas.openxmlformats.org/drawingml/2006/main">
              <a:ext uri="{FF2B5EF4-FFF2-40B4-BE49-F238E27FC236}">
                <a16:creationId xmlns:a16="http://schemas.microsoft.com/office/drawing/2014/main" id="{C72786E8-3A8B-4AFB-B278-C77AA49E8998}"/>
              </a:ext>
            </a:extLst>
          </p:cNvPr>
          <p:cNvSpPr>
            <a:spLocks xmlns:a="http://schemas.openxmlformats.org/drawingml/2006/main" noGrp="1"/>
          </p:cNvSpPr>
          <p:nvPr/>
        </p:nvSpPr>
        <p:spPr>
          <a:xfrm xmlns:a="http://schemas.openxmlformats.org/drawingml/2006/main">
            <a:off x="2381250" y="3581400"/>
            <a:ext cx="16668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a:solidFill>
                  <a:srgbClr val="526174"/>
                </a:solidFill>
              </a:defRPr>
            </a:pPr>
            <a:r>
              <a:rPr sz="1200" b="0">
                <a:solidFill>
                  <a:srgbClr val="526174"/>
                </a:solidFill>
              </a:rPr>
              <a:t>dates and ranges</a:t>
            </a:r>
          </a:p>
        </p:txBody>
      </p:sp>
      <p:sp>
        <p:nvSpPr>
          <p:cNvPr id="12" name="">
            <a:extLst xmlns:a="http://schemas.openxmlformats.org/drawingml/2006/main">
              <a:ext uri="{FF2B5EF4-FFF2-40B4-BE49-F238E27FC236}">
                <a16:creationId xmlns:a16="http://schemas.microsoft.com/office/drawing/2014/main" id="{5155D9D9-68AE-42BE-9099-BB0439340989}"/>
              </a:ext>
            </a:extLst>
          </p:cNvPr>
          <p:cNvSpPr>
            <a:spLocks xmlns:a="http://schemas.openxmlformats.org/drawingml/2006/main" noGrp="1"/>
          </p:cNvSpPr>
          <p:nvPr/>
        </p:nvSpPr>
        <p:spPr>
          <a:xfrm xmlns:a="http://schemas.openxmlformats.org/drawingml/2006/main">
            <a:off x="4991100" y="2847975"/>
            <a:ext cx="228600" cy="228600"/>
          </a:xfrm>
          <a:prstGeom xmlns:a="http://schemas.openxmlformats.org/drawingml/2006/main" prst="ellipse">
            <a:avLst/>
          </a:prstGeom>
          <a:solidFill xmlns:a="http://schemas.openxmlformats.org/drawingml/2006/main">
            <a:srgbClr val="D59B32"/>
          </a:solidFill>
          <a:ln xmlns:a="http://schemas.openxmlformats.org/drawingml/2006/main" w="0">
            <a:solidFill>
              <a:srgbClr val="D59B32"/>
            </a:solidFill>
            <a:prstDash val="solid"/>
          </a:ln>
        </p:spPr>
      </p:sp>
      <p:sp>
        <p:nvSpPr>
          <p:cNvPr id="13" name="">
            <a:extLst xmlns:a="http://schemas.openxmlformats.org/drawingml/2006/main">
              <a:ext uri="{FF2B5EF4-FFF2-40B4-BE49-F238E27FC236}">
                <a16:creationId xmlns:a16="http://schemas.microsoft.com/office/drawing/2014/main" id="{47AC5438-1920-4DFD-95BC-7D7D20FE115A}"/>
              </a:ext>
            </a:extLst>
          </p:cNvPr>
          <p:cNvSpPr>
            <a:spLocks xmlns:a="http://schemas.openxmlformats.org/drawingml/2006/main" noGrp="1"/>
          </p:cNvSpPr>
          <p:nvPr/>
        </p:nvSpPr>
        <p:spPr>
          <a:xfrm xmlns:a="http://schemas.openxmlformats.org/drawingml/2006/main">
            <a:off x="4533900" y="2190750"/>
            <a:ext cx="133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F172A"/>
                </a:solidFill>
              </a:defRPr>
            </a:pPr>
            <a:r>
              <a:rPr sz="1575" b="1">
                <a:solidFill>
                  <a:srgbClr val="0F172A"/>
                </a:solidFill>
              </a:rPr>
              <a:t>MCQ</a:t>
            </a:r>
          </a:p>
        </p:txBody>
      </p:sp>
      <p:sp>
        <p:nvSpPr>
          <p:cNvPr id="14" name="">
            <a:extLst xmlns:a="http://schemas.openxmlformats.org/drawingml/2006/main">
              <a:ext uri="{FF2B5EF4-FFF2-40B4-BE49-F238E27FC236}">
                <a16:creationId xmlns:a16="http://schemas.microsoft.com/office/drawing/2014/main" id="{DA369DA5-82FC-411C-BD6D-27E07730470A}"/>
              </a:ext>
            </a:extLst>
          </p:cNvPr>
          <p:cNvSpPr>
            <a:spLocks xmlns:a="http://schemas.openxmlformats.org/drawingml/2006/main" noGrp="1"/>
          </p:cNvSpPr>
          <p:nvPr/>
        </p:nvSpPr>
        <p:spPr>
          <a:xfrm xmlns:a="http://schemas.openxmlformats.org/drawingml/2006/main">
            <a:off x="4371975" y="2495550"/>
            <a:ext cx="16668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a:solidFill>
                  <a:srgbClr val="526174"/>
                </a:solidFill>
              </a:defRPr>
            </a:pPr>
            <a:r>
              <a:rPr sz="1200" b="0">
                <a:solidFill>
                  <a:srgbClr val="526174"/>
                </a:solidFill>
              </a:rPr>
              <a:t>option parsing</a:t>
            </a:r>
          </a:p>
        </p:txBody>
      </p:sp>
      <p:sp>
        <p:nvSpPr>
          <p:cNvPr id="15" name="">
            <a:extLst xmlns:a="http://schemas.openxmlformats.org/drawingml/2006/main">
              <a:ext uri="{FF2B5EF4-FFF2-40B4-BE49-F238E27FC236}">
                <a16:creationId xmlns:a16="http://schemas.microsoft.com/office/drawing/2014/main" id="{E03F991C-A934-45F5-B44B-24C0C13835AE}"/>
              </a:ext>
            </a:extLst>
          </p:cNvPr>
          <p:cNvSpPr>
            <a:spLocks xmlns:a="http://schemas.openxmlformats.org/drawingml/2006/main" noGrp="1"/>
          </p:cNvSpPr>
          <p:nvPr/>
        </p:nvSpPr>
        <p:spPr>
          <a:xfrm xmlns:a="http://schemas.openxmlformats.org/drawingml/2006/main">
            <a:off x="6981825" y="2847975"/>
            <a:ext cx="228600" cy="228600"/>
          </a:xfrm>
          <a:prstGeom xmlns:a="http://schemas.openxmlformats.org/drawingml/2006/main" prst="ellipse">
            <a:avLst/>
          </a:prstGeom>
          <a:solidFill xmlns:a="http://schemas.openxmlformats.org/drawingml/2006/main">
            <a:srgbClr val="2A8C82"/>
          </a:solidFill>
          <a:ln xmlns:a="http://schemas.openxmlformats.org/drawingml/2006/main" w="0">
            <a:solidFill>
              <a:srgbClr val="2A8C82"/>
            </a:solidFill>
            <a:prstDash val="solid"/>
          </a:ln>
        </p:spPr>
      </p:sp>
      <p:sp>
        <p:nvSpPr>
          <p:cNvPr id="16" name="">
            <a:extLst xmlns:a="http://schemas.openxmlformats.org/drawingml/2006/main">
              <a:ext uri="{FF2B5EF4-FFF2-40B4-BE49-F238E27FC236}">
                <a16:creationId xmlns:a16="http://schemas.microsoft.com/office/drawing/2014/main" id="{A01CB1BC-49FE-463E-A861-47EFA482AE0D}"/>
              </a:ext>
            </a:extLst>
          </p:cNvPr>
          <p:cNvSpPr>
            <a:spLocks xmlns:a="http://schemas.openxmlformats.org/drawingml/2006/main" noGrp="1"/>
          </p:cNvSpPr>
          <p:nvPr/>
        </p:nvSpPr>
        <p:spPr>
          <a:xfrm xmlns:a="http://schemas.openxmlformats.org/drawingml/2006/main">
            <a:off x="6524625" y="3257550"/>
            <a:ext cx="133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F172A"/>
                </a:solidFill>
              </a:defRPr>
            </a:pPr>
            <a:r>
              <a:rPr sz="1575" b="1">
                <a:solidFill>
                  <a:srgbClr val="0F172A"/>
                </a:solidFill>
              </a:rPr>
              <a:t>Language</a:t>
            </a:r>
          </a:p>
        </p:txBody>
      </p:sp>
      <p:sp>
        <p:nvSpPr>
          <p:cNvPr id="17" name="">
            <a:extLst xmlns:a="http://schemas.openxmlformats.org/drawingml/2006/main">
              <a:ext uri="{FF2B5EF4-FFF2-40B4-BE49-F238E27FC236}">
                <a16:creationId xmlns:a16="http://schemas.microsoft.com/office/drawing/2014/main" id="{FBBD8081-85CC-4049-8630-A9D506E53930}"/>
              </a:ext>
            </a:extLst>
          </p:cNvPr>
          <p:cNvSpPr>
            <a:spLocks xmlns:a="http://schemas.openxmlformats.org/drawingml/2006/main" noGrp="1"/>
          </p:cNvSpPr>
          <p:nvPr/>
        </p:nvSpPr>
        <p:spPr>
          <a:xfrm xmlns:a="http://schemas.openxmlformats.org/drawingml/2006/main">
            <a:off x="6362700" y="3581400"/>
            <a:ext cx="16668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a:solidFill>
                  <a:srgbClr val="526174"/>
                </a:solidFill>
              </a:defRPr>
            </a:pPr>
            <a:r>
              <a:rPr sz="1200" b="0">
                <a:solidFill>
                  <a:srgbClr val="526174"/>
                </a:solidFill>
              </a:rPr>
              <a:t>morphology</a:t>
            </a:r>
          </a:p>
        </p:txBody>
      </p:sp>
      <p:sp>
        <p:nvSpPr>
          <p:cNvPr id="18" name="">
            <a:extLst xmlns:a="http://schemas.openxmlformats.org/drawingml/2006/main">
              <a:ext uri="{FF2B5EF4-FFF2-40B4-BE49-F238E27FC236}">
                <a16:creationId xmlns:a16="http://schemas.microsoft.com/office/drawing/2014/main" id="{A30B61CD-D5F3-4961-8E9F-4C8D0170A434}"/>
              </a:ext>
            </a:extLst>
          </p:cNvPr>
          <p:cNvSpPr>
            <a:spLocks xmlns:a="http://schemas.openxmlformats.org/drawingml/2006/main" noGrp="1"/>
          </p:cNvSpPr>
          <p:nvPr/>
        </p:nvSpPr>
        <p:spPr>
          <a:xfrm xmlns:a="http://schemas.openxmlformats.org/drawingml/2006/main">
            <a:off x="8972550" y="2847975"/>
            <a:ext cx="228600" cy="228600"/>
          </a:xfrm>
          <a:prstGeom xmlns:a="http://schemas.openxmlformats.org/drawingml/2006/main" prst="ellipse">
            <a:avLst/>
          </a:prstGeom>
          <a:solidFill xmlns:a="http://schemas.openxmlformats.org/drawingml/2006/main">
            <a:srgbClr val="B5483A"/>
          </a:solidFill>
          <a:ln xmlns:a="http://schemas.openxmlformats.org/drawingml/2006/main" w="0">
            <a:solidFill>
              <a:srgbClr val="B5483A"/>
            </a:solidFill>
            <a:prstDash val="solid"/>
          </a:ln>
        </p:spPr>
      </p:sp>
      <p:sp>
        <p:nvSpPr>
          <p:cNvPr id="19" name="">
            <a:extLst xmlns:a="http://schemas.openxmlformats.org/drawingml/2006/main">
              <a:ext uri="{FF2B5EF4-FFF2-40B4-BE49-F238E27FC236}">
                <a16:creationId xmlns:a16="http://schemas.microsoft.com/office/drawing/2014/main" id="{B1B79849-DBFF-4625-937C-C0854C7E127D}"/>
              </a:ext>
            </a:extLst>
          </p:cNvPr>
          <p:cNvSpPr>
            <a:spLocks xmlns:a="http://schemas.openxmlformats.org/drawingml/2006/main" noGrp="1"/>
          </p:cNvSpPr>
          <p:nvPr/>
        </p:nvSpPr>
        <p:spPr>
          <a:xfrm xmlns:a="http://schemas.openxmlformats.org/drawingml/2006/main">
            <a:off x="8515350" y="2190750"/>
            <a:ext cx="133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F172A"/>
                </a:solidFill>
              </a:defRPr>
            </a:pPr>
            <a:r>
              <a:rPr sz="1575" b="1">
                <a:solidFill>
                  <a:srgbClr val="0F172A"/>
                </a:solidFill>
              </a:rPr>
              <a:t>Idioms</a:t>
            </a:r>
          </a:p>
        </p:txBody>
      </p:sp>
      <p:sp>
        <p:nvSpPr>
          <p:cNvPr id="20" name="">
            <a:extLst xmlns:a="http://schemas.openxmlformats.org/drawingml/2006/main">
              <a:ext uri="{FF2B5EF4-FFF2-40B4-BE49-F238E27FC236}">
                <a16:creationId xmlns:a16="http://schemas.microsoft.com/office/drawing/2014/main" id="{27DC2580-9B79-4022-8485-4DD41142E788}"/>
              </a:ext>
            </a:extLst>
          </p:cNvPr>
          <p:cNvSpPr>
            <a:spLocks xmlns:a="http://schemas.openxmlformats.org/drawingml/2006/main" noGrp="1"/>
          </p:cNvSpPr>
          <p:nvPr/>
        </p:nvSpPr>
        <p:spPr>
          <a:xfrm xmlns:a="http://schemas.openxmlformats.org/drawingml/2006/main">
            <a:off x="8353425" y="2495550"/>
            <a:ext cx="16668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a:solidFill>
                  <a:srgbClr val="526174"/>
                </a:solidFill>
              </a:defRPr>
            </a:pPr>
            <a:r>
              <a:rPr sz="1200" b="0">
                <a:solidFill>
                  <a:srgbClr val="526174"/>
                </a:solidFill>
              </a:rPr>
              <a:t>literal vs figurative</a:t>
            </a:r>
          </a:p>
        </p:txBody>
      </p:sp>
      <p:sp>
        <p:nvSpPr>
          <p:cNvPr id="21" name="">
            <a:extLst xmlns:a="http://schemas.openxmlformats.org/drawingml/2006/main">
              <a:ext uri="{FF2B5EF4-FFF2-40B4-BE49-F238E27FC236}">
                <a16:creationId xmlns:a16="http://schemas.microsoft.com/office/drawing/2014/main" id="{C510DB93-F98E-4AD9-98DB-7C540B05815D}"/>
              </a:ext>
            </a:extLst>
          </p:cNvPr>
          <p:cNvSpPr>
            <a:spLocks xmlns:a="http://schemas.openxmlformats.org/drawingml/2006/main" noGrp="1"/>
          </p:cNvSpPr>
          <p:nvPr/>
        </p:nvSpPr>
        <p:spPr>
          <a:xfrm xmlns:a="http://schemas.openxmlformats.org/drawingml/2006/main">
            <a:off x="10963275" y="2847975"/>
            <a:ext cx="228600" cy="228600"/>
          </a:xfrm>
          <a:prstGeom xmlns:a="http://schemas.openxmlformats.org/drawingml/2006/main" prst="ellipse">
            <a:avLst/>
          </a:prstGeom>
          <a:solidFill xmlns:a="http://schemas.openxmlformats.org/drawingml/2006/main">
            <a:srgbClr val="1F5A7A"/>
          </a:solidFill>
          <a:ln xmlns:a="http://schemas.openxmlformats.org/drawingml/2006/main" w="0">
            <a:solidFill>
              <a:srgbClr val="1F5A7A"/>
            </a:solidFill>
            <a:prstDash val="solid"/>
          </a:ln>
        </p:spPr>
      </p:sp>
      <p:sp>
        <p:nvSpPr>
          <p:cNvPr id="22" name="">
            <a:extLst xmlns:a="http://schemas.openxmlformats.org/drawingml/2006/main">
              <a:ext uri="{FF2B5EF4-FFF2-40B4-BE49-F238E27FC236}">
                <a16:creationId xmlns:a16="http://schemas.microsoft.com/office/drawing/2014/main" id="{75DAC7EA-27C1-4E0F-9815-547EDD8E24A0}"/>
              </a:ext>
            </a:extLst>
          </p:cNvPr>
          <p:cNvSpPr>
            <a:spLocks xmlns:a="http://schemas.openxmlformats.org/drawingml/2006/main" noGrp="1"/>
          </p:cNvSpPr>
          <p:nvPr/>
        </p:nvSpPr>
        <p:spPr>
          <a:xfrm xmlns:a="http://schemas.openxmlformats.org/drawingml/2006/main">
            <a:off x="10506075" y="3257550"/>
            <a:ext cx="133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F172A"/>
                </a:solidFill>
              </a:defRPr>
            </a:pPr>
            <a:r>
              <a:rPr sz="1575" b="1">
                <a:solidFill>
                  <a:srgbClr val="0F172A"/>
                </a:solidFill>
              </a:rPr>
              <a:t>Facts</a:t>
            </a:r>
          </a:p>
        </p:txBody>
      </p:sp>
      <p:sp>
        <p:nvSpPr>
          <p:cNvPr id="23" name="">
            <a:extLst xmlns:a="http://schemas.openxmlformats.org/drawingml/2006/main">
              <a:ext uri="{FF2B5EF4-FFF2-40B4-BE49-F238E27FC236}">
                <a16:creationId xmlns:a16="http://schemas.microsoft.com/office/drawing/2014/main" id="{86E3BA77-EE7B-4AEE-A761-9FF10038BAE5}"/>
              </a:ext>
            </a:extLst>
          </p:cNvPr>
          <p:cNvSpPr>
            <a:spLocks xmlns:a="http://schemas.openxmlformats.org/drawingml/2006/main" noGrp="1"/>
          </p:cNvSpPr>
          <p:nvPr/>
        </p:nvSpPr>
        <p:spPr>
          <a:xfrm xmlns:a="http://schemas.openxmlformats.org/drawingml/2006/main">
            <a:off x="10344150" y="3581400"/>
            <a:ext cx="16668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a:solidFill>
                  <a:srgbClr val="526174"/>
                </a:solidFill>
              </a:defRPr>
            </a:pPr>
            <a:r>
              <a:rPr sz="1200" b="0">
                <a:solidFill>
                  <a:srgbClr val="526174"/>
                </a:solidFill>
              </a:rPr>
              <a:t>history and law</a:t>
            </a:r>
          </a:p>
        </p:txBody>
      </p:sp>
      <p:sp>
        <p:nvSpPr>
          <p:cNvPr id="24" name="">
            <a:extLst xmlns:a="http://schemas.openxmlformats.org/drawingml/2006/main">
              <a:ext uri="{FF2B5EF4-FFF2-40B4-BE49-F238E27FC236}">
                <a16:creationId xmlns:a16="http://schemas.microsoft.com/office/drawing/2014/main" id="{8D48E0FA-8321-44E9-9613-13D10C6A1F0A}"/>
              </a:ext>
            </a:extLst>
          </p:cNvPr>
          <p:cNvSpPr>
            <a:spLocks xmlns:a="http://schemas.openxmlformats.org/drawingml/2006/main" noGrp="1"/>
          </p:cNvSpPr>
          <p:nvPr/>
        </p:nvSpPr>
        <p:spPr>
          <a:xfrm xmlns:a="http://schemas.openxmlformats.org/drawingml/2006/main">
            <a:off x="1657350" y="4648200"/>
            <a:ext cx="8877300" cy="1028700"/>
          </a:xfrm>
          <a:prstGeom xmlns:a="http://schemas.openxmlformats.org/drawingml/2006/main" prst="roundRect">
            <a:avLst>
              <a:gd name="adj" fmla="val 12963"/>
            </a:avLst>
          </a:prstGeom>
          <a:solidFill xmlns:a="http://schemas.openxmlformats.org/drawingml/2006/main">
            <a:srgbClr val="FFFFFF"/>
          </a:solidFill>
          <a:ln xmlns:a="http://schemas.openxmlformats.org/drawingml/2006/main" w="9525">
            <a:solidFill>
              <a:srgbClr val="D8E0E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5" name="">
            <a:extLst xmlns:a="http://schemas.openxmlformats.org/drawingml/2006/main">
              <a:ext uri="{FF2B5EF4-FFF2-40B4-BE49-F238E27FC236}">
                <a16:creationId xmlns:a16="http://schemas.microsoft.com/office/drawing/2014/main" id="{D81FBA4B-92D7-4740-A6D4-31A71E1DB32B}"/>
              </a:ext>
            </a:extLst>
          </p:cNvPr>
          <p:cNvSpPr>
            <a:spLocks xmlns:a="http://schemas.openxmlformats.org/drawingml/2006/main" noGrp="1"/>
          </p:cNvSpPr>
          <p:nvPr/>
        </p:nvSpPr>
        <p:spPr>
          <a:xfrm xmlns:a="http://schemas.openxmlformats.org/drawingml/2006/main">
            <a:off x="2057400" y="4857750"/>
            <a:ext cx="809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950" b="1">
                <a:solidFill>
                  <a:srgbClr val="0F172A"/>
                </a:solidFill>
              </a:defRPr>
            </a:pPr>
            <a:r>
              <a:rPr sz="1950" b="1">
                <a:solidFill>
                  <a:srgbClr val="0F172A"/>
                </a:solidFill>
              </a:rPr>
              <a:t>A single judge prompt treated all six as the same problem.</a:t>
            </a:r>
          </a:p>
        </p:txBody>
      </p:sp>
      <p:sp>
        <p:nvSpPr>
          <p:cNvPr id="26" name="">
            <a:extLst xmlns:a="http://schemas.openxmlformats.org/drawingml/2006/main">
              <a:ext uri="{FF2B5EF4-FFF2-40B4-BE49-F238E27FC236}">
                <a16:creationId xmlns:a16="http://schemas.microsoft.com/office/drawing/2014/main" id="{3B1A2159-1878-40F0-9FCD-EAF9404D5865}"/>
              </a:ext>
            </a:extLst>
          </p:cNvPr>
          <p:cNvSpPr>
            <a:spLocks xmlns:a="http://schemas.openxmlformats.org/drawingml/2006/main" noGrp="1"/>
          </p:cNvSpPr>
          <p:nvPr/>
        </p:nvSpPr>
        <p:spPr>
          <a:xfrm xmlns:a="http://schemas.openxmlformats.org/drawingml/2006/main">
            <a:off x="2057400" y="525780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0">
                <a:solidFill>
                  <a:srgbClr val="526174"/>
                </a:solidFill>
              </a:defRPr>
            </a:pPr>
            <a:r>
              <a:rPr sz="1350" b="0">
                <a:solidFill>
                  <a:srgbClr val="526174"/>
                </a:solidFill>
              </a:rPr>
              <a:t>That worked as a baseline, but it was prompt-sensitive and weak on culturally specific relations.</a:t>
            </a:r>
          </a:p>
        </p:txBody>
      </p:sp>
      <p:sp>
        <p:nvSpPr>
          <p:cNvPr id="27" name="">
            <a:extLst xmlns:a="http://schemas.openxmlformats.org/drawingml/2006/main">
              <a:ext uri="{FF2B5EF4-FFF2-40B4-BE49-F238E27FC236}">
                <a16:creationId xmlns:a16="http://schemas.microsoft.com/office/drawing/2014/main" id="{8BE6530D-F918-4423-9251-AA363B8C0746}"/>
              </a:ext>
            </a:extLst>
          </p:cNvPr>
          <p:cNvSpPr>
            <a:spLocks xmlns:a="http://schemas.openxmlformats.org/drawingml/2006/main" noGrp="1"/>
          </p:cNvSpPr>
          <p:nvPr/>
        </p:nvSpPr>
        <p:spPr>
          <a:xfrm xmlns:a="http://schemas.openxmlformats.org/drawingml/2006/main">
            <a:off x="685800" y="6372225"/>
            <a:ext cx="1082040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28" name="source-2">
            <a:extLst xmlns:a="http://schemas.openxmlformats.org/drawingml/2006/main">
              <a:ext uri="{FF2B5EF4-FFF2-40B4-BE49-F238E27FC236}">
                <a16:creationId xmlns:a16="http://schemas.microsoft.com/office/drawing/2014/main" id="{1CA75A41-6E07-4825-9951-D4BD43F3A898}"/>
              </a:ext>
            </a:extLst>
          </p:cNvPr>
          <p:cNvSpPr>
            <a:spLocks xmlns:a="http://schemas.openxmlformats.org/drawingml/2006/main" noGrp="1"/>
          </p:cNvSpPr>
          <p:nvPr/>
        </p:nvSpPr>
        <p:spPr>
          <a:xfrm xmlns:a="http://schemas.openxmlformats.org/drawingml/2006/main">
            <a:off x="685800" y="6457950"/>
            <a:ext cx="9810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526174"/>
                </a:solidFill>
              </a:defRPr>
            </a:pPr>
            <a:r>
              <a:rPr sz="975" b="0">
                <a:solidFill>
                  <a:srgbClr val="526174"/>
                </a:solidFill>
              </a:rPr>
              <a:t>[1] Competition task definition  [3] BenHalluEval task taxonomy  [4] Bengali idiom benchmark</a:t>
            </a:r>
          </a:p>
        </p:txBody>
      </p:sp>
      <p:sp>
        <p:nvSpPr>
          <p:cNvPr id="29" name="page-2">
            <a:extLst xmlns:a="http://schemas.openxmlformats.org/drawingml/2006/main">
              <a:ext uri="{FF2B5EF4-FFF2-40B4-BE49-F238E27FC236}">
                <a16:creationId xmlns:a16="http://schemas.microsoft.com/office/drawing/2014/main" id="{128456FC-B4DF-4307-9C36-152E248EC0D6}"/>
              </a:ext>
            </a:extLst>
          </p:cNvPr>
          <p:cNvSpPr>
            <a:spLocks xmlns:a="http://schemas.openxmlformats.org/drawingml/2006/main" noGrp="1"/>
          </p:cNvSpPr>
          <p:nvPr/>
        </p:nvSpPr>
        <p:spPr>
          <a:xfrm xmlns:a="http://schemas.openxmlformats.org/drawingml/2006/main">
            <a:off x="10810875" y="6457950"/>
            <a:ext cx="6953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1F5A7A"/>
                </a:solidFill>
              </a:defRPr>
            </a:pPr>
            <a:r>
              <a:rPr sz="975" b="1">
                <a:solidFill>
                  <a:srgbClr val="1F5A7A"/>
                </a:solidFill>
              </a:rPr>
              <a:t>02</a:t>
            </a:r>
          </a:p>
        </p:txBody>
      </p:sp>
    </p:spTree>
    <p:extLst>
      <p:ext uri="{BB962C8B-B14F-4D97-AF65-F5344CB8AC3E}">
        <p14:creationId xmlns:p14="http://schemas.microsoft.com/office/powerpoint/2010/main" val="826493477"/>
      </p:ext>
    </p:extLst>
  </p:cSld>
</p:sld>
</file>

<file path=ppt/slides/slide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9" name="kicker-3">
            <a:extLst xmlns:a="http://schemas.openxmlformats.org/drawingml/2006/main">
              <a:ext uri="{FF2B5EF4-FFF2-40B4-BE49-F238E27FC236}">
                <a16:creationId xmlns:a16="http://schemas.microsoft.com/office/drawing/2014/main" id="{8F5351C3-E7F8-4084-8ABC-F758FE3E7C8C}"/>
              </a:ext>
            </a:extLst>
          </p:cNvPr>
          <p:cNvSpPr>
            <a:spLocks xmlns:a="http://schemas.openxmlformats.org/drawingml/2006/main" noGrp="1"/>
          </p:cNvSpPr>
          <p:nvPr/>
        </p:nvSpPr>
        <p:spPr>
          <a:xfrm xmlns:a="http://schemas.openxmlformats.org/drawingml/2006/main">
            <a:off x="685800" y="32385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F5A7A"/>
                </a:solidFill>
              </a:defRPr>
            </a:pPr>
            <a:r>
              <a:rPr sz="1050" b="1">
                <a:solidFill>
                  <a:srgbClr val="1F5A7A"/>
                </a:solidFill>
              </a:rPr>
              <a:t>TEAM HUNTRIX</a:t>
            </a:r>
          </a:p>
        </p:txBody>
      </p:sp>
      <p:sp>
        <p:nvSpPr>
          <p:cNvPr id="2" name="title-3">
            <a:extLst xmlns:a="http://schemas.openxmlformats.org/drawingml/2006/main">
              <a:ext uri="{FF2B5EF4-FFF2-40B4-BE49-F238E27FC236}">
                <a16:creationId xmlns:a16="http://schemas.microsoft.com/office/drawing/2014/main" id="{C3D5A6FF-ADC8-445A-9A98-508DD1C0F1BA}"/>
              </a:ext>
            </a:extLst>
          </p:cNvPr>
          <p:cNvSpPr>
            <a:spLocks xmlns:a="http://schemas.openxmlformats.org/drawingml/2006/main" noGrp="1"/>
          </p:cNvSpPr>
          <p:nvPr/>
        </p:nvSpPr>
        <p:spPr>
          <a:xfrm xmlns:a="http://schemas.openxmlformats.org/drawingml/2006/main">
            <a:off x="685800" y="590550"/>
            <a:ext cx="10820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F172A"/>
                </a:solidFill>
              </a:defRPr>
            </a:pPr>
            <a:r>
              <a:rPr sz="2700" b="1">
                <a:solidFill>
                  <a:srgbClr val="0F172A"/>
                </a:solidFill>
              </a:rPr>
              <a:t>The breakthrough was a selective cascade</a:t>
            </a:r>
          </a:p>
        </p:txBody>
      </p:sp>
      <p:sp>
        <p:nvSpPr>
          <p:cNvPr id="3" name="">
            <a:extLst xmlns:a="http://schemas.openxmlformats.org/drawingml/2006/main">
              <a:ext uri="{FF2B5EF4-FFF2-40B4-BE49-F238E27FC236}">
                <a16:creationId xmlns:a16="http://schemas.microsoft.com/office/drawing/2014/main" id="{E77C327D-80B9-44B8-8662-C3D70D919075}"/>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4" name="">
            <a:extLst xmlns:a="http://schemas.openxmlformats.org/drawingml/2006/main">
              <a:ext uri="{FF2B5EF4-FFF2-40B4-BE49-F238E27FC236}">
                <a16:creationId xmlns:a16="http://schemas.microsoft.com/office/drawing/2014/main" id="{A35C47DF-9F32-401E-8671-90992FABD9B5}"/>
              </a:ext>
            </a:extLst>
          </p:cNvPr>
          <p:cNvSpPr>
            <a:spLocks xmlns:a="http://schemas.openxmlformats.org/drawingml/2006/main" noGrp="1"/>
          </p:cNvSpPr>
          <p:nvPr/>
        </p:nvSpPr>
        <p:spPr>
          <a:xfrm xmlns:a="http://schemas.openxmlformats.org/drawingml/2006/main">
            <a:off x="685800" y="1381125"/>
            <a:ext cx="952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526174"/>
                </a:solidFill>
              </a:defRPr>
            </a:pPr>
            <a:r>
              <a:rPr sz="1650" b="0">
                <a:solidFill>
                  <a:srgbClr val="526174"/>
                </a:solidFill>
              </a:rPr>
              <a:t>Every stage could answer, or abstain. Abstention was a normal outcome, not a failure.</a:t>
            </a:r>
          </a:p>
        </p:txBody>
      </p:sp>
      <p:sp>
        <p:nvSpPr>
          <p:cNvPr id="5" name="">
            <a:extLst xmlns:a="http://schemas.openxmlformats.org/drawingml/2006/main">
              <a:ext uri="{FF2B5EF4-FFF2-40B4-BE49-F238E27FC236}">
                <a16:creationId xmlns:a16="http://schemas.microsoft.com/office/drawing/2014/main" id="{0F120CF6-E7EA-4830-BE21-6E6446F4AA7C}"/>
              </a:ext>
            </a:extLst>
          </p:cNvPr>
          <p:cNvSpPr>
            <a:spLocks xmlns:a="http://schemas.openxmlformats.org/drawingml/2006/main" noGrp="1"/>
          </p:cNvSpPr>
          <p:nvPr/>
        </p:nvSpPr>
        <p:spPr>
          <a:xfrm xmlns:a="http://schemas.openxmlformats.org/drawingml/2006/main">
            <a:off x="2362200" y="2990850"/>
            <a:ext cx="619125" cy="247650"/>
          </a:xfrm>
          <a:prstGeom xmlns:a="http://schemas.openxmlformats.org/drawingml/2006/main" prst="rightArrow">
            <a:avLst/>
          </a:prstGeom>
          <a:solidFill xmlns:a="http://schemas.openxmlformats.org/drawingml/2006/main">
            <a:srgbClr val="D8E0EA"/>
          </a:solidFill>
          <a:ln xmlns:a="http://schemas.openxmlformats.org/drawingml/2006/main" w="0">
            <a:solidFill>
              <a:srgbClr val="D8E0EA"/>
            </a:solidFill>
            <a:prstDash val="solid"/>
          </a:ln>
        </p:spPr>
      </p:sp>
      <p:sp>
        <p:nvSpPr>
          <p:cNvPr id="6" name="">
            <a:extLst xmlns:a="http://schemas.openxmlformats.org/drawingml/2006/main">
              <a:ext uri="{FF2B5EF4-FFF2-40B4-BE49-F238E27FC236}">
                <a16:creationId xmlns:a16="http://schemas.microsoft.com/office/drawing/2014/main" id="{C39A257F-482D-429C-821B-FFE538CE855F}"/>
              </a:ext>
            </a:extLst>
          </p:cNvPr>
          <p:cNvSpPr>
            <a:spLocks xmlns:a="http://schemas.openxmlformats.org/drawingml/2006/main" noGrp="1"/>
          </p:cNvSpPr>
          <p:nvPr/>
        </p:nvSpPr>
        <p:spPr>
          <a:xfrm xmlns:a="http://schemas.openxmlformats.org/drawingml/2006/main">
            <a:off x="4762500" y="2990850"/>
            <a:ext cx="619125" cy="247650"/>
          </a:xfrm>
          <a:prstGeom xmlns:a="http://schemas.openxmlformats.org/drawingml/2006/main" prst="rightArrow">
            <a:avLst/>
          </a:prstGeom>
          <a:solidFill xmlns:a="http://schemas.openxmlformats.org/drawingml/2006/main">
            <a:srgbClr val="D8E0EA"/>
          </a:solidFill>
          <a:ln xmlns:a="http://schemas.openxmlformats.org/drawingml/2006/main" w="0">
            <a:solidFill>
              <a:srgbClr val="D8E0EA"/>
            </a:solidFill>
            <a:prstDash val="solid"/>
          </a:ln>
        </p:spPr>
      </p:sp>
      <p:sp>
        <p:nvSpPr>
          <p:cNvPr id="7" name="">
            <a:extLst xmlns:a="http://schemas.openxmlformats.org/drawingml/2006/main">
              <a:ext uri="{FF2B5EF4-FFF2-40B4-BE49-F238E27FC236}">
                <a16:creationId xmlns:a16="http://schemas.microsoft.com/office/drawing/2014/main" id="{5F5D8B68-22D8-43BC-8A5F-2DA56750E940}"/>
              </a:ext>
            </a:extLst>
          </p:cNvPr>
          <p:cNvSpPr>
            <a:spLocks xmlns:a="http://schemas.openxmlformats.org/drawingml/2006/main" noGrp="1"/>
          </p:cNvSpPr>
          <p:nvPr/>
        </p:nvSpPr>
        <p:spPr>
          <a:xfrm xmlns:a="http://schemas.openxmlformats.org/drawingml/2006/main">
            <a:off x="7162800" y="2990850"/>
            <a:ext cx="619125" cy="247650"/>
          </a:xfrm>
          <a:prstGeom xmlns:a="http://schemas.openxmlformats.org/drawingml/2006/main" prst="rightArrow">
            <a:avLst/>
          </a:prstGeom>
          <a:solidFill xmlns:a="http://schemas.openxmlformats.org/drawingml/2006/main">
            <a:srgbClr val="D8E0EA"/>
          </a:solidFill>
          <a:ln xmlns:a="http://schemas.openxmlformats.org/drawingml/2006/main" w="0">
            <a:solidFill>
              <a:srgbClr val="D8E0EA"/>
            </a:solidFill>
            <a:prstDash val="solid"/>
          </a:ln>
        </p:spPr>
      </p:sp>
      <p:sp>
        <p:nvSpPr>
          <p:cNvPr id="8" name="">
            <a:extLst xmlns:a="http://schemas.openxmlformats.org/drawingml/2006/main">
              <a:ext uri="{FF2B5EF4-FFF2-40B4-BE49-F238E27FC236}">
                <a16:creationId xmlns:a16="http://schemas.microsoft.com/office/drawing/2014/main" id="{CF3BA89F-6785-4AB3-88E7-BCA9FEFBBAF6}"/>
              </a:ext>
            </a:extLst>
          </p:cNvPr>
          <p:cNvSpPr>
            <a:spLocks xmlns:a="http://schemas.openxmlformats.org/drawingml/2006/main" noGrp="1"/>
          </p:cNvSpPr>
          <p:nvPr/>
        </p:nvSpPr>
        <p:spPr>
          <a:xfrm xmlns:a="http://schemas.openxmlformats.org/drawingml/2006/main">
            <a:off x="9563100" y="2990850"/>
            <a:ext cx="619125" cy="247650"/>
          </a:xfrm>
          <a:prstGeom xmlns:a="http://schemas.openxmlformats.org/drawingml/2006/main" prst="rightArrow">
            <a:avLst/>
          </a:prstGeom>
          <a:solidFill xmlns:a="http://schemas.openxmlformats.org/drawingml/2006/main">
            <a:srgbClr val="D8E0EA"/>
          </a:solidFill>
          <a:ln xmlns:a="http://schemas.openxmlformats.org/drawingml/2006/main" w="0">
            <a:solidFill>
              <a:srgbClr val="D8E0EA"/>
            </a:solidFill>
            <a:prstDash val="solid"/>
          </a:ln>
        </p:spPr>
      </p:sp>
      <p:sp>
        <p:nvSpPr>
          <p:cNvPr id="9" name="pipeline-0">
            <a:extLst xmlns:a="http://schemas.openxmlformats.org/drawingml/2006/main">
              <a:ext uri="{FF2B5EF4-FFF2-40B4-BE49-F238E27FC236}">
                <a16:creationId xmlns:a16="http://schemas.microsoft.com/office/drawing/2014/main" id="{2678A10B-4209-4798-9DEF-6DA69DA2A596}"/>
              </a:ext>
            </a:extLst>
          </p:cNvPr>
          <p:cNvSpPr>
            <a:spLocks xmlns:a="http://schemas.openxmlformats.org/drawingml/2006/main" noGrp="1"/>
          </p:cNvSpPr>
          <p:nvPr/>
        </p:nvSpPr>
        <p:spPr>
          <a:xfrm xmlns:a="http://schemas.openxmlformats.org/drawingml/2006/main">
            <a:off x="762000" y="2324100"/>
            <a:ext cx="1619250" cy="1600200"/>
          </a:xfrm>
          <a:prstGeom xmlns:a="http://schemas.openxmlformats.org/drawingml/2006/main" prst="roundRect">
            <a:avLst>
              <a:gd name="adj" fmla="val 10714"/>
            </a:avLst>
          </a:prstGeom>
          <a:solidFill xmlns:a="http://schemas.openxmlformats.org/drawingml/2006/main">
            <a:srgbClr val="FFFFFF"/>
          </a:solidFill>
          <a:ln xmlns:a="http://schemas.openxmlformats.org/drawingml/2006/main" w="9525">
            <a:solidFill>
              <a:srgbClr val="2A8C82"/>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17BE2321-9616-4CF6-8E53-6A058EB2E268}"/>
              </a:ext>
            </a:extLst>
          </p:cNvPr>
          <p:cNvSpPr>
            <a:spLocks xmlns:a="http://schemas.openxmlformats.org/drawingml/2006/main" noGrp="1"/>
          </p:cNvSpPr>
          <p:nvPr/>
        </p:nvSpPr>
        <p:spPr>
          <a:xfrm xmlns:a="http://schemas.openxmlformats.org/drawingml/2006/main">
            <a:off x="933450" y="2571750"/>
            <a:ext cx="1276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1F5A7A"/>
                </a:solidFill>
              </a:defRPr>
            </a:pPr>
            <a:r>
              <a:rPr sz="1575" b="1">
                <a:solidFill>
                  <a:srgbClr val="1F5A7A"/>
                </a:solidFill>
              </a:rPr>
              <a:t>Normalize</a:t>
            </a:r>
          </a:p>
        </p:txBody>
      </p:sp>
      <p:sp>
        <p:nvSpPr>
          <p:cNvPr id="11" name="">
            <a:extLst xmlns:a="http://schemas.openxmlformats.org/drawingml/2006/main">
              <a:ext uri="{FF2B5EF4-FFF2-40B4-BE49-F238E27FC236}">
                <a16:creationId xmlns:a16="http://schemas.microsoft.com/office/drawing/2014/main" id="{B468AE49-550C-411A-8008-183CDFFBDB0E}"/>
              </a:ext>
            </a:extLst>
          </p:cNvPr>
          <p:cNvSpPr>
            <a:spLocks xmlns:a="http://schemas.openxmlformats.org/drawingml/2006/main" noGrp="1"/>
          </p:cNvSpPr>
          <p:nvPr/>
        </p:nvSpPr>
        <p:spPr>
          <a:xfrm xmlns:a="http://schemas.openxmlformats.org/drawingml/2006/main">
            <a:off x="933450" y="3048000"/>
            <a:ext cx="1276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0">
                <a:solidFill>
                  <a:srgbClr val="526174"/>
                </a:solidFill>
              </a:defRPr>
            </a:pPr>
            <a:r>
              <a:rPr sz="1275" b="0">
                <a:solidFill>
                  <a:srgbClr val="526174"/>
                </a:solidFill>
              </a:rPr>
              <a:t>digits, options,</a:t>
            </a:r>
          </a:p>
          <a:p xmlns:a="http://schemas.openxmlformats.org/drawingml/2006/main">
            <a:pPr algn="ctr">
              <a:defRPr sz="1275" b="0">
                <a:solidFill>
                  <a:srgbClr val="526174"/>
                </a:solidFill>
              </a:defRPr>
            </a:pPr>
            <a:r>
              <a:rPr sz="1275" b="0">
                <a:solidFill>
                  <a:srgbClr val="526174"/>
                </a:solidFill>
              </a:rPr>
              <a:t>aliases</a:t>
            </a:r>
          </a:p>
        </p:txBody>
      </p:sp>
      <p:sp>
        <p:nvSpPr>
          <p:cNvPr id="12" name="pipeline-1">
            <a:extLst xmlns:a="http://schemas.openxmlformats.org/drawingml/2006/main">
              <a:ext uri="{FF2B5EF4-FFF2-40B4-BE49-F238E27FC236}">
                <a16:creationId xmlns:a16="http://schemas.microsoft.com/office/drawing/2014/main" id="{CF7A0A35-6AF9-47D4-9638-7564119ED4B4}"/>
              </a:ext>
            </a:extLst>
          </p:cNvPr>
          <p:cNvSpPr>
            <a:spLocks xmlns:a="http://schemas.openxmlformats.org/drawingml/2006/main" noGrp="1"/>
          </p:cNvSpPr>
          <p:nvPr/>
        </p:nvSpPr>
        <p:spPr>
          <a:xfrm xmlns:a="http://schemas.openxmlformats.org/drawingml/2006/main">
            <a:off x="3143250" y="2324100"/>
            <a:ext cx="1619250" cy="1600200"/>
          </a:xfrm>
          <a:prstGeom xmlns:a="http://schemas.openxmlformats.org/drawingml/2006/main" prst="roundRect">
            <a:avLst>
              <a:gd name="adj" fmla="val 10714"/>
            </a:avLst>
          </a:prstGeom>
          <a:solidFill xmlns:a="http://schemas.openxmlformats.org/drawingml/2006/main">
            <a:srgbClr val="FFFFFF"/>
          </a:solidFill>
          <a:ln xmlns:a="http://schemas.openxmlformats.org/drawingml/2006/main" w="9525">
            <a:solidFill>
              <a:srgbClr val="2A8C82"/>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310D4896-7207-4108-8563-5EC3D4FE94EC}"/>
              </a:ext>
            </a:extLst>
          </p:cNvPr>
          <p:cNvSpPr>
            <a:spLocks xmlns:a="http://schemas.openxmlformats.org/drawingml/2006/main" noGrp="1"/>
          </p:cNvSpPr>
          <p:nvPr/>
        </p:nvSpPr>
        <p:spPr>
          <a:xfrm xmlns:a="http://schemas.openxmlformats.org/drawingml/2006/main">
            <a:off x="3314700" y="2571750"/>
            <a:ext cx="1276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1F5A7A"/>
                </a:solidFill>
              </a:defRPr>
            </a:pPr>
            <a:r>
              <a:rPr sz="1800" b="1">
                <a:solidFill>
                  <a:srgbClr val="1F5A7A"/>
                </a:solidFill>
              </a:rPr>
              <a:t>Route</a:t>
            </a:r>
          </a:p>
        </p:txBody>
      </p:sp>
      <p:sp>
        <p:nvSpPr>
          <p:cNvPr id="14" name="">
            <a:extLst xmlns:a="http://schemas.openxmlformats.org/drawingml/2006/main">
              <a:ext uri="{FF2B5EF4-FFF2-40B4-BE49-F238E27FC236}">
                <a16:creationId xmlns:a16="http://schemas.microsoft.com/office/drawing/2014/main" id="{99E54A13-D942-4719-9BC9-553660B3987C}"/>
              </a:ext>
            </a:extLst>
          </p:cNvPr>
          <p:cNvSpPr>
            <a:spLocks xmlns:a="http://schemas.openxmlformats.org/drawingml/2006/main" noGrp="1"/>
          </p:cNvSpPr>
          <p:nvPr/>
        </p:nvSpPr>
        <p:spPr>
          <a:xfrm xmlns:a="http://schemas.openxmlformats.org/drawingml/2006/main">
            <a:off x="3314700" y="3048000"/>
            <a:ext cx="1276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0">
                <a:solidFill>
                  <a:srgbClr val="526174"/>
                </a:solidFill>
              </a:defRPr>
            </a:pPr>
            <a:r>
              <a:rPr sz="1275" b="0">
                <a:solidFill>
                  <a:srgbClr val="526174"/>
                </a:solidFill>
              </a:rPr>
              <a:t>context, numeric,</a:t>
            </a:r>
          </a:p>
          <a:p xmlns:a="http://schemas.openxmlformats.org/drawingml/2006/main">
            <a:pPr algn="ctr">
              <a:defRPr sz="1275" b="0">
                <a:solidFill>
                  <a:srgbClr val="526174"/>
                </a:solidFill>
              </a:defRPr>
            </a:pPr>
            <a:r>
              <a:rPr sz="1275" b="0">
                <a:solidFill>
                  <a:srgbClr val="526174"/>
                </a:solidFill>
              </a:rPr>
              <a:t>lexical, factual</a:t>
            </a:r>
          </a:p>
        </p:txBody>
      </p:sp>
      <p:sp>
        <p:nvSpPr>
          <p:cNvPr id="15" name="pipeline-2">
            <a:extLst xmlns:a="http://schemas.openxmlformats.org/drawingml/2006/main">
              <a:ext uri="{FF2B5EF4-FFF2-40B4-BE49-F238E27FC236}">
                <a16:creationId xmlns:a16="http://schemas.microsoft.com/office/drawing/2014/main" id="{7D2043A6-AC90-40ED-84E8-E6C5F3B021EB}"/>
              </a:ext>
            </a:extLst>
          </p:cNvPr>
          <p:cNvSpPr>
            <a:spLocks xmlns:a="http://schemas.openxmlformats.org/drawingml/2006/main" noGrp="1"/>
          </p:cNvSpPr>
          <p:nvPr/>
        </p:nvSpPr>
        <p:spPr>
          <a:xfrm xmlns:a="http://schemas.openxmlformats.org/drawingml/2006/main">
            <a:off x="5543550" y="2324100"/>
            <a:ext cx="1619250" cy="1600200"/>
          </a:xfrm>
          <a:prstGeom xmlns:a="http://schemas.openxmlformats.org/drawingml/2006/main" prst="roundRect">
            <a:avLst>
              <a:gd name="adj" fmla="val 10714"/>
            </a:avLst>
          </a:prstGeom>
          <a:solidFill xmlns:a="http://schemas.openxmlformats.org/drawingml/2006/main">
            <a:srgbClr val="FFFFFF"/>
          </a:solidFill>
          <a:ln xmlns:a="http://schemas.openxmlformats.org/drawingml/2006/main" w="9525">
            <a:solidFill>
              <a:srgbClr val="2A8C82"/>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6" name="">
            <a:extLst xmlns:a="http://schemas.openxmlformats.org/drawingml/2006/main">
              <a:ext uri="{FF2B5EF4-FFF2-40B4-BE49-F238E27FC236}">
                <a16:creationId xmlns:a16="http://schemas.microsoft.com/office/drawing/2014/main" id="{2F673F62-2F5E-4E02-BC6B-154CB96BF49C}"/>
              </a:ext>
            </a:extLst>
          </p:cNvPr>
          <p:cNvSpPr>
            <a:spLocks xmlns:a="http://schemas.openxmlformats.org/drawingml/2006/main" noGrp="1"/>
          </p:cNvSpPr>
          <p:nvPr/>
        </p:nvSpPr>
        <p:spPr>
          <a:xfrm xmlns:a="http://schemas.openxmlformats.org/drawingml/2006/main">
            <a:off x="5715000" y="2571750"/>
            <a:ext cx="1276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1F5A7A"/>
                </a:solidFill>
              </a:defRPr>
            </a:pPr>
            <a:r>
              <a:rPr sz="1800" b="1">
                <a:solidFill>
                  <a:srgbClr val="1F5A7A"/>
                </a:solidFill>
              </a:rPr>
              <a:t>Verify</a:t>
            </a:r>
          </a:p>
        </p:txBody>
      </p:sp>
      <p:sp>
        <p:nvSpPr>
          <p:cNvPr id="17" name="">
            <a:extLst xmlns:a="http://schemas.openxmlformats.org/drawingml/2006/main">
              <a:ext uri="{FF2B5EF4-FFF2-40B4-BE49-F238E27FC236}">
                <a16:creationId xmlns:a16="http://schemas.microsoft.com/office/drawing/2014/main" id="{F70E3D4C-3FF7-4CD3-9413-52FEE44BE19A}"/>
              </a:ext>
            </a:extLst>
          </p:cNvPr>
          <p:cNvSpPr>
            <a:spLocks xmlns:a="http://schemas.openxmlformats.org/drawingml/2006/main" noGrp="1"/>
          </p:cNvSpPr>
          <p:nvPr/>
        </p:nvSpPr>
        <p:spPr>
          <a:xfrm xmlns:a="http://schemas.openxmlformats.org/drawingml/2006/main">
            <a:off x="5715000" y="3048000"/>
            <a:ext cx="1276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0">
                <a:solidFill>
                  <a:srgbClr val="526174"/>
                </a:solidFill>
              </a:defRPr>
            </a:pPr>
            <a:r>
              <a:rPr sz="1275" b="0">
                <a:solidFill>
                  <a:srgbClr val="526174"/>
                </a:solidFill>
              </a:rPr>
              <a:t>exact lineage and</a:t>
            </a:r>
          </a:p>
          <a:p xmlns:a="http://schemas.openxmlformats.org/drawingml/2006/main">
            <a:pPr algn="ctr">
              <a:defRPr sz="1275" b="0">
                <a:solidFill>
                  <a:srgbClr val="526174"/>
                </a:solidFill>
              </a:defRPr>
            </a:pPr>
            <a:r>
              <a:rPr sz="1275" b="0">
                <a:solidFill>
                  <a:srgbClr val="526174"/>
                </a:solidFill>
              </a:rPr>
              <a:t>typed evidence</a:t>
            </a:r>
          </a:p>
        </p:txBody>
      </p:sp>
      <p:sp>
        <p:nvSpPr>
          <p:cNvPr id="18" name="pipeline-3">
            <a:extLst xmlns:a="http://schemas.openxmlformats.org/drawingml/2006/main">
              <a:ext uri="{FF2B5EF4-FFF2-40B4-BE49-F238E27FC236}">
                <a16:creationId xmlns:a16="http://schemas.microsoft.com/office/drawing/2014/main" id="{69471899-02FF-49AC-9283-B8F3060D5DDF}"/>
              </a:ext>
            </a:extLst>
          </p:cNvPr>
          <p:cNvSpPr>
            <a:spLocks xmlns:a="http://schemas.openxmlformats.org/drawingml/2006/main" noGrp="1"/>
          </p:cNvSpPr>
          <p:nvPr/>
        </p:nvSpPr>
        <p:spPr>
          <a:xfrm xmlns:a="http://schemas.openxmlformats.org/drawingml/2006/main">
            <a:off x="7943850" y="2324100"/>
            <a:ext cx="1619250" cy="1600200"/>
          </a:xfrm>
          <a:prstGeom xmlns:a="http://schemas.openxmlformats.org/drawingml/2006/main" prst="roundRect">
            <a:avLst>
              <a:gd name="adj" fmla="val 10714"/>
            </a:avLst>
          </a:prstGeom>
          <a:solidFill xmlns:a="http://schemas.openxmlformats.org/drawingml/2006/main">
            <a:srgbClr val="E7EEF4"/>
          </a:solidFill>
          <a:ln xmlns:a="http://schemas.openxmlformats.org/drawingml/2006/main" w="9525">
            <a:solidFill>
              <a:srgbClr val="1F5A7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9" name="">
            <a:extLst xmlns:a="http://schemas.openxmlformats.org/drawingml/2006/main">
              <a:ext uri="{FF2B5EF4-FFF2-40B4-BE49-F238E27FC236}">
                <a16:creationId xmlns:a16="http://schemas.microsoft.com/office/drawing/2014/main" id="{4BD166B9-288F-46A9-A5CA-1945F3DA9557}"/>
              </a:ext>
            </a:extLst>
          </p:cNvPr>
          <p:cNvSpPr>
            <a:spLocks xmlns:a="http://schemas.openxmlformats.org/drawingml/2006/main" noGrp="1"/>
          </p:cNvSpPr>
          <p:nvPr/>
        </p:nvSpPr>
        <p:spPr>
          <a:xfrm xmlns:a="http://schemas.openxmlformats.org/drawingml/2006/main">
            <a:off x="8115300" y="2571750"/>
            <a:ext cx="1276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1F5A7A"/>
                </a:solidFill>
              </a:defRPr>
            </a:pPr>
            <a:r>
              <a:rPr sz="1800" b="1">
                <a:solidFill>
                  <a:srgbClr val="1F5A7A"/>
                </a:solidFill>
              </a:rPr>
              <a:t>Abstain?</a:t>
            </a:r>
          </a:p>
        </p:txBody>
      </p:sp>
      <p:sp>
        <p:nvSpPr>
          <p:cNvPr id="20" name="">
            <a:extLst xmlns:a="http://schemas.openxmlformats.org/drawingml/2006/main">
              <a:ext uri="{FF2B5EF4-FFF2-40B4-BE49-F238E27FC236}">
                <a16:creationId xmlns:a16="http://schemas.microsoft.com/office/drawing/2014/main" id="{3C8DD664-3375-407E-B71B-4794AFC7FAF5}"/>
              </a:ext>
            </a:extLst>
          </p:cNvPr>
          <p:cNvSpPr>
            <a:spLocks xmlns:a="http://schemas.openxmlformats.org/drawingml/2006/main" noGrp="1"/>
          </p:cNvSpPr>
          <p:nvPr/>
        </p:nvSpPr>
        <p:spPr>
          <a:xfrm xmlns:a="http://schemas.openxmlformats.org/drawingml/2006/main">
            <a:off x="8115300" y="3048000"/>
            <a:ext cx="1276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0">
                <a:solidFill>
                  <a:srgbClr val="526174"/>
                </a:solidFill>
              </a:defRPr>
            </a:pPr>
            <a:r>
              <a:rPr sz="1275" b="0">
                <a:solidFill>
                  <a:srgbClr val="526174"/>
                </a:solidFill>
              </a:rPr>
              <a:t>resolved label or</a:t>
            </a:r>
          </a:p>
          <a:p xmlns:a="http://schemas.openxmlformats.org/drawingml/2006/main">
            <a:pPr algn="ctr">
              <a:defRPr sz="1275" b="0">
                <a:solidFill>
                  <a:srgbClr val="526174"/>
                </a:solidFill>
              </a:defRPr>
            </a:pPr>
            <a:r>
              <a:rPr sz="1275" b="0">
                <a:solidFill>
                  <a:srgbClr val="526174"/>
                </a:solidFill>
              </a:rPr>
              <a:t>uncertain tail</a:t>
            </a:r>
          </a:p>
        </p:txBody>
      </p:sp>
      <p:sp>
        <p:nvSpPr>
          <p:cNvPr id="21" name="pipeline-4">
            <a:extLst xmlns:a="http://schemas.openxmlformats.org/drawingml/2006/main">
              <a:ext uri="{FF2B5EF4-FFF2-40B4-BE49-F238E27FC236}">
                <a16:creationId xmlns:a16="http://schemas.microsoft.com/office/drawing/2014/main" id="{99F6A3DC-72DA-4641-AED5-BF18A42679BA}"/>
              </a:ext>
            </a:extLst>
          </p:cNvPr>
          <p:cNvSpPr>
            <a:spLocks xmlns:a="http://schemas.openxmlformats.org/drawingml/2006/main" noGrp="1"/>
          </p:cNvSpPr>
          <p:nvPr/>
        </p:nvSpPr>
        <p:spPr>
          <a:xfrm xmlns:a="http://schemas.openxmlformats.org/drawingml/2006/main">
            <a:off x="10344150" y="2324100"/>
            <a:ext cx="1619250" cy="1600200"/>
          </a:xfrm>
          <a:prstGeom xmlns:a="http://schemas.openxmlformats.org/drawingml/2006/main" prst="roundRect">
            <a:avLst>
              <a:gd name="adj" fmla="val 10714"/>
            </a:avLst>
          </a:prstGeom>
          <a:solidFill xmlns:a="http://schemas.openxmlformats.org/drawingml/2006/main">
            <a:srgbClr val="FBF0D8"/>
          </a:solidFill>
          <a:ln xmlns:a="http://schemas.openxmlformats.org/drawingml/2006/main" w="9525">
            <a:solidFill>
              <a:srgbClr val="D59B32"/>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2" name="">
            <a:extLst xmlns:a="http://schemas.openxmlformats.org/drawingml/2006/main">
              <a:ext uri="{FF2B5EF4-FFF2-40B4-BE49-F238E27FC236}">
                <a16:creationId xmlns:a16="http://schemas.microsoft.com/office/drawing/2014/main" id="{17FA3E37-B170-4F93-A5E2-F05C3AE59D2C}"/>
              </a:ext>
            </a:extLst>
          </p:cNvPr>
          <p:cNvSpPr>
            <a:spLocks xmlns:a="http://schemas.openxmlformats.org/drawingml/2006/main" noGrp="1"/>
          </p:cNvSpPr>
          <p:nvPr/>
        </p:nvSpPr>
        <p:spPr>
          <a:xfrm xmlns:a="http://schemas.openxmlformats.org/drawingml/2006/main">
            <a:off x="10515600" y="2571750"/>
            <a:ext cx="1276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D59B32"/>
                </a:solidFill>
              </a:defRPr>
            </a:pPr>
            <a:r>
              <a:rPr sz="1800" b="1">
                <a:solidFill>
                  <a:srgbClr val="D59B32"/>
                </a:solidFill>
              </a:rPr>
              <a:t>Judge</a:t>
            </a:r>
          </a:p>
        </p:txBody>
      </p:sp>
      <p:sp>
        <p:nvSpPr>
          <p:cNvPr id="23" name="">
            <a:extLst xmlns:a="http://schemas.openxmlformats.org/drawingml/2006/main">
              <a:ext uri="{FF2B5EF4-FFF2-40B4-BE49-F238E27FC236}">
                <a16:creationId xmlns:a16="http://schemas.microsoft.com/office/drawing/2014/main" id="{6DBD06B8-60FA-47CD-8173-1A2F35FE3DF8}"/>
              </a:ext>
            </a:extLst>
          </p:cNvPr>
          <p:cNvSpPr>
            <a:spLocks xmlns:a="http://schemas.openxmlformats.org/drawingml/2006/main" noGrp="1"/>
          </p:cNvSpPr>
          <p:nvPr/>
        </p:nvSpPr>
        <p:spPr>
          <a:xfrm xmlns:a="http://schemas.openxmlformats.org/drawingml/2006/main">
            <a:off x="10515600" y="3048000"/>
            <a:ext cx="1276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0">
                <a:solidFill>
                  <a:srgbClr val="526174"/>
                </a:solidFill>
              </a:defRPr>
            </a:pPr>
            <a:r>
              <a:rPr sz="1275" b="0">
                <a:solidFill>
                  <a:srgbClr val="526174"/>
                </a:solidFill>
              </a:rPr>
              <a:t>Qwen binary</a:t>
            </a:r>
          </a:p>
          <a:p xmlns:a="http://schemas.openxmlformats.org/drawingml/2006/main">
            <a:pPr algn="ctr">
              <a:defRPr sz="1275" b="0">
                <a:solidFill>
                  <a:srgbClr val="526174"/>
                </a:solidFill>
              </a:defRPr>
            </a:pPr>
            <a:r>
              <a:rPr sz="1275" b="0">
                <a:solidFill>
                  <a:srgbClr val="526174"/>
                </a:solidFill>
              </a:rPr>
              <a:t>decision</a:t>
            </a:r>
          </a:p>
        </p:txBody>
      </p:sp>
      <p:sp>
        <p:nvSpPr>
          <p:cNvPr id="24" name="">
            <a:extLst xmlns:a="http://schemas.openxmlformats.org/drawingml/2006/main">
              <a:ext uri="{FF2B5EF4-FFF2-40B4-BE49-F238E27FC236}">
                <a16:creationId xmlns:a16="http://schemas.microsoft.com/office/drawing/2014/main" id="{8A906623-450B-4337-94FC-DF06E6DAB4AD}"/>
              </a:ext>
            </a:extLst>
          </p:cNvPr>
          <p:cNvSpPr>
            <a:spLocks xmlns:a="http://schemas.openxmlformats.org/drawingml/2006/main" noGrp="1"/>
          </p:cNvSpPr>
          <p:nvPr/>
        </p:nvSpPr>
        <p:spPr>
          <a:xfrm xmlns:a="http://schemas.openxmlformats.org/drawingml/2006/main">
            <a:off x="1428750" y="4476750"/>
            <a:ext cx="933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0F172A"/>
                </a:solidFill>
              </a:defRPr>
            </a:pPr>
            <a:r>
              <a:rPr sz="1800" b="1">
                <a:solidFill>
                  <a:srgbClr val="0F172A"/>
                </a:solidFill>
              </a:rPr>
              <a:t>Deterministic stages record the source family and relation behind each decision.</a:t>
            </a:r>
          </a:p>
        </p:txBody>
      </p:sp>
      <p:sp>
        <p:nvSpPr>
          <p:cNvPr id="25" name="">
            <a:extLst xmlns:a="http://schemas.openxmlformats.org/drawingml/2006/main">
              <a:ext uri="{FF2B5EF4-FFF2-40B4-BE49-F238E27FC236}">
                <a16:creationId xmlns:a16="http://schemas.microsoft.com/office/drawing/2014/main" id="{D920218D-C19F-42CA-9E15-24DC86582DEF}"/>
              </a:ext>
            </a:extLst>
          </p:cNvPr>
          <p:cNvSpPr>
            <a:spLocks xmlns:a="http://schemas.openxmlformats.org/drawingml/2006/main" noGrp="1"/>
          </p:cNvSpPr>
          <p:nvPr/>
        </p:nvSpPr>
        <p:spPr>
          <a:xfrm xmlns:a="http://schemas.openxmlformats.org/drawingml/2006/main">
            <a:off x="2095500" y="4953000"/>
            <a:ext cx="800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0">
                <a:solidFill>
                  <a:srgbClr val="526174"/>
                </a:solidFill>
              </a:defRPr>
            </a:pPr>
            <a:r>
              <a:rPr sz="1500" b="0">
                <a:solidFill>
                  <a:srgbClr val="526174"/>
                </a:solidFill>
              </a:rPr>
              <a:t>If those fields are not defensible, the row moves forward unchanged.</a:t>
            </a:r>
          </a:p>
        </p:txBody>
      </p:sp>
      <p:sp>
        <p:nvSpPr>
          <p:cNvPr id="26" name="">
            <a:extLst xmlns:a="http://schemas.openxmlformats.org/drawingml/2006/main">
              <a:ext uri="{FF2B5EF4-FFF2-40B4-BE49-F238E27FC236}">
                <a16:creationId xmlns:a16="http://schemas.microsoft.com/office/drawing/2014/main" id="{9CA824FF-1661-42F8-98F2-A6C120AD3B4A}"/>
              </a:ext>
            </a:extLst>
          </p:cNvPr>
          <p:cNvSpPr>
            <a:spLocks xmlns:a="http://schemas.openxmlformats.org/drawingml/2006/main" noGrp="1"/>
          </p:cNvSpPr>
          <p:nvPr/>
        </p:nvSpPr>
        <p:spPr>
          <a:xfrm xmlns:a="http://schemas.openxmlformats.org/drawingml/2006/main">
            <a:off x="685800" y="6372225"/>
            <a:ext cx="1082040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27" name="source-3">
            <a:extLst xmlns:a="http://schemas.openxmlformats.org/drawingml/2006/main">
              <a:ext uri="{FF2B5EF4-FFF2-40B4-BE49-F238E27FC236}">
                <a16:creationId xmlns:a16="http://schemas.microsoft.com/office/drawing/2014/main" id="{05D6D23F-6739-4A8D-919E-52F96D5F54E8}"/>
              </a:ext>
            </a:extLst>
          </p:cNvPr>
          <p:cNvSpPr>
            <a:spLocks xmlns:a="http://schemas.openxmlformats.org/drawingml/2006/main" noGrp="1"/>
          </p:cNvSpPr>
          <p:nvPr/>
        </p:nvSpPr>
        <p:spPr>
          <a:xfrm xmlns:a="http://schemas.openxmlformats.org/drawingml/2006/main">
            <a:off x="685800" y="6457950"/>
            <a:ext cx="9810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526174"/>
                </a:solidFill>
              </a:defRPr>
            </a:pPr>
            <a:r>
              <a:rPr sz="975" b="0">
                <a:solidFill>
                  <a:srgbClr val="526174"/>
                </a:solidFill>
              </a:rPr>
              <a:t>[3] BenHalluEval  [4] Bengali idiom benchmark  [7] Frozen v91 architecture</a:t>
            </a:r>
          </a:p>
        </p:txBody>
      </p:sp>
      <p:sp>
        <p:nvSpPr>
          <p:cNvPr id="28" name="page-3">
            <a:extLst xmlns:a="http://schemas.openxmlformats.org/drawingml/2006/main">
              <a:ext uri="{FF2B5EF4-FFF2-40B4-BE49-F238E27FC236}">
                <a16:creationId xmlns:a16="http://schemas.microsoft.com/office/drawing/2014/main" id="{6BF426CF-53A8-4DD6-8816-B19A02851964}"/>
              </a:ext>
            </a:extLst>
          </p:cNvPr>
          <p:cNvSpPr>
            <a:spLocks xmlns:a="http://schemas.openxmlformats.org/drawingml/2006/main" noGrp="1"/>
          </p:cNvSpPr>
          <p:nvPr/>
        </p:nvSpPr>
        <p:spPr>
          <a:xfrm xmlns:a="http://schemas.openxmlformats.org/drawingml/2006/main">
            <a:off x="10810875" y="6457950"/>
            <a:ext cx="6953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1F5A7A"/>
                </a:solidFill>
              </a:defRPr>
            </a:pPr>
            <a:r>
              <a:rPr sz="975" b="1">
                <a:solidFill>
                  <a:srgbClr val="1F5A7A"/>
                </a:solidFill>
              </a:rPr>
              <a:t>03</a:t>
            </a:r>
          </a:p>
        </p:txBody>
      </p:sp>
    </p:spTree>
    <p:extLst>
      <p:ext uri="{BB962C8B-B14F-4D97-AF65-F5344CB8AC3E}">
        <p14:creationId xmlns:p14="http://schemas.microsoft.com/office/powerpoint/2010/main" val="685553480"/>
      </p:ext>
    </p:extLst>
  </p:cSld>
</p:sld>
</file>

<file path=ppt/slides/slide4.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49" name="kicker-4">
            <a:extLst xmlns:a="http://schemas.openxmlformats.org/drawingml/2006/main">
              <a:ext uri="{FF2B5EF4-FFF2-40B4-BE49-F238E27FC236}">
                <a16:creationId xmlns:a16="http://schemas.microsoft.com/office/drawing/2014/main" id="{EC8B16F8-3B8E-4D7E-AD16-EE2579EECD08}"/>
              </a:ext>
            </a:extLst>
          </p:cNvPr>
          <p:cNvSpPr>
            <a:spLocks xmlns:a="http://schemas.openxmlformats.org/drawingml/2006/main" noGrp="1"/>
          </p:cNvSpPr>
          <p:nvPr/>
        </p:nvSpPr>
        <p:spPr>
          <a:xfrm xmlns:a="http://schemas.openxmlformats.org/drawingml/2006/main">
            <a:off x="685800" y="32385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F5A7A"/>
                </a:solidFill>
              </a:defRPr>
            </a:pPr>
            <a:r>
              <a:rPr sz="1050" b="1">
                <a:solidFill>
                  <a:srgbClr val="1F5A7A"/>
                </a:solidFill>
              </a:rPr>
              <a:t>TEAM HUNTRIX</a:t>
            </a:r>
          </a:p>
        </p:txBody>
      </p:sp>
      <p:sp>
        <p:nvSpPr>
          <p:cNvPr id="2" name="title-4">
            <a:extLst xmlns:a="http://schemas.openxmlformats.org/drawingml/2006/main">
              <a:ext uri="{FF2B5EF4-FFF2-40B4-BE49-F238E27FC236}">
                <a16:creationId xmlns:a16="http://schemas.microsoft.com/office/drawing/2014/main" id="{73282327-C6C9-49BE-A03C-4E235A547AC3}"/>
              </a:ext>
            </a:extLst>
          </p:cNvPr>
          <p:cNvSpPr>
            <a:spLocks xmlns:a="http://schemas.openxmlformats.org/drawingml/2006/main" noGrp="1"/>
          </p:cNvSpPr>
          <p:nvPr/>
        </p:nvSpPr>
        <p:spPr>
          <a:xfrm xmlns:a="http://schemas.openxmlformats.org/drawingml/2006/main">
            <a:off x="685800" y="590550"/>
            <a:ext cx="10820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F172A"/>
                </a:solidFill>
              </a:defRPr>
            </a:pPr>
            <a:r>
              <a:rPr sz="2700" b="1">
                <a:solidFill>
                  <a:srgbClr val="0F172A"/>
                </a:solidFill>
              </a:rPr>
              <a:t>The router selected an evidence policy before predicting</a:t>
            </a:r>
          </a:p>
        </p:txBody>
      </p:sp>
      <p:sp>
        <p:nvSpPr>
          <p:cNvPr id="3" name="">
            <a:extLst xmlns:a="http://schemas.openxmlformats.org/drawingml/2006/main">
              <a:ext uri="{FF2B5EF4-FFF2-40B4-BE49-F238E27FC236}">
                <a16:creationId xmlns:a16="http://schemas.microsoft.com/office/drawing/2014/main" id="{6D35900D-3FED-4CE3-AD8D-3D6F91C0D0FC}"/>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4" name="">
            <a:extLst xmlns:a="http://schemas.openxmlformats.org/drawingml/2006/main">
              <a:ext uri="{FF2B5EF4-FFF2-40B4-BE49-F238E27FC236}">
                <a16:creationId xmlns:a16="http://schemas.microsoft.com/office/drawing/2014/main" id="{A0153338-3A56-49D3-8E47-EB3FA721E35A}"/>
              </a:ext>
            </a:extLst>
          </p:cNvPr>
          <p:cNvSpPr>
            <a:spLocks xmlns:a="http://schemas.openxmlformats.org/drawingml/2006/main" noGrp="1"/>
          </p:cNvSpPr>
          <p:nvPr/>
        </p:nvSpPr>
        <p:spPr>
          <a:xfrm xmlns:a="http://schemas.openxmlformats.org/drawingml/2006/main">
            <a:off x="685800" y="1381125"/>
            <a:ext cx="1009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526174"/>
                </a:solidFill>
              </a:defRPr>
            </a:pPr>
            <a:r>
              <a:rPr sz="1575" b="0">
                <a:solidFill>
                  <a:srgbClr val="526174"/>
                </a:solidFill>
              </a:rPr>
              <a:t>A branch could return 0, 1, or abstain. Only abstentions moved to the next branch.</a:t>
            </a:r>
          </a:p>
        </p:txBody>
      </p:sp>
      <p:sp>
        <p:nvSpPr>
          <p:cNvPr id="5" name="">
            <a:extLst xmlns:a="http://schemas.openxmlformats.org/drawingml/2006/main">
              <a:ext uri="{FF2B5EF4-FFF2-40B4-BE49-F238E27FC236}">
                <a16:creationId xmlns:a16="http://schemas.microsoft.com/office/drawing/2014/main" id="{30BD9C32-7267-45D9-B0E4-A60A9EA17B09}"/>
              </a:ext>
            </a:extLst>
          </p:cNvPr>
          <p:cNvSpPr>
            <a:spLocks xmlns:a="http://schemas.openxmlformats.org/drawingml/2006/main" noGrp="1"/>
          </p:cNvSpPr>
          <p:nvPr/>
        </p:nvSpPr>
        <p:spPr>
          <a:xfrm xmlns:a="http://schemas.openxmlformats.org/drawingml/2006/main">
            <a:off x="1847850" y="2505075"/>
            <a:ext cx="419100" cy="209550"/>
          </a:xfrm>
          <a:prstGeom xmlns:a="http://schemas.openxmlformats.org/drawingml/2006/main" prst="rightArrow">
            <a:avLst/>
          </a:prstGeom>
          <a:solidFill xmlns:a="http://schemas.openxmlformats.org/drawingml/2006/main">
            <a:srgbClr val="D8E0EA"/>
          </a:solidFill>
          <a:ln xmlns:a="http://schemas.openxmlformats.org/drawingml/2006/main" w="0">
            <a:solidFill>
              <a:srgbClr val="D8E0EA"/>
            </a:solidFill>
            <a:prstDash val="solid"/>
          </a:ln>
        </p:spPr>
      </p:sp>
      <p:sp>
        <p:nvSpPr>
          <p:cNvPr id="6" name="">
            <a:extLst xmlns:a="http://schemas.openxmlformats.org/drawingml/2006/main">
              <a:ext uri="{FF2B5EF4-FFF2-40B4-BE49-F238E27FC236}">
                <a16:creationId xmlns:a16="http://schemas.microsoft.com/office/drawing/2014/main" id="{149B6826-EAD8-43F4-8D68-095A87CB8008}"/>
              </a:ext>
            </a:extLst>
          </p:cNvPr>
          <p:cNvSpPr>
            <a:spLocks xmlns:a="http://schemas.openxmlformats.org/drawingml/2006/main" noGrp="1"/>
          </p:cNvSpPr>
          <p:nvPr/>
        </p:nvSpPr>
        <p:spPr>
          <a:xfrm xmlns:a="http://schemas.openxmlformats.org/drawingml/2006/main">
            <a:off x="3543300" y="2505075"/>
            <a:ext cx="419100" cy="209550"/>
          </a:xfrm>
          <a:prstGeom xmlns:a="http://schemas.openxmlformats.org/drawingml/2006/main" prst="rightArrow">
            <a:avLst/>
          </a:prstGeom>
          <a:solidFill xmlns:a="http://schemas.openxmlformats.org/drawingml/2006/main">
            <a:srgbClr val="D8E0EA"/>
          </a:solidFill>
          <a:ln xmlns:a="http://schemas.openxmlformats.org/drawingml/2006/main" w="0">
            <a:solidFill>
              <a:srgbClr val="D8E0EA"/>
            </a:solidFill>
            <a:prstDash val="solid"/>
          </a:ln>
        </p:spPr>
      </p:sp>
      <p:sp>
        <p:nvSpPr>
          <p:cNvPr id="7" name="">
            <a:extLst xmlns:a="http://schemas.openxmlformats.org/drawingml/2006/main">
              <a:ext uri="{FF2B5EF4-FFF2-40B4-BE49-F238E27FC236}">
                <a16:creationId xmlns:a16="http://schemas.microsoft.com/office/drawing/2014/main" id="{4E6F2F33-23A5-498A-9A90-55FA6C7001DD}"/>
              </a:ext>
            </a:extLst>
          </p:cNvPr>
          <p:cNvSpPr>
            <a:spLocks xmlns:a="http://schemas.openxmlformats.org/drawingml/2006/main" noGrp="1"/>
          </p:cNvSpPr>
          <p:nvPr/>
        </p:nvSpPr>
        <p:spPr>
          <a:xfrm xmlns:a="http://schemas.openxmlformats.org/drawingml/2006/main">
            <a:off x="5467350" y="2505075"/>
            <a:ext cx="419100" cy="209550"/>
          </a:xfrm>
          <a:prstGeom xmlns:a="http://schemas.openxmlformats.org/drawingml/2006/main" prst="rightArrow">
            <a:avLst/>
          </a:prstGeom>
          <a:solidFill xmlns:a="http://schemas.openxmlformats.org/drawingml/2006/main">
            <a:srgbClr val="D8E0EA"/>
          </a:solidFill>
          <a:ln xmlns:a="http://schemas.openxmlformats.org/drawingml/2006/main" w="0">
            <a:solidFill>
              <a:srgbClr val="D8E0EA"/>
            </a:solidFill>
            <a:prstDash val="solid"/>
          </a:ln>
        </p:spPr>
      </p:sp>
      <p:sp>
        <p:nvSpPr>
          <p:cNvPr id="8" name="">
            <a:extLst xmlns:a="http://schemas.openxmlformats.org/drawingml/2006/main">
              <a:ext uri="{FF2B5EF4-FFF2-40B4-BE49-F238E27FC236}">
                <a16:creationId xmlns:a16="http://schemas.microsoft.com/office/drawing/2014/main" id="{EC979FA8-87B4-4ABA-9696-AA65D17B86C0}"/>
              </a:ext>
            </a:extLst>
          </p:cNvPr>
          <p:cNvSpPr>
            <a:spLocks xmlns:a="http://schemas.openxmlformats.org/drawingml/2006/main" noGrp="1"/>
          </p:cNvSpPr>
          <p:nvPr/>
        </p:nvSpPr>
        <p:spPr>
          <a:xfrm xmlns:a="http://schemas.openxmlformats.org/drawingml/2006/main">
            <a:off x="7391400" y="2505075"/>
            <a:ext cx="419100" cy="209550"/>
          </a:xfrm>
          <a:prstGeom xmlns:a="http://schemas.openxmlformats.org/drawingml/2006/main" prst="rightArrow">
            <a:avLst/>
          </a:prstGeom>
          <a:solidFill xmlns:a="http://schemas.openxmlformats.org/drawingml/2006/main">
            <a:srgbClr val="D8E0EA"/>
          </a:solidFill>
          <a:ln xmlns:a="http://schemas.openxmlformats.org/drawingml/2006/main" w="0">
            <a:solidFill>
              <a:srgbClr val="D8E0EA"/>
            </a:solidFill>
            <a:prstDash val="solid"/>
          </a:ln>
        </p:spPr>
      </p:sp>
      <p:sp>
        <p:nvSpPr>
          <p:cNvPr id="9" name="">
            <a:extLst xmlns:a="http://schemas.openxmlformats.org/drawingml/2006/main">
              <a:ext uri="{FF2B5EF4-FFF2-40B4-BE49-F238E27FC236}">
                <a16:creationId xmlns:a16="http://schemas.microsoft.com/office/drawing/2014/main" id="{A12781CB-A198-4842-A8CE-E91899D68E0F}"/>
              </a:ext>
            </a:extLst>
          </p:cNvPr>
          <p:cNvSpPr>
            <a:spLocks xmlns:a="http://schemas.openxmlformats.org/drawingml/2006/main" noGrp="1"/>
          </p:cNvSpPr>
          <p:nvPr/>
        </p:nvSpPr>
        <p:spPr>
          <a:xfrm xmlns:a="http://schemas.openxmlformats.org/drawingml/2006/main">
            <a:off x="9182100" y="2505075"/>
            <a:ext cx="419100" cy="209550"/>
          </a:xfrm>
          <a:prstGeom xmlns:a="http://schemas.openxmlformats.org/drawingml/2006/main" prst="rightArrow">
            <a:avLst/>
          </a:prstGeom>
          <a:solidFill xmlns:a="http://schemas.openxmlformats.org/drawingml/2006/main">
            <a:srgbClr val="D8E0EA"/>
          </a:solidFill>
          <a:ln xmlns:a="http://schemas.openxmlformats.org/drawingml/2006/main" w="0">
            <a:solidFill>
              <a:srgbClr val="D8E0EA"/>
            </a:solidFill>
            <a:prstDash val="solid"/>
          </a:ln>
        </p:spPr>
      </p:sp>
      <p:sp>
        <p:nvSpPr>
          <p:cNvPr id="10" name="">
            <a:extLst xmlns:a="http://schemas.openxmlformats.org/drawingml/2006/main">
              <a:ext uri="{FF2B5EF4-FFF2-40B4-BE49-F238E27FC236}">
                <a16:creationId xmlns:a16="http://schemas.microsoft.com/office/drawing/2014/main" id="{5FB9D804-A75F-45FE-8FEC-CDF19A8B6A20}"/>
              </a:ext>
            </a:extLst>
          </p:cNvPr>
          <p:cNvSpPr>
            <a:spLocks xmlns:a="http://schemas.openxmlformats.org/drawingml/2006/main" noGrp="1"/>
          </p:cNvSpPr>
          <p:nvPr/>
        </p:nvSpPr>
        <p:spPr>
          <a:xfrm xmlns:a="http://schemas.openxmlformats.org/drawingml/2006/main">
            <a:off x="2695575" y="3114675"/>
            <a:ext cx="209550" cy="533400"/>
          </a:xfrm>
          <a:prstGeom xmlns:a="http://schemas.openxmlformats.org/drawingml/2006/main" prst="downArrow">
            <a:avLst/>
          </a:prstGeom>
          <a:solidFill xmlns:a="http://schemas.openxmlformats.org/drawingml/2006/main">
            <a:srgbClr val="D8E0EA"/>
          </a:solidFill>
          <a:ln xmlns:a="http://schemas.openxmlformats.org/drawingml/2006/main" w="0">
            <a:solidFill>
              <a:srgbClr val="D8E0EA"/>
            </a:solidFill>
            <a:prstDash val="solid"/>
          </a:ln>
        </p:spPr>
      </p:sp>
      <p:sp>
        <p:nvSpPr>
          <p:cNvPr id="11" name="">
            <a:extLst xmlns:a="http://schemas.openxmlformats.org/drawingml/2006/main">
              <a:ext uri="{FF2B5EF4-FFF2-40B4-BE49-F238E27FC236}">
                <a16:creationId xmlns:a16="http://schemas.microsoft.com/office/drawing/2014/main" id="{85C5F667-6CF4-4E26-BCB2-0B2D0A585AE3}"/>
              </a:ext>
            </a:extLst>
          </p:cNvPr>
          <p:cNvSpPr>
            <a:spLocks xmlns:a="http://schemas.openxmlformats.org/drawingml/2006/main" noGrp="1"/>
          </p:cNvSpPr>
          <p:nvPr/>
        </p:nvSpPr>
        <p:spPr>
          <a:xfrm xmlns:a="http://schemas.openxmlformats.org/drawingml/2006/main">
            <a:off x="4619625" y="3114675"/>
            <a:ext cx="209550" cy="533400"/>
          </a:xfrm>
          <a:prstGeom xmlns:a="http://schemas.openxmlformats.org/drawingml/2006/main" prst="downArrow">
            <a:avLst/>
          </a:prstGeom>
          <a:solidFill xmlns:a="http://schemas.openxmlformats.org/drawingml/2006/main">
            <a:srgbClr val="D8E0EA"/>
          </a:solidFill>
          <a:ln xmlns:a="http://schemas.openxmlformats.org/drawingml/2006/main" w="0">
            <a:solidFill>
              <a:srgbClr val="D8E0EA"/>
            </a:solidFill>
            <a:prstDash val="solid"/>
          </a:ln>
        </p:spPr>
      </p:sp>
      <p:sp>
        <p:nvSpPr>
          <p:cNvPr id="12" name="">
            <a:extLst xmlns:a="http://schemas.openxmlformats.org/drawingml/2006/main">
              <a:ext uri="{FF2B5EF4-FFF2-40B4-BE49-F238E27FC236}">
                <a16:creationId xmlns:a16="http://schemas.microsoft.com/office/drawing/2014/main" id="{F20B3597-D416-47E2-8472-62B4F0B5A0A4}"/>
              </a:ext>
            </a:extLst>
          </p:cNvPr>
          <p:cNvSpPr>
            <a:spLocks xmlns:a="http://schemas.openxmlformats.org/drawingml/2006/main" noGrp="1"/>
          </p:cNvSpPr>
          <p:nvPr/>
        </p:nvSpPr>
        <p:spPr>
          <a:xfrm xmlns:a="http://schemas.openxmlformats.org/drawingml/2006/main">
            <a:off x="6543675" y="3114675"/>
            <a:ext cx="209550" cy="533400"/>
          </a:xfrm>
          <a:prstGeom xmlns:a="http://schemas.openxmlformats.org/drawingml/2006/main" prst="downArrow">
            <a:avLst/>
          </a:prstGeom>
          <a:solidFill xmlns:a="http://schemas.openxmlformats.org/drawingml/2006/main">
            <a:srgbClr val="D8E0EA"/>
          </a:solidFill>
          <a:ln xmlns:a="http://schemas.openxmlformats.org/drawingml/2006/main" w="0">
            <a:solidFill>
              <a:srgbClr val="D8E0EA"/>
            </a:solidFill>
            <a:prstDash val="solid"/>
          </a:ln>
        </p:spPr>
      </p:sp>
      <p:sp>
        <p:nvSpPr>
          <p:cNvPr id="13" name="">
            <a:extLst xmlns:a="http://schemas.openxmlformats.org/drawingml/2006/main">
              <a:ext uri="{FF2B5EF4-FFF2-40B4-BE49-F238E27FC236}">
                <a16:creationId xmlns:a16="http://schemas.microsoft.com/office/drawing/2014/main" id="{F4490686-CE06-47C5-BEDA-A5E979FF3066}"/>
              </a:ext>
            </a:extLst>
          </p:cNvPr>
          <p:cNvSpPr>
            <a:spLocks xmlns:a="http://schemas.openxmlformats.org/drawingml/2006/main" noGrp="1"/>
          </p:cNvSpPr>
          <p:nvPr/>
        </p:nvSpPr>
        <p:spPr>
          <a:xfrm xmlns:a="http://schemas.openxmlformats.org/drawingml/2006/main">
            <a:off x="742950" y="2209800"/>
            <a:ext cx="1104900" cy="781050"/>
          </a:xfrm>
          <a:prstGeom xmlns:a="http://schemas.openxmlformats.org/drawingml/2006/main" prst="roundRect">
            <a:avLst>
              <a:gd name="adj" fmla="val 17073"/>
            </a:avLst>
          </a:prstGeom>
          <a:solidFill xmlns:a="http://schemas.openxmlformats.org/drawingml/2006/main">
            <a:srgbClr val="FFFFFF"/>
          </a:solidFill>
          <a:ln xmlns:a="http://schemas.openxmlformats.org/drawingml/2006/main" w="9525">
            <a:solidFill>
              <a:srgbClr val="1F5A7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1E0EAD2A-4ED2-4F3D-928D-865E94805062}"/>
              </a:ext>
            </a:extLst>
          </p:cNvPr>
          <p:cNvSpPr>
            <a:spLocks xmlns:a="http://schemas.openxmlformats.org/drawingml/2006/main" noGrp="1"/>
          </p:cNvSpPr>
          <p:nvPr/>
        </p:nvSpPr>
        <p:spPr>
          <a:xfrm xmlns:a="http://schemas.openxmlformats.org/drawingml/2006/main">
            <a:off x="933450" y="2400300"/>
            <a:ext cx="723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1F5A7A"/>
                </a:solidFill>
              </a:defRPr>
            </a:pPr>
            <a:r>
              <a:rPr sz="1800" b="1">
                <a:solidFill>
                  <a:srgbClr val="1F5A7A"/>
                </a:solidFill>
              </a:rPr>
              <a:t>Row</a:t>
            </a:r>
          </a:p>
        </p:txBody>
      </p:sp>
      <p:sp>
        <p:nvSpPr>
          <p:cNvPr id="15" name="">
            <a:extLst xmlns:a="http://schemas.openxmlformats.org/drawingml/2006/main">
              <a:ext uri="{FF2B5EF4-FFF2-40B4-BE49-F238E27FC236}">
                <a16:creationId xmlns:a16="http://schemas.microsoft.com/office/drawing/2014/main" id="{A27B57A1-8FD6-47AA-B22B-135877E15DE0}"/>
              </a:ext>
            </a:extLst>
          </p:cNvPr>
          <p:cNvSpPr>
            <a:spLocks xmlns:a="http://schemas.openxmlformats.org/drawingml/2006/main" noGrp="1"/>
          </p:cNvSpPr>
          <p:nvPr/>
        </p:nvSpPr>
        <p:spPr>
          <a:xfrm xmlns:a="http://schemas.openxmlformats.org/drawingml/2006/main">
            <a:off x="933450" y="2686050"/>
            <a:ext cx="723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0">
                <a:solidFill>
                  <a:srgbClr val="526174"/>
                </a:solidFill>
              </a:defRPr>
            </a:pPr>
            <a:r>
              <a:rPr sz="1125" b="0">
                <a:solidFill>
                  <a:srgbClr val="526174"/>
                </a:solidFill>
              </a:rPr>
              <a:t>normalize</a:t>
            </a:r>
          </a:p>
        </p:txBody>
      </p:sp>
      <p:sp>
        <p:nvSpPr>
          <p:cNvPr id="16" name="">
            <a:extLst xmlns:a="http://schemas.openxmlformats.org/drawingml/2006/main">
              <a:ext uri="{FF2B5EF4-FFF2-40B4-BE49-F238E27FC236}">
                <a16:creationId xmlns:a16="http://schemas.microsoft.com/office/drawing/2014/main" id="{1A05DB24-A1F6-40CF-ABED-12106D260254}"/>
              </a:ext>
            </a:extLst>
          </p:cNvPr>
          <p:cNvSpPr>
            <a:spLocks xmlns:a="http://schemas.openxmlformats.org/drawingml/2006/main" noGrp="1"/>
          </p:cNvSpPr>
          <p:nvPr/>
        </p:nvSpPr>
        <p:spPr>
          <a:xfrm xmlns:a="http://schemas.openxmlformats.org/drawingml/2006/main">
            <a:off x="2266950" y="2076450"/>
            <a:ext cx="1276350" cy="1104900"/>
          </a:xfrm>
          <a:prstGeom xmlns:a="http://schemas.openxmlformats.org/drawingml/2006/main" prst="diamond">
            <a:avLst/>
          </a:prstGeom>
          <a:solidFill xmlns:a="http://schemas.openxmlformats.org/drawingml/2006/main">
            <a:srgbClr val="E7EEF4"/>
          </a:solidFill>
          <a:ln xmlns:a="http://schemas.openxmlformats.org/drawingml/2006/main" w="11430">
            <a:solidFill>
              <a:srgbClr val="1F5A7A"/>
            </a:solidFill>
            <a:prstDash val="solid"/>
          </a:ln>
        </p:spPr>
      </p:sp>
      <p:sp>
        <p:nvSpPr>
          <p:cNvPr id="17" name="">
            <a:extLst xmlns:a="http://schemas.openxmlformats.org/drawingml/2006/main">
              <a:ext uri="{FF2B5EF4-FFF2-40B4-BE49-F238E27FC236}">
                <a16:creationId xmlns:a16="http://schemas.microsoft.com/office/drawing/2014/main" id="{32F7B4F0-D243-40CB-994D-1E5171802329}"/>
              </a:ext>
            </a:extLst>
          </p:cNvPr>
          <p:cNvSpPr>
            <a:spLocks xmlns:a="http://schemas.openxmlformats.org/drawingml/2006/main" noGrp="1"/>
          </p:cNvSpPr>
          <p:nvPr/>
        </p:nvSpPr>
        <p:spPr>
          <a:xfrm xmlns:a="http://schemas.openxmlformats.org/drawingml/2006/main">
            <a:off x="2371725" y="2362200"/>
            <a:ext cx="1066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0F172A"/>
                </a:solidFill>
              </a:defRPr>
            </a:pPr>
            <a:r>
              <a:rPr sz="1200" b="1">
                <a:solidFill>
                  <a:srgbClr val="0F172A"/>
                </a:solidFill>
              </a:rPr>
              <a:t>Context</a:t>
            </a:r>
          </a:p>
          <a:p xmlns:a="http://schemas.openxmlformats.org/drawingml/2006/main">
            <a:pPr algn="ctr">
              <a:defRPr sz="1200" b="1">
                <a:solidFill>
                  <a:srgbClr val="0F172A"/>
                </a:solidFill>
              </a:defRPr>
            </a:pPr>
            <a:r>
              <a:rPr sz="1200" b="1">
                <a:solidFill>
                  <a:srgbClr val="0F172A"/>
                </a:solidFill>
              </a:rPr>
              <a:t>present?</a:t>
            </a:r>
          </a:p>
        </p:txBody>
      </p:sp>
      <p:sp>
        <p:nvSpPr>
          <p:cNvPr id="18" name="">
            <a:extLst xmlns:a="http://schemas.openxmlformats.org/drawingml/2006/main">
              <a:ext uri="{FF2B5EF4-FFF2-40B4-BE49-F238E27FC236}">
                <a16:creationId xmlns:a16="http://schemas.microsoft.com/office/drawing/2014/main" id="{C3A5666D-5A64-4E11-A510-2CF91F414BB4}"/>
              </a:ext>
            </a:extLst>
          </p:cNvPr>
          <p:cNvSpPr>
            <a:spLocks xmlns:a="http://schemas.openxmlformats.org/drawingml/2006/main" noGrp="1"/>
          </p:cNvSpPr>
          <p:nvPr/>
        </p:nvSpPr>
        <p:spPr>
          <a:xfrm xmlns:a="http://schemas.openxmlformats.org/drawingml/2006/main">
            <a:off x="3962400" y="2076450"/>
            <a:ext cx="1276350" cy="1104900"/>
          </a:xfrm>
          <a:prstGeom xmlns:a="http://schemas.openxmlformats.org/drawingml/2006/main" prst="diamond">
            <a:avLst/>
          </a:prstGeom>
          <a:solidFill xmlns:a="http://schemas.openxmlformats.org/drawingml/2006/main">
            <a:srgbClr val="E7EEF4"/>
          </a:solidFill>
          <a:ln xmlns:a="http://schemas.openxmlformats.org/drawingml/2006/main" w="11430">
            <a:solidFill>
              <a:srgbClr val="1F5A7A"/>
            </a:solidFill>
            <a:prstDash val="solid"/>
          </a:ln>
        </p:spPr>
      </p:sp>
      <p:sp>
        <p:nvSpPr>
          <p:cNvPr id="19" name="">
            <a:extLst xmlns:a="http://schemas.openxmlformats.org/drawingml/2006/main">
              <a:ext uri="{FF2B5EF4-FFF2-40B4-BE49-F238E27FC236}">
                <a16:creationId xmlns:a16="http://schemas.microsoft.com/office/drawing/2014/main" id="{27D93B96-325E-4D4E-A65B-88E3D4CDB1C3}"/>
              </a:ext>
            </a:extLst>
          </p:cNvPr>
          <p:cNvSpPr>
            <a:spLocks xmlns:a="http://schemas.openxmlformats.org/drawingml/2006/main" noGrp="1"/>
          </p:cNvSpPr>
          <p:nvPr/>
        </p:nvSpPr>
        <p:spPr>
          <a:xfrm xmlns:a="http://schemas.openxmlformats.org/drawingml/2006/main">
            <a:off x="4067175" y="2362200"/>
            <a:ext cx="1066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0F172A"/>
                </a:solidFill>
              </a:defRPr>
            </a:pPr>
            <a:r>
              <a:rPr sz="1200" b="1">
                <a:solidFill>
                  <a:srgbClr val="0F172A"/>
                </a:solidFill>
              </a:rPr>
              <a:t>Structured</a:t>
            </a:r>
          </a:p>
          <a:p xmlns:a="http://schemas.openxmlformats.org/drawingml/2006/main">
            <a:pPr algn="ctr">
              <a:defRPr sz="1200" b="1">
                <a:solidFill>
                  <a:srgbClr val="0F172A"/>
                </a:solidFill>
              </a:defRPr>
            </a:pPr>
            <a:r>
              <a:rPr sz="1200" b="1">
                <a:solidFill>
                  <a:srgbClr val="0F172A"/>
                </a:solidFill>
              </a:rPr>
              <a:t>task?</a:t>
            </a:r>
          </a:p>
        </p:txBody>
      </p:sp>
      <p:sp>
        <p:nvSpPr>
          <p:cNvPr id="20" name="">
            <a:extLst xmlns:a="http://schemas.openxmlformats.org/drawingml/2006/main">
              <a:ext uri="{FF2B5EF4-FFF2-40B4-BE49-F238E27FC236}">
                <a16:creationId xmlns:a16="http://schemas.microsoft.com/office/drawing/2014/main" id="{B428C26F-204A-4CE3-BDC6-815F6296ADFB}"/>
              </a:ext>
            </a:extLst>
          </p:cNvPr>
          <p:cNvSpPr>
            <a:spLocks xmlns:a="http://schemas.openxmlformats.org/drawingml/2006/main" noGrp="1"/>
          </p:cNvSpPr>
          <p:nvPr/>
        </p:nvSpPr>
        <p:spPr>
          <a:xfrm xmlns:a="http://schemas.openxmlformats.org/drawingml/2006/main">
            <a:off x="5886450" y="2076450"/>
            <a:ext cx="1276350" cy="1104900"/>
          </a:xfrm>
          <a:prstGeom xmlns:a="http://schemas.openxmlformats.org/drawingml/2006/main" prst="diamond">
            <a:avLst/>
          </a:prstGeom>
          <a:solidFill xmlns:a="http://schemas.openxmlformats.org/drawingml/2006/main">
            <a:srgbClr val="E7EEF4"/>
          </a:solidFill>
          <a:ln xmlns:a="http://schemas.openxmlformats.org/drawingml/2006/main" w="11430">
            <a:solidFill>
              <a:srgbClr val="1F5A7A"/>
            </a:solidFill>
            <a:prstDash val="solid"/>
          </a:ln>
        </p:spPr>
      </p:sp>
      <p:sp>
        <p:nvSpPr>
          <p:cNvPr id="21" name="">
            <a:extLst xmlns:a="http://schemas.openxmlformats.org/drawingml/2006/main">
              <a:ext uri="{FF2B5EF4-FFF2-40B4-BE49-F238E27FC236}">
                <a16:creationId xmlns:a16="http://schemas.microsoft.com/office/drawing/2014/main" id="{A98853F3-C6DA-41BC-A5AD-5C142C9476DD}"/>
              </a:ext>
            </a:extLst>
          </p:cNvPr>
          <p:cNvSpPr>
            <a:spLocks xmlns:a="http://schemas.openxmlformats.org/drawingml/2006/main" noGrp="1"/>
          </p:cNvSpPr>
          <p:nvPr/>
        </p:nvSpPr>
        <p:spPr>
          <a:xfrm xmlns:a="http://schemas.openxmlformats.org/drawingml/2006/main">
            <a:off x="5991225" y="2362200"/>
            <a:ext cx="1066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0F172A"/>
                </a:solidFill>
              </a:defRPr>
            </a:pPr>
            <a:r>
              <a:rPr sz="1200" b="1">
                <a:solidFill>
                  <a:srgbClr val="0F172A"/>
                </a:solidFill>
              </a:rPr>
              <a:t>Exact source</a:t>
            </a:r>
          </a:p>
          <a:p xmlns:a="http://schemas.openxmlformats.org/drawingml/2006/main">
            <a:pPr algn="ctr">
              <a:defRPr sz="1200" b="1">
                <a:solidFill>
                  <a:srgbClr val="0F172A"/>
                </a:solidFill>
              </a:defRPr>
            </a:pPr>
            <a:r>
              <a:rPr sz="1200" b="1">
                <a:solidFill>
                  <a:srgbClr val="0F172A"/>
                </a:solidFill>
              </a:rPr>
              <a:t>lineage?</a:t>
            </a:r>
          </a:p>
        </p:txBody>
      </p:sp>
      <p:sp>
        <p:nvSpPr>
          <p:cNvPr id="22" name="">
            <a:extLst xmlns:a="http://schemas.openxmlformats.org/drawingml/2006/main">
              <a:ext uri="{FF2B5EF4-FFF2-40B4-BE49-F238E27FC236}">
                <a16:creationId xmlns:a16="http://schemas.microsoft.com/office/drawing/2014/main" id="{673ABEF0-3D08-4B2E-BEDA-52A20EB59CD2}"/>
              </a:ext>
            </a:extLst>
          </p:cNvPr>
          <p:cNvSpPr>
            <a:spLocks xmlns:a="http://schemas.openxmlformats.org/drawingml/2006/main" noGrp="1"/>
          </p:cNvSpPr>
          <p:nvPr/>
        </p:nvSpPr>
        <p:spPr>
          <a:xfrm xmlns:a="http://schemas.openxmlformats.org/drawingml/2006/main">
            <a:off x="3562350" y="2247900"/>
            <a:ext cx="361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526174"/>
                </a:solidFill>
              </a:defRPr>
            </a:pPr>
            <a:r>
              <a:rPr sz="1050" b="1">
                <a:solidFill>
                  <a:srgbClr val="526174"/>
                </a:solidFill>
              </a:rPr>
              <a:t>no</a:t>
            </a:r>
          </a:p>
        </p:txBody>
      </p:sp>
      <p:sp>
        <p:nvSpPr>
          <p:cNvPr id="23" name="">
            <a:extLst xmlns:a="http://schemas.openxmlformats.org/drawingml/2006/main">
              <a:ext uri="{FF2B5EF4-FFF2-40B4-BE49-F238E27FC236}">
                <a16:creationId xmlns:a16="http://schemas.microsoft.com/office/drawing/2014/main" id="{A179A706-58B0-446E-8A50-48E231F340E5}"/>
              </a:ext>
            </a:extLst>
          </p:cNvPr>
          <p:cNvSpPr>
            <a:spLocks xmlns:a="http://schemas.openxmlformats.org/drawingml/2006/main" noGrp="1"/>
          </p:cNvSpPr>
          <p:nvPr/>
        </p:nvSpPr>
        <p:spPr>
          <a:xfrm xmlns:a="http://schemas.openxmlformats.org/drawingml/2006/main">
            <a:off x="5486400" y="2247900"/>
            <a:ext cx="361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526174"/>
                </a:solidFill>
              </a:defRPr>
            </a:pPr>
            <a:r>
              <a:rPr sz="1050" b="1">
                <a:solidFill>
                  <a:srgbClr val="526174"/>
                </a:solidFill>
              </a:rPr>
              <a:t>no</a:t>
            </a:r>
          </a:p>
        </p:txBody>
      </p:sp>
      <p:sp>
        <p:nvSpPr>
          <p:cNvPr id="24" name="">
            <a:extLst xmlns:a="http://schemas.openxmlformats.org/drawingml/2006/main">
              <a:ext uri="{FF2B5EF4-FFF2-40B4-BE49-F238E27FC236}">
                <a16:creationId xmlns:a16="http://schemas.microsoft.com/office/drawing/2014/main" id="{B573B6B2-EFAA-4C72-858B-912B725B5347}"/>
              </a:ext>
            </a:extLst>
          </p:cNvPr>
          <p:cNvSpPr>
            <a:spLocks xmlns:a="http://schemas.openxmlformats.org/drawingml/2006/main" noGrp="1"/>
          </p:cNvSpPr>
          <p:nvPr/>
        </p:nvSpPr>
        <p:spPr>
          <a:xfrm xmlns:a="http://schemas.openxmlformats.org/drawingml/2006/main">
            <a:off x="7410450" y="2247900"/>
            <a:ext cx="361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526174"/>
                </a:solidFill>
              </a:defRPr>
            </a:pPr>
            <a:r>
              <a:rPr sz="1050" b="1">
                <a:solidFill>
                  <a:srgbClr val="526174"/>
                </a:solidFill>
              </a:rPr>
              <a:t>no</a:t>
            </a:r>
          </a:p>
        </p:txBody>
      </p:sp>
      <p:sp>
        <p:nvSpPr>
          <p:cNvPr id="25" name="">
            <a:extLst xmlns:a="http://schemas.openxmlformats.org/drawingml/2006/main">
              <a:ext uri="{FF2B5EF4-FFF2-40B4-BE49-F238E27FC236}">
                <a16:creationId xmlns:a16="http://schemas.microsoft.com/office/drawing/2014/main" id="{230723B0-FF8D-4373-A047-A104AF279F60}"/>
              </a:ext>
            </a:extLst>
          </p:cNvPr>
          <p:cNvSpPr>
            <a:spLocks xmlns:a="http://schemas.openxmlformats.org/drawingml/2006/main" noGrp="1"/>
          </p:cNvSpPr>
          <p:nvPr/>
        </p:nvSpPr>
        <p:spPr>
          <a:xfrm xmlns:a="http://schemas.openxmlformats.org/drawingml/2006/main">
            <a:off x="2828925" y="32575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2A8C82"/>
                </a:solidFill>
              </a:defRPr>
            </a:pPr>
            <a:r>
              <a:rPr sz="1050" b="1">
                <a:solidFill>
                  <a:srgbClr val="2A8C82"/>
                </a:solidFill>
              </a:rPr>
              <a:t>yes</a:t>
            </a:r>
          </a:p>
        </p:txBody>
      </p:sp>
      <p:sp>
        <p:nvSpPr>
          <p:cNvPr id="26" name="">
            <a:extLst xmlns:a="http://schemas.openxmlformats.org/drawingml/2006/main">
              <a:ext uri="{FF2B5EF4-FFF2-40B4-BE49-F238E27FC236}">
                <a16:creationId xmlns:a16="http://schemas.microsoft.com/office/drawing/2014/main" id="{423F1B6D-D93C-4636-96DA-5CEA509B11C7}"/>
              </a:ext>
            </a:extLst>
          </p:cNvPr>
          <p:cNvSpPr>
            <a:spLocks xmlns:a="http://schemas.openxmlformats.org/drawingml/2006/main" noGrp="1"/>
          </p:cNvSpPr>
          <p:nvPr/>
        </p:nvSpPr>
        <p:spPr>
          <a:xfrm xmlns:a="http://schemas.openxmlformats.org/drawingml/2006/main">
            <a:off x="4752975" y="32575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2A8C82"/>
                </a:solidFill>
              </a:defRPr>
            </a:pPr>
            <a:r>
              <a:rPr sz="1050" b="1">
                <a:solidFill>
                  <a:srgbClr val="2A8C82"/>
                </a:solidFill>
              </a:rPr>
              <a:t>yes</a:t>
            </a:r>
          </a:p>
        </p:txBody>
      </p:sp>
      <p:sp>
        <p:nvSpPr>
          <p:cNvPr id="27" name="">
            <a:extLst xmlns:a="http://schemas.openxmlformats.org/drawingml/2006/main">
              <a:ext uri="{FF2B5EF4-FFF2-40B4-BE49-F238E27FC236}">
                <a16:creationId xmlns:a16="http://schemas.microsoft.com/office/drawing/2014/main" id="{6E57B587-6170-45AD-A9E6-0DD7345B6ECC}"/>
              </a:ext>
            </a:extLst>
          </p:cNvPr>
          <p:cNvSpPr>
            <a:spLocks xmlns:a="http://schemas.openxmlformats.org/drawingml/2006/main" noGrp="1"/>
          </p:cNvSpPr>
          <p:nvPr/>
        </p:nvSpPr>
        <p:spPr>
          <a:xfrm xmlns:a="http://schemas.openxmlformats.org/drawingml/2006/main">
            <a:off x="6677025" y="32575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2A8C82"/>
                </a:solidFill>
              </a:defRPr>
            </a:pPr>
            <a:r>
              <a:rPr sz="1050" b="1">
                <a:solidFill>
                  <a:srgbClr val="2A8C82"/>
                </a:solidFill>
              </a:rPr>
              <a:t>yes</a:t>
            </a:r>
          </a:p>
        </p:txBody>
      </p:sp>
      <p:sp>
        <p:nvSpPr>
          <p:cNvPr id="28" name="">
            <a:extLst xmlns:a="http://schemas.openxmlformats.org/drawingml/2006/main">
              <a:ext uri="{FF2B5EF4-FFF2-40B4-BE49-F238E27FC236}">
                <a16:creationId xmlns:a16="http://schemas.microsoft.com/office/drawing/2014/main" id="{9AA5626F-7469-4611-BFDF-DDB2FE9C88A4}"/>
              </a:ext>
            </a:extLst>
          </p:cNvPr>
          <p:cNvSpPr>
            <a:spLocks xmlns:a="http://schemas.openxmlformats.org/drawingml/2006/main" noGrp="1"/>
          </p:cNvSpPr>
          <p:nvPr/>
        </p:nvSpPr>
        <p:spPr>
          <a:xfrm xmlns:a="http://schemas.openxmlformats.org/drawingml/2006/main">
            <a:off x="2038350" y="3733800"/>
            <a:ext cx="1676400" cy="1104900"/>
          </a:xfrm>
          <a:prstGeom xmlns:a="http://schemas.openxmlformats.org/drawingml/2006/main" prst="roundRect">
            <a:avLst>
              <a:gd name="adj" fmla="val 12069"/>
            </a:avLst>
          </a:prstGeom>
          <a:solidFill xmlns:a="http://schemas.openxmlformats.org/drawingml/2006/main">
            <a:srgbClr val="DDF2EE"/>
          </a:solidFill>
          <a:ln xmlns:a="http://schemas.openxmlformats.org/drawingml/2006/main" w="9525">
            <a:solidFill>
              <a:srgbClr val="2A8C82"/>
            </a:solidFill>
            <a:prstDash val="solid"/>
          </a:ln>
        </p:spPr>
      </p:sp>
      <p:sp>
        <p:nvSpPr>
          <p:cNvPr id="29" name="">
            <a:extLst xmlns:a="http://schemas.openxmlformats.org/drawingml/2006/main">
              <a:ext uri="{FF2B5EF4-FFF2-40B4-BE49-F238E27FC236}">
                <a16:creationId xmlns:a16="http://schemas.microsoft.com/office/drawing/2014/main" id="{E22357C1-1E2C-4A48-9538-54351E9C5E9A}"/>
              </a:ext>
            </a:extLst>
          </p:cNvPr>
          <p:cNvSpPr>
            <a:spLocks xmlns:a="http://schemas.openxmlformats.org/drawingml/2006/main" noGrp="1"/>
          </p:cNvSpPr>
          <p:nvPr/>
        </p:nvSpPr>
        <p:spPr>
          <a:xfrm xmlns:a="http://schemas.openxmlformats.org/drawingml/2006/main">
            <a:off x="2171700" y="3914775"/>
            <a:ext cx="1409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0F172A"/>
                </a:solidFill>
              </a:defRPr>
            </a:pPr>
            <a:r>
              <a:rPr sz="1425" b="1">
                <a:solidFill>
                  <a:srgbClr val="0F172A"/>
                </a:solidFill>
              </a:rPr>
              <a:t>Context verifier</a:t>
            </a:r>
          </a:p>
        </p:txBody>
      </p:sp>
      <p:sp>
        <p:nvSpPr>
          <p:cNvPr id="30" name="">
            <a:extLst xmlns:a="http://schemas.openxmlformats.org/drawingml/2006/main">
              <a:ext uri="{FF2B5EF4-FFF2-40B4-BE49-F238E27FC236}">
                <a16:creationId xmlns:a16="http://schemas.microsoft.com/office/drawing/2014/main" id="{C0659F76-88F5-4526-9579-848FD2EE3665}"/>
              </a:ext>
            </a:extLst>
          </p:cNvPr>
          <p:cNvSpPr>
            <a:spLocks xmlns:a="http://schemas.openxmlformats.org/drawingml/2006/main" noGrp="1"/>
          </p:cNvSpPr>
          <p:nvPr/>
        </p:nvSpPr>
        <p:spPr>
          <a:xfrm xmlns:a="http://schemas.openxmlformats.org/drawingml/2006/main">
            <a:off x="2171700" y="4267200"/>
            <a:ext cx="14097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0">
                <a:solidFill>
                  <a:srgbClr val="526174"/>
                </a:solidFill>
              </a:defRPr>
            </a:pPr>
            <a:r>
              <a:rPr sz="1125" b="0">
                <a:solidFill>
                  <a:srgbClr val="526174"/>
                </a:solidFill>
              </a:rPr>
              <a:t>claim support, contradiction, extra claims</a:t>
            </a:r>
          </a:p>
        </p:txBody>
      </p:sp>
      <p:sp>
        <p:nvSpPr>
          <p:cNvPr id="31" name="">
            <a:extLst xmlns:a="http://schemas.openxmlformats.org/drawingml/2006/main">
              <a:ext uri="{FF2B5EF4-FFF2-40B4-BE49-F238E27FC236}">
                <a16:creationId xmlns:a16="http://schemas.microsoft.com/office/drawing/2014/main" id="{52C1DE69-4A3C-47BF-81F0-84FAABF8F797}"/>
              </a:ext>
            </a:extLst>
          </p:cNvPr>
          <p:cNvSpPr>
            <a:spLocks xmlns:a="http://schemas.openxmlformats.org/drawingml/2006/main" noGrp="1"/>
          </p:cNvSpPr>
          <p:nvPr/>
        </p:nvSpPr>
        <p:spPr>
          <a:xfrm xmlns:a="http://schemas.openxmlformats.org/drawingml/2006/main">
            <a:off x="3962400" y="3733800"/>
            <a:ext cx="1676400" cy="1104900"/>
          </a:xfrm>
          <a:prstGeom xmlns:a="http://schemas.openxmlformats.org/drawingml/2006/main" prst="roundRect">
            <a:avLst>
              <a:gd name="adj" fmla="val 12069"/>
            </a:avLst>
          </a:prstGeom>
          <a:solidFill xmlns:a="http://schemas.openxmlformats.org/drawingml/2006/main">
            <a:srgbClr val="DDF2EE"/>
          </a:solidFill>
          <a:ln xmlns:a="http://schemas.openxmlformats.org/drawingml/2006/main" w="9525">
            <a:solidFill>
              <a:srgbClr val="2A8C82"/>
            </a:solidFill>
            <a:prstDash val="solid"/>
          </a:ln>
        </p:spPr>
      </p:sp>
      <p:sp>
        <p:nvSpPr>
          <p:cNvPr id="32" name="">
            <a:extLst xmlns:a="http://schemas.openxmlformats.org/drawingml/2006/main">
              <a:ext uri="{FF2B5EF4-FFF2-40B4-BE49-F238E27FC236}">
                <a16:creationId xmlns:a16="http://schemas.microsoft.com/office/drawing/2014/main" id="{E5C61243-EE32-4AD1-9B4C-FFBB2F23B0F5}"/>
              </a:ext>
            </a:extLst>
          </p:cNvPr>
          <p:cNvSpPr>
            <a:spLocks xmlns:a="http://schemas.openxmlformats.org/drawingml/2006/main" noGrp="1"/>
          </p:cNvSpPr>
          <p:nvPr/>
        </p:nvSpPr>
        <p:spPr>
          <a:xfrm xmlns:a="http://schemas.openxmlformats.org/drawingml/2006/main">
            <a:off x="4095750" y="3914775"/>
            <a:ext cx="1409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0F172A"/>
                </a:solidFill>
              </a:defRPr>
            </a:pPr>
            <a:r>
              <a:rPr sz="1425" b="1">
                <a:solidFill>
                  <a:srgbClr val="0F172A"/>
                </a:solidFill>
              </a:rPr>
              <a:t>Structured solver</a:t>
            </a:r>
          </a:p>
        </p:txBody>
      </p:sp>
      <p:sp>
        <p:nvSpPr>
          <p:cNvPr id="33" name="">
            <a:extLst xmlns:a="http://schemas.openxmlformats.org/drawingml/2006/main">
              <a:ext uri="{FF2B5EF4-FFF2-40B4-BE49-F238E27FC236}">
                <a16:creationId xmlns:a16="http://schemas.microsoft.com/office/drawing/2014/main" id="{33E6A21B-03FD-4C66-A9C6-F3267A1A2ACB}"/>
              </a:ext>
            </a:extLst>
          </p:cNvPr>
          <p:cNvSpPr>
            <a:spLocks xmlns:a="http://schemas.openxmlformats.org/drawingml/2006/main" noGrp="1"/>
          </p:cNvSpPr>
          <p:nvPr/>
        </p:nvSpPr>
        <p:spPr>
          <a:xfrm xmlns:a="http://schemas.openxmlformats.org/drawingml/2006/main">
            <a:off x="4095750" y="4267200"/>
            <a:ext cx="14097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0">
                <a:solidFill>
                  <a:srgbClr val="526174"/>
                </a:solidFill>
              </a:defRPr>
            </a:pPr>
            <a:r>
              <a:rPr sz="1125" b="0">
                <a:solidFill>
                  <a:srgbClr val="526174"/>
                </a:solidFill>
              </a:rPr>
              <a:t>numbers, ranges, MCQ, morphology</a:t>
            </a:r>
          </a:p>
        </p:txBody>
      </p:sp>
      <p:sp>
        <p:nvSpPr>
          <p:cNvPr id="34" name="">
            <a:extLst xmlns:a="http://schemas.openxmlformats.org/drawingml/2006/main">
              <a:ext uri="{FF2B5EF4-FFF2-40B4-BE49-F238E27FC236}">
                <a16:creationId xmlns:a16="http://schemas.microsoft.com/office/drawing/2014/main" id="{710F574C-5F9D-42F6-AE83-371455DE5D39}"/>
              </a:ext>
            </a:extLst>
          </p:cNvPr>
          <p:cNvSpPr>
            <a:spLocks xmlns:a="http://schemas.openxmlformats.org/drawingml/2006/main" noGrp="1"/>
          </p:cNvSpPr>
          <p:nvPr/>
        </p:nvSpPr>
        <p:spPr>
          <a:xfrm xmlns:a="http://schemas.openxmlformats.org/drawingml/2006/main">
            <a:off x="5886450" y="3733800"/>
            <a:ext cx="1676400" cy="1104900"/>
          </a:xfrm>
          <a:prstGeom xmlns:a="http://schemas.openxmlformats.org/drawingml/2006/main" prst="roundRect">
            <a:avLst>
              <a:gd name="adj" fmla="val 12069"/>
            </a:avLst>
          </a:prstGeom>
          <a:solidFill xmlns:a="http://schemas.openxmlformats.org/drawingml/2006/main">
            <a:srgbClr val="FBF0D8"/>
          </a:solidFill>
          <a:ln xmlns:a="http://schemas.openxmlformats.org/drawingml/2006/main" w="9525">
            <a:solidFill>
              <a:srgbClr val="D59B32"/>
            </a:solidFill>
            <a:prstDash val="solid"/>
          </a:ln>
        </p:spPr>
      </p:sp>
      <p:sp>
        <p:nvSpPr>
          <p:cNvPr id="35" name="">
            <a:extLst xmlns:a="http://schemas.openxmlformats.org/drawingml/2006/main">
              <a:ext uri="{FF2B5EF4-FFF2-40B4-BE49-F238E27FC236}">
                <a16:creationId xmlns:a16="http://schemas.microsoft.com/office/drawing/2014/main" id="{6BB22939-1F7C-47D3-8EA9-347B2328D736}"/>
              </a:ext>
            </a:extLst>
          </p:cNvPr>
          <p:cNvSpPr>
            <a:spLocks xmlns:a="http://schemas.openxmlformats.org/drawingml/2006/main" noGrp="1"/>
          </p:cNvSpPr>
          <p:nvPr/>
        </p:nvSpPr>
        <p:spPr>
          <a:xfrm xmlns:a="http://schemas.openxmlformats.org/drawingml/2006/main">
            <a:off x="6019800" y="3914775"/>
            <a:ext cx="1409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0F172A"/>
                </a:solidFill>
              </a:defRPr>
            </a:pPr>
            <a:r>
              <a:rPr sz="1425" b="1">
                <a:solidFill>
                  <a:srgbClr val="0F172A"/>
                </a:solidFill>
              </a:rPr>
              <a:t>Typed evidence</a:t>
            </a:r>
          </a:p>
        </p:txBody>
      </p:sp>
      <p:sp>
        <p:nvSpPr>
          <p:cNvPr id="36" name="">
            <a:extLst xmlns:a="http://schemas.openxmlformats.org/drawingml/2006/main">
              <a:ext uri="{FF2B5EF4-FFF2-40B4-BE49-F238E27FC236}">
                <a16:creationId xmlns:a16="http://schemas.microsoft.com/office/drawing/2014/main" id="{FCDEBD61-9596-4702-8416-15A0D2019FB9}"/>
              </a:ext>
            </a:extLst>
          </p:cNvPr>
          <p:cNvSpPr>
            <a:spLocks xmlns:a="http://schemas.openxmlformats.org/drawingml/2006/main" noGrp="1"/>
          </p:cNvSpPr>
          <p:nvPr/>
        </p:nvSpPr>
        <p:spPr>
          <a:xfrm xmlns:a="http://schemas.openxmlformats.org/drawingml/2006/main">
            <a:off x="6019800" y="4267200"/>
            <a:ext cx="14097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0">
                <a:solidFill>
                  <a:srgbClr val="526174"/>
                </a:solidFill>
              </a:defRPr>
            </a:pPr>
            <a:r>
              <a:rPr sz="1125" b="0">
                <a:solidFill>
                  <a:srgbClr val="526174"/>
                </a:solidFill>
              </a:rPr>
              <a:t>entity + predicate + value + provenance</a:t>
            </a:r>
          </a:p>
        </p:txBody>
      </p:sp>
      <p:sp>
        <p:nvSpPr>
          <p:cNvPr id="37" name="">
            <a:extLst xmlns:a="http://schemas.openxmlformats.org/drawingml/2006/main">
              <a:ext uri="{FF2B5EF4-FFF2-40B4-BE49-F238E27FC236}">
                <a16:creationId xmlns:a16="http://schemas.microsoft.com/office/drawing/2014/main" id="{1E7FB51C-F11F-4CCC-815A-3BCBEB5AA14C}"/>
              </a:ext>
            </a:extLst>
          </p:cNvPr>
          <p:cNvSpPr>
            <a:spLocks xmlns:a="http://schemas.openxmlformats.org/drawingml/2006/main" noGrp="1"/>
          </p:cNvSpPr>
          <p:nvPr/>
        </p:nvSpPr>
        <p:spPr>
          <a:xfrm xmlns:a="http://schemas.openxmlformats.org/drawingml/2006/main">
            <a:off x="7810500" y="2209800"/>
            <a:ext cx="1371600" cy="781050"/>
          </a:xfrm>
          <a:prstGeom xmlns:a="http://schemas.openxmlformats.org/drawingml/2006/main" prst="roundRect">
            <a:avLst>
              <a:gd name="adj" fmla="val 17073"/>
            </a:avLst>
          </a:prstGeom>
          <a:solidFill xmlns:a="http://schemas.openxmlformats.org/drawingml/2006/main">
            <a:srgbClr val="FFFFFF"/>
          </a:solidFill>
          <a:ln xmlns:a="http://schemas.openxmlformats.org/drawingml/2006/main" w="9525">
            <a:solidFill>
              <a:srgbClr val="D59B32"/>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8" name="">
            <a:extLst xmlns:a="http://schemas.openxmlformats.org/drawingml/2006/main">
              <a:ext uri="{FF2B5EF4-FFF2-40B4-BE49-F238E27FC236}">
                <a16:creationId xmlns:a16="http://schemas.microsoft.com/office/drawing/2014/main" id="{1BBE0C4C-F1AD-4190-A9DD-5B0E3E5121B4}"/>
              </a:ext>
            </a:extLst>
          </p:cNvPr>
          <p:cNvSpPr>
            <a:spLocks xmlns:a="http://schemas.openxmlformats.org/drawingml/2006/main" noGrp="1"/>
          </p:cNvSpPr>
          <p:nvPr/>
        </p:nvSpPr>
        <p:spPr>
          <a:xfrm xmlns:a="http://schemas.openxmlformats.org/drawingml/2006/main">
            <a:off x="7924800" y="2343150"/>
            <a:ext cx="114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D59B32"/>
                </a:solidFill>
              </a:defRPr>
            </a:pPr>
            <a:r>
              <a:rPr sz="1350" b="1">
                <a:solidFill>
                  <a:srgbClr val="D59B32"/>
                </a:solidFill>
              </a:rPr>
              <a:t>Fallback</a:t>
            </a:r>
          </a:p>
        </p:txBody>
      </p:sp>
      <p:sp>
        <p:nvSpPr>
          <p:cNvPr id="39" name="">
            <a:extLst xmlns:a="http://schemas.openxmlformats.org/drawingml/2006/main">
              <a:ext uri="{FF2B5EF4-FFF2-40B4-BE49-F238E27FC236}">
                <a16:creationId xmlns:a16="http://schemas.microsoft.com/office/drawing/2014/main" id="{9D58D61F-CF24-4474-ACE6-E604D09A9DC1}"/>
              </a:ext>
            </a:extLst>
          </p:cNvPr>
          <p:cNvSpPr>
            <a:spLocks xmlns:a="http://schemas.openxmlformats.org/drawingml/2006/main" noGrp="1"/>
          </p:cNvSpPr>
          <p:nvPr/>
        </p:nvSpPr>
        <p:spPr>
          <a:xfrm xmlns:a="http://schemas.openxmlformats.org/drawingml/2006/main">
            <a:off x="7924800" y="2657475"/>
            <a:ext cx="114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a:solidFill>
                  <a:srgbClr val="526174"/>
                </a:solidFill>
              </a:defRPr>
            </a:pPr>
            <a:r>
              <a:rPr sz="975" b="0">
                <a:solidFill>
                  <a:srgbClr val="526174"/>
                </a:solidFill>
              </a:rPr>
              <a:t>no rule or conflict</a:t>
            </a:r>
          </a:p>
        </p:txBody>
      </p:sp>
      <p:sp>
        <p:nvSpPr>
          <p:cNvPr id="40" name="">
            <a:extLst xmlns:a="http://schemas.openxmlformats.org/drawingml/2006/main">
              <a:ext uri="{FF2B5EF4-FFF2-40B4-BE49-F238E27FC236}">
                <a16:creationId xmlns:a16="http://schemas.microsoft.com/office/drawing/2014/main" id="{2484E631-9C1C-4972-A44A-45EBF9AD73D3}"/>
              </a:ext>
            </a:extLst>
          </p:cNvPr>
          <p:cNvSpPr>
            <a:spLocks xmlns:a="http://schemas.openxmlformats.org/drawingml/2006/main" noGrp="1"/>
          </p:cNvSpPr>
          <p:nvPr/>
        </p:nvSpPr>
        <p:spPr>
          <a:xfrm xmlns:a="http://schemas.openxmlformats.org/drawingml/2006/main">
            <a:off x="9601200" y="2076450"/>
            <a:ext cx="1676400" cy="1104900"/>
          </a:xfrm>
          <a:prstGeom xmlns:a="http://schemas.openxmlformats.org/drawingml/2006/main" prst="roundRect">
            <a:avLst>
              <a:gd name="adj" fmla="val 13793"/>
            </a:avLst>
          </a:prstGeom>
          <a:solidFill xmlns:a="http://schemas.openxmlformats.org/drawingml/2006/main">
            <a:srgbClr val="FBF0D8"/>
          </a:solidFill>
          <a:ln xmlns:a="http://schemas.openxmlformats.org/drawingml/2006/main" w="9525">
            <a:solidFill>
              <a:srgbClr val="D59B32"/>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41" name="">
            <a:extLst xmlns:a="http://schemas.openxmlformats.org/drawingml/2006/main">
              <a:ext uri="{FF2B5EF4-FFF2-40B4-BE49-F238E27FC236}">
                <a16:creationId xmlns:a16="http://schemas.microsoft.com/office/drawing/2014/main" id="{5F5AD2C3-A1E4-4E73-9C39-E981DC34FDD4}"/>
              </a:ext>
            </a:extLst>
          </p:cNvPr>
          <p:cNvSpPr>
            <a:spLocks xmlns:a="http://schemas.openxmlformats.org/drawingml/2006/main" noGrp="1"/>
          </p:cNvSpPr>
          <p:nvPr/>
        </p:nvSpPr>
        <p:spPr>
          <a:xfrm xmlns:a="http://schemas.openxmlformats.org/drawingml/2006/main">
            <a:off x="9772650" y="2314575"/>
            <a:ext cx="133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D59B32"/>
                </a:solidFill>
              </a:defRPr>
            </a:pPr>
            <a:r>
              <a:rPr sz="1500" b="1">
                <a:solidFill>
                  <a:srgbClr val="D59B32"/>
                </a:solidFill>
              </a:rPr>
              <a:t>LLM judge</a:t>
            </a:r>
          </a:p>
        </p:txBody>
      </p:sp>
      <p:sp>
        <p:nvSpPr>
          <p:cNvPr id="42" name="">
            <a:extLst xmlns:a="http://schemas.openxmlformats.org/drawingml/2006/main">
              <a:ext uri="{FF2B5EF4-FFF2-40B4-BE49-F238E27FC236}">
                <a16:creationId xmlns:a16="http://schemas.microsoft.com/office/drawing/2014/main" id="{524C478C-5416-4B2A-8ABF-09C1B688DF8B}"/>
              </a:ext>
            </a:extLst>
          </p:cNvPr>
          <p:cNvSpPr>
            <a:spLocks xmlns:a="http://schemas.openxmlformats.org/drawingml/2006/main" noGrp="1"/>
          </p:cNvSpPr>
          <p:nvPr/>
        </p:nvSpPr>
        <p:spPr>
          <a:xfrm xmlns:a="http://schemas.openxmlformats.org/drawingml/2006/main">
            <a:off x="9791700" y="2686050"/>
            <a:ext cx="1295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0">
                <a:solidFill>
                  <a:srgbClr val="526174"/>
                </a:solidFill>
              </a:defRPr>
            </a:pPr>
            <a:r>
              <a:rPr sz="1125" b="0">
                <a:solidFill>
                  <a:srgbClr val="526174"/>
                </a:solidFill>
              </a:rPr>
              <a:t>unresolved tail</a:t>
            </a:r>
          </a:p>
          <a:p xmlns:a="http://schemas.openxmlformats.org/drawingml/2006/main">
            <a:pPr algn="ctr">
              <a:defRPr sz="1125" b="0">
                <a:solidFill>
                  <a:srgbClr val="526174"/>
                </a:solidFill>
              </a:defRPr>
            </a:pPr>
            <a:r>
              <a:rPr sz="1125" b="0">
                <a:solidFill>
                  <a:srgbClr val="526174"/>
                </a:solidFill>
              </a:rPr>
              <a:t>only</a:t>
            </a:r>
          </a:p>
        </p:txBody>
      </p:sp>
      <p:sp>
        <p:nvSpPr>
          <p:cNvPr id="43" name="">
            <a:extLst xmlns:a="http://schemas.openxmlformats.org/drawingml/2006/main">
              <a:ext uri="{FF2B5EF4-FFF2-40B4-BE49-F238E27FC236}">
                <a16:creationId xmlns:a16="http://schemas.microsoft.com/office/drawing/2014/main" id="{0159645B-6657-4B1A-A0F5-40BDC5B93D5E}"/>
              </a:ext>
            </a:extLst>
          </p:cNvPr>
          <p:cNvSpPr>
            <a:spLocks xmlns:a="http://schemas.openxmlformats.org/drawingml/2006/main" noGrp="1"/>
          </p:cNvSpPr>
          <p:nvPr/>
        </p:nvSpPr>
        <p:spPr>
          <a:xfrm xmlns:a="http://schemas.openxmlformats.org/drawingml/2006/main">
            <a:off x="1562100" y="5219700"/>
            <a:ext cx="9067800" cy="590550"/>
          </a:xfrm>
          <a:prstGeom xmlns:a="http://schemas.openxmlformats.org/drawingml/2006/main" prst="roundRect">
            <a:avLst>
              <a:gd name="adj" fmla="val 22581"/>
            </a:avLst>
          </a:prstGeom>
          <a:solidFill xmlns:a="http://schemas.openxmlformats.org/drawingml/2006/main">
            <a:srgbClr val="FFFFFF"/>
          </a:solidFill>
          <a:ln xmlns:a="http://schemas.openxmlformats.org/drawingml/2006/main" w="9525">
            <a:solidFill>
              <a:srgbClr val="D8E0EA"/>
            </a:solidFill>
            <a:prstDash val="solid"/>
          </a:ln>
        </p:spPr>
      </p:sp>
      <p:sp>
        <p:nvSpPr>
          <p:cNvPr id="44" name="">
            <a:extLst xmlns:a="http://schemas.openxmlformats.org/drawingml/2006/main">
              <a:ext uri="{FF2B5EF4-FFF2-40B4-BE49-F238E27FC236}">
                <a16:creationId xmlns:a16="http://schemas.microsoft.com/office/drawing/2014/main" id="{94F8732B-B0D4-4E3A-AE4D-ADF7D0623F5A}"/>
              </a:ext>
            </a:extLst>
          </p:cNvPr>
          <p:cNvSpPr>
            <a:spLocks xmlns:a="http://schemas.openxmlformats.org/drawingml/2006/main" noGrp="1"/>
          </p:cNvSpPr>
          <p:nvPr/>
        </p:nvSpPr>
        <p:spPr>
          <a:xfrm xmlns:a="http://schemas.openxmlformats.org/drawingml/2006/main">
            <a:off x="1790700" y="5381625"/>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1F5A7A"/>
                </a:solidFill>
              </a:defRPr>
            </a:pPr>
            <a:r>
              <a:rPr sz="1350" b="1">
                <a:solidFill>
                  <a:srgbClr val="1F5A7A"/>
                </a:solidFill>
              </a:rPr>
              <a:t>Decision contract</a:t>
            </a:r>
          </a:p>
        </p:txBody>
      </p:sp>
      <p:sp>
        <p:nvSpPr>
          <p:cNvPr id="45" name="">
            <a:extLst xmlns:a="http://schemas.openxmlformats.org/drawingml/2006/main">
              <a:ext uri="{FF2B5EF4-FFF2-40B4-BE49-F238E27FC236}">
                <a16:creationId xmlns:a16="http://schemas.microsoft.com/office/drawing/2014/main" id="{58BDFDAA-99A8-46DD-8A6C-DD0D8C13C9FE}"/>
              </a:ext>
            </a:extLst>
          </p:cNvPr>
          <p:cNvSpPr>
            <a:spLocks xmlns:a="http://schemas.openxmlformats.org/drawingml/2006/main" noGrp="1"/>
          </p:cNvSpPr>
          <p:nvPr/>
        </p:nvSpPr>
        <p:spPr>
          <a:xfrm xmlns:a="http://schemas.openxmlformats.org/drawingml/2006/main">
            <a:off x="3562350" y="5381625"/>
            <a:ext cx="6743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0">
                <a:solidFill>
                  <a:srgbClr val="0F172A"/>
                </a:solidFill>
              </a:defRPr>
            </a:pPr>
            <a:r>
              <a:rPr sz="1350" b="0">
                <a:solidFill>
                  <a:srgbClr val="0F172A"/>
                </a:solidFill>
              </a:rPr>
              <a:t>branch(row) -&gt; {0, 1, null};  null means abstain, never a guessed label</a:t>
            </a:r>
          </a:p>
        </p:txBody>
      </p:sp>
      <p:sp>
        <p:nvSpPr>
          <p:cNvPr id="46" name="">
            <a:extLst xmlns:a="http://schemas.openxmlformats.org/drawingml/2006/main">
              <a:ext uri="{FF2B5EF4-FFF2-40B4-BE49-F238E27FC236}">
                <a16:creationId xmlns:a16="http://schemas.microsoft.com/office/drawing/2014/main" id="{3A7955E8-B3C6-4F3C-9384-F3F224B377C2}"/>
              </a:ext>
            </a:extLst>
          </p:cNvPr>
          <p:cNvSpPr>
            <a:spLocks xmlns:a="http://schemas.openxmlformats.org/drawingml/2006/main" noGrp="1"/>
          </p:cNvSpPr>
          <p:nvPr/>
        </p:nvSpPr>
        <p:spPr>
          <a:xfrm xmlns:a="http://schemas.openxmlformats.org/drawingml/2006/main">
            <a:off x="685800" y="6372225"/>
            <a:ext cx="1082040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47" name="source-4">
            <a:extLst xmlns:a="http://schemas.openxmlformats.org/drawingml/2006/main">
              <a:ext uri="{FF2B5EF4-FFF2-40B4-BE49-F238E27FC236}">
                <a16:creationId xmlns:a16="http://schemas.microsoft.com/office/drawing/2014/main" id="{573513A4-1FC0-4A71-93EA-0E6DB8641372}"/>
              </a:ext>
            </a:extLst>
          </p:cNvPr>
          <p:cNvSpPr>
            <a:spLocks xmlns:a="http://schemas.openxmlformats.org/drawingml/2006/main" noGrp="1"/>
          </p:cNvSpPr>
          <p:nvPr/>
        </p:nvSpPr>
        <p:spPr>
          <a:xfrm xmlns:a="http://schemas.openxmlformats.org/drawingml/2006/main">
            <a:off x="685800" y="6457950"/>
            <a:ext cx="9810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526174"/>
                </a:solidFill>
              </a:defRPr>
            </a:pPr>
            <a:r>
              <a:rPr sz="975" b="0">
                <a:solidFill>
                  <a:srgbClr val="526174"/>
                </a:solidFill>
              </a:rPr>
              <a:t>[3] Task decomposition  [7] v91 router implementation and trace schema</a:t>
            </a:r>
          </a:p>
        </p:txBody>
      </p:sp>
      <p:sp>
        <p:nvSpPr>
          <p:cNvPr id="48" name="page-4">
            <a:extLst xmlns:a="http://schemas.openxmlformats.org/drawingml/2006/main">
              <a:ext uri="{FF2B5EF4-FFF2-40B4-BE49-F238E27FC236}">
                <a16:creationId xmlns:a16="http://schemas.microsoft.com/office/drawing/2014/main" id="{48203718-D37D-41E5-AA56-8807ABC38A27}"/>
              </a:ext>
            </a:extLst>
          </p:cNvPr>
          <p:cNvSpPr>
            <a:spLocks xmlns:a="http://schemas.openxmlformats.org/drawingml/2006/main" noGrp="1"/>
          </p:cNvSpPr>
          <p:nvPr/>
        </p:nvSpPr>
        <p:spPr>
          <a:xfrm xmlns:a="http://schemas.openxmlformats.org/drawingml/2006/main">
            <a:off x="10810875" y="6457950"/>
            <a:ext cx="6953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1F5A7A"/>
                </a:solidFill>
              </a:defRPr>
            </a:pPr>
            <a:r>
              <a:rPr sz="975" b="1">
                <a:solidFill>
                  <a:srgbClr val="1F5A7A"/>
                </a:solidFill>
              </a:rPr>
              <a:t>04</a:t>
            </a:r>
          </a:p>
        </p:txBody>
      </p:sp>
    </p:spTree>
    <p:extLst>
      <p:ext uri="{BB962C8B-B14F-4D97-AF65-F5344CB8AC3E}">
        <p14:creationId xmlns:p14="http://schemas.microsoft.com/office/powerpoint/2010/main" val="1135050675"/>
      </p:ext>
    </p:extLst>
  </p:cSld>
</p:sld>
</file>

<file path=ppt/slides/slide5.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0" name="kicker-5">
            <a:extLst xmlns:a="http://schemas.openxmlformats.org/drawingml/2006/main">
              <a:ext uri="{FF2B5EF4-FFF2-40B4-BE49-F238E27FC236}">
                <a16:creationId xmlns:a16="http://schemas.microsoft.com/office/drawing/2014/main" id="{BE73E8E8-410E-425B-814A-249D7A57F768}"/>
              </a:ext>
            </a:extLst>
          </p:cNvPr>
          <p:cNvSpPr>
            <a:spLocks xmlns:a="http://schemas.openxmlformats.org/drawingml/2006/main" noGrp="1"/>
          </p:cNvSpPr>
          <p:nvPr/>
        </p:nvSpPr>
        <p:spPr>
          <a:xfrm xmlns:a="http://schemas.openxmlformats.org/drawingml/2006/main">
            <a:off x="685800" y="32385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F5A7A"/>
                </a:solidFill>
              </a:defRPr>
            </a:pPr>
            <a:r>
              <a:rPr sz="1050" b="1">
                <a:solidFill>
                  <a:srgbClr val="1F5A7A"/>
                </a:solidFill>
              </a:rPr>
              <a:t>TEAM HUNTRIX</a:t>
            </a:r>
          </a:p>
        </p:txBody>
      </p:sp>
      <p:sp>
        <p:nvSpPr>
          <p:cNvPr id="2" name="title-5">
            <a:extLst xmlns:a="http://schemas.openxmlformats.org/drawingml/2006/main">
              <a:ext uri="{FF2B5EF4-FFF2-40B4-BE49-F238E27FC236}">
                <a16:creationId xmlns:a16="http://schemas.microsoft.com/office/drawing/2014/main" id="{5AA26BE6-160C-44CB-9DB0-ACDE5ADD5C78}"/>
              </a:ext>
            </a:extLst>
          </p:cNvPr>
          <p:cNvSpPr>
            <a:spLocks xmlns:a="http://schemas.openxmlformats.org/drawingml/2006/main" noGrp="1"/>
          </p:cNvSpPr>
          <p:nvPr/>
        </p:nvSpPr>
        <p:spPr>
          <a:xfrm xmlns:a="http://schemas.openxmlformats.org/drawingml/2006/main">
            <a:off x="685800" y="590550"/>
            <a:ext cx="10820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F172A"/>
                </a:solidFill>
              </a:defRPr>
            </a:pPr>
            <a:r>
              <a:rPr sz="2700" b="1">
                <a:solidFill>
                  <a:srgbClr val="0F172A"/>
                </a:solidFill>
              </a:rPr>
              <a:t>Deterministic routing handled 93.7% of Phase 1</a:t>
            </a:r>
          </a:p>
        </p:txBody>
      </p:sp>
      <p:sp>
        <p:nvSpPr>
          <p:cNvPr id="3" name="">
            <a:extLst xmlns:a="http://schemas.openxmlformats.org/drawingml/2006/main">
              <a:ext uri="{FF2B5EF4-FFF2-40B4-BE49-F238E27FC236}">
                <a16:creationId xmlns:a16="http://schemas.microsoft.com/office/drawing/2014/main" id="{AEFDA789-12B7-439C-AA47-249FD8C3BEDE}"/>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4" name="">
            <a:extLst xmlns:a="http://schemas.openxmlformats.org/drawingml/2006/main">
              <a:ext uri="{FF2B5EF4-FFF2-40B4-BE49-F238E27FC236}">
                <a16:creationId xmlns:a16="http://schemas.microsoft.com/office/drawing/2014/main" id="{4AA80ECB-24B0-4189-A1E7-46AA55CBDB03}"/>
              </a:ext>
            </a:extLst>
          </p:cNvPr>
          <p:cNvSpPr>
            <a:spLocks xmlns:a="http://schemas.openxmlformats.org/drawingml/2006/main" noGrp="1"/>
          </p:cNvSpPr>
          <p:nvPr/>
        </p:nvSpPr>
        <p:spPr>
          <a:xfrm xmlns:a="http://schemas.openxmlformats.org/drawingml/2006/main">
            <a:off x="685800" y="1390650"/>
            <a:ext cx="809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526174"/>
                </a:solidFill>
              </a:defRPr>
            </a:pPr>
            <a:r>
              <a:rPr sz="1725" b="0">
                <a:solidFill>
                  <a:srgbClr val="526174"/>
                </a:solidFill>
              </a:rPr>
              <a:t>Only 158 of 2,516 rows reached the Qwen judge.</a:t>
            </a:r>
          </a:p>
        </p:txBody>
      </p:sp>
      <p:sp>
        <p:nvSpPr>
          <p:cNvPr id="5" name="">
            <a:extLst xmlns:a="http://schemas.openxmlformats.org/drawingml/2006/main">
              <a:ext uri="{FF2B5EF4-FFF2-40B4-BE49-F238E27FC236}">
                <a16:creationId xmlns:a16="http://schemas.microsoft.com/office/drawing/2014/main" id="{DBDAAC3D-2399-4509-9A69-67FB6C662451}"/>
              </a:ext>
            </a:extLst>
          </p:cNvPr>
          <p:cNvSpPr>
            <a:spLocks xmlns:a="http://schemas.openxmlformats.org/drawingml/2006/main" noGrp="1"/>
          </p:cNvSpPr>
          <p:nvPr/>
        </p:nvSpPr>
        <p:spPr>
          <a:xfrm xmlns:a="http://schemas.openxmlformats.org/drawingml/2006/main">
            <a:off x="990600" y="2524125"/>
            <a:ext cx="10210800" cy="838200"/>
          </a:xfrm>
          <a:prstGeom xmlns:a="http://schemas.openxmlformats.org/drawingml/2006/main" prst="roundRect">
            <a:avLst>
              <a:gd name="adj" fmla="val 25000"/>
            </a:avLst>
          </a:prstGeom>
          <a:solidFill xmlns:a="http://schemas.openxmlformats.org/drawingml/2006/main">
            <a:srgbClr val="E7EEF4"/>
          </a:solidFill>
          <a:ln xmlns:a="http://schemas.openxmlformats.org/drawingml/2006/main" w="0">
            <a:solidFill>
              <a:srgbClr val="D8E0EA"/>
            </a:solidFill>
            <a:prstDash val="solid"/>
          </a:ln>
        </p:spPr>
      </p:sp>
      <p:sp>
        <p:nvSpPr>
          <p:cNvPr id="6" name="">
            <a:extLst xmlns:a="http://schemas.openxmlformats.org/drawingml/2006/main">
              <a:ext uri="{FF2B5EF4-FFF2-40B4-BE49-F238E27FC236}">
                <a16:creationId xmlns:a16="http://schemas.microsoft.com/office/drawing/2014/main" id="{01F837E7-E24B-4FB1-BBFF-F95C922FC13E}"/>
              </a:ext>
            </a:extLst>
          </p:cNvPr>
          <p:cNvSpPr>
            <a:spLocks xmlns:a="http://schemas.openxmlformats.org/drawingml/2006/main" noGrp="1"/>
          </p:cNvSpPr>
          <p:nvPr/>
        </p:nvSpPr>
        <p:spPr>
          <a:xfrm xmlns:a="http://schemas.openxmlformats.org/drawingml/2006/main">
            <a:off x="990600" y="2524125"/>
            <a:ext cx="9572625" cy="838200"/>
          </a:xfrm>
          <a:prstGeom xmlns:a="http://schemas.openxmlformats.org/drawingml/2006/main" prst="roundRect">
            <a:avLst>
              <a:gd name="adj" fmla="val 25000"/>
            </a:avLst>
          </a:prstGeom>
          <a:solidFill xmlns:a="http://schemas.openxmlformats.org/drawingml/2006/main">
            <a:srgbClr val="2A8C82"/>
          </a:solidFill>
          <a:ln xmlns:a="http://schemas.openxmlformats.org/drawingml/2006/main" w="0">
            <a:solidFill>
              <a:srgbClr val="2A8C82"/>
            </a:solidFill>
            <a:prstDash val="solid"/>
          </a:ln>
        </p:spPr>
      </p:sp>
      <p:sp>
        <p:nvSpPr>
          <p:cNvPr id="7" name="">
            <a:extLst xmlns:a="http://schemas.openxmlformats.org/drawingml/2006/main">
              <a:ext uri="{FF2B5EF4-FFF2-40B4-BE49-F238E27FC236}">
                <a16:creationId xmlns:a16="http://schemas.microsoft.com/office/drawing/2014/main" id="{BACAFA22-96C2-46F9-AA94-13AA537C5157}"/>
              </a:ext>
            </a:extLst>
          </p:cNvPr>
          <p:cNvSpPr>
            <a:spLocks xmlns:a="http://schemas.openxmlformats.org/drawingml/2006/main" noGrp="1"/>
          </p:cNvSpPr>
          <p:nvPr/>
        </p:nvSpPr>
        <p:spPr>
          <a:xfrm xmlns:a="http://schemas.openxmlformats.org/drawingml/2006/main">
            <a:off x="10372725" y="2524125"/>
            <a:ext cx="190500" cy="838200"/>
          </a:xfrm>
          <a:prstGeom xmlns:a="http://schemas.openxmlformats.org/drawingml/2006/main" prst="rect">
            <a:avLst/>
          </a:prstGeom>
          <a:solidFill xmlns:a="http://schemas.openxmlformats.org/drawingml/2006/main">
            <a:srgbClr val="2A8C82"/>
          </a:solidFill>
          <a:ln xmlns:a="http://schemas.openxmlformats.org/drawingml/2006/main" w="0">
            <a:solidFill>
              <a:srgbClr val="2A8C82"/>
            </a:solidFill>
            <a:prstDash val="solid"/>
          </a:ln>
        </p:spPr>
      </p:sp>
      <p:sp>
        <p:nvSpPr>
          <p:cNvPr id="8" name="">
            <a:extLst xmlns:a="http://schemas.openxmlformats.org/drawingml/2006/main">
              <a:ext uri="{FF2B5EF4-FFF2-40B4-BE49-F238E27FC236}">
                <a16:creationId xmlns:a16="http://schemas.microsoft.com/office/drawing/2014/main" id="{BC03C491-0726-4E23-AE61-2A33D24FAFDC}"/>
              </a:ext>
            </a:extLst>
          </p:cNvPr>
          <p:cNvSpPr>
            <a:spLocks xmlns:a="http://schemas.openxmlformats.org/drawingml/2006/main" noGrp="1"/>
          </p:cNvSpPr>
          <p:nvPr/>
        </p:nvSpPr>
        <p:spPr>
          <a:xfrm xmlns:a="http://schemas.openxmlformats.org/drawingml/2006/main">
            <a:off x="1314450" y="2714625"/>
            <a:ext cx="4095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a:solidFill>
                  <a:srgbClr val="FFFFFF"/>
                </a:solidFill>
              </a:defRPr>
            </a:pPr>
            <a:r>
              <a:rPr sz="2100" b="1">
                <a:solidFill>
                  <a:srgbClr val="FFFFFF"/>
                </a:solidFill>
              </a:rPr>
              <a:t>2,358 deterministic</a:t>
            </a:r>
          </a:p>
        </p:txBody>
      </p:sp>
      <p:sp>
        <p:nvSpPr>
          <p:cNvPr id="9" name="">
            <a:extLst xmlns:a="http://schemas.openxmlformats.org/drawingml/2006/main">
              <a:ext uri="{FF2B5EF4-FFF2-40B4-BE49-F238E27FC236}">
                <a16:creationId xmlns:a16="http://schemas.microsoft.com/office/drawing/2014/main" id="{8E565574-B5D8-4C52-A3DC-CD66259AC3A2}"/>
              </a:ext>
            </a:extLst>
          </p:cNvPr>
          <p:cNvSpPr>
            <a:spLocks xmlns:a="http://schemas.openxmlformats.org/drawingml/2006/main" noGrp="1"/>
          </p:cNvSpPr>
          <p:nvPr/>
        </p:nvSpPr>
        <p:spPr>
          <a:xfrm xmlns:a="http://schemas.openxmlformats.org/drawingml/2006/main">
            <a:off x="10572750" y="2724150"/>
            <a:ext cx="552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0F172A"/>
                </a:solidFill>
              </a:defRPr>
            </a:pPr>
            <a:r>
              <a:rPr sz="1650" b="1">
                <a:solidFill>
                  <a:srgbClr val="0F172A"/>
                </a:solidFill>
              </a:rPr>
              <a:t>158</a:t>
            </a:r>
          </a:p>
        </p:txBody>
      </p:sp>
      <p:sp>
        <p:nvSpPr>
          <p:cNvPr id="10" name="">
            <a:extLst xmlns:a="http://schemas.openxmlformats.org/drawingml/2006/main">
              <a:ext uri="{FF2B5EF4-FFF2-40B4-BE49-F238E27FC236}">
                <a16:creationId xmlns:a16="http://schemas.microsoft.com/office/drawing/2014/main" id="{D7A9C711-B3C1-4CCC-81B4-04DA0A8DB82B}"/>
              </a:ext>
            </a:extLst>
          </p:cNvPr>
          <p:cNvSpPr>
            <a:spLocks xmlns:a="http://schemas.openxmlformats.org/drawingml/2006/main" noGrp="1"/>
          </p:cNvSpPr>
          <p:nvPr/>
        </p:nvSpPr>
        <p:spPr>
          <a:xfrm xmlns:a="http://schemas.openxmlformats.org/drawingml/2006/main">
            <a:off x="1428750" y="3905250"/>
            <a:ext cx="2857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600" b="1">
                <a:solidFill>
                  <a:srgbClr val="2A8C82"/>
                </a:solidFill>
              </a:defRPr>
            </a:pPr>
            <a:r>
              <a:rPr sz="3600" b="1">
                <a:solidFill>
                  <a:srgbClr val="2A8C82"/>
                </a:solidFill>
              </a:rPr>
              <a:t>93.72%</a:t>
            </a:r>
          </a:p>
        </p:txBody>
      </p:sp>
      <p:sp>
        <p:nvSpPr>
          <p:cNvPr id="11" name="">
            <a:extLst xmlns:a="http://schemas.openxmlformats.org/drawingml/2006/main">
              <a:ext uri="{FF2B5EF4-FFF2-40B4-BE49-F238E27FC236}">
                <a16:creationId xmlns:a16="http://schemas.microsoft.com/office/drawing/2014/main" id="{A6DE9757-4FE1-4A51-B679-B5332C2F93DA}"/>
              </a:ext>
            </a:extLst>
          </p:cNvPr>
          <p:cNvSpPr>
            <a:spLocks xmlns:a="http://schemas.openxmlformats.org/drawingml/2006/main" noGrp="1"/>
          </p:cNvSpPr>
          <p:nvPr/>
        </p:nvSpPr>
        <p:spPr>
          <a:xfrm xmlns:a="http://schemas.openxmlformats.org/drawingml/2006/main">
            <a:off x="1428750" y="4591050"/>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526174"/>
                </a:solidFill>
              </a:defRPr>
            </a:pPr>
            <a:r>
              <a:rPr sz="1350" b="0">
                <a:solidFill>
                  <a:srgbClr val="526174"/>
                </a:solidFill>
              </a:rPr>
              <a:t>resolved before LLM inference</a:t>
            </a:r>
          </a:p>
        </p:txBody>
      </p:sp>
      <p:sp>
        <p:nvSpPr>
          <p:cNvPr id="12" name="">
            <a:extLst xmlns:a="http://schemas.openxmlformats.org/drawingml/2006/main">
              <a:ext uri="{FF2B5EF4-FFF2-40B4-BE49-F238E27FC236}">
                <a16:creationId xmlns:a16="http://schemas.microsoft.com/office/drawing/2014/main" id="{79D79DD0-901A-489F-8429-C52C91E3A993}"/>
              </a:ext>
            </a:extLst>
          </p:cNvPr>
          <p:cNvSpPr>
            <a:spLocks xmlns:a="http://schemas.openxmlformats.org/drawingml/2006/main" noGrp="1"/>
          </p:cNvSpPr>
          <p:nvPr/>
        </p:nvSpPr>
        <p:spPr>
          <a:xfrm xmlns:a="http://schemas.openxmlformats.org/drawingml/2006/main">
            <a:off x="4810125" y="3905250"/>
            <a:ext cx="2857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600" b="1">
                <a:solidFill>
                  <a:srgbClr val="D59B32"/>
                </a:solidFill>
              </a:defRPr>
            </a:pPr>
            <a:r>
              <a:rPr sz="3600" b="1">
                <a:solidFill>
                  <a:srgbClr val="D59B32"/>
                </a:solidFill>
              </a:rPr>
              <a:t>6.28%</a:t>
            </a:r>
          </a:p>
        </p:txBody>
      </p:sp>
      <p:sp>
        <p:nvSpPr>
          <p:cNvPr id="13" name="">
            <a:extLst xmlns:a="http://schemas.openxmlformats.org/drawingml/2006/main">
              <a:ext uri="{FF2B5EF4-FFF2-40B4-BE49-F238E27FC236}">
                <a16:creationId xmlns:a16="http://schemas.microsoft.com/office/drawing/2014/main" id="{EF521B8E-7DC8-4A1A-B4F2-8CC98408D28C}"/>
              </a:ext>
            </a:extLst>
          </p:cNvPr>
          <p:cNvSpPr>
            <a:spLocks xmlns:a="http://schemas.openxmlformats.org/drawingml/2006/main" noGrp="1"/>
          </p:cNvSpPr>
          <p:nvPr/>
        </p:nvSpPr>
        <p:spPr>
          <a:xfrm xmlns:a="http://schemas.openxmlformats.org/drawingml/2006/main">
            <a:off x="4810125" y="4591050"/>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526174"/>
                </a:solidFill>
              </a:defRPr>
            </a:pPr>
            <a:r>
              <a:rPr sz="1350" b="0">
                <a:solidFill>
                  <a:srgbClr val="526174"/>
                </a:solidFill>
              </a:rPr>
              <a:t>unique rows sent to the judge</a:t>
            </a:r>
          </a:p>
        </p:txBody>
      </p:sp>
      <p:sp>
        <p:nvSpPr>
          <p:cNvPr id="14" name="">
            <a:extLst xmlns:a="http://schemas.openxmlformats.org/drawingml/2006/main">
              <a:ext uri="{FF2B5EF4-FFF2-40B4-BE49-F238E27FC236}">
                <a16:creationId xmlns:a16="http://schemas.microsoft.com/office/drawing/2014/main" id="{7B3051F4-9C47-451A-82DF-399F17EFF869}"/>
              </a:ext>
            </a:extLst>
          </p:cNvPr>
          <p:cNvSpPr>
            <a:spLocks xmlns:a="http://schemas.openxmlformats.org/drawingml/2006/main" noGrp="1"/>
          </p:cNvSpPr>
          <p:nvPr/>
        </p:nvSpPr>
        <p:spPr>
          <a:xfrm xmlns:a="http://schemas.openxmlformats.org/drawingml/2006/main">
            <a:off x="8191500" y="3905250"/>
            <a:ext cx="2857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600" b="1">
                <a:solidFill>
                  <a:srgbClr val="1F5A7A"/>
                </a:solidFill>
              </a:defRPr>
            </a:pPr>
            <a:r>
              <a:rPr sz="3600" b="1">
                <a:solidFill>
                  <a:srgbClr val="1F5A7A"/>
                </a:solidFill>
              </a:rPr>
              <a:t>74.5%</a:t>
            </a:r>
          </a:p>
        </p:txBody>
      </p:sp>
      <p:sp>
        <p:nvSpPr>
          <p:cNvPr id="15" name="">
            <a:extLst xmlns:a="http://schemas.openxmlformats.org/drawingml/2006/main">
              <a:ext uri="{FF2B5EF4-FFF2-40B4-BE49-F238E27FC236}">
                <a16:creationId xmlns:a16="http://schemas.microsoft.com/office/drawing/2014/main" id="{5C26D076-BE52-4C3F-A24E-F6DEFA50104F}"/>
              </a:ext>
            </a:extLst>
          </p:cNvPr>
          <p:cNvSpPr>
            <a:spLocks xmlns:a="http://schemas.openxmlformats.org/drawingml/2006/main" noGrp="1"/>
          </p:cNvSpPr>
          <p:nvPr/>
        </p:nvSpPr>
        <p:spPr>
          <a:xfrm xmlns:a="http://schemas.openxmlformats.org/drawingml/2006/main">
            <a:off x="8191500" y="4591050"/>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526174"/>
                </a:solidFill>
              </a:defRPr>
            </a:pPr>
            <a:r>
              <a:rPr sz="1350" b="0">
                <a:solidFill>
                  <a:srgbClr val="526174"/>
                </a:solidFill>
              </a:rPr>
              <a:t>judge-queue reduction from 620</a:t>
            </a:r>
          </a:p>
        </p:txBody>
      </p:sp>
      <p:sp>
        <p:nvSpPr>
          <p:cNvPr id="16" name="">
            <a:extLst xmlns:a="http://schemas.openxmlformats.org/drawingml/2006/main">
              <a:ext uri="{FF2B5EF4-FFF2-40B4-BE49-F238E27FC236}">
                <a16:creationId xmlns:a16="http://schemas.microsoft.com/office/drawing/2014/main" id="{60FC8123-B015-4244-9960-A1A6EF93C532}"/>
              </a:ext>
            </a:extLst>
          </p:cNvPr>
          <p:cNvSpPr>
            <a:spLocks xmlns:a="http://schemas.openxmlformats.org/drawingml/2006/main" noGrp="1"/>
          </p:cNvSpPr>
          <p:nvPr/>
        </p:nvSpPr>
        <p:spPr>
          <a:xfrm xmlns:a="http://schemas.openxmlformats.org/drawingml/2006/main">
            <a:off x="2000250" y="5429250"/>
            <a:ext cx="8191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0">
                <a:solidFill>
                  <a:srgbClr val="526174"/>
                </a:solidFill>
              </a:defRPr>
            </a:pPr>
            <a:r>
              <a:rPr sz="1350" b="0">
                <a:solidFill>
                  <a:srgbClr val="526174"/>
                </a:solidFill>
              </a:rPr>
              <a:t>These are unique rows. Some no-context rows used more than one judge view.</a:t>
            </a:r>
          </a:p>
        </p:txBody>
      </p:sp>
      <p:sp>
        <p:nvSpPr>
          <p:cNvPr id="17" name="">
            <a:extLst xmlns:a="http://schemas.openxmlformats.org/drawingml/2006/main">
              <a:ext uri="{FF2B5EF4-FFF2-40B4-BE49-F238E27FC236}">
                <a16:creationId xmlns:a16="http://schemas.microsoft.com/office/drawing/2014/main" id="{A0841D17-AAF0-4059-BB80-73FCF2A7F207}"/>
              </a:ext>
            </a:extLst>
          </p:cNvPr>
          <p:cNvSpPr>
            <a:spLocks xmlns:a="http://schemas.openxmlformats.org/drawingml/2006/main" noGrp="1"/>
          </p:cNvSpPr>
          <p:nvPr/>
        </p:nvSpPr>
        <p:spPr>
          <a:xfrm xmlns:a="http://schemas.openxmlformats.org/drawingml/2006/main">
            <a:off x="685800" y="6372225"/>
            <a:ext cx="1082040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18" name="source-5">
            <a:extLst xmlns:a="http://schemas.openxmlformats.org/drawingml/2006/main">
              <a:ext uri="{FF2B5EF4-FFF2-40B4-BE49-F238E27FC236}">
                <a16:creationId xmlns:a16="http://schemas.microsoft.com/office/drawing/2014/main" id="{97C0AFB5-3395-47F3-8741-2C631149725E}"/>
              </a:ext>
            </a:extLst>
          </p:cNvPr>
          <p:cNvSpPr>
            <a:spLocks xmlns:a="http://schemas.openxmlformats.org/drawingml/2006/main" noGrp="1"/>
          </p:cNvSpPr>
          <p:nvPr/>
        </p:nvSpPr>
        <p:spPr>
          <a:xfrm xmlns:a="http://schemas.openxmlformats.org/drawingml/2006/main">
            <a:off x="685800" y="6457950"/>
            <a:ext cx="9810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526174"/>
                </a:solidFill>
              </a:defRPr>
            </a:pPr>
            <a:r>
              <a:rPr sz="975" b="0">
                <a:solidFill>
                  <a:srgbClr val="526174"/>
                </a:solidFill>
              </a:rPr>
              <a:t>[7] v91 Phase 1 trace: 2,358 resolved and 158 unresolved rows</a:t>
            </a:r>
          </a:p>
        </p:txBody>
      </p:sp>
      <p:sp>
        <p:nvSpPr>
          <p:cNvPr id="19" name="page-5">
            <a:extLst xmlns:a="http://schemas.openxmlformats.org/drawingml/2006/main">
              <a:ext uri="{FF2B5EF4-FFF2-40B4-BE49-F238E27FC236}">
                <a16:creationId xmlns:a16="http://schemas.microsoft.com/office/drawing/2014/main" id="{5A851D8F-3E5D-4E79-85E5-2C78DDEDDEF7}"/>
              </a:ext>
            </a:extLst>
          </p:cNvPr>
          <p:cNvSpPr>
            <a:spLocks xmlns:a="http://schemas.openxmlformats.org/drawingml/2006/main" noGrp="1"/>
          </p:cNvSpPr>
          <p:nvPr/>
        </p:nvSpPr>
        <p:spPr>
          <a:xfrm xmlns:a="http://schemas.openxmlformats.org/drawingml/2006/main">
            <a:off x="10810875" y="6457950"/>
            <a:ext cx="6953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1F5A7A"/>
                </a:solidFill>
              </a:defRPr>
            </a:pPr>
            <a:r>
              <a:rPr sz="975" b="1">
                <a:solidFill>
                  <a:srgbClr val="1F5A7A"/>
                </a:solidFill>
              </a:rPr>
              <a:t>05</a:t>
            </a:r>
          </a:p>
        </p:txBody>
      </p:sp>
    </p:spTree>
    <p:extLst>
      <p:ext uri="{BB962C8B-B14F-4D97-AF65-F5344CB8AC3E}">
        <p14:creationId xmlns:p14="http://schemas.microsoft.com/office/powerpoint/2010/main" val="441877730"/>
      </p:ext>
    </p:extLst>
  </p:cSld>
</p:sld>
</file>

<file path=ppt/slides/slide6.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9" name="kicker-6">
            <a:extLst xmlns:a="http://schemas.openxmlformats.org/drawingml/2006/main">
              <a:ext uri="{FF2B5EF4-FFF2-40B4-BE49-F238E27FC236}">
                <a16:creationId xmlns:a16="http://schemas.microsoft.com/office/drawing/2014/main" id="{EFD978B0-F994-4C6B-8221-8EB84D820DA8}"/>
              </a:ext>
            </a:extLst>
          </p:cNvPr>
          <p:cNvSpPr>
            <a:spLocks xmlns:a="http://schemas.openxmlformats.org/drawingml/2006/main" noGrp="1"/>
          </p:cNvSpPr>
          <p:nvPr/>
        </p:nvSpPr>
        <p:spPr>
          <a:xfrm xmlns:a="http://schemas.openxmlformats.org/drawingml/2006/main">
            <a:off x="685800" y="32385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F5A7A"/>
                </a:solidFill>
              </a:defRPr>
            </a:pPr>
            <a:r>
              <a:rPr sz="1050" b="1">
                <a:solidFill>
                  <a:srgbClr val="1F5A7A"/>
                </a:solidFill>
              </a:rPr>
              <a:t>TEAM HUNTRIX</a:t>
            </a:r>
          </a:p>
        </p:txBody>
      </p:sp>
      <p:sp>
        <p:nvSpPr>
          <p:cNvPr id="2" name="title-6">
            <a:extLst xmlns:a="http://schemas.openxmlformats.org/drawingml/2006/main">
              <a:ext uri="{FF2B5EF4-FFF2-40B4-BE49-F238E27FC236}">
                <a16:creationId xmlns:a16="http://schemas.microsoft.com/office/drawing/2014/main" id="{BB12480C-1DE2-4F81-AB80-AB1CB344FE8F}"/>
              </a:ext>
            </a:extLst>
          </p:cNvPr>
          <p:cNvSpPr>
            <a:spLocks xmlns:a="http://schemas.openxmlformats.org/drawingml/2006/main" noGrp="1"/>
          </p:cNvSpPr>
          <p:nvPr/>
        </p:nvSpPr>
        <p:spPr>
          <a:xfrm xmlns:a="http://schemas.openxmlformats.org/drawingml/2006/main">
            <a:off x="685800" y="590550"/>
            <a:ext cx="10820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F172A"/>
                </a:solidFill>
              </a:defRPr>
            </a:pPr>
            <a:r>
              <a:rPr sz="2700" b="1">
                <a:solidFill>
                  <a:srgbClr val="0F172A"/>
                </a:solidFill>
              </a:rPr>
              <a:t>Evidence could decide only when the relation matched</a:t>
            </a:r>
          </a:p>
        </p:txBody>
      </p:sp>
      <p:sp>
        <p:nvSpPr>
          <p:cNvPr id="3" name="">
            <a:extLst xmlns:a="http://schemas.openxmlformats.org/drawingml/2006/main">
              <a:ext uri="{FF2B5EF4-FFF2-40B4-BE49-F238E27FC236}">
                <a16:creationId xmlns:a16="http://schemas.microsoft.com/office/drawing/2014/main" id="{87636E52-F5C1-46EB-AD96-37D9F20C81D9}"/>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4" name="">
            <a:extLst xmlns:a="http://schemas.openxmlformats.org/drawingml/2006/main">
              <a:ext uri="{FF2B5EF4-FFF2-40B4-BE49-F238E27FC236}">
                <a16:creationId xmlns:a16="http://schemas.microsoft.com/office/drawing/2014/main" id="{035DBFC4-10DB-4CE2-9CDC-3481DF5022B3}"/>
              </a:ext>
            </a:extLst>
          </p:cNvPr>
          <p:cNvSpPr>
            <a:spLocks xmlns:a="http://schemas.openxmlformats.org/drawingml/2006/main" noGrp="1"/>
          </p:cNvSpPr>
          <p:nvPr/>
        </p:nvSpPr>
        <p:spPr>
          <a:xfrm xmlns:a="http://schemas.openxmlformats.org/drawingml/2006/main">
            <a:off x="685800" y="1390650"/>
            <a:ext cx="857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526174"/>
                </a:solidFill>
              </a:defRPr>
            </a:pPr>
            <a:r>
              <a:rPr sz="1650" b="0">
                <a:solidFill>
                  <a:srgbClr val="526174"/>
                </a:solidFill>
              </a:rPr>
              <a:t>Similarity proposed candidates. It never overruled stronger evidence.</a:t>
            </a:r>
          </a:p>
        </p:txBody>
      </p:sp>
      <p:sp>
        <p:nvSpPr>
          <p:cNvPr id="5" name="">
            <a:extLst xmlns:a="http://schemas.openxmlformats.org/drawingml/2006/main">
              <a:ext uri="{FF2B5EF4-FFF2-40B4-BE49-F238E27FC236}">
                <a16:creationId xmlns:a16="http://schemas.microsoft.com/office/drawing/2014/main" id="{78E3FC6C-555A-4574-8120-2DD2F5CF3FAA}"/>
              </a:ext>
            </a:extLst>
          </p:cNvPr>
          <p:cNvSpPr>
            <a:spLocks xmlns:a="http://schemas.openxmlformats.org/drawingml/2006/main" noGrp="1"/>
          </p:cNvSpPr>
          <p:nvPr/>
        </p:nvSpPr>
        <p:spPr>
          <a:xfrm xmlns:a="http://schemas.openxmlformats.org/drawingml/2006/main">
            <a:off x="1104900" y="2647950"/>
            <a:ext cx="988695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6" name="">
            <a:extLst xmlns:a="http://schemas.openxmlformats.org/drawingml/2006/main">
              <a:ext uri="{FF2B5EF4-FFF2-40B4-BE49-F238E27FC236}">
                <a16:creationId xmlns:a16="http://schemas.microsoft.com/office/drawing/2014/main" id="{DC231F37-7117-4FCD-BB6D-EE310C9ABE37}"/>
              </a:ext>
            </a:extLst>
          </p:cNvPr>
          <p:cNvSpPr>
            <a:spLocks xmlns:a="http://schemas.openxmlformats.org/drawingml/2006/main" noGrp="1"/>
          </p:cNvSpPr>
          <p:nvPr/>
        </p:nvSpPr>
        <p:spPr>
          <a:xfrm xmlns:a="http://schemas.openxmlformats.org/drawingml/2006/main">
            <a:off x="1104900" y="21336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B5483A"/>
                </a:solidFill>
              </a:defRPr>
            </a:pPr>
            <a:r>
              <a:rPr sz="1500" b="1">
                <a:solidFill>
                  <a:srgbClr val="B5483A"/>
                </a:solidFill>
              </a:rPr>
              <a:t>1</a:t>
            </a:r>
          </a:p>
        </p:txBody>
      </p:sp>
      <p:sp>
        <p:nvSpPr>
          <p:cNvPr id="7" name="">
            <a:extLst xmlns:a="http://schemas.openxmlformats.org/drawingml/2006/main">
              <a:ext uri="{FF2B5EF4-FFF2-40B4-BE49-F238E27FC236}">
                <a16:creationId xmlns:a16="http://schemas.microsoft.com/office/drawing/2014/main" id="{FA49E521-E21E-485F-B055-83CBA6D9E596}"/>
              </a:ext>
            </a:extLst>
          </p:cNvPr>
          <p:cNvSpPr>
            <a:spLocks xmlns:a="http://schemas.openxmlformats.org/drawingml/2006/main" noGrp="1"/>
          </p:cNvSpPr>
          <p:nvPr/>
        </p:nvSpPr>
        <p:spPr>
          <a:xfrm xmlns:a="http://schemas.openxmlformats.org/drawingml/2006/main">
            <a:off x="1676400" y="2105025"/>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F172A"/>
                </a:solidFill>
              </a:defRPr>
            </a:pPr>
            <a:r>
              <a:rPr sz="1650" b="1">
                <a:solidFill>
                  <a:srgbClr val="0F172A"/>
                </a:solidFill>
              </a:rPr>
              <a:t>Context contradiction</a:t>
            </a:r>
          </a:p>
        </p:txBody>
      </p:sp>
      <p:sp>
        <p:nvSpPr>
          <p:cNvPr id="8" name="">
            <a:extLst xmlns:a="http://schemas.openxmlformats.org/drawingml/2006/main">
              <a:ext uri="{FF2B5EF4-FFF2-40B4-BE49-F238E27FC236}">
                <a16:creationId xmlns:a16="http://schemas.microsoft.com/office/drawing/2014/main" id="{36737BDD-F582-4673-A6E9-5CCC372F5518}"/>
              </a:ext>
            </a:extLst>
          </p:cNvPr>
          <p:cNvSpPr>
            <a:spLocks xmlns:a="http://schemas.openxmlformats.org/drawingml/2006/main" noGrp="1"/>
          </p:cNvSpPr>
          <p:nvPr/>
        </p:nvSpPr>
        <p:spPr>
          <a:xfrm xmlns:a="http://schemas.openxmlformats.org/drawingml/2006/main">
            <a:off x="4762500" y="2114550"/>
            <a:ext cx="6229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526174"/>
                </a:solidFill>
              </a:defRPr>
            </a:pPr>
            <a:r>
              <a:rPr sz="1350" b="0">
                <a:solidFill>
                  <a:srgbClr val="526174"/>
                </a:solidFill>
              </a:rPr>
              <a:t>same clause, prompt anchors, no competing claim</a:t>
            </a:r>
          </a:p>
        </p:txBody>
      </p:sp>
      <p:sp>
        <p:nvSpPr>
          <p:cNvPr id="9" name="">
            <a:extLst xmlns:a="http://schemas.openxmlformats.org/drawingml/2006/main">
              <a:ext uri="{FF2B5EF4-FFF2-40B4-BE49-F238E27FC236}">
                <a16:creationId xmlns:a16="http://schemas.microsoft.com/office/drawing/2014/main" id="{C4737BBA-52B8-430F-A452-3E231E8E8C88}"/>
              </a:ext>
            </a:extLst>
          </p:cNvPr>
          <p:cNvSpPr>
            <a:spLocks xmlns:a="http://schemas.openxmlformats.org/drawingml/2006/main" noGrp="1"/>
          </p:cNvSpPr>
          <p:nvPr/>
        </p:nvSpPr>
        <p:spPr>
          <a:xfrm xmlns:a="http://schemas.openxmlformats.org/drawingml/2006/main">
            <a:off x="1104900" y="3390900"/>
            <a:ext cx="988695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10" name="">
            <a:extLst xmlns:a="http://schemas.openxmlformats.org/drawingml/2006/main">
              <a:ext uri="{FF2B5EF4-FFF2-40B4-BE49-F238E27FC236}">
                <a16:creationId xmlns:a16="http://schemas.microsoft.com/office/drawing/2014/main" id="{5B62D7B0-55F9-4D52-AF6F-2C014E0C1CDA}"/>
              </a:ext>
            </a:extLst>
          </p:cNvPr>
          <p:cNvSpPr>
            <a:spLocks xmlns:a="http://schemas.openxmlformats.org/drawingml/2006/main" noGrp="1"/>
          </p:cNvSpPr>
          <p:nvPr/>
        </p:nvSpPr>
        <p:spPr>
          <a:xfrm xmlns:a="http://schemas.openxmlformats.org/drawingml/2006/main">
            <a:off x="1104900" y="287655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1F5A7A"/>
                </a:solidFill>
              </a:defRPr>
            </a:pPr>
            <a:r>
              <a:rPr sz="1500" b="1">
                <a:solidFill>
                  <a:srgbClr val="1F5A7A"/>
                </a:solidFill>
              </a:rPr>
              <a:t>2</a:t>
            </a:r>
          </a:p>
        </p:txBody>
      </p:sp>
      <p:sp>
        <p:nvSpPr>
          <p:cNvPr id="11" name="">
            <a:extLst xmlns:a="http://schemas.openxmlformats.org/drawingml/2006/main">
              <a:ext uri="{FF2B5EF4-FFF2-40B4-BE49-F238E27FC236}">
                <a16:creationId xmlns:a16="http://schemas.microsoft.com/office/drawing/2014/main" id="{B427D36C-06AC-47AB-B3C7-F32D9C80EBB7}"/>
              </a:ext>
            </a:extLst>
          </p:cNvPr>
          <p:cNvSpPr>
            <a:spLocks xmlns:a="http://schemas.openxmlformats.org/drawingml/2006/main" noGrp="1"/>
          </p:cNvSpPr>
          <p:nvPr/>
        </p:nvSpPr>
        <p:spPr>
          <a:xfrm xmlns:a="http://schemas.openxmlformats.org/drawingml/2006/main">
            <a:off x="1676400" y="2847975"/>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F172A"/>
                </a:solidFill>
              </a:defRPr>
            </a:pPr>
            <a:r>
              <a:rPr sz="1650" b="1">
                <a:solidFill>
                  <a:srgbClr val="0F172A"/>
                </a:solidFill>
              </a:rPr>
              <a:t>Exact source lineage</a:t>
            </a:r>
          </a:p>
        </p:txBody>
      </p:sp>
      <p:sp>
        <p:nvSpPr>
          <p:cNvPr id="12" name="">
            <a:extLst xmlns:a="http://schemas.openxmlformats.org/drawingml/2006/main">
              <a:ext uri="{FF2B5EF4-FFF2-40B4-BE49-F238E27FC236}">
                <a16:creationId xmlns:a16="http://schemas.microsoft.com/office/drawing/2014/main" id="{843EC429-31D8-42FD-A50A-7F3B1664A67C}"/>
              </a:ext>
            </a:extLst>
          </p:cNvPr>
          <p:cNvSpPr>
            <a:spLocks xmlns:a="http://schemas.openxmlformats.org/drawingml/2006/main" noGrp="1"/>
          </p:cNvSpPr>
          <p:nvPr/>
        </p:nvSpPr>
        <p:spPr>
          <a:xfrm xmlns:a="http://schemas.openxmlformats.org/drawingml/2006/main">
            <a:off x="4762500" y="2857500"/>
            <a:ext cx="6229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526174"/>
                </a:solidFill>
              </a:defRPr>
            </a:pPr>
            <a:r>
              <a:rPr sz="1350" b="0">
                <a:solidFill>
                  <a:srgbClr val="526174"/>
                </a:solidFill>
              </a:rPr>
              <a:t>prompt, response, and applicable context agree</a:t>
            </a:r>
          </a:p>
        </p:txBody>
      </p:sp>
      <p:sp>
        <p:nvSpPr>
          <p:cNvPr id="13" name="">
            <a:extLst xmlns:a="http://schemas.openxmlformats.org/drawingml/2006/main">
              <a:ext uri="{FF2B5EF4-FFF2-40B4-BE49-F238E27FC236}">
                <a16:creationId xmlns:a16="http://schemas.microsoft.com/office/drawing/2014/main" id="{BC2CA0AA-C69B-41E2-A31A-408103E57DB5}"/>
              </a:ext>
            </a:extLst>
          </p:cNvPr>
          <p:cNvSpPr>
            <a:spLocks xmlns:a="http://schemas.openxmlformats.org/drawingml/2006/main" noGrp="1"/>
          </p:cNvSpPr>
          <p:nvPr/>
        </p:nvSpPr>
        <p:spPr>
          <a:xfrm xmlns:a="http://schemas.openxmlformats.org/drawingml/2006/main">
            <a:off x="1104900" y="4133850"/>
            <a:ext cx="988695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14" name="">
            <a:extLst xmlns:a="http://schemas.openxmlformats.org/drawingml/2006/main">
              <a:ext uri="{FF2B5EF4-FFF2-40B4-BE49-F238E27FC236}">
                <a16:creationId xmlns:a16="http://schemas.microsoft.com/office/drawing/2014/main" id="{EA1AA87F-4591-4FA9-9DBF-B52A75FC06A8}"/>
              </a:ext>
            </a:extLst>
          </p:cNvPr>
          <p:cNvSpPr>
            <a:spLocks xmlns:a="http://schemas.openxmlformats.org/drawingml/2006/main" noGrp="1"/>
          </p:cNvSpPr>
          <p:nvPr/>
        </p:nvSpPr>
        <p:spPr>
          <a:xfrm xmlns:a="http://schemas.openxmlformats.org/drawingml/2006/main">
            <a:off x="1104900" y="36195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2A8C82"/>
                </a:solidFill>
              </a:defRPr>
            </a:pPr>
            <a:r>
              <a:rPr sz="1500" b="1">
                <a:solidFill>
                  <a:srgbClr val="2A8C82"/>
                </a:solidFill>
              </a:rPr>
              <a:t>3</a:t>
            </a:r>
          </a:p>
        </p:txBody>
      </p:sp>
      <p:sp>
        <p:nvSpPr>
          <p:cNvPr id="15" name="">
            <a:extLst xmlns:a="http://schemas.openxmlformats.org/drawingml/2006/main">
              <a:ext uri="{FF2B5EF4-FFF2-40B4-BE49-F238E27FC236}">
                <a16:creationId xmlns:a16="http://schemas.microsoft.com/office/drawing/2014/main" id="{3E386417-B0A4-4CF2-925F-C55E6EEE07BF}"/>
              </a:ext>
            </a:extLst>
          </p:cNvPr>
          <p:cNvSpPr>
            <a:spLocks xmlns:a="http://schemas.openxmlformats.org/drawingml/2006/main" noGrp="1"/>
          </p:cNvSpPr>
          <p:nvPr/>
        </p:nvSpPr>
        <p:spPr>
          <a:xfrm xmlns:a="http://schemas.openxmlformats.org/drawingml/2006/main">
            <a:off x="1676400" y="3590925"/>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F172A"/>
                </a:solidFill>
              </a:defRPr>
            </a:pPr>
            <a:r>
              <a:rPr sz="1650" b="1">
                <a:solidFill>
                  <a:srgbClr val="0F172A"/>
                </a:solidFill>
              </a:rPr>
              <a:t>Structured solver</a:t>
            </a:r>
          </a:p>
        </p:txBody>
      </p:sp>
      <p:sp>
        <p:nvSpPr>
          <p:cNvPr id="16" name="">
            <a:extLst xmlns:a="http://schemas.openxmlformats.org/drawingml/2006/main">
              <a:ext uri="{FF2B5EF4-FFF2-40B4-BE49-F238E27FC236}">
                <a16:creationId xmlns:a16="http://schemas.microsoft.com/office/drawing/2014/main" id="{79353FBE-8086-45A5-B6EA-61EE81C9AFB3}"/>
              </a:ext>
            </a:extLst>
          </p:cNvPr>
          <p:cNvSpPr>
            <a:spLocks xmlns:a="http://schemas.openxmlformats.org/drawingml/2006/main" noGrp="1"/>
          </p:cNvSpPr>
          <p:nvPr/>
        </p:nvSpPr>
        <p:spPr>
          <a:xfrm xmlns:a="http://schemas.openxmlformats.org/drawingml/2006/main">
            <a:off x="4762500" y="3600450"/>
            <a:ext cx="6229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526174"/>
                </a:solidFill>
              </a:defRPr>
            </a:pPr>
            <a:r>
              <a:rPr sz="1350" b="0">
                <a:solidFill>
                  <a:srgbClr val="526174"/>
                </a:solidFill>
              </a:rPr>
              <a:t>parsed value, entity, and predicate align</a:t>
            </a:r>
          </a:p>
        </p:txBody>
      </p:sp>
      <p:sp>
        <p:nvSpPr>
          <p:cNvPr id="17" name="">
            <a:extLst xmlns:a="http://schemas.openxmlformats.org/drawingml/2006/main">
              <a:ext uri="{FF2B5EF4-FFF2-40B4-BE49-F238E27FC236}">
                <a16:creationId xmlns:a16="http://schemas.microsoft.com/office/drawing/2014/main" id="{D82C0551-1CB7-48F7-997A-B206CF032134}"/>
              </a:ext>
            </a:extLst>
          </p:cNvPr>
          <p:cNvSpPr>
            <a:spLocks xmlns:a="http://schemas.openxmlformats.org/drawingml/2006/main" noGrp="1"/>
          </p:cNvSpPr>
          <p:nvPr/>
        </p:nvSpPr>
        <p:spPr>
          <a:xfrm xmlns:a="http://schemas.openxmlformats.org/drawingml/2006/main">
            <a:off x="1104900" y="4876800"/>
            <a:ext cx="988695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18" name="">
            <a:extLst xmlns:a="http://schemas.openxmlformats.org/drawingml/2006/main">
              <a:ext uri="{FF2B5EF4-FFF2-40B4-BE49-F238E27FC236}">
                <a16:creationId xmlns:a16="http://schemas.microsoft.com/office/drawing/2014/main" id="{4C450D24-EF14-4870-878E-D23C225886D7}"/>
              </a:ext>
            </a:extLst>
          </p:cNvPr>
          <p:cNvSpPr>
            <a:spLocks xmlns:a="http://schemas.openxmlformats.org/drawingml/2006/main" noGrp="1"/>
          </p:cNvSpPr>
          <p:nvPr/>
        </p:nvSpPr>
        <p:spPr>
          <a:xfrm xmlns:a="http://schemas.openxmlformats.org/drawingml/2006/main">
            <a:off x="1104900" y="436245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D59B32"/>
                </a:solidFill>
              </a:defRPr>
            </a:pPr>
            <a:r>
              <a:rPr sz="1500" b="1">
                <a:solidFill>
                  <a:srgbClr val="D59B32"/>
                </a:solidFill>
              </a:rPr>
              <a:t>4</a:t>
            </a:r>
          </a:p>
        </p:txBody>
      </p:sp>
      <p:sp>
        <p:nvSpPr>
          <p:cNvPr id="19" name="">
            <a:extLst xmlns:a="http://schemas.openxmlformats.org/drawingml/2006/main">
              <a:ext uri="{FF2B5EF4-FFF2-40B4-BE49-F238E27FC236}">
                <a16:creationId xmlns:a16="http://schemas.microsoft.com/office/drawing/2014/main" id="{ED94A80C-13EE-406C-BB59-FA5682775026}"/>
              </a:ext>
            </a:extLst>
          </p:cNvPr>
          <p:cNvSpPr>
            <a:spLocks xmlns:a="http://schemas.openxmlformats.org/drawingml/2006/main" noGrp="1"/>
          </p:cNvSpPr>
          <p:nvPr/>
        </p:nvSpPr>
        <p:spPr>
          <a:xfrm xmlns:a="http://schemas.openxmlformats.org/drawingml/2006/main">
            <a:off x="1676400" y="4333875"/>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F172A"/>
                </a:solidFill>
              </a:defRPr>
            </a:pPr>
            <a:r>
              <a:rPr sz="1650" b="1">
                <a:solidFill>
                  <a:srgbClr val="0F172A"/>
                </a:solidFill>
              </a:rPr>
              <a:t>Typed evidence</a:t>
            </a:r>
          </a:p>
        </p:txBody>
      </p:sp>
      <p:sp>
        <p:nvSpPr>
          <p:cNvPr id="20" name="">
            <a:extLst xmlns:a="http://schemas.openxmlformats.org/drawingml/2006/main">
              <a:ext uri="{FF2B5EF4-FFF2-40B4-BE49-F238E27FC236}">
                <a16:creationId xmlns:a16="http://schemas.microsoft.com/office/drawing/2014/main" id="{38C5AC17-A2C5-41B2-8E21-030FDDB568A2}"/>
              </a:ext>
            </a:extLst>
          </p:cNvPr>
          <p:cNvSpPr>
            <a:spLocks xmlns:a="http://schemas.openxmlformats.org/drawingml/2006/main" noGrp="1"/>
          </p:cNvSpPr>
          <p:nvPr/>
        </p:nvSpPr>
        <p:spPr>
          <a:xfrm xmlns:a="http://schemas.openxmlformats.org/drawingml/2006/main">
            <a:off x="4762500" y="4343400"/>
            <a:ext cx="6229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526174"/>
                </a:solidFill>
              </a:defRPr>
            </a:pPr>
            <a:r>
              <a:rPr sz="1350" b="0">
                <a:solidFill>
                  <a:srgbClr val="526174"/>
                </a:solidFill>
              </a:rPr>
              <a:t>exact idiom sense, law section, or two-source fact</a:t>
            </a:r>
          </a:p>
        </p:txBody>
      </p:sp>
      <p:sp>
        <p:nvSpPr>
          <p:cNvPr id="21" name="">
            <a:extLst xmlns:a="http://schemas.openxmlformats.org/drawingml/2006/main">
              <a:ext uri="{FF2B5EF4-FFF2-40B4-BE49-F238E27FC236}">
                <a16:creationId xmlns:a16="http://schemas.microsoft.com/office/drawing/2014/main" id="{9DA0D3C7-6556-409C-A9D1-32A49BE94075}"/>
              </a:ext>
            </a:extLst>
          </p:cNvPr>
          <p:cNvSpPr>
            <a:spLocks xmlns:a="http://schemas.openxmlformats.org/drawingml/2006/main" noGrp="1"/>
          </p:cNvSpPr>
          <p:nvPr/>
        </p:nvSpPr>
        <p:spPr>
          <a:xfrm xmlns:a="http://schemas.openxmlformats.org/drawingml/2006/main">
            <a:off x="1104900" y="5619750"/>
            <a:ext cx="988695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22" name="">
            <a:extLst xmlns:a="http://schemas.openxmlformats.org/drawingml/2006/main">
              <a:ext uri="{FF2B5EF4-FFF2-40B4-BE49-F238E27FC236}">
                <a16:creationId xmlns:a16="http://schemas.microsoft.com/office/drawing/2014/main" id="{16184ACE-B4A2-413F-BDED-4276BE26979B}"/>
              </a:ext>
            </a:extLst>
          </p:cNvPr>
          <p:cNvSpPr>
            <a:spLocks xmlns:a="http://schemas.openxmlformats.org/drawingml/2006/main" noGrp="1"/>
          </p:cNvSpPr>
          <p:nvPr/>
        </p:nvSpPr>
        <p:spPr>
          <a:xfrm xmlns:a="http://schemas.openxmlformats.org/drawingml/2006/main">
            <a:off x="1104900" y="51054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94A3B8"/>
                </a:solidFill>
              </a:defRPr>
            </a:pPr>
            <a:r>
              <a:rPr sz="1500" b="1">
                <a:solidFill>
                  <a:srgbClr val="94A3B8"/>
                </a:solidFill>
              </a:rPr>
              <a:t>5</a:t>
            </a:r>
          </a:p>
        </p:txBody>
      </p:sp>
      <p:sp>
        <p:nvSpPr>
          <p:cNvPr id="23" name="">
            <a:extLst xmlns:a="http://schemas.openxmlformats.org/drawingml/2006/main">
              <a:ext uri="{FF2B5EF4-FFF2-40B4-BE49-F238E27FC236}">
                <a16:creationId xmlns:a16="http://schemas.microsoft.com/office/drawing/2014/main" id="{909F5C02-AC38-4158-97DB-4B5A5B1E8C45}"/>
              </a:ext>
            </a:extLst>
          </p:cNvPr>
          <p:cNvSpPr>
            <a:spLocks xmlns:a="http://schemas.openxmlformats.org/drawingml/2006/main" noGrp="1"/>
          </p:cNvSpPr>
          <p:nvPr/>
        </p:nvSpPr>
        <p:spPr>
          <a:xfrm xmlns:a="http://schemas.openxmlformats.org/drawingml/2006/main">
            <a:off x="1676400" y="5076825"/>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F172A"/>
                </a:solidFill>
              </a:defRPr>
            </a:pPr>
            <a:r>
              <a:rPr sz="1650" b="1">
                <a:solidFill>
                  <a:srgbClr val="0F172A"/>
                </a:solidFill>
              </a:rPr>
              <a:t>Fuzzy retrieval</a:t>
            </a:r>
          </a:p>
        </p:txBody>
      </p:sp>
      <p:sp>
        <p:nvSpPr>
          <p:cNvPr id="24" name="">
            <a:extLst xmlns:a="http://schemas.openxmlformats.org/drawingml/2006/main">
              <a:ext uri="{FF2B5EF4-FFF2-40B4-BE49-F238E27FC236}">
                <a16:creationId xmlns:a16="http://schemas.microsoft.com/office/drawing/2014/main" id="{FFA5764D-AAF2-4770-95BE-8A717717A19E}"/>
              </a:ext>
            </a:extLst>
          </p:cNvPr>
          <p:cNvSpPr>
            <a:spLocks xmlns:a="http://schemas.openxmlformats.org/drawingml/2006/main" noGrp="1"/>
          </p:cNvSpPr>
          <p:nvPr/>
        </p:nvSpPr>
        <p:spPr>
          <a:xfrm xmlns:a="http://schemas.openxmlformats.org/drawingml/2006/main">
            <a:off x="4762500" y="5086350"/>
            <a:ext cx="6229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526174"/>
                </a:solidFill>
              </a:defRPr>
            </a:pPr>
            <a:r>
              <a:rPr sz="1350" b="0">
                <a:solidFill>
                  <a:srgbClr val="526174"/>
                </a:solidFill>
              </a:rPr>
              <a:t>candidate only; otherwise abstain</a:t>
            </a:r>
          </a:p>
        </p:txBody>
      </p:sp>
      <p:sp>
        <p:nvSpPr>
          <p:cNvPr id="25" name="">
            <a:extLst xmlns:a="http://schemas.openxmlformats.org/drawingml/2006/main">
              <a:ext uri="{FF2B5EF4-FFF2-40B4-BE49-F238E27FC236}">
                <a16:creationId xmlns:a16="http://schemas.microsoft.com/office/drawing/2014/main" id="{CA65F339-FC21-4057-B461-A6988E5A81AA}"/>
              </a:ext>
            </a:extLst>
          </p:cNvPr>
          <p:cNvSpPr>
            <a:spLocks xmlns:a="http://schemas.openxmlformats.org/drawingml/2006/main" noGrp="1"/>
          </p:cNvSpPr>
          <p:nvPr/>
        </p:nvSpPr>
        <p:spPr>
          <a:xfrm xmlns:a="http://schemas.openxmlformats.org/drawingml/2006/main">
            <a:off x="1676400" y="5905500"/>
            <a:ext cx="857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1F5A7A"/>
                </a:solidFill>
              </a:defRPr>
            </a:pPr>
            <a:r>
              <a:rPr sz="1500" b="1">
                <a:solidFill>
                  <a:srgbClr val="1F5A7A"/>
                </a:solidFill>
              </a:rPr>
              <a:t>Conflict between equal-strength sources also produced abstention.</a:t>
            </a:r>
          </a:p>
        </p:txBody>
      </p:sp>
      <p:sp>
        <p:nvSpPr>
          <p:cNvPr id="26" name="">
            <a:extLst xmlns:a="http://schemas.openxmlformats.org/drawingml/2006/main">
              <a:ext uri="{FF2B5EF4-FFF2-40B4-BE49-F238E27FC236}">
                <a16:creationId xmlns:a16="http://schemas.microsoft.com/office/drawing/2014/main" id="{21A1D66F-E451-43B6-80A3-9111FDD6DF29}"/>
              </a:ext>
            </a:extLst>
          </p:cNvPr>
          <p:cNvSpPr>
            <a:spLocks xmlns:a="http://schemas.openxmlformats.org/drawingml/2006/main" noGrp="1"/>
          </p:cNvSpPr>
          <p:nvPr/>
        </p:nvSpPr>
        <p:spPr>
          <a:xfrm xmlns:a="http://schemas.openxmlformats.org/drawingml/2006/main">
            <a:off x="685800" y="6372225"/>
            <a:ext cx="1082040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27" name="source-6">
            <a:extLst xmlns:a="http://schemas.openxmlformats.org/drawingml/2006/main">
              <a:ext uri="{FF2B5EF4-FFF2-40B4-BE49-F238E27FC236}">
                <a16:creationId xmlns:a16="http://schemas.microsoft.com/office/drawing/2014/main" id="{150583B4-2F0D-4A7F-9DA5-88C7A9841A17}"/>
              </a:ext>
            </a:extLst>
          </p:cNvPr>
          <p:cNvSpPr>
            <a:spLocks xmlns:a="http://schemas.openxmlformats.org/drawingml/2006/main" noGrp="1"/>
          </p:cNvSpPr>
          <p:nvPr/>
        </p:nvSpPr>
        <p:spPr>
          <a:xfrm xmlns:a="http://schemas.openxmlformats.org/drawingml/2006/main">
            <a:off x="685800" y="6457950"/>
            <a:ext cx="9810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526174"/>
                </a:solidFill>
              </a:defRPr>
            </a:pPr>
            <a:r>
              <a:rPr sz="975" b="0">
                <a:solidFill>
                  <a:srgbClr val="526174"/>
                </a:solidFill>
              </a:rPr>
              <a:t>[3] BenHalluEval  [4] Bengali idiom benchmark  [7] v91 evidence policy</a:t>
            </a:r>
          </a:p>
        </p:txBody>
      </p:sp>
      <p:sp>
        <p:nvSpPr>
          <p:cNvPr id="28" name="page-6">
            <a:extLst xmlns:a="http://schemas.openxmlformats.org/drawingml/2006/main">
              <a:ext uri="{FF2B5EF4-FFF2-40B4-BE49-F238E27FC236}">
                <a16:creationId xmlns:a16="http://schemas.microsoft.com/office/drawing/2014/main" id="{34D353A2-818C-415E-8EAA-D4FBAB8ABF99}"/>
              </a:ext>
            </a:extLst>
          </p:cNvPr>
          <p:cNvSpPr>
            <a:spLocks xmlns:a="http://schemas.openxmlformats.org/drawingml/2006/main" noGrp="1"/>
          </p:cNvSpPr>
          <p:nvPr/>
        </p:nvSpPr>
        <p:spPr>
          <a:xfrm xmlns:a="http://schemas.openxmlformats.org/drawingml/2006/main">
            <a:off x="10810875" y="6457950"/>
            <a:ext cx="6953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1F5A7A"/>
                </a:solidFill>
              </a:defRPr>
            </a:pPr>
            <a:r>
              <a:rPr sz="975" b="1">
                <a:solidFill>
                  <a:srgbClr val="1F5A7A"/>
                </a:solidFill>
              </a:rPr>
              <a:t>06</a:t>
            </a:r>
          </a:p>
        </p:txBody>
      </p:sp>
    </p:spTree>
    <p:extLst>
      <p:ext uri="{BB962C8B-B14F-4D97-AF65-F5344CB8AC3E}">
        <p14:creationId xmlns:p14="http://schemas.microsoft.com/office/powerpoint/2010/main" val="518953614"/>
      </p:ext>
    </p:extLst>
  </p:cSld>
</p:sld>
</file>

<file path=ppt/slides/slide7.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40" name="kicker-7">
            <a:extLst xmlns:a="http://schemas.openxmlformats.org/drawingml/2006/main">
              <a:ext uri="{FF2B5EF4-FFF2-40B4-BE49-F238E27FC236}">
                <a16:creationId xmlns:a16="http://schemas.microsoft.com/office/drawing/2014/main" id="{F83F9E9A-6ECF-4E51-8670-49534C922A14}"/>
              </a:ext>
            </a:extLst>
          </p:cNvPr>
          <p:cNvSpPr>
            <a:spLocks xmlns:a="http://schemas.openxmlformats.org/drawingml/2006/main" noGrp="1"/>
          </p:cNvSpPr>
          <p:nvPr/>
        </p:nvSpPr>
        <p:spPr>
          <a:xfrm xmlns:a="http://schemas.openxmlformats.org/drawingml/2006/main">
            <a:off x="685800" y="32385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F5A7A"/>
                </a:solidFill>
              </a:defRPr>
            </a:pPr>
            <a:r>
              <a:rPr sz="1050" b="1">
                <a:solidFill>
                  <a:srgbClr val="1F5A7A"/>
                </a:solidFill>
              </a:rPr>
              <a:t>TEAM HUNTRIX</a:t>
            </a:r>
          </a:p>
        </p:txBody>
      </p:sp>
      <p:sp>
        <p:nvSpPr>
          <p:cNvPr id="2" name="title-7">
            <a:extLst xmlns:a="http://schemas.openxmlformats.org/drawingml/2006/main">
              <a:ext uri="{FF2B5EF4-FFF2-40B4-BE49-F238E27FC236}">
                <a16:creationId xmlns:a16="http://schemas.microsoft.com/office/drawing/2014/main" id="{1C3C8D3B-7120-4D0C-84E2-3E680225482B}"/>
              </a:ext>
            </a:extLst>
          </p:cNvPr>
          <p:cNvSpPr>
            <a:spLocks xmlns:a="http://schemas.openxmlformats.org/drawingml/2006/main" noGrp="1"/>
          </p:cNvSpPr>
          <p:nvPr/>
        </p:nvSpPr>
        <p:spPr>
          <a:xfrm xmlns:a="http://schemas.openxmlformats.org/drawingml/2006/main">
            <a:off x="685800" y="590550"/>
            <a:ext cx="10820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F172A"/>
                </a:solidFill>
              </a:defRPr>
            </a:pPr>
            <a:r>
              <a:rPr sz="2700" b="1">
                <a:solidFill>
                  <a:srgbClr val="0F172A"/>
                </a:solidFill>
              </a:rPr>
              <a:t>Context rows were reduced to claim-level entailment tests</a:t>
            </a:r>
          </a:p>
        </p:txBody>
      </p:sp>
      <p:sp>
        <p:nvSpPr>
          <p:cNvPr id="3" name="">
            <a:extLst xmlns:a="http://schemas.openxmlformats.org/drawingml/2006/main">
              <a:ext uri="{FF2B5EF4-FFF2-40B4-BE49-F238E27FC236}">
                <a16:creationId xmlns:a16="http://schemas.microsoft.com/office/drawing/2014/main" id="{BAF7B867-57F0-4CDE-A53F-86B8A983DD16}"/>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4" name="">
            <a:extLst xmlns:a="http://schemas.openxmlformats.org/drawingml/2006/main">
              <a:ext uri="{FF2B5EF4-FFF2-40B4-BE49-F238E27FC236}">
                <a16:creationId xmlns:a16="http://schemas.microsoft.com/office/drawing/2014/main" id="{412C744C-B9E8-46C9-9955-7E7EF249D899}"/>
              </a:ext>
            </a:extLst>
          </p:cNvPr>
          <p:cNvSpPr>
            <a:spLocks xmlns:a="http://schemas.openxmlformats.org/drawingml/2006/main" noGrp="1"/>
          </p:cNvSpPr>
          <p:nvPr/>
        </p:nvSpPr>
        <p:spPr>
          <a:xfrm xmlns:a="http://schemas.openxmlformats.org/drawingml/2006/main">
            <a:off x="685800" y="1381125"/>
            <a:ext cx="1057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526174"/>
                </a:solidFill>
              </a:defRPr>
            </a:pPr>
            <a:r>
              <a:rPr sz="1575" b="0">
                <a:solidFill>
                  <a:srgbClr val="526174"/>
                </a:solidFill>
              </a:rPr>
              <a:t>The verifier compared atomic response claims against the relevant context clause, not against global word overlap.</a:t>
            </a:r>
          </a:p>
        </p:txBody>
      </p:sp>
      <p:sp>
        <p:nvSpPr>
          <p:cNvPr id="5" name="">
            <a:extLst xmlns:a="http://schemas.openxmlformats.org/drawingml/2006/main">
              <a:ext uri="{FF2B5EF4-FFF2-40B4-BE49-F238E27FC236}">
                <a16:creationId xmlns:a16="http://schemas.microsoft.com/office/drawing/2014/main" id="{44B27032-2082-4790-98D9-5F790D02D856}"/>
              </a:ext>
            </a:extLst>
          </p:cNvPr>
          <p:cNvSpPr>
            <a:spLocks xmlns:a="http://schemas.openxmlformats.org/drawingml/2006/main" noGrp="1"/>
          </p:cNvSpPr>
          <p:nvPr/>
        </p:nvSpPr>
        <p:spPr>
          <a:xfrm xmlns:a="http://schemas.openxmlformats.org/drawingml/2006/main">
            <a:off x="2324100" y="2581275"/>
            <a:ext cx="495300" cy="228600"/>
          </a:xfrm>
          <a:prstGeom xmlns:a="http://schemas.openxmlformats.org/drawingml/2006/main" prst="rightArrow">
            <a:avLst/>
          </a:prstGeom>
          <a:solidFill xmlns:a="http://schemas.openxmlformats.org/drawingml/2006/main">
            <a:srgbClr val="D8E0EA"/>
          </a:solidFill>
          <a:ln xmlns:a="http://schemas.openxmlformats.org/drawingml/2006/main" w="0">
            <a:solidFill>
              <a:srgbClr val="D8E0EA"/>
            </a:solidFill>
            <a:prstDash val="solid"/>
          </a:ln>
        </p:spPr>
      </p:sp>
      <p:sp>
        <p:nvSpPr>
          <p:cNvPr id="6" name="">
            <a:extLst xmlns:a="http://schemas.openxmlformats.org/drawingml/2006/main">
              <a:ext uri="{FF2B5EF4-FFF2-40B4-BE49-F238E27FC236}">
                <a16:creationId xmlns:a16="http://schemas.microsoft.com/office/drawing/2014/main" id="{6F0DE621-4EEA-4DD1-91C2-E4FF0283BFBC}"/>
              </a:ext>
            </a:extLst>
          </p:cNvPr>
          <p:cNvSpPr>
            <a:spLocks xmlns:a="http://schemas.openxmlformats.org/drawingml/2006/main" noGrp="1"/>
          </p:cNvSpPr>
          <p:nvPr/>
        </p:nvSpPr>
        <p:spPr>
          <a:xfrm xmlns:a="http://schemas.openxmlformats.org/drawingml/2006/main">
            <a:off x="4552950" y="2581275"/>
            <a:ext cx="495300" cy="228600"/>
          </a:xfrm>
          <a:prstGeom xmlns:a="http://schemas.openxmlformats.org/drawingml/2006/main" prst="rightArrow">
            <a:avLst/>
          </a:prstGeom>
          <a:solidFill xmlns:a="http://schemas.openxmlformats.org/drawingml/2006/main">
            <a:srgbClr val="D8E0EA"/>
          </a:solidFill>
          <a:ln xmlns:a="http://schemas.openxmlformats.org/drawingml/2006/main" w="0">
            <a:solidFill>
              <a:srgbClr val="D8E0EA"/>
            </a:solidFill>
            <a:prstDash val="solid"/>
          </a:ln>
        </p:spPr>
      </p:sp>
      <p:sp>
        <p:nvSpPr>
          <p:cNvPr id="7" name="">
            <a:extLst xmlns:a="http://schemas.openxmlformats.org/drawingml/2006/main">
              <a:ext uri="{FF2B5EF4-FFF2-40B4-BE49-F238E27FC236}">
                <a16:creationId xmlns:a16="http://schemas.microsoft.com/office/drawing/2014/main" id="{4E28B00C-F6EA-4E8D-99CC-92CAD5A051C5}"/>
              </a:ext>
            </a:extLst>
          </p:cNvPr>
          <p:cNvSpPr>
            <a:spLocks xmlns:a="http://schemas.openxmlformats.org/drawingml/2006/main" noGrp="1"/>
          </p:cNvSpPr>
          <p:nvPr/>
        </p:nvSpPr>
        <p:spPr>
          <a:xfrm xmlns:a="http://schemas.openxmlformats.org/drawingml/2006/main">
            <a:off x="6781800" y="2581275"/>
            <a:ext cx="495300" cy="228600"/>
          </a:xfrm>
          <a:prstGeom xmlns:a="http://schemas.openxmlformats.org/drawingml/2006/main" prst="rightArrow">
            <a:avLst/>
          </a:prstGeom>
          <a:solidFill xmlns:a="http://schemas.openxmlformats.org/drawingml/2006/main">
            <a:srgbClr val="D8E0EA"/>
          </a:solidFill>
          <a:ln xmlns:a="http://schemas.openxmlformats.org/drawingml/2006/main" w="0">
            <a:solidFill>
              <a:srgbClr val="D8E0EA"/>
            </a:solidFill>
            <a:prstDash val="solid"/>
          </a:ln>
        </p:spPr>
      </p:sp>
      <p:sp>
        <p:nvSpPr>
          <p:cNvPr id="8" name="">
            <a:extLst xmlns:a="http://schemas.openxmlformats.org/drawingml/2006/main">
              <a:ext uri="{FF2B5EF4-FFF2-40B4-BE49-F238E27FC236}">
                <a16:creationId xmlns:a16="http://schemas.microsoft.com/office/drawing/2014/main" id="{A868BE7F-FA28-47A4-93FC-B3082CA79503}"/>
              </a:ext>
            </a:extLst>
          </p:cNvPr>
          <p:cNvSpPr>
            <a:spLocks xmlns:a="http://schemas.openxmlformats.org/drawingml/2006/main" noGrp="1"/>
          </p:cNvSpPr>
          <p:nvPr/>
        </p:nvSpPr>
        <p:spPr>
          <a:xfrm xmlns:a="http://schemas.openxmlformats.org/drawingml/2006/main">
            <a:off x="9010650" y="2581275"/>
            <a:ext cx="495300" cy="228600"/>
          </a:xfrm>
          <a:prstGeom xmlns:a="http://schemas.openxmlformats.org/drawingml/2006/main" prst="rightArrow">
            <a:avLst/>
          </a:prstGeom>
          <a:solidFill xmlns:a="http://schemas.openxmlformats.org/drawingml/2006/main">
            <a:srgbClr val="D8E0EA"/>
          </a:solidFill>
          <a:ln xmlns:a="http://schemas.openxmlformats.org/drawingml/2006/main" w="0">
            <a:solidFill>
              <a:srgbClr val="D8E0EA"/>
            </a:solidFill>
            <a:prstDash val="solid"/>
          </a:ln>
        </p:spPr>
      </p:sp>
      <p:sp>
        <p:nvSpPr>
          <p:cNvPr id="9" name="">
            <a:extLst xmlns:a="http://schemas.openxmlformats.org/drawingml/2006/main">
              <a:ext uri="{FF2B5EF4-FFF2-40B4-BE49-F238E27FC236}">
                <a16:creationId xmlns:a16="http://schemas.microsoft.com/office/drawing/2014/main" id="{71763E31-9C15-4433-85DC-0C7C0A459638}"/>
              </a:ext>
            </a:extLst>
          </p:cNvPr>
          <p:cNvSpPr>
            <a:spLocks xmlns:a="http://schemas.openxmlformats.org/drawingml/2006/main" noGrp="1"/>
          </p:cNvSpPr>
          <p:nvPr/>
        </p:nvSpPr>
        <p:spPr>
          <a:xfrm xmlns:a="http://schemas.openxmlformats.org/drawingml/2006/main">
            <a:off x="723900" y="2057400"/>
            <a:ext cx="1600200" cy="1295400"/>
          </a:xfrm>
          <a:prstGeom xmlns:a="http://schemas.openxmlformats.org/drawingml/2006/main" prst="roundRect">
            <a:avLst>
              <a:gd name="adj" fmla="val 11029"/>
            </a:avLst>
          </a:prstGeom>
          <a:solidFill xmlns:a="http://schemas.openxmlformats.org/drawingml/2006/main">
            <a:srgbClr val="FFFFFF"/>
          </a:solidFill>
          <a:ln xmlns:a="http://schemas.openxmlformats.org/drawingml/2006/main" w="9525">
            <a:solidFill>
              <a:srgbClr val="2A8C82"/>
            </a:solidFill>
            <a:prstDash val="solid"/>
          </a:ln>
        </p:spPr>
      </p:sp>
      <p:sp>
        <p:nvSpPr>
          <p:cNvPr id="10" name="">
            <a:extLst xmlns:a="http://schemas.openxmlformats.org/drawingml/2006/main">
              <a:ext uri="{FF2B5EF4-FFF2-40B4-BE49-F238E27FC236}">
                <a16:creationId xmlns:a16="http://schemas.microsoft.com/office/drawing/2014/main" id="{34D6CF9B-3D95-4C0F-A1CF-DCEDBC2BAF2D}"/>
              </a:ext>
            </a:extLst>
          </p:cNvPr>
          <p:cNvSpPr>
            <a:spLocks xmlns:a="http://schemas.openxmlformats.org/drawingml/2006/main" noGrp="1"/>
          </p:cNvSpPr>
          <p:nvPr/>
        </p:nvSpPr>
        <p:spPr>
          <a:xfrm xmlns:a="http://schemas.openxmlformats.org/drawingml/2006/main">
            <a:off x="895350" y="2276475"/>
            <a:ext cx="1257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1F5A7A"/>
                </a:solidFill>
              </a:defRPr>
            </a:pPr>
            <a:r>
              <a:rPr sz="1650" b="1">
                <a:solidFill>
                  <a:srgbClr val="1F5A7A"/>
                </a:solidFill>
              </a:rPr>
              <a:t>Context</a:t>
            </a:r>
          </a:p>
        </p:txBody>
      </p:sp>
      <p:sp>
        <p:nvSpPr>
          <p:cNvPr id="11" name="">
            <a:extLst xmlns:a="http://schemas.openxmlformats.org/drawingml/2006/main">
              <a:ext uri="{FF2B5EF4-FFF2-40B4-BE49-F238E27FC236}">
                <a16:creationId xmlns:a16="http://schemas.microsoft.com/office/drawing/2014/main" id="{2871CC5D-0191-48C4-BAED-B2540CE7C0CF}"/>
              </a:ext>
            </a:extLst>
          </p:cNvPr>
          <p:cNvSpPr>
            <a:spLocks xmlns:a="http://schemas.openxmlformats.org/drawingml/2006/main" noGrp="1"/>
          </p:cNvSpPr>
          <p:nvPr/>
        </p:nvSpPr>
        <p:spPr>
          <a:xfrm xmlns:a="http://schemas.openxmlformats.org/drawingml/2006/main">
            <a:off x="895350" y="2686050"/>
            <a:ext cx="1257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a:solidFill>
                  <a:srgbClr val="526174"/>
                </a:solidFill>
              </a:defRPr>
            </a:pPr>
            <a:r>
              <a:rPr sz="1200" b="0">
                <a:solidFill>
                  <a:srgbClr val="526174"/>
                </a:solidFill>
              </a:rPr>
              <a:t>segment into</a:t>
            </a:r>
          </a:p>
          <a:p xmlns:a="http://schemas.openxmlformats.org/drawingml/2006/main">
            <a:pPr algn="ctr">
              <a:defRPr sz="1200" b="0">
                <a:solidFill>
                  <a:srgbClr val="526174"/>
                </a:solidFill>
              </a:defRPr>
            </a:pPr>
            <a:r>
              <a:rPr sz="1200" b="0">
                <a:solidFill>
                  <a:srgbClr val="526174"/>
                </a:solidFill>
              </a:rPr>
              <a:t>clauses</a:t>
            </a:r>
          </a:p>
        </p:txBody>
      </p:sp>
      <p:sp>
        <p:nvSpPr>
          <p:cNvPr id="12" name="">
            <a:extLst xmlns:a="http://schemas.openxmlformats.org/drawingml/2006/main">
              <a:ext uri="{FF2B5EF4-FFF2-40B4-BE49-F238E27FC236}">
                <a16:creationId xmlns:a16="http://schemas.microsoft.com/office/drawing/2014/main" id="{CA05E2A2-A771-401B-944E-446FDB172CDB}"/>
              </a:ext>
            </a:extLst>
          </p:cNvPr>
          <p:cNvSpPr>
            <a:spLocks xmlns:a="http://schemas.openxmlformats.org/drawingml/2006/main" noGrp="1"/>
          </p:cNvSpPr>
          <p:nvPr/>
        </p:nvSpPr>
        <p:spPr>
          <a:xfrm xmlns:a="http://schemas.openxmlformats.org/drawingml/2006/main">
            <a:off x="2952750" y="2057400"/>
            <a:ext cx="1600200" cy="1295400"/>
          </a:xfrm>
          <a:prstGeom xmlns:a="http://schemas.openxmlformats.org/drawingml/2006/main" prst="roundRect">
            <a:avLst>
              <a:gd name="adj" fmla="val 11029"/>
            </a:avLst>
          </a:prstGeom>
          <a:solidFill xmlns:a="http://schemas.openxmlformats.org/drawingml/2006/main">
            <a:srgbClr val="FFFFFF"/>
          </a:solidFill>
          <a:ln xmlns:a="http://schemas.openxmlformats.org/drawingml/2006/main" w="9525">
            <a:solidFill>
              <a:srgbClr val="2A8C82"/>
            </a:solidFill>
            <a:prstDash val="solid"/>
          </a:ln>
        </p:spPr>
      </p:sp>
      <p:sp>
        <p:nvSpPr>
          <p:cNvPr id="13" name="">
            <a:extLst xmlns:a="http://schemas.openxmlformats.org/drawingml/2006/main">
              <a:ext uri="{FF2B5EF4-FFF2-40B4-BE49-F238E27FC236}">
                <a16:creationId xmlns:a16="http://schemas.microsoft.com/office/drawing/2014/main" id="{1682A535-9F15-4F2A-8605-2A855913578A}"/>
              </a:ext>
            </a:extLst>
          </p:cNvPr>
          <p:cNvSpPr>
            <a:spLocks xmlns:a="http://schemas.openxmlformats.org/drawingml/2006/main" noGrp="1"/>
          </p:cNvSpPr>
          <p:nvPr/>
        </p:nvSpPr>
        <p:spPr>
          <a:xfrm xmlns:a="http://schemas.openxmlformats.org/drawingml/2006/main">
            <a:off x="3124200" y="2276475"/>
            <a:ext cx="1257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1F5A7A"/>
                </a:solidFill>
              </a:defRPr>
            </a:pPr>
            <a:r>
              <a:rPr sz="1650" b="1">
                <a:solidFill>
                  <a:srgbClr val="1F5A7A"/>
                </a:solidFill>
              </a:rPr>
              <a:t>Response</a:t>
            </a:r>
          </a:p>
        </p:txBody>
      </p:sp>
      <p:sp>
        <p:nvSpPr>
          <p:cNvPr id="14" name="">
            <a:extLst xmlns:a="http://schemas.openxmlformats.org/drawingml/2006/main">
              <a:ext uri="{FF2B5EF4-FFF2-40B4-BE49-F238E27FC236}">
                <a16:creationId xmlns:a16="http://schemas.microsoft.com/office/drawing/2014/main" id="{69BCD6EE-E6ED-4051-8772-910BF6749AE5}"/>
              </a:ext>
            </a:extLst>
          </p:cNvPr>
          <p:cNvSpPr>
            <a:spLocks xmlns:a="http://schemas.openxmlformats.org/drawingml/2006/main" noGrp="1"/>
          </p:cNvSpPr>
          <p:nvPr/>
        </p:nvSpPr>
        <p:spPr>
          <a:xfrm xmlns:a="http://schemas.openxmlformats.org/drawingml/2006/main">
            <a:off x="3124200" y="2686050"/>
            <a:ext cx="1257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a:solidFill>
                  <a:srgbClr val="526174"/>
                </a:solidFill>
              </a:defRPr>
            </a:pPr>
            <a:r>
              <a:rPr sz="1200" b="0">
                <a:solidFill>
                  <a:srgbClr val="526174"/>
                </a:solidFill>
              </a:rPr>
              <a:t>extract atomic</a:t>
            </a:r>
          </a:p>
          <a:p xmlns:a="http://schemas.openxmlformats.org/drawingml/2006/main">
            <a:pPr algn="ctr">
              <a:defRPr sz="1200" b="0">
                <a:solidFill>
                  <a:srgbClr val="526174"/>
                </a:solidFill>
              </a:defRPr>
            </a:pPr>
            <a:r>
              <a:rPr sz="1200" b="0">
                <a:solidFill>
                  <a:srgbClr val="526174"/>
                </a:solidFill>
              </a:rPr>
              <a:t>claims</a:t>
            </a:r>
          </a:p>
        </p:txBody>
      </p:sp>
      <p:sp>
        <p:nvSpPr>
          <p:cNvPr id="15" name="">
            <a:extLst xmlns:a="http://schemas.openxmlformats.org/drawingml/2006/main">
              <a:ext uri="{FF2B5EF4-FFF2-40B4-BE49-F238E27FC236}">
                <a16:creationId xmlns:a16="http://schemas.microsoft.com/office/drawing/2014/main" id="{289302C3-ED29-4EE6-82E7-468B4E70934B}"/>
              </a:ext>
            </a:extLst>
          </p:cNvPr>
          <p:cNvSpPr>
            <a:spLocks xmlns:a="http://schemas.openxmlformats.org/drawingml/2006/main" noGrp="1"/>
          </p:cNvSpPr>
          <p:nvPr/>
        </p:nvSpPr>
        <p:spPr>
          <a:xfrm xmlns:a="http://schemas.openxmlformats.org/drawingml/2006/main">
            <a:off x="5181600" y="2057400"/>
            <a:ext cx="1600200" cy="1295400"/>
          </a:xfrm>
          <a:prstGeom xmlns:a="http://schemas.openxmlformats.org/drawingml/2006/main" prst="roundRect">
            <a:avLst>
              <a:gd name="adj" fmla="val 11029"/>
            </a:avLst>
          </a:prstGeom>
          <a:solidFill xmlns:a="http://schemas.openxmlformats.org/drawingml/2006/main">
            <a:srgbClr val="FFFFFF"/>
          </a:solidFill>
          <a:ln xmlns:a="http://schemas.openxmlformats.org/drawingml/2006/main" w="9525">
            <a:solidFill>
              <a:srgbClr val="2A8C82"/>
            </a:solidFill>
            <a:prstDash val="solid"/>
          </a:ln>
        </p:spPr>
      </p:sp>
      <p:sp>
        <p:nvSpPr>
          <p:cNvPr id="16" name="">
            <a:extLst xmlns:a="http://schemas.openxmlformats.org/drawingml/2006/main">
              <a:ext uri="{FF2B5EF4-FFF2-40B4-BE49-F238E27FC236}">
                <a16:creationId xmlns:a16="http://schemas.microsoft.com/office/drawing/2014/main" id="{E402E305-9EA8-42B3-97A3-60E7A3E80696}"/>
              </a:ext>
            </a:extLst>
          </p:cNvPr>
          <p:cNvSpPr>
            <a:spLocks xmlns:a="http://schemas.openxmlformats.org/drawingml/2006/main" noGrp="1"/>
          </p:cNvSpPr>
          <p:nvPr/>
        </p:nvSpPr>
        <p:spPr>
          <a:xfrm xmlns:a="http://schemas.openxmlformats.org/drawingml/2006/main">
            <a:off x="5353050" y="2276475"/>
            <a:ext cx="1257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1F5A7A"/>
                </a:solidFill>
              </a:defRPr>
            </a:pPr>
            <a:r>
              <a:rPr sz="1650" b="1">
                <a:solidFill>
                  <a:srgbClr val="1F5A7A"/>
                </a:solidFill>
              </a:rPr>
              <a:t>Anchor</a:t>
            </a:r>
          </a:p>
        </p:txBody>
      </p:sp>
      <p:sp>
        <p:nvSpPr>
          <p:cNvPr id="17" name="">
            <a:extLst xmlns:a="http://schemas.openxmlformats.org/drawingml/2006/main">
              <a:ext uri="{FF2B5EF4-FFF2-40B4-BE49-F238E27FC236}">
                <a16:creationId xmlns:a16="http://schemas.microsoft.com/office/drawing/2014/main" id="{70BF8B08-44D1-4A76-8754-AFD790AC123D}"/>
              </a:ext>
            </a:extLst>
          </p:cNvPr>
          <p:cNvSpPr>
            <a:spLocks xmlns:a="http://schemas.openxmlformats.org/drawingml/2006/main" noGrp="1"/>
          </p:cNvSpPr>
          <p:nvPr/>
        </p:nvSpPr>
        <p:spPr>
          <a:xfrm xmlns:a="http://schemas.openxmlformats.org/drawingml/2006/main">
            <a:off x="5353050" y="2686050"/>
            <a:ext cx="1257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a:solidFill>
                  <a:srgbClr val="526174"/>
                </a:solidFill>
              </a:defRPr>
            </a:pPr>
            <a:r>
              <a:rPr sz="1200" b="0">
                <a:solidFill>
                  <a:srgbClr val="526174"/>
                </a:solidFill>
              </a:rPr>
              <a:t>entity, number,</a:t>
            </a:r>
          </a:p>
          <a:p xmlns:a="http://schemas.openxmlformats.org/drawingml/2006/main">
            <a:pPr algn="ctr">
              <a:defRPr sz="1200" b="0">
                <a:solidFill>
                  <a:srgbClr val="526174"/>
                </a:solidFill>
              </a:defRPr>
            </a:pPr>
            <a:r>
              <a:rPr sz="1200" b="0">
                <a:solidFill>
                  <a:srgbClr val="526174"/>
                </a:solidFill>
              </a:rPr>
              <a:t>negation, relation</a:t>
            </a:r>
          </a:p>
        </p:txBody>
      </p:sp>
      <p:sp>
        <p:nvSpPr>
          <p:cNvPr id="18" name="">
            <a:extLst xmlns:a="http://schemas.openxmlformats.org/drawingml/2006/main">
              <a:ext uri="{FF2B5EF4-FFF2-40B4-BE49-F238E27FC236}">
                <a16:creationId xmlns:a16="http://schemas.microsoft.com/office/drawing/2014/main" id="{4471EAE0-4F5F-4297-A647-2C442AE30B5E}"/>
              </a:ext>
            </a:extLst>
          </p:cNvPr>
          <p:cNvSpPr>
            <a:spLocks xmlns:a="http://schemas.openxmlformats.org/drawingml/2006/main" noGrp="1"/>
          </p:cNvSpPr>
          <p:nvPr/>
        </p:nvSpPr>
        <p:spPr>
          <a:xfrm xmlns:a="http://schemas.openxmlformats.org/drawingml/2006/main">
            <a:off x="7410450" y="2057400"/>
            <a:ext cx="1600200" cy="1295400"/>
          </a:xfrm>
          <a:prstGeom xmlns:a="http://schemas.openxmlformats.org/drawingml/2006/main" prst="roundRect">
            <a:avLst>
              <a:gd name="adj" fmla="val 11029"/>
            </a:avLst>
          </a:prstGeom>
          <a:solidFill xmlns:a="http://schemas.openxmlformats.org/drawingml/2006/main">
            <a:srgbClr val="FFFFFF"/>
          </a:solidFill>
          <a:ln xmlns:a="http://schemas.openxmlformats.org/drawingml/2006/main" w="9525">
            <a:solidFill>
              <a:srgbClr val="2A8C82"/>
            </a:solidFill>
            <a:prstDash val="solid"/>
          </a:ln>
        </p:spPr>
      </p:sp>
      <p:sp>
        <p:nvSpPr>
          <p:cNvPr id="19" name="">
            <a:extLst xmlns:a="http://schemas.openxmlformats.org/drawingml/2006/main">
              <a:ext uri="{FF2B5EF4-FFF2-40B4-BE49-F238E27FC236}">
                <a16:creationId xmlns:a16="http://schemas.microsoft.com/office/drawing/2014/main" id="{8A176ED9-5ADE-45A3-863C-EC6A275A87A4}"/>
              </a:ext>
            </a:extLst>
          </p:cNvPr>
          <p:cNvSpPr>
            <a:spLocks xmlns:a="http://schemas.openxmlformats.org/drawingml/2006/main" noGrp="1"/>
          </p:cNvSpPr>
          <p:nvPr/>
        </p:nvSpPr>
        <p:spPr>
          <a:xfrm xmlns:a="http://schemas.openxmlformats.org/drawingml/2006/main">
            <a:off x="7581900" y="2276475"/>
            <a:ext cx="1257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1F5A7A"/>
                </a:solidFill>
              </a:defRPr>
            </a:pPr>
            <a:r>
              <a:rPr sz="1650" b="1">
                <a:solidFill>
                  <a:srgbClr val="1F5A7A"/>
                </a:solidFill>
              </a:rPr>
              <a:t>Alignment</a:t>
            </a:r>
          </a:p>
        </p:txBody>
      </p:sp>
      <p:sp>
        <p:nvSpPr>
          <p:cNvPr id="20" name="">
            <a:extLst xmlns:a="http://schemas.openxmlformats.org/drawingml/2006/main">
              <a:ext uri="{FF2B5EF4-FFF2-40B4-BE49-F238E27FC236}">
                <a16:creationId xmlns:a16="http://schemas.microsoft.com/office/drawing/2014/main" id="{3E9B3CC0-B8CC-4E8E-AEF0-59CBB482A927}"/>
              </a:ext>
            </a:extLst>
          </p:cNvPr>
          <p:cNvSpPr>
            <a:spLocks xmlns:a="http://schemas.openxmlformats.org/drawingml/2006/main" noGrp="1"/>
          </p:cNvSpPr>
          <p:nvPr/>
        </p:nvSpPr>
        <p:spPr>
          <a:xfrm xmlns:a="http://schemas.openxmlformats.org/drawingml/2006/main">
            <a:off x="7581900" y="2686050"/>
            <a:ext cx="1257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a:solidFill>
                  <a:srgbClr val="526174"/>
                </a:solidFill>
              </a:defRPr>
            </a:pPr>
            <a:r>
              <a:rPr sz="1200" b="0">
                <a:solidFill>
                  <a:srgbClr val="526174"/>
                </a:solidFill>
              </a:rPr>
              <a:t>best applicable</a:t>
            </a:r>
          </a:p>
          <a:p xmlns:a="http://schemas.openxmlformats.org/drawingml/2006/main">
            <a:pPr algn="ctr">
              <a:defRPr sz="1200" b="0">
                <a:solidFill>
                  <a:srgbClr val="526174"/>
                </a:solidFill>
              </a:defRPr>
            </a:pPr>
            <a:r>
              <a:rPr sz="1200" b="0">
                <a:solidFill>
                  <a:srgbClr val="526174"/>
                </a:solidFill>
              </a:rPr>
              <a:t>clause only</a:t>
            </a:r>
          </a:p>
        </p:txBody>
      </p:sp>
      <p:sp>
        <p:nvSpPr>
          <p:cNvPr id="21" name="">
            <a:extLst xmlns:a="http://schemas.openxmlformats.org/drawingml/2006/main">
              <a:ext uri="{FF2B5EF4-FFF2-40B4-BE49-F238E27FC236}">
                <a16:creationId xmlns:a16="http://schemas.microsoft.com/office/drawing/2014/main" id="{4CA8E8BC-3B89-414B-8A1D-9BE56FD77AB8}"/>
              </a:ext>
            </a:extLst>
          </p:cNvPr>
          <p:cNvSpPr>
            <a:spLocks xmlns:a="http://schemas.openxmlformats.org/drawingml/2006/main" noGrp="1"/>
          </p:cNvSpPr>
          <p:nvPr/>
        </p:nvSpPr>
        <p:spPr>
          <a:xfrm xmlns:a="http://schemas.openxmlformats.org/drawingml/2006/main">
            <a:off x="9639300" y="2057400"/>
            <a:ext cx="1600200" cy="1295400"/>
          </a:xfrm>
          <a:prstGeom xmlns:a="http://schemas.openxmlformats.org/drawingml/2006/main" prst="roundRect">
            <a:avLst>
              <a:gd name="adj" fmla="val 11029"/>
            </a:avLst>
          </a:prstGeom>
          <a:solidFill xmlns:a="http://schemas.openxmlformats.org/drawingml/2006/main">
            <a:srgbClr val="FBF0D8"/>
          </a:solidFill>
          <a:ln xmlns:a="http://schemas.openxmlformats.org/drawingml/2006/main" w="9525">
            <a:solidFill>
              <a:srgbClr val="D59B32"/>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2" name="">
            <a:extLst xmlns:a="http://schemas.openxmlformats.org/drawingml/2006/main">
              <a:ext uri="{FF2B5EF4-FFF2-40B4-BE49-F238E27FC236}">
                <a16:creationId xmlns:a16="http://schemas.microsoft.com/office/drawing/2014/main" id="{B39FB978-DADE-49EF-8829-AE89E9224059}"/>
              </a:ext>
            </a:extLst>
          </p:cNvPr>
          <p:cNvSpPr>
            <a:spLocks xmlns:a="http://schemas.openxmlformats.org/drawingml/2006/main" noGrp="1"/>
          </p:cNvSpPr>
          <p:nvPr/>
        </p:nvSpPr>
        <p:spPr>
          <a:xfrm xmlns:a="http://schemas.openxmlformats.org/drawingml/2006/main">
            <a:off x="9810750" y="2276475"/>
            <a:ext cx="1257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D59B32"/>
                </a:solidFill>
              </a:defRPr>
            </a:pPr>
            <a:r>
              <a:rPr sz="1650" b="1">
                <a:solidFill>
                  <a:srgbClr val="D59B32"/>
                </a:solidFill>
              </a:rPr>
              <a:t>State</a:t>
            </a:r>
          </a:p>
        </p:txBody>
      </p:sp>
      <p:sp>
        <p:nvSpPr>
          <p:cNvPr id="23" name="">
            <a:extLst xmlns:a="http://schemas.openxmlformats.org/drawingml/2006/main">
              <a:ext uri="{FF2B5EF4-FFF2-40B4-BE49-F238E27FC236}">
                <a16:creationId xmlns:a16="http://schemas.microsoft.com/office/drawing/2014/main" id="{B5164BA0-802D-496E-A360-8EBB231F5984}"/>
              </a:ext>
            </a:extLst>
          </p:cNvPr>
          <p:cNvSpPr>
            <a:spLocks xmlns:a="http://schemas.openxmlformats.org/drawingml/2006/main" noGrp="1"/>
          </p:cNvSpPr>
          <p:nvPr/>
        </p:nvSpPr>
        <p:spPr>
          <a:xfrm xmlns:a="http://schemas.openxmlformats.org/drawingml/2006/main">
            <a:off x="9810750" y="2686050"/>
            <a:ext cx="1257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a:solidFill>
                  <a:srgbClr val="526174"/>
                </a:solidFill>
              </a:defRPr>
            </a:pPr>
            <a:r>
              <a:rPr sz="1200" b="0">
                <a:solidFill>
                  <a:srgbClr val="526174"/>
                </a:solidFill>
              </a:rPr>
              <a:t>support / contradict</a:t>
            </a:r>
          </a:p>
          <a:p xmlns:a="http://schemas.openxmlformats.org/drawingml/2006/main">
            <a:pPr algn="ctr">
              <a:defRPr sz="1200" b="0">
                <a:solidFill>
                  <a:srgbClr val="526174"/>
                </a:solidFill>
              </a:defRPr>
            </a:pPr>
            <a:r>
              <a:rPr sz="1200" b="0">
                <a:solidFill>
                  <a:srgbClr val="526174"/>
                </a:solidFill>
              </a:rPr>
              <a:t>/ unknown</a:t>
            </a:r>
          </a:p>
        </p:txBody>
      </p:sp>
      <p:sp>
        <p:nvSpPr>
          <p:cNvPr id="24" name="">
            <a:extLst xmlns:a="http://schemas.openxmlformats.org/drawingml/2006/main">
              <a:ext uri="{FF2B5EF4-FFF2-40B4-BE49-F238E27FC236}">
                <a16:creationId xmlns:a16="http://schemas.microsoft.com/office/drawing/2014/main" id="{4912C88C-0C74-4554-BE1C-284B57AE3735}"/>
              </a:ext>
            </a:extLst>
          </p:cNvPr>
          <p:cNvSpPr>
            <a:spLocks xmlns:a="http://schemas.openxmlformats.org/drawingml/2006/main" noGrp="1"/>
          </p:cNvSpPr>
          <p:nvPr/>
        </p:nvSpPr>
        <p:spPr>
          <a:xfrm xmlns:a="http://schemas.openxmlformats.org/drawingml/2006/main">
            <a:off x="895350" y="3781425"/>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0F172A"/>
                </a:solidFill>
              </a:defRPr>
            </a:pPr>
            <a:r>
              <a:rPr sz="1725" b="1">
                <a:solidFill>
                  <a:srgbClr val="0F172A"/>
                </a:solidFill>
              </a:rPr>
              <a:t>Decision rule over response claims c1 ... cn</a:t>
            </a:r>
          </a:p>
        </p:txBody>
      </p:sp>
      <p:sp>
        <p:nvSpPr>
          <p:cNvPr id="25" name="">
            <a:extLst xmlns:a="http://schemas.openxmlformats.org/drawingml/2006/main">
              <a:ext uri="{FF2B5EF4-FFF2-40B4-BE49-F238E27FC236}">
                <a16:creationId xmlns:a16="http://schemas.microsoft.com/office/drawing/2014/main" id="{4AC7980A-B9BF-4D41-B626-D3906E46B4CF}"/>
              </a:ext>
            </a:extLst>
          </p:cNvPr>
          <p:cNvSpPr>
            <a:spLocks xmlns:a="http://schemas.openxmlformats.org/drawingml/2006/main" noGrp="1"/>
          </p:cNvSpPr>
          <p:nvPr/>
        </p:nvSpPr>
        <p:spPr>
          <a:xfrm xmlns:a="http://schemas.openxmlformats.org/drawingml/2006/main">
            <a:off x="895350" y="4238625"/>
            <a:ext cx="10401300" cy="1352550"/>
          </a:xfrm>
          <a:prstGeom xmlns:a="http://schemas.openxmlformats.org/drawingml/2006/main" prst="roundRect">
            <a:avLst>
              <a:gd name="adj" fmla="val 9859"/>
            </a:avLst>
          </a:prstGeom>
          <a:solidFill xmlns:a="http://schemas.openxmlformats.org/drawingml/2006/main">
            <a:srgbClr val="FFFFFF"/>
          </a:solidFill>
          <a:ln xmlns:a="http://schemas.openxmlformats.org/drawingml/2006/main" w="9525">
            <a:solidFill>
              <a:srgbClr val="D8E0EA"/>
            </a:solidFill>
            <a:prstDash val="solid"/>
          </a:ln>
        </p:spPr>
      </p:sp>
      <p:sp>
        <p:nvSpPr>
          <p:cNvPr id="26" name="">
            <a:extLst xmlns:a="http://schemas.openxmlformats.org/drawingml/2006/main">
              <a:ext uri="{FF2B5EF4-FFF2-40B4-BE49-F238E27FC236}">
                <a16:creationId xmlns:a16="http://schemas.microsoft.com/office/drawing/2014/main" id="{57A5BACA-73F3-4079-86CB-E40C11D39FCB}"/>
              </a:ext>
            </a:extLst>
          </p:cNvPr>
          <p:cNvSpPr>
            <a:spLocks xmlns:a="http://schemas.openxmlformats.org/drawingml/2006/main" noGrp="1"/>
          </p:cNvSpPr>
          <p:nvPr/>
        </p:nvSpPr>
        <p:spPr>
          <a:xfrm xmlns:a="http://schemas.openxmlformats.org/drawingml/2006/main">
            <a:off x="1143000" y="44005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B5483A"/>
                </a:solidFill>
              </a:defRPr>
            </a:pPr>
            <a:r>
              <a:rPr sz="1350" b="1">
                <a:solidFill>
                  <a:srgbClr val="B5483A"/>
                </a:solidFill>
              </a:rPr>
              <a:t>Any contradiction</a:t>
            </a:r>
          </a:p>
        </p:txBody>
      </p:sp>
      <p:sp>
        <p:nvSpPr>
          <p:cNvPr id="27" name="">
            <a:extLst xmlns:a="http://schemas.openxmlformats.org/drawingml/2006/main">
              <a:ext uri="{FF2B5EF4-FFF2-40B4-BE49-F238E27FC236}">
                <a16:creationId xmlns:a16="http://schemas.microsoft.com/office/drawing/2014/main" id="{33FFFBC4-364E-4C8B-B540-0B4AC2D1E2BD}"/>
              </a:ext>
            </a:extLst>
          </p:cNvPr>
          <p:cNvSpPr>
            <a:spLocks xmlns:a="http://schemas.openxmlformats.org/drawingml/2006/main" noGrp="1"/>
          </p:cNvSpPr>
          <p:nvPr/>
        </p:nvSpPr>
        <p:spPr>
          <a:xfrm xmlns:a="http://schemas.openxmlformats.org/drawingml/2006/main">
            <a:off x="3524250" y="4400550"/>
            <a:ext cx="561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0F172A"/>
                </a:solidFill>
              </a:defRPr>
            </a:pPr>
            <a:r>
              <a:rPr sz="1275" b="0">
                <a:solidFill>
                  <a:srgbClr val="0F172A"/>
                </a:solidFill>
              </a:rPr>
              <a:t>exists i: state(ci) = contradict</a:t>
            </a:r>
          </a:p>
        </p:txBody>
      </p:sp>
      <p:sp>
        <p:nvSpPr>
          <p:cNvPr id="28" name="">
            <a:extLst xmlns:a="http://schemas.openxmlformats.org/drawingml/2006/main">
              <a:ext uri="{FF2B5EF4-FFF2-40B4-BE49-F238E27FC236}">
                <a16:creationId xmlns:a16="http://schemas.microsoft.com/office/drawing/2014/main" id="{5406CFE6-0116-4C53-999F-294883A94172}"/>
              </a:ext>
            </a:extLst>
          </p:cNvPr>
          <p:cNvSpPr>
            <a:spLocks xmlns:a="http://schemas.openxmlformats.org/drawingml/2006/main" noGrp="1"/>
          </p:cNvSpPr>
          <p:nvPr/>
        </p:nvSpPr>
        <p:spPr>
          <a:xfrm xmlns:a="http://schemas.openxmlformats.org/drawingml/2006/main">
            <a:off x="9525000" y="440055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B5483A"/>
                </a:solidFill>
              </a:defRPr>
            </a:pPr>
            <a:r>
              <a:rPr sz="1350" b="1">
                <a:solidFill>
                  <a:srgbClr val="B5483A"/>
                </a:solidFill>
              </a:rPr>
              <a:t>label 0</a:t>
            </a:r>
          </a:p>
        </p:txBody>
      </p:sp>
      <p:sp>
        <p:nvSpPr>
          <p:cNvPr id="29" name="">
            <a:extLst xmlns:a="http://schemas.openxmlformats.org/drawingml/2006/main">
              <a:ext uri="{FF2B5EF4-FFF2-40B4-BE49-F238E27FC236}">
                <a16:creationId xmlns:a16="http://schemas.microsoft.com/office/drawing/2014/main" id="{3945EB85-5503-4CA8-BDEA-8B87A837503E}"/>
              </a:ext>
            </a:extLst>
          </p:cNvPr>
          <p:cNvSpPr>
            <a:spLocks xmlns:a="http://schemas.openxmlformats.org/drawingml/2006/main" noGrp="1"/>
          </p:cNvSpPr>
          <p:nvPr/>
        </p:nvSpPr>
        <p:spPr>
          <a:xfrm xmlns:a="http://schemas.openxmlformats.org/drawingml/2006/main">
            <a:off x="1066800" y="4705350"/>
            <a:ext cx="1005840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30" name="">
            <a:extLst xmlns:a="http://schemas.openxmlformats.org/drawingml/2006/main">
              <a:ext uri="{FF2B5EF4-FFF2-40B4-BE49-F238E27FC236}">
                <a16:creationId xmlns:a16="http://schemas.microsoft.com/office/drawing/2014/main" id="{43ED16CD-5045-49D8-A161-59ED37F306F1}"/>
              </a:ext>
            </a:extLst>
          </p:cNvPr>
          <p:cNvSpPr>
            <a:spLocks xmlns:a="http://schemas.openxmlformats.org/drawingml/2006/main" noGrp="1"/>
          </p:cNvSpPr>
          <p:nvPr/>
        </p:nvSpPr>
        <p:spPr>
          <a:xfrm xmlns:a="http://schemas.openxmlformats.org/drawingml/2006/main">
            <a:off x="1143000" y="476250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2A8C82"/>
                </a:solidFill>
              </a:defRPr>
            </a:pPr>
            <a:r>
              <a:rPr sz="1350" b="1">
                <a:solidFill>
                  <a:srgbClr val="2A8C82"/>
                </a:solidFill>
              </a:rPr>
              <a:t>Complete support</a:t>
            </a:r>
          </a:p>
        </p:txBody>
      </p:sp>
      <p:sp>
        <p:nvSpPr>
          <p:cNvPr id="31" name="">
            <a:extLst xmlns:a="http://schemas.openxmlformats.org/drawingml/2006/main">
              <a:ext uri="{FF2B5EF4-FFF2-40B4-BE49-F238E27FC236}">
                <a16:creationId xmlns:a16="http://schemas.microsoft.com/office/drawing/2014/main" id="{2E87090E-8438-4044-8E5C-7EFAC5D05748}"/>
              </a:ext>
            </a:extLst>
          </p:cNvPr>
          <p:cNvSpPr>
            <a:spLocks xmlns:a="http://schemas.openxmlformats.org/drawingml/2006/main" noGrp="1"/>
          </p:cNvSpPr>
          <p:nvPr/>
        </p:nvSpPr>
        <p:spPr>
          <a:xfrm xmlns:a="http://schemas.openxmlformats.org/drawingml/2006/main">
            <a:off x="3524250" y="4762500"/>
            <a:ext cx="561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0F172A"/>
                </a:solidFill>
              </a:defRPr>
            </a:pPr>
            <a:r>
              <a:rPr sz="1275" b="0">
                <a:solidFill>
                  <a:srgbClr val="0F172A"/>
                </a:solidFill>
              </a:rPr>
              <a:t>for all i: state(ci) = support; no extra factual claim</a:t>
            </a:r>
          </a:p>
        </p:txBody>
      </p:sp>
      <p:sp>
        <p:nvSpPr>
          <p:cNvPr id="32" name="">
            <a:extLst xmlns:a="http://schemas.openxmlformats.org/drawingml/2006/main">
              <a:ext uri="{FF2B5EF4-FFF2-40B4-BE49-F238E27FC236}">
                <a16:creationId xmlns:a16="http://schemas.microsoft.com/office/drawing/2014/main" id="{05F84C65-850F-4245-A06F-EEBA1D8C766D}"/>
              </a:ext>
            </a:extLst>
          </p:cNvPr>
          <p:cNvSpPr>
            <a:spLocks xmlns:a="http://schemas.openxmlformats.org/drawingml/2006/main" noGrp="1"/>
          </p:cNvSpPr>
          <p:nvPr/>
        </p:nvSpPr>
        <p:spPr>
          <a:xfrm xmlns:a="http://schemas.openxmlformats.org/drawingml/2006/main">
            <a:off x="9525000" y="476250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2A8C82"/>
                </a:solidFill>
              </a:defRPr>
            </a:pPr>
            <a:r>
              <a:rPr sz="1350" b="1">
                <a:solidFill>
                  <a:srgbClr val="2A8C82"/>
                </a:solidFill>
              </a:rPr>
              <a:t>label 1</a:t>
            </a:r>
          </a:p>
        </p:txBody>
      </p:sp>
      <p:sp>
        <p:nvSpPr>
          <p:cNvPr id="33" name="">
            <a:extLst xmlns:a="http://schemas.openxmlformats.org/drawingml/2006/main">
              <a:ext uri="{FF2B5EF4-FFF2-40B4-BE49-F238E27FC236}">
                <a16:creationId xmlns:a16="http://schemas.microsoft.com/office/drawing/2014/main" id="{D8D624B9-F5CD-4BFC-92BE-0C285BF1F5BD}"/>
              </a:ext>
            </a:extLst>
          </p:cNvPr>
          <p:cNvSpPr>
            <a:spLocks xmlns:a="http://schemas.openxmlformats.org/drawingml/2006/main" noGrp="1"/>
          </p:cNvSpPr>
          <p:nvPr/>
        </p:nvSpPr>
        <p:spPr>
          <a:xfrm xmlns:a="http://schemas.openxmlformats.org/drawingml/2006/main">
            <a:off x="1066800" y="5067300"/>
            <a:ext cx="1005840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34" name="">
            <a:extLst xmlns:a="http://schemas.openxmlformats.org/drawingml/2006/main">
              <a:ext uri="{FF2B5EF4-FFF2-40B4-BE49-F238E27FC236}">
                <a16:creationId xmlns:a16="http://schemas.microsoft.com/office/drawing/2014/main" id="{AB0A64E9-697C-485A-9AEE-26D9011FD637}"/>
              </a:ext>
            </a:extLst>
          </p:cNvPr>
          <p:cNvSpPr>
            <a:spLocks xmlns:a="http://schemas.openxmlformats.org/drawingml/2006/main" noGrp="1"/>
          </p:cNvSpPr>
          <p:nvPr/>
        </p:nvSpPr>
        <p:spPr>
          <a:xfrm xmlns:a="http://schemas.openxmlformats.org/drawingml/2006/main">
            <a:off x="1143000" y="51244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D59B32"/>
                </a:solidFill>
              </a:defRPr>
            </a:pPr>
            <a:r>
              <a:rPr sz="1350" b="1">
                <a:solidFill>
                  <a:srgbClr val="D59B32"/>
                </a:solidFill>
              </a:rPr>
              <a:t>Incomplete alignment</a:t>
            </a:r>
          </a:p>
        </p:txBody>
      </p:sp>
      <p:sp>
        <p:nvSpPr>
          <p:cNvPr id="35" name="">
            <a:extLst xmlns:a="http://schemas.openxmlformats.org/drawingml/2006/main">
              <a:ext uri="{FF2B5EF4-FFF2-40B4-BE49-F238E27FC236}">
                <a16:creationId xmlns:a16="http://schemas.microsoft.com/office/drawing/2014/main" id="{AEAD6531-9B4B-402A-8D89-0619092D8B23}"/>
              </a:ext>
            </a:extLst>
          </p:cNvPr>
          <p:cNvSpPr>
            <a:spLocks xmlns:a="http://schemas.openxmlformats.org/drawingml/2006/main" noGrp="1"/>
          </p:cNvSpPr>
          <p:nvPr/>
        </p:nvSpPr>
        <p:spPr>
          <a:xfrm xmlns:a="http://schemas.openxmlformats.org/drawingml/2006/main">
            <a:off x="3524250" y="5124450"/>
            <a:ext cx="561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0F172A"/>
                </a:solidFill>
              </a:defRPr>
            </a:pPr>
            <a:r>
              <a:rPr sz="1275" b="0">
                <a:solidFill>
                  <a:srgbClr val="0F172A"/>
                </a:solidFill>
              </a:rPr>
              <a:t>otherwise</a:t>
            </a:r>
          </a:p>
        </p:txBody>
      </p:sp>
      <p:sp>
        <p:nvSpPr>
          <p:cNvPr id="36" name="">
            <a:extLst xmlns:a="http://schemas.openxmlformats.org/drawingml/2006/main">
              <a:ext uri="{FF2B5EF4-FFF2-40B4-BE49-F238E27FC236}">
                <a16:creationId xmlns:a16="http://schemas.microsoft.com/office/drawing/2014/main" id="{1211FE74-D42A-46C3-81DD-22254E8B4418}"/>
              </a:ext>
            </a:extLst>
          </p:cNvPr>
          <p:cNvSpPr>
            <a:spLocks xmlns:a="http://schemas.openxmlformats.org/drawingml/2006/main" noGrp="1"/>
          </p:cNvSpPr>
          <p:nvPr/>
        </p:nvSpPr>
        <p:spPr>
          <a:xfrm xmlns:a="http://schemas.openxmlformats.org/drawingml/2006/main">
            <a:off x="9525000" y="512445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D59B32"/>
                </a:solidFill>
              </a:defRPr>
            </a:pPr>
            <a:r>
              <a:rPr sz="1350" b="1">
                <a:solidFill>
                  <a:srgbClr val="D59B32"/>
                </a:solidFill>
              </a:rPr>
              <a:t>abstain</a:t>
            </a:r>
          </a:p>
        </p:txBody>
      </p:sp>
      <p:sp>
        <p:nvSpPr>
          <p:cNvPr id="37" name="">
            <a:extLst xmlns:a="http://schemas.openxmlformats.org/drawingml/2006/main">
              <a:ext uri="{FF2B5EF4-FFF2-40B4-BE49-F238E27FC236}">
                <a16:creationId xmlns:a16="http://schemas.microsoft.com/office/drawing/2014/main" id="{0ABEBAE3-0415-4DFC-B53D-ADE8883410D6}"/>
              </a:ext>
            </a:extLst>
          </p:cNvPr>
          <p:cNvSpPr>
            <a:spLocks xmlns:a="http://schemas.openxmlformats.org/drawingml/2006/main" noGrp="1"/>
          </p:cNvSpPr>
          <p:nvPr/>
        </p:nvSpPr>
        <p:spPr>
          <a:xfrm xmlns:a="http://schemas.openxmlformats.org/drawingml/2006/main">
            <a:off x="685800" y="6372225"/>
            <a:ext cx="1082040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38" name="source-7">
            <a:extLst xmlns:a="http://schemas.openxmlformats.org/drawingml/2006/main">
              <a:ext uri="{FF2B5EF4-FFF2-40B4-BE49-F238E27FC236}">
                <a16:creationId xmlns:a16="http://schemas.microsoft.com/office/drawing/2014/main" id="{F546C00B-9E07-4654-B172-D7C0D544826D}"/>
              </a:ext>
            </a:extLst>
          </p:cNvPr>
          <p:cNvSpPr>
            <a:spLocks xmlns:a="http://schemas.openxmlformats.org/drawingml/2006/main" noGrp="1"/>
          </p:cNvSpPr>
          <p:nvPr/>
        </p:nvSpPr>
        <p:spPr>
          <a:xfrm xmlns:a="http://schemas.openxmlformats.org/drawingml/2006/main">
            <a:off x="685800" y="6457950"/>
            <a:ext cx="9810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526174"/>
                </a:solidFill>
              </a:defRPr>
            </a:pPr>
            <a:r>
              <a:rPr sz="975" b="0">
                <a:solidFill>
                  <a:srgbClr val="526174"/>
                </a:solidFill>
              </a:rPr>
              <a:t>[3] Context-faithfulness task design  [7] v91 clause and claim verifier</a:t>
            </a:r>
          </a:p>
        </p:txBody>
      </p:sp>
      <p:sp>
        <p:nvSpPr>
          <p:cNvPr id="39" name="page-7">
            <a:extLst xmlns:a="http://schemas.openxmlformats.org/drawingml/2006/main">
              <a:ext uri="{FF2B5EF4-FFF2-40B4-BE49-F238E27FC236}">
                <a16:creationId xmlns:a16="http://schemas.microsoft.com/office/drawing/2014/main" id="{B74EA6A6-5F2F-4FA9-A61B-DEAC2B829C43}"/>
              </a:ext>
            </a:extLst>
          </p:cNvPr>
          <p:cNvSpPr>
            <a:spLocks xmlns:a="http://schemas.openxmlformats.org/drawingml/2006/main" noGrp="1"/>
          </p:cNvSpPr>
          <p:nvPr/>
        </p:nvSpPr>
        <p:spPr>
          <a:xfrm xmlns:a="http://schemas.openxmlformats.org/drawingml/2006/main">
            <a:off x="10810875" y="6457950"/>
            <a:ext cx="6953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1F5A7A"/>
                </a:solidFill>
              </a:defRPr>
            </a:pPr>
            <a:r>
              <a:rPr sz="975" b="1">
                <a:solidFill>
                  <a:srgbClr val="1F5A7A"/>
                </a:solidFill>
              </a:rPr>
              <a:t>07</a:t>
            </a:r>
          </a:p>
        </p:txBody>
      </p:sp>
    </p:spTree>
    <p:extLst>
      <p:ext uri="{BB962C8B-B14F-4D97-AF65-F5344CB8AC3E}">
        <p14:creationId xmlns:p14="http://schemas.microsoft.com/office/powerpoint/2010/main" val="124655111"/>
      </p:ext>
    </p:extLst>
  </p:cSld>
</p:sld>
</file>

<file path=ppt/slides/slide8.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0" name="kicker-8">
            <a:extLst xmlns:a="http://schemas.openxmlformats.org/drawingml/2006/main">
              <a:ext uri="{FF2B5EF4-FFF2-40B4-BE49-F238E27FC236}">
                <a16:creationId xmlns:a16="http://schemas.microsoft.com/office/drawing/2014/main" id="{5298A06B-8617-4F6E-8068-8D17FE2C8F6B}"/>
              </a:ext>
            </a:extLst>
          </p:cNvPr>
          <p:cNvSpPr>
            <a:spLocks xmlns:a="http://schemas.openxmlformats.org/drawingml/2006/main" noGrp="1"/>
          </p:cNvSpPr>
          <p:nvPr/>
        </p:nvSpPr>
        <p:spPr>
          <a:xfrm xmlns:a="http://schemas.openxmlformats.org/drawingml/2006/main">
            <a:off x="685800" y="32385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F5A7A"/>
                </a:solidFill>
              </a:defRPr>
            </a:pPr>
            <a:r>
              <a:rPr sz="1050" b="1">
                <a:solidFill>
                  <a:srgbClr val="1F5A7A"/>
                </a:solidFill>
              </a:rPr>
              <a:t>TEAM HUNTRIX</a:t>
            </a:r>
          </a:p>
        </p:txBody>
      </p:sp>
      <p:sp>
        <p:nvSpPr>
          <p:cNvPr id="2" name="title-8">
            <a:extLst xmlns:a="http://schemas.openxmlformats.org/drawingml/2006/main">
              <a:ext uri="{FF2B5EF4-FFF2-40B4-BE49-F238E27FC236}">
                <a16:creationId xmlns:a16="http://schemas.microsoft.com/office/drawing/2014/main" id="{6E27D82A-9F70-4FA2-96F2-93A1844A3730}"/>
              </a:ext>
            </a:extLst>
          </p:cNvPr>
          <p:cNvSpPr>
            <a:spLocks xmlns:a="http://schemas.openxmlformats.org/drawingml/2006/main" noGrp="1"/>
          </p:cNvSpPr>
          <p:nvPr/>
        </p:nvSpPr>
        <p:spPr>
          <a:xfrm xmlns:a="http://schemas.openxmlformats.org/drawingml/2006/main">
            <a:off x="685800" y="590550"/>
            <a:ext cx="10820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F172A"/>
                </a:solidFill>
              </a:defRPr>
            </a:pPr>
            <a:r>
              <a:rPr sz="2700" b="1">
                <a:solidFill>
                  <a:srgbClr val="0F172A"/>
                </a:solidFill>
              </a:rPr>
              <a:t>Qwen judged 158 rows, not the whole test set</a:t>
            </a:r>
          </a:p>
        </p:txBody>
      </p:sp>
      <p:sp>
        <p:nvSpPr>
          <p:cNvPr id="3" name="">
            <a:extLst xmlns:a="http://schemas.openxmlformats.org/drawingml/2006/main">
              <a:ext uri="{FF2B5EF4-FFF2-40B4-BE49-F238E27FC236}">
                <a16:creationId xmlns:a16="http://schemas.microsoft.com/office/drawing/2014/main" id="{FBF0F63B-024E-495A-8C83-1724C94D2540}"/>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4" name="">
            <a:extLst xmlns:a="http://schemas.openxmlformats.org/drawingml/2006/main">
              <a:ext uri="{FF2B5EF4-FFF2-40B4-BE49-F238E27FC236}">
                <a16:creationId xmlns:a16="http://schemas.microsoft.com/office/drawing/2014/main" id="{F8353FE5-2F96-43EC-9FDA-2CF707F1B769}"/>
              </a:ext>
            </a:extLst>
          </p:cNvPr>
          <p:cNvSpPr>
            <a:spLocks xmlns:a="http://schemas.openxmlformats.org/drawingml/2006/main" noGrp="1"/>
          </p:cNvSpPr>
          <p:nvPr/>
        </p:nvSpPr>
        <p:spPr>
          <a:xfrm xmlns:a="http://schemas.openxmlformats.org/drawingml/2006/main">
            <a:off x="685800" y="1390650"/>
            <a:ext cx="923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526174"/>
                </a:solidFill>
              </a:defRPr>
            </a:pPr>
            <a:r>
              <a:rPr sz="1650" b="0">
                <a:solidFill>
                  <a:srgbClr val="526174"/>
                </a:solidFill>
              </a:rPr>
              <a:t>The fallback was short, deterministic, and biased toward catching hallucinations.</a:t>
            </a:r>
          </a:p>
        </p:txBody>
      </p:sp>
      <p:sp>
        <p:nvSpPr>
          <p:cNvPr id="5" name="">
            <a:extLst xmlns:a="http://schemas.openxmlformats.org/drawingml/2006/main">
              <a:ext uri="{FF2B5EF4-FFF2-40B4-BE49-F238E27FC236}">
                <a16:creationId xmlns:a16="http://schemas.microsoft.com/office/drawing/2014/main" id="{FBFE7C9F-8D65-42E1-9A4F-7B3FAB6AD529}"/>
              </a:ext>
            </a:extLst>
          </p:cNvPr>
          <p:cNvSpPr>
            <a:spLocks xmlns:a="http://schemas.openxmlformats.org/drawingml/2006/main" noGrp="1"/>
          </p:cNvSpPr>
          <p:nvPr/>
        </p:nvSpPr>
        <p:spPr>
          <a:xfrm xmlns:a="http://schemas.openxmlformats.org/drawingml/2006/main">
            <a:off x="914400" y="2114550"/>
            <a:ext cx="4648200" cy="2857500"/>
          </a:xfrm>
          <a:prstGeom xmlns:a="http://schemas.openxmlformats.org/drawingml/2006/main" prst="roundRect">
            <a:avLst>
              <a:gd name="adj" fmla="val 6000"/>
            </a:avLst>
          </a:prstGeom>
          <a:solidFill xmlns:a="http://schemas.openxmlformats.org/drawingml/2006/main">
            <a:srgbClr val="FFFFFF"/>
          </a:solidFill>
          <a:ln xmlns:a="http://schemas.openxmlformats.org/drawingml/2006/main" w="9525">
            <a:solidFill>
              <a:srgbClr val="2A8C82"/>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0348CE73-E379-47A5-AE94-247577A66099}"/>
              </a:ext>
            </a:extLst>
          </p:cNvPr>
          <p:cNvSpPr>
            <a:spLocks xmlns:a="http://schemas.openxmlformats.org/drawingml/2006/main" noGrp="1"/>
          </p:cNvSpPr>
          <p:nvPr/>
        </p:nvSpPr>
        <p:spPr>
          <a:xfrm xmlns:a="http://schemas.openxmlformats.org/drawingml/2006/main">
            <a:off x="1257300" y="2381250"/>
            <a:ext cx="3905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2A8C82"/>
                </a:solidFill>
              </a:defRPr>
            </a:pPr>
            <a:r>
              <a:rPr sz="2025" b="1">
                <a:solidFill>
                  <a:srgbClr val="2A8C82"/>
                </a:solidFill>
              </a:rPr>
              <a:t>Context row</a:t>
            </a:r>
          </a:p>
        </p:txBody>
      </p:sp>
      <p:sp>
        <p:nvSpPr>
          <p:cNvPr id="7" name="">
            <a:extLst xmlns:a="http://schemas.openxmlformats.org/drawingml/2006/main">
              <a:ext uri="{FF2B5EF4-FFF2-40B4-BE49-F238E27FC236}">
                <a16:creationId xmlns:a16="http://schemas.microsoft.com/office/drawing/2014/main" id="{42347320-3CF0-4079-8141-D9B5B75A5080}"/>
              </a:ext>
            </a:extLst>
          </p:cNvPr>
          <p:cNvSpPr>
            <a:spLocks xmlns:a="http://schemas.openxmlformats.org/drawingml/2006/main" noGrp="1"/>
          </p:cNvSpPr>
          <p:nvPr/>
        </p:nvSpPr>
        <p:spPr>
          <a:xfrm xmlns:a="http://schemas.openxmlformats.org/drawingml/2006/main">
            <a:off x="1257300" y="2952750"/>
            <a:ext cx="3905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0F172A"/>
                </a:solidFill>
              </a:defRPr>
            </a:pPr>
            <a:r>
              <a:rPr sz="2550" b="1">
                <a:solidFill>
                  <a:srgbClr val="0F172A"/>
                </a:solidFill>
              </a:rPr>
              <a:t>1 entailment view</a:t>
            </a:r>
          </a:p>
        </p:txBody>
      </p:sp>
      <p:sp>
        <p:nvSpPr>
          <p:cNvPr id="8" name="">
            <a:extLst xmlns:a="http://schemas.openxmlformats.org/drawingml/2006/main">
              <a:ext uri="{FF2B5EF4-FFF2-40B4-BE49-F238E27FC236}">
                <a16:creationId xmlns:a16="http://schemas.microsoft.com/office/drawing/2014/main" id="{6B024660-783D-4A2C-B93B-31595C209AEF}"/>
              </a:ext>
            </a:extLst>
          </p:cNvPr>
          <p:cNvSpPr>
            <a:spLocks xmlns:a="http://schemas.openxmlformats.org/drawingml/2006/main" noGrp="1"/>
          </p:cNvSpPr>
          <p:nvPr/>
        </p:nvSpPr>
        <p:spPr>
          <a:xfrm xmlns:a="http://schemas.openxmlformats.org/drawingml/2006/main">
            <a:off x="1257300" y="3562350"/>
            <a:ext cx="3619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526174"/>
                </a:solidFill>
              </a:defRPr>
            </a:pPr>
            <a:r>
              <a:rPr sz="1425" b="0">
                <a:solidFill>
                  <a:srgbClr val="526174"/>
                </a:solidFill>
              </a:rPr>
              <a:t>Compare the response against the supplied passage.</a:t>
            </a:r>
          </a:p>
        </p:txBody>
      </p:sp>
      <p:sp>
        <p:nvSpPr>
          <p:cNvPr id="9" name="">
            <a:extLst xmlns:a="http://schemas.openxmlformats.org/drawingml/2006/main">
              <a:ext uri="{FF2B5EF4-FFF2-40B4-BE49-F238E27FC236}">
                <a16:creationId xmlns:a16="http://schemas.microsoft.com/office/drawing/2014/main" id="{4A060188-BD71-4212-BCBE-D412B7E5ABEE}"/>
              </a:ext>
            </a:extLst>
          </p:cNvPr>
          <p:cNvSpPr>
            <a:spLocks xmlns:a="http://schemas.openxmlformats.org/drawingml/2006/main" noGrp="1"/>
          </p:cNvSpPr>
          <p:nvPr/>
        </p:nvSpPr>
        <p:spPr>
          <a:xfrm xmlns:a="http://schemas.openxmlformats.org/drawingml/2006/main">
            <a:off x="1257300" y="4324350"/>
            <a:ext cx="3619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B5483A"/>
                </a:solidFill>
              </a:defRPr>
            </a:pPr>
            <a:r>
              <a:rPr sz="1350" b="1">
                <a:solidFill>
                  <a:srgbClr val="B5483A"/>
                </a:solidFill>
              </a:rPr>
              <a:t>Any contradiction returns 0.</a:t>
            </a:r>
          </a:p>
        </p:txBody>
      </p:sp>
      <p:sp>
        <p:nvSpPr>
          <p:cNvPr id="10" name="">
            <a:extLst xmlns:a="http://schemas.openxmlformats.org/drawingml/2006/main">
              <a:ext uri="{FF2B5EF4-FFF2-40B4-BE49-F238E27FC236}">
                <a16:creationId xmlns:a16="http://schemas.microsoft.com/office/drawing/2014/main" id="{B4F4A36F-06AC-4C38-A17E-81DF3D901C08}"/>
              </a:ext>
            </a:extLst>
          </p:cNvPr>
          <p:cNvSpPr>
            <a:spLocks xmlns:a="http://schemas.openxmlformats.org/drawingml/2006/main" noGrp="1"/>
          </p:cNvSpPr>
          <p:nvPr/>
        </p:nvSpPr>
        <p:spPr>
          <a:xfrm xmlns:a="http://schemas.openxmlformats.org/drawingml/2006/main">
            <a:off x="6629400" y="2114550"/>
            <a:ext cx="4648200" cy="2857500"/>
          </a:xfrm>
          <a:prstGeom xmlns:a="http://schemas.openxmlformats.org/drawingml/2006/main" prst="roundRect">
            <a:avLst>
              <a:gd name="adj" fmla="val 6000"/>
            </a:avLst>
          </a:prstGeom>
          <a:solidFill xmlns:a="http://schemas.openxmlformats.org/drawingml/2006/main">
            <a:srgbClr val="FFFFFF"/>
          </a:solidFill>
          <a:ln xmlns:a="http://schemas.openxmlformats.org/drawingml/2006/main" w="9525">
            <a:solidFill>
              <a:srgbClr val="D59B32"/>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40168E13-2F5C-4A59-A34D-99769232ABCC}"/>
              </a:ext>
            </a:extLst>
          </p:cNvPr>
          <p:cNvSpPr>
            <a:spLocks xmlns:a="http://schemas.openxmlformats.org/drawingml/2006/main" noGrp="1"/>
          </p:cNvSpPr>
          <p:nvPr/>
        </p:nvSpPr>
        <p:spPr>
          <a:xfrm xmlns:a="http://schemas.openxmlformats.org/drawingml/2006/main">
            <a:off x="6972300" y="2381250"/>
            <a:ext cx="3905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D59B32"/>
                </a:solidFill>
              </a:defRPr>
            </a:pPr>
            <a:r>
              <a:rPr sz="2025" b="1">
                <a:solidFill>
                  <a:srgbClr val="D59B32"/>
                </a:solidFill>
              </a:rPr>
              <a:t>No-context row</a:t>
            </a:r>
          </a:p>
        </p:txBody>
      </p:sp>
      <p:sp>
        <p:nvSpPr>
          <p:cNvPr id="12" name="">
            <a:extLst xmlns:a="http://schemas.openxmlformats.org/drawingml/2006/main">
              <a:ext uri="{FF2B5EF4-FFF2-40B4-BE49-F238E27FC236}">
                <a16:creationId xmlns:a16="http://schemas.microsoft.com/office/drawing/2014/main" id="{0FB0918B-B07E-40F0-A678-64EF347D7D31}"/>
              </a:ext>
            </a:extLst>
          </p:cNvPr>
          <p:cNvSpPr>
            <a:spLocks xmlns:a="http://schemas.openxmlformats.org/drawingml/2006/main" noGrp="1"/>
          </p:cNvSpPr>
          <p:nvPr/>
        </p:nvSpPr>
        <p:spPr>
          <a:xfrm xmlns:a="http://schemas.openxmlformats.org/drawingml/2006/main">
            <a:off x="6972300" y="2952750"/>
            <a:ext cx="3905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0F172A"/>
                </a:solidFill>
              </a:defRPr>
            </a:pPr>
            <a:r>
              <a:rPr sz="2550" b="1">
                <a:solidFill>
                  <a:srgbClr val="0F172A"/>
                </a:solidFill>
              </a:rPr>
              <a:t>Up to 3 short views</a:t>
            </a:r>
          </a:p>
        </p:txBody>
      </p:sp>
      <p:sp>
        <p:nvSpPr>
          <p:cNvPr id="13" name="">
            <a:extLst xmlns:a="http://schemas.openxmlformats.org/drawingml/2006/main">
              <a:ext uri="{FF2B5EF4-FFF2-40B4-BE49-F238E27FC236}">
                <a16:creationId xmlns:a16="http://schemas.microsoft.com/office/drawing/2014/main" id="{7B17F0DE-57EA-4C04-B1CE-278946CDB852}"/>
              </a:ext>
            </a:extLst>
          </p:cNvPr>
          <p:cNvSpPr>
            <a:spLocks xmlns:a="http://schemas.openxmlformats.org/drawingml/2006/main" noGrp="1"/>
          </p:cNvSpPr>
          <p:nvPr/>
        </p:nvSpPr>
        <p:spPr>
          <a:xfrm xmlns:a="http://schemas.openxmlformats.org/drawingml/2006/main">
            <a:off x="6972300" y="3562350"/>
            <a:ext cx="3905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0">
                <a:solidFill>
                  <a:srgbClr val="526174"/>
                </a:solidFill>
              </a:defRPr>
            </a:pPr>
            <a:r>
              <a:rPr sz="1350" b="0">
                <a:solidFill>
                  <a:srgbClr val="526174"/>
                </a:solidFill>
              </a:rPr>
              <a:t>Fact check  |  exam grading  |  zero-bias check</a:t>
            </a:r>
          </a:p>
        </p:txBody>
      </p:sp>
      <p:sp>
        <p:nvSpPr>
          <p:cNvPr id="14" name="">
            <a:extLst xmlns:a="http://schemas.openxmlformats.org/drawingml/2006/main">
              <a:ext uri="{FF2B5EF4-FFF2-40B4-BE49-F238E27FC236}">
                <a16:creationId xmlns:a16="http://schemas.microsoft.com/office/drawing/2014/main" id="{855A2F45-91C7-4CD8-9906-E5251FB5FCE6}"/>
              </a:ext>
            </a:extLst>
          </p:cNvPr>
          <p:cNvSpPr>
            <a:spLocks xmlns:a="http://schemas.openxmlformats.org/drawingml/2006/main" noGrp="1"/>
          </p:cNvSpPr>
          <p:nvPr/>
        </p:nvSpPr>
        <p:spPr>
          <a:xfrm xmlns:a="http://schemas.openxmlformats.org/drawingml/2006/main">
            <a:off x="6972300" y="4324350"/>
            <a:ext cx="3905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B5483A"/>
                </a:solidFill>
              </a:defRPr>
            </a:pPr>
            <a:r>
              <a:rPr sz="1350" b="1">
                <a:solidFill>
                  <a:srgbClr val="B5483A"/>
                </a:solidFill>
              </a:rPr>
              <a:t>Label 1 requires unanimous positive votes.</a:t>
            </a:r>
          </a:p>
        </p:txBody>
      </p:sp>
      <p:sp>
        <p:nvSpPr>
          <p:cNvPr id="15" name="">
            <a:extLst xmlns:a="http://schemas.openxmlformats.org/drawingml/2006/main">
              <a:ext uri="{FF2B5EF4-FFF2-40B4-BE49-F238E27FC236}">
                <a16:creationId xmlns:a16="http://schemas.microsoft.com/office/drawing/2014/main" id="{2F0C3947-4261-4F3C-810D-473B1D53FE6B}"/>
              </a:ext>
            </a:extLst>
          </p:cNvPr>
          <p:cNvSpPr>
            <a:spLocks xmlns:a="http://schemas.openxmlformats.org/drawingml/2006/main" noGrp="1"/>
          </p:cNvSpPr>
          <p:nvPr/>
        </p:nvSpPr>
        <p:spPr>
          <a:xfrm xmlns:a="http://schemas.openxmlformats.org/drawingml/2006/main">
            <a:off x="2381250" y="5391150"/>
            <a:ext cx="7429500" cy="590550"/>
          </a:xfrm>
          <a:prstGeom xmlns:a="http://schemas.openxmlformats.org/drawingml/2006/main" prst="roundRect">
            <a:avLst>
              <a:gd name="adj" fmla="val 22581"/>
            </a:avLst>
          </a:prstGeom>
          <a:solidFill xmlns:a="http://schemas.openxmlformats.org/drawingml/2006/main">
            <a:srgbClr val="E7EEF4"/>
          </a:solidFill>
          <a:ln xmlns:a="http://schemas.openxmlformats.org/drawingml/2006/main" w="9525">
            <a:solidFill>
              <a:srgbClr val="1F5A7A"/>
            </a:solidFill>
            <a:prstDash val="solid"/>
          </a:ln>
        </p:spPr>
      </p:sp>
      <p:sp>
        <p:nvSpPr>
          <p:cNvPr id="16" name="">
            <a:extLst xmlns:a="http://schemas.openxmlformats.org/drawingml/2006/main">
              <a:ext uri="{FF2B5EF4-FFF2-40B4-BE49-F238E27FC236}">
                <a16:creationId xmlns:a16="http://schemas.microsoft.com/office/drawing/2014/main" id="{24293D41-8142-45B0-8F5B-73941B12B7FF}"/>
              </a:ext>
            </a:extLst>
          </p:cNvPr>
          <p:cNvSpPr>
            <a:spLocks xmlns:a="http://schemas.openxmlformats.org/drawingml/2006/main" noGrp="1"/>
          </p:cNvSpPr>
          <p:nvPr/>
        </p:nvSpPr>
        <p:spPr>
          <a:xfrm xmlns:a="http://schemas.openxmlformats.org/drawingml/2006/main">
            <a:off x="2667000" y="5553075"/>
            <a:ext cx="685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1F5A7A"/>
                </a:solidFill>
              </a:defRPr>
            </a:pPr>
            <a:r>
              <a:rPr sz="1275" b="1">
                <a:solidFill>
                  <a:srgbClr val="1F5A7A"/>
                </a:solidFill>
              </a:rPr>
              <a:t>Qwen3.6-27B Q4_K_P  |  one-token grammar  |  fixed seeds and batches</a:t>
            </a:r>
          </a:p>
        </p:txBody>
      </p:sp>
      <p:sp>
        <p:nvSpPr>
          <p:cNvPr id="17" name="">
            <a:extLst xmlns:a="http://schemas.openxmlformats.org/drawingml/2006/main">
              <a:ext uri="{FF2B5EF4-FFF2-40B4-BE49-F238E27FC236}">
                <a16:creationId xmlns:a16="http://schemas.microsoft.com/office/drawing/2014/main" id="{EFAB9D1D-F80F-4422-9B2D-118EDFC1CC21}"/>
              </a:ext>
            </a:extLst>
          </p:cNvPr>
          <p:cNvSpPr>
            <a:spLocks xmlns:a="http://schemas.openxmlformats.org/drawingml/2006/main" noGrp="1"/>
          </p:cNvSpPr>
          <p:nvPr/>
        </p:nvSpPr>
        <p:spPr>
          <a:xfrm xmlns:a="http://schemas.openxmlformats.org/drawingml/2006/main">
            <a:off x="685800" y="6372225"/>
            <a:ext cx="1082040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18" name="source-8">
            <a:extLst xmlns:a="http://schemas.openxmlformats.org/drawingml/2006/main">
              <a:ext uri="{FF2B5EF4-FFF2-40B4-BE49-F238E27FC236}">
                <a16:creationId xmlns:a16="http://schemas.microsoft.com/office/drawing/2014/main" id="{4E007BC4-8DB6-48F5-AA85-1BBC01C6DFAC}"/>
              </a:ext>
            </a:extLst>
          </p:cNvPr>
          <p:cNvSpPr>
            <a:spLocks xmlns:a="http://schemas.openxmlformats.org/drawingml/2006/main" noGrp="1"/>
          </p:cNvSpPr>
          <p:nvPr/>
        </p:nvSpPr>
        <p:spPr>
          <a:xfrm xmlns:a="http://schemas.openxmlformats.org/drawingml/2006/main">
            <a:off x="685800" y="6457950"/>
            <a:ext cx="9810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526174"/>
                </a:solidFill>
              </a:defRPr>
            </a:pPr>
            <a:r>
              <a:rPr sz="975" b="0">
                <a:solidFill>
                  <a:srgbClr val="526174"/>
                </a:solidFill>
              </a:rPr>
              <a:t>[5] Qwen3.6 model card  [6] llama.cpp b9637  [7] Frozen judge configuration</a:t>
            </a:r>
          </a:p>
        </p:txBody>
      </p:sp>
      <p:sp>
        <p:nvSpPr>
          <p:cNvPr id="19" name="page-8">
            <a:extLst xmlns:a="http://schemas.openxmlformats.org/drawingml/2006/main">
              <a:ext uri="{FF2B5EF4-FFF2-40B4-BE49-F238E27FC236}">
                <a16:creationId xmlns:a16="http://schemas.microsoft.com/office/drawing/2014/main" id="{8756C569-474E-4061-AEE6-BB9ADEA740FB}"/>
              </a:ext>
            </a:extLst>
          </p:cNvPr>
          <p:cNvSpPr>
            <a:spLocks xmlns:a="http://schemas.openxmlformats.org/drawingml/2006/main" noGrp="1"/>
          </p:cNvSpPr>
          <p:nvPr/>
        </p:nvSpPr>
        <p:spPr>
          <a:xfrm xmlns:a="http://schemas.openxmlformats.org/drawingml/2006/main">
            <a:off x="10810875" y="6457950"/>
            <a:ext cx="6953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1F5A7A"/>
                </a:solidFill>
              </a:defRPr>
            </a:pPr>
            <a:r>
              <a:rPr sz="975" b="1">
                <a:solidFill>
                  <a:srgbClr val="1F5A7A"/>
                </a:solidFill>
              </a:rPr>
              <a:t>08</a:t>
            </a:r>
          </a:p>
        </p:txBody>
      </p:sp>
    </p:spTree>
    <p:extLst>
      <p:ext uri="{BB962C8B-B14F-4D97-AF65-F5344CB8AC3E}">
        <p14:creationId xmlns:p14="http://schemas.microsoft.com/office/powerpoint/2010/main" val="1473271707"/>
      </p:ext>
    </p:extLst>
  </p:cSld>
</p:sld>
</file>

<file path=ppt/slides/slide9.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53" name="kicker-9">
            <a:extLst xmlns:a="http://schemas.openxmlformats.org/drawingml/2006/main">
              <a:ext uri="{FF2B5EF4-FFF2-40B4-BE49-F238E27FC236}">
                <a16:creationId xmlns:a16="http://schemas.microsoft.com/office/drawing/2014/main" id="{8257EE52-E139-45DF-AF20-EE525CE75ADF}"/>
              </a:ext>
            </a:extLst>
          </p:cNvPr>
          <p:cNvSpPr>
            <a:spLocks xmlns:a="http://schemas.openxmlformats.org/drawingml/2006/main" noGrp="1"/>
          </p:cNvSpPr>
          <p:nvPr/>
        </p:nvSpPr>
        <p:spPr>
          <a:xfrm xmlns:a="http://schemas.openxmlformats.org/drawingml/2006/main">
            <a:off x="685800" y="32385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F5A7A"/>
                </a:solidFill>
              </a:defRPr>
            </a:pPr>
            <a:r>
              <a:rPr sz="1050" b="1">
                <a:solidFill>
                  <a:srgbClr val="1F5A7A"/>
                </a:solidFill>
              </a:rPr>
              <a:t>TEAM HUNTRIX</a:t>
            </a:r>
          </a:p>
        </p:txBody>
      </p:sp>
      <p:sp>
        <p:nvSpPr>
          <p:cNvPr id="2" name="title-9">
            <a:extLst xmlns:a="http://schemas.openxmlformats.org/drawingml/2006/main">
              <a:ext uri="{FF2B5EF4-FFF2-40B4-BE49-F238E27FC236}">
                <a16:creationId xmlns:a16="http://schemas.microsoft.com/office/drawing/2014/main" id="{3809EA8B-2870-4960-BC32-70B2982C0250}"/>
              </a:ext>
            </a:extLst>
          </p:cNvPr>
          <p:cNvSpPr>
            <a:spLocks xmlns:a="http://schemas.openxmlformats.org/drawingml/2006/main" noGrp="1"/>
          </p:cNvSpPr>
          <p:nvPr/>
        </p:nvSpPr>
        <p:spPr>
          <a:xfrm xmlns:a="http://schemas.openxmlformats.org/drawingml/2006/main">
            <a:off x="685800" y="590550"/>
            <a:ext cx="10820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F172A"/>
                </a:solidFill>
              </a:defRPr>
            </a:pPr>
            <a:r>
              <a:rPr sz="2700" b="1">
                <a:solidFill>
                  <a:srgbClr val="0F172A"/>
                </a:solidFill>
              </a:rPr>
              <a:t>A source record was accepted only after four fields aligned</a:t>
            </a:r>
          </a:p>
        </p:txBody>
      </p:sp>
      <p:sp>
        <p:nvSpPr>
          <p:cNvPr id="3" name="">
            <a:extLst xmlns:a="http://schemas.openxmlformats.org/drawingml/2006/main">
              <a:ext uri="{FF2B5EF4-FFF2-40B4-BE49-F238E27FC236}">
                <a16:creationId xmlns:a16="http://schemas.microsoft.com/office/drawing/2014/main" id="{29615CF5-5CD8-4342-9774-67070826F3F2}"/>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4" name="">
            <a:extLst xmlns:a="http://schemas.openxmlformats.org/drawingml/2006/main">
              <a:ext uri="{FF2B5EF4-FFF2-40B4-BE49-F238E27FC236}">
                <a16:creationId xmlns:a16="http://schemas.microsoft.com/office/drawing/2014/main" id="{AC296A26-8B3B-480E-AE8A-88F76DB2AB45}"/>
              </a:ext>
            </a:extLst>
          </p:cNvPr>
          <p:cNvSpPr>
            <a:spLocks xmlns:a="http://schemas.openxmlformats.org/drawingml/2006/main" noGrp="1"/>
          </p:cNvSpPr>
          <p:nvPr/>
        </p:nvSpPr>
        <p:spPr>
          <a:xfrm xmlns:a="http://schemas.openxmlformats.org/drawingml/2006/main">
            <a:off x="685800" y="1381125"/>
            <a:ext cx="1009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526174"/>
                </a:solidFill>
              </a:defRPr>
            </a:pPr>
            <a:r>
              <a:rPr sz="1575" b="0">
                <a:solidFill>
                  <a:srgbClr val="526174"/>
                </a:solidFill>
              </a:rPr>
              <a:t>The trace preserved why a row was resolved, which source supported it, and which relation was tested.</a:t>
            </a:r>
          </a:p>
        </p:txBody>
      </p:sp>
      <p:sp>
        <p:nvSpPr>
          <p:cNvPr id="5" name="">
            <a:extLst xmlns:a="http://schemas.openxmlformats.org/drawingml/2006/main">
              <a:ext uri="{FF2B5EF4-FFF2-40B4-BE49-F238E27FC236}">
                <a16:creationId xmlns:a16="http://schemas.microsoft.com/office/drawing/2014/main" id="{47365DCD-0320-484F-8CF6-1E9313AB2BC8}"/>
              </a:ext>
            </a:extLst>
          </p:cNvPr>
          <p:cNvSpPr>
            <a:spLocks xmlns:a="http://schemas.openxmlformats.org/drawingml/2006/main" noGrp="1"/>
          </p:cNvSpPr>
          <p:nvPr/>
        </p:nvSpPr>
        <p:spPr>
          <a:xfrm xmlns:a="http://schemas.openxmlformats.org/drawingml/2006/main">
            <a:off x="3276600" y="3352800"/>
            <a:ext cx="590550" cy="247650"/>
          </a:xfrm>
          <a:prstGeom xmlns:a="http://schemas.openxmlformats.org/drawingml/2006/main" prst="rightArrow">
            <a:avLst/>
          </a:prstGeom>
          <a:solidFill xmlns:a="http://schemas.openxmlformats.org/drawingml/2006/main">
            <a:srgbClr val="D8E0EA"/>
          </a:solidFill>
          <a:ln xmlns:a="http://schemas.openxmlformats.org/drawingml/2006/main" w="0">
            <a:solidFill>
              <a:srgbClr val="D8E0EA"/>
            </a:solidFill>
            <a:prstDash val="solid"/>
          </a:ln>
        </p:spPr>
      </p:sp>
      <p:sp>
        <p:nvSpPr>
          <p:cNvPr id="6" name="">
            <a:extLst xmlns:a="http://schemas.openxmlformats.org/drawingml/2006/main">
              <a:ext uri="{FF2B5EF4-FFF2-40B4-BE49-F238E27FC236}">
                <a16:creationId xmlns:a16="http://schemas.microsoft.com/office/drawing/2014/main" id="{A2C97721-D162-43E7-B907-4811A328FDCB}"/>
              </a:ext>
            </a:extLst>
          </p:cNvPr>
          <p:cNvSpPr>
            <a:spLocks xmlns:a="http://schemas.openxmlformats.org/drawingml/2006/main" noGrp="1"/>
          </p:cNvSpPr>
          <p:nvPr/>
        </p:nvSpPr>
        <p:spPr>
          <a:xfrm xmlns:a="http://schemas.openxmlformats.org/drawingml/2006/main">
            <a:off x="7810500" y="3352800"/>
            <a:ext cx="590550" cy="247650"/>
          </a:xfrm>
          <a:prstGeom xmlns:a="http://schemas.openxmlformats.org/drawingml/2006/main" prst="rightArrow">
            <a:avLst/>
          </a:prstGeom>
          <a:solidFill xmlns:a="http://schemas.openxmlformats.org/drawingml/2006/main">
            <a:srgbClr val="D8E0EA"/>
          </a:solidFill>
          <a:ln xmlns:a="http://schemas.openxmlformats.org/drawingml/2006/main" w="0">
            <a:solidFill>
              <a:srgbClr val="D8E0EA"/>
            </a:solidFill>
            <a:prstDash val="solid"/>
          </a:ln>
        </p:spPr>
      </p:sp>
      <p:sp>
        <p:nvSpPr>
          <p:cNvPr id="7" name="">
            <a:extLst xmlns:a="http://schemas.openxmlformats.org/drawingml/2006/main">
              <a:ext uri="{FF2B5EF4-FFF2-40B4-BE49-F238E27FC236}">
                <a16:creationId xmlns:a16="http://schemas.microsoft.com/office/drawing/2014/main" id="{5955013A-4362-4D85-BFD8-D401EE1C08C5}"/>
              </a:ext>
            </a:extLst>
          </p:cNvPr>
          <p:cNvSpPr>
            <a:spLocks xmlns:a="http://schemas.openxmlformats.org/drawingml/2006/main" noGrp="1"/>
          </p:cNvSpPr>
          <p:nvPr/>
        </p:nvSpPr>
        <p:spPr>
          <a:xfrm xmlns:a="http://schemas.openxmlformats.org/drawingml/2006/main">
            <a:off x="781050" y="2076450"/>
            <a:ext cx="2590800" cy="31051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9525">
            <a:solidFill>
              <a:srgbClr val="1F5A7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8" name="">
            <a:extLst xmlns:a="http://schemas.openxmlformats.org/drawingml/2006/main">
              <a:ext uri="{FF2B5EF4-FFF2-40B4-BE49-F238E27FC236}">
                <a16:creationId xmlns:a16="http://schemas.microsoft.com/office/drawing/2014/main" id="{196568B0-CB9B-4778-BADD-B32152073FD5}"/>
              </a:ext>
            </a:extLst>
          </p:cNvPr>
          <p:cNvSpPr>
            <a:spLocks xmlns:a="http://schemas.openxmlformats.org/drawingml/2006/main" noGrp="1"/>
          </p:cNvSpPr>
          <p:nvPr/>
        </p:nvSpPr>
        <p:spPr>
          <a:xfrm xmlns:a="http://schemas.openxmlformats.org/drawingml/2006/main">
            <a:off x="1066800" y="2247900"/>
            <a:ext cx="2019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1F5A7A"/>
                </a:solidFill>
              </a:defRPr>
            </a:pPr>
            <a:r>
              <a:rPr sz="1575" b="1">
                <a:solidFill>
                  <a:srgbClr val="1F5A7A"/>
                </a:solidFill>
              </a:rPr>
              <a:t>Typed evidence</a:t>
            </a:r>
          </a:p>
          <a:p xmlns:a="http://schemas.openxmlformats.org/drawingml/2006/main">
            <a:pPr algn="ctr">
              <a:defRPr sz="1575" b="1">
                <a:solidFill>
                  <a:srgbClr val="1F5A7A"/>
                </a:solidFill>
              </a:defRPr>
            </a:pPr>
            <a:r>
              <a:rPr sz="1575" b="1">
                <a:solidFill>
                  <a:srgbClr val="1F5A7A"/>
                </a:solidFill>
              </a:rPr>
              <a:t>record</a:t>
            </a:r>
          </a:p>
        </p:txBody>
      </p:sp>
      <p:sp>
        <p:nvSpPr>
          <p:cNvPr id="9" name="">
            <a:extLst xmlns:a="http://schemas.openxmlformats.org/drawingml/2006/main">
              <a:ext uri="{FF2B5EF4-FFF2-40B4-BE49-F238E27FC236}">
                <a16:creationId xmlns:a16="http://schemas.microsoft.com/office/drawing/2014/main" id="{19D7DCC5-4D0D-484C-BD9B-563A45E722EA}"/>
              </a:ext>
            </a:extLst>
          </p:cNvPr>
          <p:cNvSpPr>
            <a:spLocks xmlns:a="http://schemas.openxmlformats.org/drawingml/2006/main" noGrp="1"/>
          </p:cNvSpPr>
          <p:nvPr/>
        </p:nvSpPr>
        <p:spPr>
          <a:xfrm xmlns:a="http://schemas.openxmlformats.org/drawingml/2006/main">
            <a:off x="1028700" y="2781300"/>
            <a:ext cx="971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2A8C82"/>
                </a:solidFill>
              </a:defRPr>
            </a:pPr>
            <a:r>
              <a:rPr sz="1125" b="1">
                <a:solidFill>
                  <a:srgbClr val="2A8C82"/>
                </a:solidFill>
              </a:rPr>
              <a:t>source_id</a:t>
            </a:r>
          </a:p>
        </p:txBody>
      </p:sp>
      <p:sp>
        <p:nvSpPr>
          <p:cNvPr id="10" name="">
            <a:extLst xmlns:a="http://schemas.openxmlformats.org/drawingml/2006/main">
              <a:ext uri="{FF2B5EF4-FFF2-40B4-BE49-F238E27FC236}">
                <a16:creationId xmlns:a16="http://schemas.microsoft.com/office/drawing/2014/main" id="{7A417265-16CF-4FDC-BBB6-E5C060C0452B}"/>
              </a:ext>
            </a:extLst>
          </p:cNvPr>
          <p:cNvSpPr>
            <a:spLocks xmlns:a="http://schemas.openxmlformats.org/drawingml/2006/main" noGrp="1"/>
          </p:cNvSpPr>
          <p:nvPr/>
        </p:nvSpPr>
        <p:spPr>
          <a:xfrm xmlns:a="http://schemas.openxmlformats.org/drawingml/2006/main">
            <a:off x="2133600" y="2781300"/>
            <a:ext cx="1028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0F172A"/>
                </a:solidFill>
              </a:defRPr>
            </a:pPr>
            <a:r>
              <a:rPr sz="1125" b="0">
                <a:solidFill>
                  <a:srgbClr val="0F172A"/>
                </a:solidFill>
              </a:rPr>
              <a:t>stable row or URL</a:t>
            </a:r>
          </a:p>
        </p:txBody>
      </p:sp>
      <p:sp>
        <p:nvSpPr>
          <p:cNvPr id="11" name="">
            <a:extLst xmlns:a="http://schemas.openxmlformats.org/drawingml/2006/main">
              <a:ext uri="{FF2B5EF4-FFF2-40B4-BE49-F238E27FC236}">
                <a16:creationId xmlns:a16="http://schemas.microsoft.com/office/drawing/2014/main" id="{F6F58523-AD67-439C-BDB7-B4AAF70E95D4}"/>
              </a:ext>
            </a:extLst>
          </p:cNvPr>
          <p:cNvSpPr>
            <a:spLocks xmlns:a="http://schemas.openxmlformats.org/drawingml/2006/main" noGrp="1"/>
          </p:cNvSpPr>
          <p:nvPr/>
        </p:nvSpPr>
        <p:spPr>
          <a:xfrm xmlns:a="http://schemas.openxmlformats.org/drawingml/2006/main">
            <a:off x="1028700" y="3143250"/>
            <a:ext cx="971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2A8C82"/>
                </a:solidFill>
              </a:defRPr>
            </a:pPr>
            <a:r>
              <a:rPr sz="1125" b="1">
                <a:solidFill>
                  <a:srgbClr val="2A8C82"/>
                </a:solidFill>
              </a:rPr>
              <a:t>family</a:t>
            </a:r>
          </a:p>
        </p:txBody>
      </p:sp>
      <p:sp>
        <p:nvSpPr>
          <p:cNvPr id="12" name="">
            <a:extLst xmlns:a="http://schemas.openxmlformats.org/drawingml/2006/main">
              <a:ext uri="{FF2B5EF4-FFF2-40B4-BE49-F238E27FC236}">
                <a16:creationId xmlns:a16="http://schemas.microsoft.com/office/drawing/2014/main" id="{C6044400-B788-4EAE-B14C-054EB514EF14}"/>
              </a:ext>
            </a:extLst>
          </p:cNvPr>
          <p:cNvSpPr>
            <a:spLocks xmlns:a="http://schemas.openxmlformats.org/drawingml/2006/main" noGrp="1"/>
          </p:cNvSpPr>
          <p:nvPr/>
        </p:nvSpPr>
        <p:spPr>
          <a:xfrm xmlns:a="http://schemas.openxmlformats.org/drawingml/2006/main">
            <a:off x="2133600" y="3143250"/>
            <a:ext cx="1028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0F172A"/>
                </a:solidFill>
              </a:defRPr>
            </a:pPr>
            <a:r>
              <a:rPr sz="1125" b="0">
                <a:solidFill>
                  <a:srgbClr val="0F172A"/>
                </a:solidFill>
              </a:rPr>
              <a:t>law / idiom / QA / fact</a:t>
            </a:r>
          </a:p>
        </p:txBody>
      </p:sp>
      <p:sp>
        <p:nvSpPr>
          <p:cNvPr id="13" name="">
            <a:extLst xmlns:a="http://schemas.openxmlformats.org/drawingml/2006/main">
              <a:ext uri="{FF2B5EF4-FFF2-40B4-BE49-F238E27FC236}">
                <a16:creationId xmlns:a16="http://schemas.microsoft.com/office/drawing/2014/main" id="{234D87B6-48B0-4804-B13D-19554B6158E3}"/>
              </a:ext>
            </a:extLst>
          </p:cNvPr>
          <p:cNvSpPr>
            <a:spLocks xmlns:a="http://schemas.openxmlformats.org/drawingml/2006/main" noGrp="1"/>
          </p:cNvSpPr>
          <p:nvPr/>
        </p:nvSpPr>
        <p:spPr>
          <a:xfrm xmlns:a="http://schemas.openxmlformats.org/drawingml/2006/main">
            <a:off x="1028700" y="3505200"/>
            <a:ext cx="971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2A8C82"/>
                </a:solidFill>
              </a:defRPr>
            </a:pPr>
            <a:r>
              <a:rPr sz="1125" b="1">
                <a:solidFill>
                  <a:srgbClr val="2A8C82"/>
                </a:solidFill>
              </a:rPr>
              <a:t>entity</a:t>
            </a:r>
          </a:p>
        </p:txBody>
      </p:sp>
      <p:sp>
        <p:nvSpPr>
          <p:cNvPr id="14" name="">
            <a:extLst xmlns:a="http://schemas.openxmlformats.org/drawingml/2006/main">
              <a:ext uri="{FF2B5EF4-FFF2-40B4-BE49-F238E27FC236}">
                <a16:creationId xmlns:a16="http://schemas.microsoft.com/office/drawing/2014/main" id="{4F527464-68DA-42CB-A728-06D9332EEF0D}"/>
              </a:ext>
            </a:extLst>
          </p:cNvPr>
          <p:cNvSpPr>
            <a:spLocks xmlns:a="http://schemas.openxmlformats.org/drawingml/2006/main" noGrp="1"/>
          </p:cNvSpPr>
          <p:nvPr/>
        </p:nvSpPr>
        <p:spPr>
          <a:xfrm xmlns:a="http://schemas.openxmlformats.org/drawingml/2006/main">
            <a:off x="2133600" y="3505200"/>
            <a:ext cx="1028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0F172A"/>
                </a:solidFill>
              </a:defRPr>
            </a:pPr>
            <a:r>
              <a:rPr sz="1125" b="0">
                <a:solidFill>
                  <a:srgbClr val="0F172A"/>
                </a:solidFill>
              </a:rPr>
              <a:t>normalized subject</a:t>
            </a:r>
          </a:p>
        </p:txBody>
      </p:sp>
      <p:sp>
        <p:nvSpPr>
          <p:cNvPr id="15" name="">
            <a:extLst xmlns:a="http://schemas.openxmlformats.org/drawingml/2006/main">
              <a:ext uri="{FF2B5EF4-FFF2-40B4-BE49-F238E27FC236}">
                <a16:creationId xmlns:a16="http://schemas.microsoft.com/office/drawing/2014/main" id="{30F12DE1-FB60-4364-9413-23A6AB0C92D5}"/>
              </a:ext>
            </a:extLst>
          </p:cNvPr>
          <p:cNvSpPr>
            <a:spLocks xmlns:a="http://schemas.openxmlformats.org/drawingml/2006/main" noGrp="1"/>
          </p:cNvSpPr>
          <p:nvPr/>
        </p:nvSpPr>
        <p:spPr>
          <a:xfrm xmlns:a="http://schemas.openxmlformats.org/drawingml/2006/main">
            <a:off x="1028700" y="3867150"/>
            <a:ext cx="971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2A8C82"/>
                </a:solidFill>
              </a:defRPr>
            </a:pPr>
            <a:r>
              <a:rPr sz="1125" b="1">
                <a:solidFill>
                  <a:srgbClr val="2A8C82"/>
                </a:solidFill>
              </a:rPr>
              <a:t>predicate</a:t>
            </a:r>
          </a:p>
        </p:txBody>
      </p:sp>
      <p:sp>
        <p:nvSpPr>
          <p:cNvPr id="16" name="">
            <a:extLst xmlns:a="http://schemas.openxmlformats.org/drawingml/2006/main">
              <a:ext uri="{FF2B5EF4-FFF2-40B4-BE49-F238E27FC236}">
                <a16:creationId xmlns:a16="http://schemas.microsoft.com/office/drawing/2014/main" id="{E2D59772-4352-471F-A4DB-36C99A0D853D}"/>
              </a:ext>
            </a:extLst>
          </p:cNvPr>
          <p:cNvSpPr>
            <a:spLocks xmlns:a="http://schemas.openxmlformats.org/drawingml/2006/main" noGrp="1"/>
          </p:cNvSpPr>
          <p:nvPr/>
        </p:nvSpPr>
        <p:spPr>
          <a:xfrm xmlns:a="http://schemas.openxmlformats.org/drawingml/2006/main">
            <a:off x="2133600" y="3867150"/>
            <a:ext cx="1028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0F172A"/>
                </a:solidFill>
              </a:defRPr>
            </a:pPr>
            <a:r>
              <a:rPr sz="1125" b="0">
                <a:solidFill>
                  <a:srgbClr val="0F172A"/>
                </a:solidFill>
              </a:rPr>
              <a:t>requested relation</a:t>
            </a:r>
          </a:p>
        </p:txBody>
      </p:sp>
      <p:sp>
        <p:nvSpPr>
          <p:cNvPr id="17" name="">
            <a:extLst xmlns:a="http://schemas.openxmlformats.org/drawingml/2006/main">
              <a:ext uri="{FF2B5EF4-FFF2-40B4-BE49-F238E27FC236}">
                <a16:creationId xmlns:a16="http://schemas.microsoft.com/office/drawing/2014/main" id="{16A8C707-79F3-4221-BE63-E0772BBA11FF}"/>
              </a:ext>
            </a:extLst>
          </p:cNvPr>
          <p:cNvSpPr>
            <a:spLocks xmlns:a="http://schemas.openxmlformats.org/drawingml/2006/main" noGrp="1"/>
          </p:cNvSpPr>
          <p:nvPr/>
        </p:nvSpPr>
        <p:spPr>
          <a:xfrm xmlns:a="http://schemas.openxmlformats.org/drawingml/2006/main">
            <a:off x="1028700" y="4229100"/>
            <a:ext cx="971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2A8C82"/>
                </a:solidFill>
              </a:defRPr>
            </a:pPr>
            <a:r>
              <a:rPr sz="1125" b="1">
                <a:solidFill>
                  <a:srgbClr val="2A8C82"/>
                </a:solidFill>
              </a:rPr>
              <a:t>value</a:t>
            </a:r>
          </a:p>
        </p:txBody>
      </p:sp>
      <p:sp>
        <p:nvSpPr>
          <p:cNvPr id="18" name="">
            <a:extLst xmlns:a="http://schemas.openxmlformats.org/drawingml/2006/main">
              <a:ext uri="{FF2B5EF4-FFF2-40B4-BE49-F238E27FC236}">
                <a16:creationId xmlns:a16="http://schemas.microsoft.com/office/drawing/2014/main" id="{D5F3B685-6644-4315-9004-CB5BF0764312}"/>
              </a:ext>
            </a:extLst>
          </p:cNvPr>
          <p:cNvSpPr>
            <a:spLocks xmlns:a="http://schemas.openxmlformats.org/drawingml/2006/main" noGrp="1"/>
          </p:cNvSpPr>
          <p:nvPr/>
        </p:nvSpPr>
        <p:spPr>
          <a:xfrm xmlns:a="http://schemas.openxmlformats.org/drawingml/2006/main">
            <a:off x="2133600" y="4229100"/>
            <a:ext cx="1028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0F172A"/>
                </a:solidFill>
              </a:defRPr>
            </a:pPr>
            <a:r>
              <a:rPr sz="1125" b="0">
                <a:solidFill>
                  <a:srgbClr val="0F172A"/>
                </a:solidFill>
              </a:rPr>
              <a:t>answer or claim</a:t>
            </a:r>
          </a:p>
        </p:txBody>
      </p:sp>
      <p:sp>
        <p:nvSpPr>
          <p:cNvPr id="19" name="">
            <a:extLst xmlns:a="http://schemas.openxmlformats.org/drawingml/2006/main">
              <a:ext uri="{FF2B5EF4-FFF2-40B4-BE49-F238E27FC236}">
                <a16:creationId xmlns:a16="http://schemas.microsoft.com/office/drawing/2014/main" id="{166A0CFF-C3F4-4990-8BFB-441320CD12A6}"/>
              </a:ext>
            </a:extLst>
          </p:cNvPr>
          <p:cNvSpPr>
            <a:spLocks xmlns:a="http://schemas.openxmlformats.org/drawingml/2006/main" noGrp="1"/>
          </p:cNvSpPr>
          <p:nvPr/>
        </p:nvSpPr>
        <p:spPr>
          <a:xfrm xmlns:a="http://schemas.openxmlformats.org/drawingml/2006/main">
            <a:off x="1028700" y="4591050"/>
            <a:ext cx="971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A8C82"/>
                </a:solidFill>
              </a:defRPr>
            </a:pPr>
            <a:r>
              <a:rPr sz="975" b="1">
                <a:solidFill>
                  <a:srgbClr val="2A8C82"/>
                </a:solidFill>
              </a:rPr>
              <a:t>provenance</a:t>
            </a:r>
          </a:p>
        </p:txBody>
      </p:sp>
      <p:sp>
        <p:nvSpPr>
          <p:cNvPr id="20" name="">
            <a:extLst xmlns:a="http://schemas.openxmlformats.org/drawingml/2006/main">
              <a:ext uri="{FF2B5EF4-FFF2-40B4-BE49-F238E27FC236}">
                <a16:creationId xmlns:a16="http://schemas.microsoft.com/office/drawing/2014/main" id="{CDAFD663-0D50-402B-BD1A-BD4DD438A1D9}"/>
              </a:ext>
            </a:extLst>
          </p:cNvPr>
          <p:cNvSpPr>
            <a:spLocks xmlns:a="http://schemas.openxmlformats.org/drawingml/2006/main" noGrp="1"/>
          </p:cNvSpPr>
          <p:nvPr/>
        </p:nvSpPr>
        <p:spPr>
          <a:xfrm xmlns:a="http://schemas.openxmlformats.org/drawingml/2006/main">
            <a:off x="2133600" y="4591050"/>
            <a:ext cx="1028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0F172A"/>
                </a:solidFill>
              </a:defRPr>
            </a:pPr>
            <a:r>
              <a:rPr sz="1125" b="0">
                <a:solidFill>
                  <a:srgbClr val="0F172A"/>
                </a:solidFill>
              </a:rPr>
              <a:t>dataset + citation</a:t>
            </a:r>
          </a:p>
        </p:txBody>
      </p:sp>
      <p:sp>
        <p:nvSpPr>
          <p:cNvPr id="21" name="">
            <a:extLst xmlns:a="http://schemas.openxmlformats.org/drawingml/2006/main">
              <a:ext uri="{FF2B5EF4-FFF2-40B4-BE49-F238E27FC236}">
                <a16:creationId xmlns:a16="http://schemas.microsoft.com/office/drawing/2014/main" id="{6C783D4C-7017-4688-A05A-1E1B6FA9135D}"/>
              </a:ext>
            </a:extLst>
          </p:cNvPr>
          <p:cNvSpPr>
            <a:spLocks xmlns:a="http://schemas.openxmlformats.org/drawingml/2006/main" noGrp="1"/>
          </p:cNvSpPr>
          <p:nvPr/>
        </p:nvSpPr>
        <p:spPr>
          <a:xfrm xmlns:a="http://schemas.openxmlformats.org/drawingml/2006/main">
            <a:off x="4229100" y="2095500"/>
            <a:ext cx="314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725" b="1">
                <a:solidFill>
                  <a:srgbClr val="0F172A"/>
                </a:solidFill>
              </a:defRPr>
            </a:pPr>
            <a:r>
              <a:rPr sz="1725" b="1">
                <a:solidFill>
                  <a:srgbClr val="0F172A"/>
                </a:solidFill>
              </a:rPr>
              <a:t>Admission gate</a:t>
            </a:r>
          </a:p>
        </p:txBody>
      </p:sp>
      <p:sp>
        <p:nvSpPr>
          <p:cNvPr id="22" name="">
            <a:extLst xmlns:a="http://schemas.openxmlformats.org/drawingml/2006/main">
              <a:ext uri="{FF2B5EF4-FFF2-40B4-BE49-F238E27FC236}">
                <a16:creationId xmlns:a16="http://schemas.microsoft.com/office/drawing/2014/main" id="{9F558356-C776-4D4C-9408-D99AF55165C2}"/>
              </a:ext>
            </a:extLst>
          </p:cNvPr>
          <p:cNvSpPr>
            <a:spLocks xmlns:a="http://schemas.openxmlformats.org/drawingml/2006/main" noGrp="1"/>
          </p:cNvSpPr>
          <p:nvPr/>
        </p:nvSpPr>
        <p:spPr>
          <a:xfrm xmlns:a="http://schemas.openxmlformats.org/drawingml/2006/main">
            <a:off x="3981450" y="2609850"/>
            <a:ext cx="1752600" cy="990600"/>
          </a:xfrm>
          <a:prstGeom xmlns:a="http://schemas.openxmlformats.org/drawingml/2006/main" prst="roundRect">
            <a:avLst>
              <a:gd name="adj" fmla="val 13462"/>
            </a:avLst>
          </a:prstGeom>
          <a:solidFill xmlns:a="http://schemas.openxmlformats.org/drawingml/2006/main">
            <a:srgbClr val="DDF2EE"/>
          </a:solidFill>
          <a:ln xmlns:a="http://schemas.openxmlformats.org/drawingml/2006/main" w="9525">
            <a:solidFill>
              <a:srgbClr val="2A8C82"/>
            </a:solidFill>
            <a:prstDash val="solid"/>
          </a:ln>
        </p:spPr>
      </p:sp>
      <p:sp>
        <p:nvSpPr>
          <p:cNvPr id="23" name="">
            <a:extLst xmlns:a="http://schemas.openxmlformats.org/drawingml/2006/main">
              <a:ext uri="{FF2B5EF4-FFF2-40B4-BE49-F238E27FC236}">
                <a16:creationId xmlns:a16="http://schemas.microsoft.com/office/drawing/2014/main" id="{BBDCE312-0517-4139-A854-55117EAA6BFD}"/>
              </a:ext>
            </a:extLst>
          </p:cNvPr>
          <p:cNvSpPr>
            <a:spLocks xmlns:a="http://schemas.openxmlformats.org/drawingml/2006/main" noGrp="1"/>
          </p:cNvSpPr>
          <p:nvPr/>
        </p:nvSpPr>
        <p:spPr>
          <a:xfrm xmlns:a="http://schemas.openxmlformats.org/drawingml/2006/main">
            <a:off x="4114800" y="2743200"/>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2A8C82"/>
                </a:solidFill>
              </a:defRPr>
            </a:pPr>
            <a:r>
              <a:rPr sz="1200" b="1">
                <a:solidFill>
                  <a:srgbClr val="2A8C82"/>
                </a:solidFill>
              </a:rPr>
              <a:t>1</a:t>
            </a:r>
          </a:p>
        </p:txBody>
      </p:sp>
      <p:sp>
        <p:nvSpPr>
          <p:cNvPr id="24" name="">
            <a:extLst xmlns:a="http://schemas.openxmlformats.org/drawingml/2006/main">
              <a:ext uri="{FF2B5EF4-FFF2-40B4-BE49-F238E27FC236}">
                <a16:creationId xmlns:a16="http://schemas.microsoft.com/office/drawing/2014/main" id="{EC476514-B29F-4419-9826-EB1DC370F9C5}"/>
              </a:ext>
            </a:extLst>
          </p:cNvPr>
          <p:cNvSpPr>
            <a:spLocks xmlns:a="http://schemas.openxmlformats.org/drawingml/2006/main" noGrp="1"/>
          </p:cNvSpPr>
          <p:nvPr/>
        </p:nvSpPr>
        <p:spPr>
          <a:xfrm xmlns:a="http://schemas.openxmlformats.org/drawingml/2006/main">
            <a:off x="4419600" y="27241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0F172A"/>
                </a:solidFill>
              </a:defRPr>
            </a:pPr>
            <a:r>
              <a:rPr sz="1425" b="1">
                <a:solidFill>
                  <a:srgbClr val="0F172A"/>
                </a:solidFill>
              </a:rPr>
              <a:t>Entity</a:t>
            </a:r>
          </a:p>
        </p:txBody>
      </p:sp>
      <p:sp>
        <p:nvSpPr>
          <p:cNvPr id="25" name="">
            <a:extLst xmlns:a="http://schemas.openxmlformats.org/drawingml/2006/main">
              <a:ext uri="{FF2B5EF4-FFF2-40B4-BE49-F238E27FC236}">
                <a16:creationId xmlns:a16="http://schemas.microsoft.com/office/drawing/2014/main" id="{CBCABBFB-6562-4F2F-B59B-4C351137017B}"/>
              </a:ext>
            </a:extLst>
          </p:cNvPr>
          <p:cNvSpPr>
            <a:spLocks xmlns:a="http://schemas.openxmlformats.org/drawingml/2006/main" noGrp="1"/>
          </p:cNvSpPr>
          <p:nvPr/>
        </p:nvSpPr>
        <p:spPr>
          <a:xfrm xmlns:a="http://schemas.openxmlformats.org/drawingml/2006/main">
            <a:off x="4152900" y="3086100"/>
            <a:ext cx="1409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0">
                <a:solidFill>
                  <a:srgbClr val="526174"/>
                </a:solidFill>
              </a:defRPr>
            </a:pPr>
            <a:r>
              <a:rPr sz="1125" b="0">
                <a:solidFill>
                  <a:srgbClr val="526174"/>
                </a:solidFill>
              </a:rPr>
              <a:t>same normalized subject</a:t>
            </a:r>
          </a:p>
        </p:txBody>
      </p:sp>
      <p:sp>
        <p:nvSpPr>
          <p:cNvPr id="26" name="">
            <a:extLst xmlns:a="http://schemas.openxmlformats.org/drawingml/2006/main">
              <a:ext uri="{FF2B5EF4-FFF2-40B4-BE49-F238E27FC236}">
                <a16:creationId xmlns:a16="http://schemas.microsoft.com/office/drawing/2014/main" id="{7200383C-8D9D-4A92-B11A-606E64C05B25}"/>
              </a:ext>
            </a:extLst>
          </p:cNvPr>
          <p:cNvSpPr>
            <a:spLocks xmlns:a="http://schemas.openxmlformats.org/drawingml/2006/main" noGrp="1"/>
          </p:cNvSpPr>
          <p:nvPr/>
        </p:nvSpPr>
        <p:spPr>
          <a:xfrm xmlns:a="http://schemas.openxmlformats.org/drawingml/2006/main">
            <a:off x="5962650" y="2609850"/>
            <a:ext cx="1752600" cy="990600"/>
          </a:xfrm>
          <a:prstGeom xmlns:a="http://schemas.openxmlformats.org/drawingml/2006/main" prst="roundRect">
            <a:avLst>
              <a:gd name="adj" fmla="val 13462"/>
            </a:avLst>
          </a:prstGeom>
          <a:solidFill xmlns:a="http://schemas.openxmlformats.org/drawingml/2006/main">
            <a:srgbClr val="DDF2EE"/>
          </a:solidFill>
          <a:ln xmlns:a="http://schemas.openxmlformats.org/drawingml/2006/main" w="9525">
            <a:solidFill>
              <a:srgbClr val="2A8C82"/>
            </a:solidFill>
            <a:prstDash val="solid"/>
          </a:ln>
        </p:spPr>
      </p:sp>
      <p:sp>
        <p:nvSpPr>
          <p:cNvPr id="27" name="">
            <a:extLst xmlns:a="http://schemas.openxmlformats.org/drawingml/2006/main">
              <a:ext uri="{FF2B5EF4-FFF2-40B4-BE49-F238E27FC236}">
                <a16:creationId xmlns:a16="http://schemas.microsoft.com/office/drawing/2014/main" id="{791751E9-342E-49AB-8CD0-3F970AFE244A}"/>
              </a:ext>
            </a:extLst>
          </p:cNvPr>
          <p:cNvSpPr>
            <a:spLocks xmlns:a="http://schemas.openxmlformats.org/drawingml/2006/main" noGrp="1"/>
          </p:cNvSpPr>
          <p:nvPr/>
        </p:nvSpPr>
        <p:spPr>
          <a:xfrm xmlns:a="http://schemas.openxmlformats.org/drawingml/2006/main">
            <a:off x="6096000" y="2743200"/>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2A8C82"/>
                </a:solidFill>
              </a:defRPr>
            </a:pPr>
            <a:r>
              <a:rPr sz="1200" b="1">
                <a:solidFill>
                  <a:srgbClr val="2A8C82"/>
                </a:solidFill>
              </a:rPr>
              <a:t>2</a:t>
            </a:r>
          </a:p>
        </p:txBody>
      </p:sp>
      <p:sp>
        <p:nvSpPr>
          <p:cNvPr id="28" name="">
            <a:extLst xmlns:a="http://schemas.openxmlformats.org/drawingml/2006/main">
              <a:ext uri="{FF2B5EF4-FFF2-40B4-BE49-F238E27FC236}">
                <a16:creationId xmlns:a16="http://schemas.microsoft.com/office/drawing/2014/main" id="{59A55E3E-BED5-4924-9B68-B702BA399E48}"/>
              </a:ext>
            </a:extLst>
          </p:cNvPr>
          <p:cNvSpPr>
            <a:spLocks xmlns:a="http://schemas.openxmlformats.org/drawingml/2006/main" noGrp="1"/>
          </p:cNvSpPr>
          <p:nvPr/>
        </p:nvSpPr>
        <p:spPr>
          <a:xfrm xmlns:a="http://schemas.openxmlformats.org/drawingml/2006/main">
            <a:off x="6400800" y="27241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0F172A"/>
                </a:solidFill>
              </a:defRPr>
            </a:pPr>
            <a:r>
              <a:rPr sz="1425" b="1">
                <a:solidFill>
                  <a:srgbClr val="0F172A"/>
                </a:solidFill>
              </a:rPr>
              <a:t>Predicate</a:t>
            </a:r>
          </a:p>
        </p:txBody>
      </p:sp>
      <p:sp>
        <p:nvSpPr>
          <p:cNvPr id="29" name="">
            <a:extLst xmlns:a="http://schemas.openxmlformats.org/drawingml/2006/main">
              <a:ext uri="{FF2B5EF4-FFF2-40B4-BE49-F238E27FC236}">
                <a16:creationId xmlns:a16="http://schemas.microsoft.com/office/drawing/2014/main" id="{89C116D2-D7C1-4137-BCF5-6E3751D0BBE3}"/>
              </a:ext>
            </a:extLst>
          </p:cNvPr>
          <p:cNvSpPr>
            <a:spLocks xmlns:a="http://schemas.openxmlformats.org/drawingml/2006/main" noGrp="1"/>
          </p:cNvSpPr>
          <p:nvPr/>
        </p:nvSpPr>
        <p:spPr>
          <a:xfrm xmlns:a="http://schemas.openxmlformats.org/drawingml/2006/main">
            <a:off x="6134100" y="3086100"/>
            <a:ext cx="1409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0">
                <a:solidFill>
                  <a:srgbClr val="526174"/>
                </a:solidFill>
              </a:defRPr>
            </a:pPr>
            <a:r>
              <a:rPr sz="1125" b="0">
                <a:solidFill>
                  <a:srgbClr val="526174"/>
                </a:solidFill>
              </a:rPr>
              <a:t>same requested relation</a:t>
            </a:r>
          </a:p>
        </p:txBody>
      </p:sp>
      <p:sp>
        <p:nvSpPr>
          <p:cNvPr id="30" name="">
            <a:extLst xmlns:a="http://schemas.openxmlformats.org/drawingml/2006/main">
              <a:ext uri="{FF2B5EF4-FFF2-40B4-BE49-F238E27FC236}">
                <a16:creationId xmlns:a16="http://schemas.microsoft.com/office/drawing/2014/main" id="{21EC9F5F-B5C6-43D8-80C2-502A0A004E32}"/>
              </a:ext>
            </a:extLst>
          </p:cNvPr>
          <p:cNvSpPr>
            <a:spLocks xmlns:a="http://schemas.openxmlformats.org/drawingml/2006/main" noGrp="1"/>
          </p:cNvSpPr>
          <p:nvPr/>
        </p:nvSpPr>
        <p:spPr>
          <a:xfrm xmlns:a="http://schemas.openxmlformats.org/drawingml/2006/main">
            <a:off x="3981450" y="3848100"/>
            <a:ext cx="1752600" cy="990600"/>
          </a:xfrm>
          <a:prstGeom xmlns:a="http://schemas.openxmlformats.org/drawingml/2006/main" prst="roundRect">
            <a:avLst>
              <a:gd name="adj" fmla="val 13462"/>
            </a:avLst>
          </a:prstGeom>
          <a:solidFill xmlns:a="http://schemas.openxmlformats.org/drawingml/2006/main">
            <a:srgbClr val="DDF2EE"/>
          </a:solidFill>
          <a:ln xmlns:a="http://schemas.openxmlformats.org/drawingml/2006/main" w="9525">
            <a:solidFill>
              <a:srgbClr val="2A8C82"/>
            </a:solidFill>
            <a:prstDash val="solid"/>
          </a:ln>
        </p:spPr>
      </p:sp>
      <p:sp>
        <p:nvSpPr>
          <p:cNvPr id="31" name="">
            <a:extLst xmlns:a="http://schemas.openxmlformats.org/drawingml/2006/main">
              <a:ext uri="{FF2B5EF4-FFF2-40B4-BE49-F238E27FC236}">
                <a16:creationId xmlns:a16="http://schemas.microsoft.com/office/drawing/2014/main" id="{3039D1E9-E6DF-41AB-9688-0F0EC8EA02DF}"/>
              </a:ext>
            </a:extLst>
          </p:cNvPr>
          <p:cNvSpPr>
            <a:spLocks xmlns:a="http://schemas.openxmlformats.org/drawingml/2006/main" noGrp="1"/>
          </p:cNvSpPr>
          <p:nvPr/>
        </p:nvSpPr>
        <p:spPr>
          <a:xfrm xmlns:a="http://schemas.openxmlformats.org/drawingml/2006/main">
            <a:off x="4114800" y="3981450"/>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2A8C82"/>
                </a:solidFill>
              </a:defRPr>
            </a:pPr>
            <a:r>
              <a:rPr sz="1200" b="1">
                <a:solidFill>
                  <a:srgbClr val="2A8C82"/>
                </a:solidFill>
              </a:rPr>
              <a:t>3</a:t>
            </a:r>
          </a:p>
        </p:txBody>
      </p:sp>
      <p:sp>
        <p:nvSpPr>
          <p:cNvPr id="32" name="">
            <a:extLst xmlns:a="http://schemas.openxmlformats.org/drawingml/2006/main">
              <a:ext uri="{FF2B5EF4-FFF2-40B4-BE49-F238E27FC236}">
                <a16:creationId xmlns:a16="http://schemas.microsoft.com/office/drawing/2014/main" id="{BCBFF590-D033-442B-BF70-1B98F71B639E}"/>
              </a:ext>
            </a:extLst>
          </p:cNvPr>
          <p:cNvSpPr>
            <a:spLocks xmlns:a="http://schemas.openxmlformats.org/drawingml/2006/main" noGrp="1"/>
          </p:cNvSpPr>
          <p:nvPr/>
        </p:nvSpPr>
        <p:spPr>
          <a:xfrm xmlns:a="http://schemas.openxmlformats.org/drawingml/2006/main">
            <a:off x="4419600" y="39624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0F172A"/>
                </a:solidFill>
              </a:defRPr>
            </a:pPr>
            <a:r>
              <a:rPr sz="1425" b="1">
                <a:solidFill>
                  <a:srgbClr val="0F172A"/>
                </a:solidFill>
              </a:rPr>
              <a:t>Value</a:t>
            </a:r>
          </a:p>
        </p:txBody>
      </p:sp>
      <p:sp>
        <p:nvSpPr>
          <p:cNvPr id="33" name="">
            <a:extLst xmlns:a="http://schemas.openxmlformats.org/drawingml/2006/main">
              <a:ext uri="{FF2B5EF4-FFF2-40B4-BE49-F238E27FC236}">
                <a16:creationId xmlns:a16="http://schemas.microsoft.com/office/drawing/2014/main" id="{0E6249C8-9098-48A0-AA75-74632A3BAE4F}"/>
              </a:ext>
            </a:extLst>
          </p:cNvPr>
          <p:cNvSpPr>
            <a:spLocks xmlns:a="http://schemas.openxmlformats.org/drawingml/2006/main" noGrp="1"/>
          </p:cNvSpPr>
          <p:nvPr/>
        </p:nvSpPr>
        <p:spPr>
          <a:xfrm xmlns:a="http://schemas.openxmlformats.org/drawingml/2006/main">
            <a:off x="4152900" y="4324350"/>
            <a:ext cx="1409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0">
                <a:solidFill>
                  <a:srgbClr val="526174"/>
                </a:solidFill>
              </a:defRPr>
            </a:pPr>
            <a:r>
              <a:rPr sz="1125" b="0">
                <a:solidFill>
                  <a:srgbClr val="526174"/>
                </a:solidFill>
              </a:rPr>
              <a:t>exact or typed equivalence</a:t>
            </a:r>
          </a:p>
        </p:txBody>
      </p:sp>
      <p:sp>
        <p:nvSpPr>
          <p:cNvPr id="34" name="">
            <a:extLst xmlns:a="http://schemas.openxmlformats.org/drawingml/2006/main">
              <a:ext uri="{FF2B5EF4-FFF2-40B4-BE49-F238E27FC236}">
                <a16:creationId xmlns:a16="http://schemas.microsoft.com/office/drawing/2014/main" id="{E881566F-5810-4FE5-9A26-8D91BED118DE}"/>
              </a:ext>
            </a:extLst>
          </p:cNvPr>
          <p:cNvSpPr>
            <a:spLocks xmlns:a="http://schemas.openxmlformats.org/drawingml/2006/main" noGrp="1"/>
          </p:cNvSpPr>
          <p:nvPr/>
        </p:nvSpPr>
        <p:spPr>
          <a:xfrm xmlns:a="http://schemas.openxmlformats.org/drawingml/2006/main">
            <a:off x="5962650" y="3848100"/>
            <a:ext cx="1752600" cy="990600"/>
          </a:xfrm>
          <a:prstGeom xmlns:a="http://schemas.openxmlformats.org/drawingml/2006/main" prst="roundRect">
            <a:avLst>
              <a:gd name="adj" fmla="val 13462"/>
            </a:avLst>
          </a:prstGeom>
          <a:solidFill xmlns:a="http://schemas.openxmlformats.org/drawingml/2006/main">
            <a:srgbClr val="FBF0D8"/>
          </a:solidFill>
          <a:ln xmlns:a="http://schemas.openxmlformats.org/drawingml/2006/main" w="9525">
            <a:solidFill>
              <a:srgbClr val="D59B32"/>
            </a:solidFill>
            <a:prstDash val="solid"/>
          </a:ln>
        </p:spPr>
      </p:sp>
      <p:sp>
        <p:nvSpPr>
          <p:cNvPr id="35" name="">
            <a:extLst xmlns:a="http://schemas.openxmlformats.org/drawingml/2006/main">
              <a:ext uri="{FF2B5EF4-FFF2-40B4-BE49-F238E27FC236}">
                <a16:creationId xmlns:a16="http://schemas.microsoft.com/office/drawing/2014/main" id="{3B019C25-5874-44E3-80B0-B06A447B35AA}"/>
              </a:ext>
            </a:extLst>
          </p:cNvPr>
          <p:cNvSpPr>
            <a:spLocks xmlns:a="http://schemas.openxmlformats.org/drawingml/2006/main" noGrp="1"/>
          </p:cNvSpPr>
          <p:nvPr/>
        </p:nvSpPr>
        <p:spPr>
          <a:xfrm xmlns:a="http://schemas.openxmlformats.org/drawingml/2006/main">
            <a:off x="6096000" y="3981450"/>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D59B32"/>
                </a:solidFill>
              </a:defRPr>
            </a:pPr>
            <a:r>
              <a:rPr sz="1200" b="1">
                <a:solidFill>
                  <a:srgbClr val="D59B32"/>
                </a:solidFill>
              </a:rPr>
              <a:t>4</a:t>
            </a:r>
          </a:p>
        </p:txBody>
      </p:sp>
      <p:sp>
        <p:nvSpPr>
          <p:cNvPr id="36" name="">
            <a:extLst xmlns:a="http://schemas.openxmlformats.org/drawingml/2006/main">
              <a:ext uri="{FF2B5EF4-FFF2-40B4-BE49-F238E27FC236}">
                <a16:creationId xmlns:a16="http://schemas.microsoft.com/office/drawing/2014/main" id="{1916C0FD-2752-4763-8FD4-86C6D8CE0F7C}"/>
              </a:ext>
            </a:extLst>
          </p:cNvPr>
          <p:cNvSpPr>
            <a:spLocks xmlns:a="http://schemas.openxmlformats.org/drawingml/2006/main" noGrp="1"/>
          </p:cNvSpPr>
          <p:nvPr/>
        </p:nvSpPr>
        <p:spPr>
          <a:xfrm xmlns:a="http://schemas.openxmlformats.org/drawingml/2006/main">
            <a:off x="6400800" y="39624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0F172A"/>
                </a:solidFill>
              </a:defRPr>
            </a:pPr>
            <a:r>
              <a:rPr sz="1425" b="1">
                <a:solidFill>
                  <a:srgbClr val="0F172A"/>
                </a:solidFill>
              </a:rPr>
              <a:t>Conflict</a:t>
            </a:r>
          </a:p>
        </p:txBody>
      </p:sp>
      <p:sp>
        <p:nvSpPr>
          <p:cNvPr id="37" name="">
            <a:extLst xmlns:a="http://schemas.openxmlformats.org/drawingml/2006/main">
              <a:ext uri="{FF2B5EF4-FFF2-40B4-BE49-F238E27FC236}">
                <a16:creationId xmlns:a16="http://schemas.microsoft.com/office/drawing/2014/main" id="{B939EA2D-8431-4184-81C2-3C6979856D21}"/>
              </a:ext>
            </a:extLst>
          </p:cNvPr>
          <p:cNvSpPr>
            <a:spLocks xmlns:a="http://schemas.openxmlformats.org/drawingml/2006/main" noGrp="1"/>
          </p:cNvSpPr>
          <p:nvPr/>
        </p:nvSpPr>
        <p:spPr>
          <a:xfrm xmlns:a="http://schemas.openxmlformats.org/drawingml/2006/main">
            <a:off x="6134100" y="4324350"/>
            <a:ext cx="1409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0">
                <a:solidFill>
                  <a:srgbClr val="526174"/>
                </a:solidFill>
              </a:defRPr>
            </a:pPr>
            <a:r>
              <a:rPr sz="1125" b="0">
                <a:solidFill>
                  <a:srgbClr val="526174"/>
                </a:solidFill>
              </a:rPr>
              <a:t>no equal-trust contradiction</a:t>
            </a:r>
          </a:p>
        </p:txBody>
      </p:sp>
      <p:sp>
        <p:nvSpPr>
          <p:cNvPr id="38" name="">
            <a:extLst xmlns:a="http://schemas.openxmlformats.org/drawingml/2006/main">
              <a:ext uri="{FF2B5EF4-FFF2-40B4-BE49-F238E27FC236}">
                <a16:creationId xmlns:a16="http://schemas.microsoft.com/office/drawing/2014/main" id="{697F3ABF-C4B1-47E1-9E60-7C2BA4F6E781}"/>
              </a:ext>
            </a:extLst>
          </p:cNvPr>
          <p:cNvSpPr>
            <a:spLocks xmlns:a="http://schemas.openxmlformats.org/drawingml/2006/main" noGrp="1"/>
          </p:cNvSpPr>
          <p:nvPr/>
        </p:nvSpPr>
        <p:spPr>
          <a:xfrm xmlns:a="http://schemas.openxmlformats.org/drawingml/2006/main">
            <a:off x="4000500" y="5105400"/>
            <a:ext cx="3676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1F5A7A"/>
                </a:solidFill>
              </a:defRPr>
            </a:pPr>
            <a:r>
              <a:rPr sz="1275" b="1">
                <a:solidFill>
                  <a:srgbClr val="1F5A7A"/>
                </a:solidFill>
              </a:rPr>
              <a:t>accept = entity AND predicate AND value AND no_conflict</a:t>
            </a:r>
          </a:p>
        </p:txBody>
      </p:sp>
      <p:sp>
        <p:nvSpPr>
          <p:cNvPr id="39" name="">
            <a:extLst xmlns:a="http://schemas.openxmlformats.org/drawingml/2006/main">
              <a:ext uri="{FF2B5EF4-FFF2-40B4-BE49-F238E27FC236}">
                <a16:creationId xmlns:a16="http://schemas.microsoft.com/office/drawing/2014/main" id="{87EA424A-104A-4102-BEEB-0BDD5E773214}"/>
              </a:ext>
            </a:extLst>
          </p:cNvPr>
          <p:cNvSpPr>
            <a:spLocks xmlns:a="http://schemas.openxmlformats.org/drawingml/2006/main" noGrp="1"/>
          </p:cNvSpPr>
          <p:nvPr/>
        </p:nvSpPr>
        <p:spPr>
          <a:xfrm xmlns:a="http://schemas.openxmlformats.org/drawingml/2006/main">
            <a:off x="8401050" y="2076450"/>
            <a:ext cx="3009900" cy="3105150"/>
          </a:xfrm>
          <a:prstGeom xmlns:a="http://schemas.openxmlformats.org/drawingml/2006/main" prst="roundRect">
            <a:avLst>
              <a:gd name="adj" fmla="val 5063"/>
            </a:avLst>
          </a:prstGeom>
          <a:solidFill xmlns:a="http://schemas.openxmlformats.org/drawingml/2006/main">
            <a:srgbClr val="FFFFFF"/>
          </a:solidFill>
          <a:ln xmlns:a="http://schemas.openxmlformats.org/drawingml/2006/main" w="9525">
            <a:solidFill>
              <a:srgbClr val="D59B32"/>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40" name="">
            <a:extLst xmlns:a="http://schemas.openxmlformats.org/drawingml/2006/main">
              <a:ext uri="{FF2B5EF4-FFF2-40B4-BE49-F238E27FC236}">
                <a16:creationId xmlns:a16="http://schemas.microsoft.com/office/drawing/2014/main" id="{F33D8DBA-BB04-4185-AFDE-459E8EBEFA1C}"/>
              </a:ext>
            </a:extLst>
          </p:cNvPr>
          <p:cNvSpPr>
            <a:spLocks xmlns:a="http://schemas.openxmlformats.org/drawingml/2006/main" noGrp="1"/>
          </p:cNvSpPr>
          <p:nvPr/>
        </p:nvSpPr>
        <p:spPr>
          <a:xfrm xmlns:a="http://schemas.openxmlformats.org/drawingml/2006/main">
            <a:off x="8705850" y="2286000"/>
            <a:ext cx="2400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725" b="1">
                <a:solidFill>
                  <a:srgbClr val="D59B32"/>
                </a:solidFill>
              </a:defRPr>
            </a:pPr>
            <a:r>
              <a:rPr sz="1725" b="1">
                <a:solidFill>
                  <a:srgbClr val="D59B32"/>
                </a:solidFill>
              </a:rPr>
              <a:t>Decision trace</a:t>
            </a:r>
          </a:p>
        </p:txBody>
      </p:sp>
      <p:sp>
        <p:nvSpPr>
          <p:cNvPr id="41" name="">
            <a:extLst xmlns:a="http://schemas.openxmlformats.org/drawingml/2006/main">
              <a:ext uri="{FF2B5EF4-FFF2-40B4-BE49-F238E27FC236}">
                <a16:creationId xmlns:a16="http://schemas.microsoft.com/office/drawing/2014/main" id="{E527A2D6-11AB-4AED-BC63-B2595A57A99D}"/>
              </a:ext>
            </a:extLst>
          </p:cNvPr>
          <p:cNvSpPr>
            <a:spLocks xmlns:a="http://schemas.openxmlformats.org/drawingml/2006/main" noGrp="1"/>
          </p:cNvSpPr>
          <p:nvPr/>
        </p:nvSpPr>
        <p:spPr>
          <a:xfrm xmlns:a="http://schemas.openxmlformats.org/drawingml/2006/main">
            <a:off x="8705850" y="281940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2A8C82"/>
                </a:solidFill>
              </a:defRPr>
            </a:pPr>
            <a:r>
              <a:rPr sz="1125" b="1">
                <a:solidFill>
                  <a:srgbClr val="2A8C82"/>
                </a:solidFill>
              </a:rPr>
              <a:t>route</a:t>
            </a:r>
          </a:p>
        </p:txBody>
      </p:sp>
      <p:sp>
        <p:nvSpPr>
          <p:cNvPr id="42" name="">
            <a:extLst xmlns:a="http://schemas.openxmlformats.org/drawingml/2006/main">
              <a:ext uri="{FF2B5EF4-FFF2-40B4-BE49-F238E27FC236}">
                <a16:creationId xmlns:a16="http://schemas.microsoft.com/office/drawing/2014/main" id="{8DE9E624-4810-4EDC-974E-27A5DB0B3861}"/>
              </a:ext>
            </a:extLst>
          </p:cNvPr>
          <p:cNvSpPr>
            <a:spLocks xmlns:a="http://schemas.openxmlformats.org/drawingml/2006/main" noGrp="1"/>
          </p:cNvSpPr>
          <p:nvPr/>
        </p:nvSpPr>
        <p:spPr>
          <a:xfrm xmlns:a="http://schemas.openxmlformats.org/drawingml/2006/main">
            <a:off x="9620250" y="2819400"/>
            <a:ext cx="1562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0F172A"/>
                </a:solidFill>
              </a:defRPr>
            </a:pPr>
            <a:r>
              <a:rPr sz="1125" b="0">
                <a:solidFill>
                  <a:srgbClr val="0F172A"/>
                </a:solidFill>
              </a:rPr>
              <a:t>typed_evidence</a:t>
            </a:r>
          </a:p>
        </p:txBody>
      </p:sp>
      <p:sp>
        <p:nvSpPr>
          <p:cNvPr id="43" name="">
            <a:extLst xmlns:a="http://schemas.openxmlformats.org/drawingml/2006/main">
              <a:ext uri="{FF2B5EF4-FFF2-40B4-BE49-F238E27FC236}">
                <a16:creationId xmlns:a16="http://schemas.microsoft.com/office/drawing/2014/main" id="{01098412-EDF0-41D2-8872-C06C0CAFF3FC}"/>
              </a:ext>
            </a:extLst>
          </p:cNvPr>
          <p:cNvSpPr>
            <a:spLocks xmlns:a="http://schemas.openxmlformats.org/drawingml/2006/main" noGrp="1"/>
          </p:cNvSpPr>
          <p:nvPr/>
        </p:nvSpPr>
        <p:spPr>
          <a:xfrm xmlns:a="http://schemas.openxmlformats.org/drawingml/2006/main">
            <a:off x="8705850" y="31813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2A8C82"/>
                </a:solidFill>
              </a:defRPr>
            </a:pPr>
            <a:r>
              <a:rPr sz="1125" b="1">
                <a:solidFill>
                  <a:srgbClr val="2A8C82"/>
                </a:solidFill>
              </a:rPr>
              <a:t>source</a:t>
            </a:r>
          </a:p>
        </p:txBody>
      </p:sp>
      <p:sp>
        <p:nvSpPr>
          <p:cNvPr id="44" name="">
            <a:extLst xmlns:a="http://schemas.openxmlformats.org/drawingml/2006/main">
              <a:ext uri="{FF2B5EF4-FFF2-40B4-BE49-F238E27FC236}">
                <a16:creationId xmlns:a16="http://schemas.microsoft.com/office/drawing/2014/main" id="{7B33014F-C6C9-4783-9598-00C6F9A67AE0}"/>
              </a:ext>
            </a:extLst>
          </p:cNvPr>
          <p:cNvSpPr>
            <a:spLocks xmlns:a="http://schemas.openxmlformats.org/drawingml/2006/main" noGrp="1"/>
          </p:cNvSpPr>
          <p:nvPr/>
        </p:nvSpPr>
        <p:spPr>
          <a:xfrm xmlns:a="http://schemas.openxmlformats.org/drawingml/2006/main">
            <a:off x="9620250" y="3181350"/>
            <a:ext cx="1562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0F172A"/>
                </a:solidFill>
              </a:defRPr>
            </a:pPr>
            <a:r>
              <a:rPr sz="1125" b="0">
                <a:solidFill>
                  <a:srgbClr val="0F172A"/>
                </a:solidFill>
              </a:rPr>
              <a:t>law_section_42</a:t>
            </a:r>
          </a:p>
        </p:txBody>
      </p:sp>
      <p:sp>
        <p:nvSpPr>
          <p:cNvPr id="45" name="">
            <a:extLst xmlns:a="http://schemas.openxmlformats.org/drawingml/2006/main">
              <a:ext uri="{FF2B5EF4-FFF2-40B4-BE49-F238E27FC236}">
                <a16:creationId xmlns:a16="http://schemas.microsoft.com/office/drawing/2014/main" id="{CE8383F3-CD14-4466-A0EC-229ACE685AE2}"/>
              </a:ext>
            </a:extLst>
          </p:cNvPr>
          <p:cNvSpPr>
            <a:spLocks xmlns:a="http://schemas.openxmlformats.org/drawingml/2006/main" noGrp="1"/>
          </p:cNvSpPr>
          <p:nvPr/>
        </p:nvSpPr>
        <p:spPr>
          <a:xfrm xmlns:a="http://schemas.openxmlformats.org/drawingml/2006/main">
            <a:off x="8705850" y="354330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2A8C82"/>
                </a:solidFill>
              </a:defRPr>
            </a:pPr>
            <a:r>
              <a:rPr sz="1125" b="1">
                <a:solidFill>
                  <a:srgbClr val="2A8C82"/>
                </a:solidFill>
              </a:rPr>
              <a:t>predicate</a:t>
            </a:r>
          </a:p>
        </p:txBody>
      </p:sp>
      <p:sp>
        <p:nvSpPr>
          <p:cNvPr id="46" name="">
            <a:extLst xmlns:a="http://schemas.openxmlformats.org/drawingml/2006/main">
              <a:ext uri="{FF2B5EF4-FFF2-40B4-BE49-F238E27FC236}">
                <a16:creationId xmlns:a16="http://schemas.microsoft.com/office/drawing/2014/main" id="{3F542DA5-BC82-4E01-9360-A26B00B5ED78}"/>
              </a:ext>
            </a:extLst>
          </p:cNvPr>
          <p:cNvSpPr>
            <a:spLocks xmlns:a="http://schemas.openxmlformats.org/drawingml/2006/main" noGrp="1"/>
          </p:cNvSpPr>
          <p:nvPr/>
        </p:nvSpPr>
        <p:spPr>
          <a:xfrm xmlns:a="http://schemas.openxmlformats.org/drawingml/2006/main">
            <a:off x="9620250" y="3543300"/>
            <a:ext cx="1657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0F172A"/>
                </a:solidFill>
              </a:defRPr>
            </a:pPr>
            <a:r>
              <a:rPr sz="1050" b="0">
                <a:solidFill>
                  <a:srgbClr val="0F172A"/>
                </a:solidFill>
              </a:rPr>
              <a:t>commencement_date</a:t>
            </a:r>
          </a:p>
        </p:txBody>
      </p:sp>
      <p:sp>
        <p:nvSpPr>
          <p:cNvPr id="47" name="">
            <a:extLst xmlns:a="http://schemas.openxmlformats.org/drawingml/2006/main">
              <a:ext uri="{FF2B5EF4-FFF2-40B4-BE49-F238E27FC236}">
                <a16:creationId xmlns:a16="http://schemas.microsoft.com/office/drawing/2014/main" id="{8D88E28A-F534-4208-9B2C-14DB5C12FAB7}"/>
              </a:ext>
            </a:extLst>
          </p:cNvPr>
          <p:cNvSpPr>
            <a:spLocks xmlns:a="http://schemas.openxmlformats.org/drawingml/2006/main" noGrp="1"/>
          </p:cNvSpPr>
          <p:nvPr/>
        </p:nvSpPr>
        <p:spPr>
          <a:xfrm xmlns:a="http://schemas.openxmlformats.org/drawingml/2006/main">
            <a:off x="8705850" y="39052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2A8C82"/>
                </a:solidFill>
              </a:defRPr>
            </a:pPr>
            <a:r>
              <a:rPr sz="1125" b="1">
                <a:solidFill>
                  <a:srgbClr val="2A8C82"/>
                </a:solidFill>
              </a:rPr>
              <a:t>verdict</a:t>
            </a:r>
          </a:p>
        </p:txBody>
      </p:sp>
      <p:sp>
        <p:nvSpPr>
          <p:cNvPr id="48" name="">
            <a:extLst xmlns:a="http://schemas.openxmlformats.org/drawingml/2006/main">
              <a:ext uri="{FF2B5EF4-FFF2-40B4-BE49-F238E27FC236}">
                <a16:creationId xmlns:a16="http://schemas.microsoft.com/office/drawing/2014/main" id="{1FFBA2B8-0DEE-46FB-B068-E22725F177A4}"/>
              </a:ext>
            </a:extLst>
          </p:cNvPr>
          <p:cNvSpPr>
            <a:spLocks xmlns:a="http://schemas.openxmlformats.org/drawingml/2006/main" noGrp="1"/>
          </p:cNvSpPr>
          <p:nvPr/>
        </p:nvSpPr>
        <p:spPr>
          <a:xfrm xmlns:a="http://schemas.openxmlformats.org/drawingml/2006/main">
            <a:off x="9620250" y="3905250"/>
            <a:ext cx="1562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F172A"/>
                </a:solidFill>
              </a:defRPr>
            </a:pPr>
            <a:r>
              <a:rPr sz="1350" b="1">
                <a:solidFill>
                  <a:srgbClr val="0F172A"/>
                </a:solidFill>
              </a:rPr>
              <a:t>1</a:t>
            </a:r>
          </a:p>
        </p:txBody>
      </p:sp>
      <p:sp>
        <p:nvSpPr>
          <p:cNvPr id="49" name="">
            <a:extLst xmlns:a="http://schemas.openxmlformats.org/drawingml/2006/main">
              <a:ext uri="{FF2B5EF4-FFF2-40B4-BE49-F238E27FC236}">
                <a16:creationId xmlns:a16="http://schemas.microsoft.com/office/drawing/2014/main" id="{E063D09C-6A1E-4E83-B571-B3EE15DE4453}"/>
              </a:ext>
            </a:extLst>
          </p:cNvPr>
          <p:cNvSpPr>
            <a:spLocks xmlns:a="http://schemas.openxmlformats.org/drawingml/2006/main" noGrp="1"/>
          </p:cNvSpPr>
          <p:nvPr/>
        </p:nvSpPr>
        <p:spPr>
          <a:xfrm xmlns:a="http://schemas.openxmlformats.org/drawingml/2006/main">
            <a:off x="8610600" y="4552950"/>
            <a:ext cx="2571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B5483A"/>
                </a:solidFill>
              </a:defRPr>
            </a:pPr>
            <a:r>
              <a:rPr sz="1125" b="1">
                <a:solidFill>
                  <a:srgbClr val="B5483A"/>
                </a:solidFill>
              </a:rPr>
              <a:t>If any gate fails: verdict = null</a:t>
            </a:r>
          </a:p>
        </p:txBody>
      </p:sp>
      <p:sp>
        <p:nvSpPr>
          <p:cNvPr id="50" name="">
            <a:extLst xmlns:a="http://schemas.openxmlformats.org/drawingml/2006/main">
              <a:ext uri="{FF2B5EF4-FFF2-40B4-BE49-F238E27FC236}">
                <a16:creationId xmlns:a16="http://schemas.microsoft.com/office/drawing/2014/main" id="{F8DDE8CD-8EB2-47BB-9225-0951C1F80774}"/>
              </a:ext>
            </a:extLst>
          </p:cNvPr>
          <p:cNvSpPr>
            <a:spLocks xmlns:a="http://schemas.openxmlformats.org/drawingml/2006/main" noGrp="1"/>
          </p:cNvSpPr>
          <p:nvPr/>
        </p:nvSpPr>
        <p:spPr>
          <a:xfrm xmlns:a="http://schemas.openxmlformats.org/drawingml/2006/main">
            <a:off x="685800" y="6372225"/>
            <a:ext cx="1082040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51" name="source-9">
            <a:extLst xmlns:a="http://schemas.openxmlformats.org/drawingml/2006/main">
              <a:ext uri="{FF2B5EF4-FFF2-40B4-BE49-F238E27FC236}">
                <a16:creationId xmlns:a16="http://schemas.microsoft.com/office/drawing/2014/main" id="{2B6F7E18-E6E5-4836-9D06-48435B76D5CC}"/>
              </a:ext>
            </a:extLst>
          </p:cNvPr>
          <p:cNvSpPr>
            <a:spLocks xmlns:a="http://schemas.openxmlformats.org/drawingml/2006/main" noGrp="1"/>
          </p:cNvSpPr>
          <p:nvPr/>
        </p:nvSpPr>
        <p:spPr>
          <a:xfrm xmlns:a="http://schemas.openxmlformats.org/drawingml/2006/main">
            <a:off x="685800" y="6457950"/>
            <a:ext cx="9810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526174"/>
                </a:solidFill>
              </a:defRPr>
            </a:pPr>
            <a:r>
              <a:rPr sz="975" b="0">
                <a:solidFill>
                  <a:srgbClr val="526174"/>
                </a:solidFill>
              </a:rPr>
              <a:t>[7] v91 evidence schema, provenance ledger and row-level decision trace</a:t>
            </a:r>
          </a:p>
        </p:txBody>
      </p:sp>
      <p:sp>
        <p:nvSpPr>
          <p:cNvPr id="52" name="page-9">
            <a:extLst xmlns:a="http://schemas.openxmlformats.org/drawingml/2006/main">
              <a:ext uri="{FF2B5EF4-FFF2-40B4-BE49-F238E27FC236}">
                <a16:creationId xmlns:a16="http://schemas.microsoft.com/office/drawing/2014/main" id="{B00D0E60-D057-42D8-B1F9-07FEF0BF33BA}"/>
              </a:ext>
            </a:extLst>
          </p:cNvPr>
          <p:cNvSpPr>
            <a:spLocks xmlns:a="http://schemas.openxmlformats.org/drawingml/2006/main" noGrp="1"/>
          </p:cNvSpPr>
          <p:nvPr/>
        </p:nvSpPr>
        <p:spPr>
          <a:xfrm xmlns:a="http://schemas.openxmlformats.org/drawingml/2006/main">
            <a:off x="10810875" y="6457950"/>
            <a:ext cx="6953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1F5A7A"/>
                </a:solidFill>
              </a:defRPr>
            </a:pPr>
            <a:r>
              <a:rPr sz="975" b="1">
                <a:solidFill>
                  <a:srgbClr val="1F5A7A"/>
                </a:solidFill>
              </a:rPr>
              <a:t>09</a:t>
            </a:r>
          </a:p>
        </p:txBody>
      </p:sp>
    </p:spTree>
    <p:extLst>
      <p:ext uri="{BB962C8B-B14F-4D97-AF65-F5344CB8AC3E}">
        <p14:creationId xmlns:p14="http://schemas.microsoft.com/office/powerpoint/2010/main" val="173058741"/>
      </p:ext>
    </p:extLst>
  </p:cSld>
</p:sld>
</file>

<file path=ppt/slides/slide10.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7" name="kicker-10">
            <a:extLst xmlns:a="http://schemas.openxmlformats.org/drawingml/2006/main">
              <a:ext uri="{FF2B5EF4-FFF2-40B4-BE49-F238E27FC236}">
                <a16:creationId xmlns:a16="http://schemas.microsoft.com/office/drawing/2014/main" id="{1249406B-5BF0-4A9B-9981-59963381BA21}"/>
              </a:ext>
            </a:extLst>
          </p:cNvPr>
          <p:cNvSpPr>
            <a:spLocks xmlns:a="http://schemas.openxmlformats.org/drawingml/2006/main" noGrp="1"/>
          </p:cNvSpPr>
          <p:nvPr/>
        </p:nvSpPr>
        <p:spPr>
          <a:xfrm xmlns:a="http://schemas.openxmlformats.org/drawingml/2006/main">
            <a:off x="685800" y="32385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F5A7A"/>
                </a:solidFill>
              </a:defRPr>
            </a:pPr>
            <a:r>
              <a:rPr sz="1050" b="1">
                <a:solidFill>
                  <a:srgbClr val="1F5A7A"/>
                </a:solidFill>
              </a:rPr>
              <a:t>TEAM HUNTRIX</a:t>
            </a:r>
          </a:p>
        </p:txBody>
      </p:sp>
      <p:sp>
        <p:nvSpPr>
          <p:cNvPr id="2" name="title-10">
            <a:extLst xmlns:a="http://schemas.openxmlformats.org/drawingml/2006/main">
              <a:ext uri="{FF2B5EF4-FFF2-40B4-BE49-F238E27FC236}">
                <a16:creationId xmlns:a16="http://schemas.microsoft.com/office/drawing/2014/main" id="{CFE9EAA8-36F2-4946-BCE8-11E457B63887}"/>
              </a:ext>
            </a:extLst>
          </p:cNvPr>
          <p:cNvSpPr>
            <a:spLocks xmlns:a="http://schemas.openxmlformats.org/drawingml/2006/main" noGrp="1"/>
          </p:cNvSpPr>
          <p:nvPr/>
        </p:nvSpPr>
        <p:spPr>
          <a:xfrm xmlns:a="http://schemas.openxmlformats.org/drawingml/2006/main">
            <a:off x="685800" y="590550"/>
            <a:ext cx="10820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F172A"/>
                </a:solidFill>
              </a:defRPr>
            </a:pPr>
            <a:r>
              <a:rPr sz="2700" b="1">
                <a:solidFill>
                  <a:srgbClr val="0F172A"/>
                </a:solidFill>
              </a:rPr>
              <a:t>Routing produced the largest score jump</a:t>
            </a:r>
          </a:p>
        </p:txBody>
      </p:sp>
      <p:sp>
        <p:nvSpPr>
          <p:cNvPr id="3" name="">
            <a:extLst xmlns:a="http://schemas.openxmlformats.org/drawingml/2006/main">
              <a:ext uri="{FF2B5EF4-FFF2-40B4-BE49-F238E27FC236}">
                <a16:creationId xmlns:a16="http://schemas.microsoft.com/office/drawing/2014/main" id="{88C3F5A5-80B7-4601-B9D9-5131FDDF5DE6}"/>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4" name="">
            <a:extLst xmlns:a="http://schemas.openxmlformats.org/drawingml/2006/main">
              <a:ext uri="{FF2B5EF4-FFF2-40B4-BE49-F238E27FC236}">
                <a16:creationId xmlns:a16="http://schemas.microsoft.com/office/drawing/2014/main" id="{38633797-9318-48D3-887B-6A354D673C40}"/>
              </a:ext>
            </a:extLst>
          </p:cNvPr>
          <p:cNvSpPr>
            <a:spLocks xmlns:a="http://schemas.openxmlformats.org/drawingml/2006/main" noGrp="1"/>
          </p:cNvSpPr>
          <p:nvPr/>
        </p:nvSpPr>
        <p:spPr>
          <a:xfrm xmlns:a="http://schemas.openxmlformats.org/drawingml/2006/main">
            <a:off x="685800" y="1381125"/>
            <a:ext cx="809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526174"/>
                </a:solidFill>
              </a:defRPr>
            </a:pPr>
            <a:r>
              <a:rPr sz="1650" b="0">
                <a:solidFill>
                  <a:srgbClr val="526174"/>
                </a:solidFill>
              </a:rPr>
              <a:t>The model helped. The architecture change helped more.</a:t>
            </a:r>
          </a:p>
        </p:txBody>
      </p:sp>
      <p:graphicFrame>
        <p:nvGraphicFramePr>
          <p:cNvPr id="21" name="Chart"/>
          <p:cNvGraphicFramePr/>
          <p:nvPr/>
        </p:nvGraphicFramePr>
        <p:xfrm>
          <a:off xmlns:a="http://schemas.openxmlformats.org/drawingml/2006/main" x="876300" y="2019300"/>
          <a:ext xmlns:a="http://schemas.openxmlformats.org/drawingml/2006/main" cx="8953500" cy="3467100"/>
        </p:xfrm>
        <a:graphic xmlns:a="http://schemas.openxmlformats.org/drawingml/2006/main">
          <a:graphicData uri="http://schemas.openxmlformats.org/drawingml/2006/chart">
            <c:chart xmlns:r="http://schemas.openxmlformats.org/officeDocument/2006/relationships" xmlns:c="http://schemas.openxmlformats.org/drawingml/2006/chart" r:id="R55cc168817414a4a"/>
          </a:graphicData>
        </a:graphic>
      </p:graphicFrame>
      <p:sp>
        <p:nvSpPr>
          <p:cNvPr id="6" name="">
            <a:extLst xmlns:a="http://schemas.openxmlformats.org/drawingml/2006/main">
              <a:ext uri="{FF2B5EF4-FFF2-40B4-BE49-F238E27FC236}">
                <a16:creationId xmlns:a16="http://schemas.microsoft.com/office/drawing/2014/main" id="{AB9B9E3D-1F24-4136-9357-FA5FC64FC3E4}"/>
              </a:ext>
            </a:extLst>
          </p:cNvPr>
          <p:cNvSpPr>
            <a:spLocks xmlns:a="http://schemas.openxmlformats.org/drawingml/2006/main" noGrp="1"/>
          </p:cNvSpPr>
          <p:nvPr/>
        </p:nvSpPr>
        <p:spPr>
          <a:xfrm xmlns:a="http://schemas.openxmlformats.org/drawingml/2006/main">
            <a:off x="9982200" y="2400300"/>
            <a:ext cx="1485900" cy="1295400"/>
          </a:xfrm>
          <a:prstGeom xmlns:a="http://schemas.openxmlformats.org/drawingml/2006/main" prst="roundRect">
            <a:avLst>
              <a:gd name="adj" fmla="val 11765"/>
            </a:avLst>
          </a:prstGeom>
          <a:solidFill xmlns:a="http://schemas.openxmlformats.org/drawingml/2006/main">
            <a:srgbClr val="DDF2EE"/>
          </a:solidFill>
          <a:ln xmlns:a="http://schemas.openxmlformats.org/drawingml/2006/main" w="9525">
            <a:solidFill>
              <a:srgbClr val="2A8C82"/>
            </a:solidFill>
            <a:prstDash val="solid"/>
          </a:ln>
        </p:spPr>
      </p:sp>
      <p:sp>
        <p:nvSpPr>
          <p:cNvPr id="7" name="">
            <a:extLst xmlns:a="http://schemas.openxmlformats.org/drawingml/2006/main">
              <a:ext uri="{FF2B5EF4-FFF2-40B4-BE49-F238E27FC236}">
                <a16:creationId xmlns:a16="http://schemas.microsoft.com/office/drawing/2014/main" id="{9DD8E24A-0C66-4556-A1D3-A8D0A4DF2A13}"/>
              </a:ext>
            </a:extLst>
          </p:cNvPr>
          <p:cNvSpPr>
            <a:spLocks xmlns:a="http://schemas.openxmlformats.org/drawingml/2006/main" noGrp="1"/>
          </p:cNvSpPr>
          <p:nvPr/>
        </p:nvSpPr>
        <p:spPr>
          <a:xfrm xmlns:a="http://schemas.openxmlformats.org/drawingml/2006/main">
            <a:off x="10191750" y="2571750"/>
            <a:ext cx="1066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2A8C82"/>
                </a:solidFill>
              </a:defRPr>
            </a:pPr>
            <a:r>
              <a:rPr sz="1350" b="1">
                <a:solidFill>
                  <a:srgbClr val="2A8C82"/>
                </a:solidFill>
              </a:rPr>
              <a:t>v6</a:t>
            </a:r>
          </a:p>
        </p:txBody>
      </p:sp>
      <p:sp>
        <p:nvSpPr>
          <p:cNvPr id="8" name="">
            <a:extLst xmlns:a="http://schemas.openxmlformats.org/drawingml/2006/main">
              <a:ext uri="{FF2B5EF4-FFF2-40B4-BE49-F238E27FC236}">
                <a16:creationId xmlns:a16="http://schemas.microsoft.com/office/drawing/2014/main" id="{3376B028-9763-4771-BD94-71C447192F54}"/>
              </a:ext>
            </a:extLst>
          </p:cNvPr>
          <p:cNvSpPr>
            <a:spLocks xmlns:a="http://schemas.openxmlformats.org/drawingml/2006/main" noGrp="1"/>
          </p:cNvSpPr>
          <p:nvPr/>
        </p:nvSpPr>
        <p:spPr>
          <a:xfrm xmlns:a="http://schemas.openxmlformats.org/drawingml/2006/main">
            <a:off x="10153650" y="2952750"/>
            <a:ext cx="114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400" b="1">
                <a:solidFill>
                  <a:srgbClr val="0F172A"/>
                </a:solidFill>
              </a:defRPr>
            </a:pPr>
            <a:r>
              <a:rPr sz="2400" b="1">
                <a:solidFill>
                  <a:srgbClr val="0F172A"/>
                </a:solidFill>
              </a:rPr>
              <a:t>+0.106</a:t>
            </a:r>
          </a:p>
        </p:txBody>
      </p:sp>
      <p:sp>
        <p:nvSpPr>
          <p:cNvPr id="9" name="">
            <a:extLst xmlns:a="http://schemas.openxmlformats.org/drawingml/2006/main">
              <a:ext uri="{FF2B5EF4-FFF2-40B4-BE49-F238E27FC236}">
                <a16:creationId xmlns:a16="http://schemas.microsoft.com/office/drawing/2014/main" id="{A57AAAAD-19BC-4B86-8F44-648348088C98}"/>
              </a:ext>
            </a:extLst>
          </p:cNvPr>
          <p:cNvSpPr>
            <a:spLocks xmlns:a="http://schemas.openxmlformats.org/drawingml/2006/main" noGrp="1"/>
          </p:cNvSpPr>
          <p:nvPr/>
        </p:nvSpPr>
        <p:spPr>
          <a:xfrm xmlns:a="http://schemas.openxmlformats.org/drawingml/2006/main">
            <a:off x="10134600" y="3381375"/>
            <a:ext cx="1181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0">
                <a:solidFill>
                  <a:srgbClr val="526174"/>
                </a:solidFill>
              </a:defRPr>
            </a:pPr>
            <a:r>
              <a:rPr sz="1125" b="0">
                <a:solidFill>
                  <a:srgbClr val="526174"/>
                </a:solidFill>
              </a:rPr>
              <a:t>routing added</a:t>
            </a:r>
          </a:p>
        </p:txBody>
      </p:sp>
      <p:sp>
        <p:nvSpPr>
          <p:cNvPr id="10" name="">
            <a:extLst xmlns:a="http://schemas.openxmlformats.org/drawingml/2006/main">
              <a:ext uri="{FF2B5EF4-FFF2-40B4-BE49-F238E27FC236}">
                <a16:creationId xmlns:a16="http://schemas.microsoft.com/office/drawing/2014/main" id="{8CAB4385-CB4E-4F70-8218-3C80B93A97AA}"/>
              </a:ext>
            </a:extLst>
          </p:cNvPr>
          <p:cNvSpPr>
            <a:spLocks xmlns:a="http://schemas.openxmlformats.org/drawingml/2006/main" noGrp="1"/>
          </p:cNvSpPr>
          <p:nvPr/>
        </p:nvSpPr>
        <p:spPr>
          <a:xfrm xmlns:a="http://schemas.openxmlformats.org/drawingml/2006/main">
            <a:off x="9982200" y="3943350"/>
            <a:ext cx="1485900" cy="1295400"/>
          </a:xfrm>
          <a:prstGeom xmlns:a="http://schemas.openxmlformats.org/drawingml/2006/main" prst="roundRect">
            <a:avLst>
              <a:gd name="adj" fmla="val 11765"/>
            </a:avLst>
          </a:prstGeom>
          <a:solidFill xmlns:a="http://schemas.openxmlformats.org/drawingml/2006/main">
            <a:srgbClr val="FBF0D8"/>
          </a:solidFill>
          <a:ln xmlns:a="http://schemas.openxmlformats.org/drawingml/2006/main" w="9525">
            <a:solidFill>
              <a:srgbClr val="D59B32"/>
            </a:solidFill>
            <a:prstDash val="solid"/>
          </a:ln>
        </p:spPr>
      </p:sp>
      <p:sp>
        <p:nvSpPr>
          <p:cNvPr id="11" name="">
            <a:extLst xmlns:a="http://schemas.openxmlformats.org/drawingml/2006/main">
              <a:ext uri="{FF2B5EF4-FFF2-40B4-BE49-F238E27FC236}">
                <a16:creationId xmlns:a16="http://schemas.microsoft.com/office/drawing/2014/main" id="{00C686F7-C3F0-45D1-9E95-64BA6DB25808}"/>
              </a:ext>
            </a:extLst>
          </p:cNvPr>
          <p:cNvSpPr>
            <a:spLocks xmlns:a="http://schemas.openxmlformats.org/drawingml/2006/main" noGrp="1"/>
          </p:cNvSpPr>
          <p:nvPr/>
        </p:nvSpPr>
        <p:spPr>
          <a:xfrm xmlns:a="http://schemas.openxmlformats.org/drawingml/2006/main">
            <a:off x="10191750" y="4114800"/>
            <a:ext cx="1066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D59B32"/>
                </a:solidFill>
              </a:defRPr>
            </a:pPr>
            <a:r>
              <a:rPr sz="1350" b="1">
                <a:solidFill>
                  <a:srgbClr val="D59B32"/>
                </a:solidFill>
              </a:rPr>
              <a:t>v91</a:t>
            </a:r>
          </a:p>
        </p:txBody>
      </p:sp>
      <p:sp>
        <p:nvSpPr>
          <p:cNvPr id="12" name="">
            <a:extLst xmlns:a="http://schemas.openxmlformats.org/drawingml/2006/main">
              <a:ext uri="{FF2B5EF4-FFF2-40B4-BE49-F238E27FC236}">
                <a16:creationId xmlns:a16="http://schemas.microsoft.com/office/drawing/2014/main" id="{1DB7E093-78FA-4C96-887E-2C3368980688}"/>
              </a:ext>
            </a:extLst>
          </p:cNvPr>
          <p:cNvSpPr>
            <a:spLocks xmlns:a="http://schemas.openxmlformats.org/drawingml/2006/main" noGrp="1"/>
          </p:cNvSpPr>
          <p:nvPr/>
        </p:nvSpPr>
        <p:spPr>
          <a:xfrm xmlns:a="http://schemas.openxmlformats.org/drawingml/2006/main">
            <a:off x="10153650" y="4495800"/>
            <a:ext cx="114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400" b="1">
                <a:solidFill>
                  <a:srgbClr val="0F172A"/>
                </a:solidFill>
              </a:defRPr>
            </a:pPr>
            <a:r>
              <a:rPr sz="2400" b="1">
                <a:solidFill>
                  <a:srgbClr val="0F172A"/>
                </a:solidFill>
              </a:rPr>
              <a:t>0.967</a:t>
            </a:r>
          </a:p>
        </p:txBody>
      </p:sp>
      <p:sp>
        <p:nvSpPr>
          <p:cNvPr id="13" name="">
            <a:extLst xmlns:a="http://schemas.openxmlformats.org/drawingml/2006/main">
              <a:ext uri="{FF2B5EF4-FFF2-40B4-BE49-F238E27FC236}">
                <a16:creationId xmlns:a16="http://schemas.microsoft.com/office/drawing/2014/main" id="{7E499265-2B8A-4BBF-9733-BA6879B0FED3}"/>
              </a:ext>
            </a:extLst>
          </p:cNvPr>
          <p:cNvSpPr>
            <a:spLocks xmlns:a="http://schemas.openxmlformats.org/drawingml/2006/main" noGrp="1"/>
          </p:cNvSpPr>
          <p:nvPr/>
        </p:nvSpPr>
        <p:spPr>
          <a:xfrm xmlns:a="http://schemas.openxmlformats.org/drawingml/2006/main">
            <a:off x="10134600" y="4924425"/>
            <a:ext cx="1181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0">
                <a:solidFill>
                  <a:srgbClr val="526174"/>
                </a:solidFill>
              </a:defRPr>
            </a:pPr>
            <a:r>
              <a:rPr sz="1125" b="0">
                <a:solidFill>
                  <a:srgbClr val="526174"/>
                </a:solidFill>
              </a:rPr>
              <a:t>public F1</a:t>
            </a:r>
          </a:p>
        </p:txBody>
      </p:sp>
      <p:sp>
        <p:nvSpPr>
          <p:cNvPr id="14" name="">
            <a:extLst xmlns:a="http://schemas.openxmlformats.org/drawingml/2006/main">
              <a:ext uri="{FF2B5EF4-FFF2-40B4-BE49-F238E27FC236}">
                <a16:creationId xmlns:a16="http://schemas.microsoft.com/office/drawing/2014/main" id="{A895C53A-3609-4B0A-B2A7-748CF7FB126A}"/>
              </a:ext>
            </a:extLst>
          </p:cNvPr>
          <p:cNvSpPr>
            <a:spLocks xmlns:a="http://schemas.openxmlformats.org/drawingml/2006/main" noGrp="1"/>
          </p:cNvSpPr>
          <p:nvPr/>
        </p:nvSpPr>
        <p:spPr>
          <a:xfrm xmlns:a="http://schemas.openxmlformats.org/drawingml/2006/main">
            <a:off x="685800" y="6372225"/>
            <a:ext cx="1082040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15" name="source-10">
            <a:extLst xmlns:a="http://schemas.openxmlformats.org/drawingml/2006/main">
              <a:ext uri="{FF2B5EF4-FFF2-40B4-BE49-F238E27FC236}">
                <a16:creationId xmlns:a16="http://schemas.microsoft.com/office/drawing/2014/main" id="{1A3EBA71-39F4-4DE7-A76E-365E48B5504F}"/>
              </a:ext>
            </a:extLst>
          </p:cNvPr>
          <p:cNvSpPr>
            <a:spLocks xmlns:a="http://schemas.openxmlformats.org/drawingml/2006/main" noGrp="1"/>
          </p:cNvSpPr>
          <p:nvPr/>
        </p:nvSpPr>
        <p:spPr>
          <a:xfrm xmlns:a="http://schemas.openxmlformats.org/drawingml/2006/main">
            <a:off x="685800" y="6457950"/>
            <a:ext cx="9810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526174"/>
                </a:solidFill>
              </a:defRPr>
            </a:pPr>
            <a:r>
              <a:rPr sz="975" b="0">
                <a:solidFill>
                  <a:srgbClr val="526174"/>
                </a:solidFill>
              </a:rPr>
              <a:t>[7] Scored Phase 1 experiment ledger and Kaggle public leaderboard</a:t>
            </a:r>
          </a:p>
        </p:txBody>
      </p:sp>
      <p:sp>
        <p:nvSpPr>
          <p:cNvPr id="16" name="page-10">
            <a:extLst xmlns:a="http://schemas.openxmlformats.org/drawingml/2006/main">
              <a:ext uri="{FF2B5EF4-FFF2-40B4-BE49-F238E27FC236}">
                <a16:creationId xmlns:a16="http://schemas.microsoft.com/office/drawing/2014/main" id="{A2251DCC-A722-49EC-B448-DE1034F64E62}"/>
              </a:ext>
            </a:extLst>
          </p:cNvPr>
          <p:cNvSpPr>
            <a:spLocks xmlns:a="http://schemas.openxmlformats.org/drawingml/2006/main" noGrp="1"/>
          </p:cNvSpPr>
          <p:nvPr/>
        </p:nvSpPr>
        <p:spPr>
          <a:xfrm xmlns:a="http://schemas.openxmlformats.org/drawingml/2006/main">
            <a:off x="10810875" y="6457950"/>
            <a:ext cx="6953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1F5A7A"/>
                </a:solidFill>
              </a:defRPr>
            </a:pPr>
            <a:r>
              <a:rPr sz="975" b="1">
                <a:solidFill>
                  <a:srgbClr val="1F5A7A"/>
                </a:solidFill>
              </a:rPr>
              <a:t>10</a:t>
            </a:r>
          </a:p>
        </p:txBody>
      </p:sp>
    </p:spTree>
    <p:extLst>
      <p:ext uri="{BB962C8B-B14F-4D97-AF65-F5344CB8AC3E}">
        <p14:creationId xmlns:p14="http://schemas.microsoft.com/office/powerpoint/2010/main" val="729745645"/>
      </p:ext>
    </p:extLst>
  </p:cSld>
</p:sld>
</file>

<file path=ppt/slides/slide11.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9" name="kicker-11">
            <a:extLst xmlns:a="http://schemas.openxmlformats.org/drawingml/2006/main">
              <a:ext uri="{FF2B5EF4-FFF2-40B4-BE49-F238E27FC236}">
                <a16:creationId xmlns:a16="http://schemas.microsoft.com/office/drawing/2014/main" id="{5546DF2F-1A9A-4005-8707-8B4833E646F2}"/>
              </a:ext>
            </a:extLst>
          </p:cNvPr>
          <p:cNvSpPr>
            <a:spLocks xmlns:a="http://schemas.openxmlformats.org/drawingml/2006/main" noGrp="1"/>
          </p:cNvSpPr>
          <p:nvPr/>
        </p:nvSpPr>
        <p:spPr>
          <a:xfrm xmlns:a="http://schemas.openxmlformats.org/drawingml/2006/main">
            <a:off x="685800" y="32385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F5A7A"/>
                </a:solidFill>
              </a:defRPr>
            </a:pPr>
            <a:r>
              <a:rPr sz="1050" b="1">
                <a:solidFill>
                  <a:srgbClr val="1F5A7A"/>
                </a:solidFill>
              </a:rPr>
              <a:t>TEAM HUNTRIX</a:t>
            </a:r>
          </a:p>
        </p:txBody>
      </p:sp>
      <p:sp>
        <p:nvSpPr>
          <p:cNvPr id="2" name="title-11">
            <a:extLst xmlns:a="http://schemas.openxmlformats.org/drawingml/2006/main">
              <a:ext uri="{FF2B5EF4-FFF2-40B4-BE49-F238E27FC236}">
                <a16:creationId xmlns:a16="http://schemas.microsoft.com/office/drawing/2014/main" id="{BC14874D-BF6C-4830-A660-0C9C3CB9AE99}"/>
              </a:ext>
            </a:extLst>
          </p:cNvPr>
          <p:cNvSpPr>
            <a:spLocks xmlns:a="http://schemas.openxmlformats.org/drawingml/2006/main" noGrp="1"/>
          </p:cNvSpPr>
          <p:nvPr/>
        </p:nvSpPr>
        <p:spPr>
          <a:xfrm xmlns:a="http://schemas.openxmlformats.org/drawingml/2006/main">
            <a:off x="685800" y="590550"/>
            <a:ext cx="10820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F172A"/>
                </a:solidFill>
              </a:defRPr>
            </a:pPr>
            <a:r>
              <a:rPr sz="2700" b="1">
                <a:solidFill>
                  <a:srgbClr val="0F172A"/>
                </a:solidFill>
              </a:rPr>
              <a:t>Several reasonable ideas made the score worse</a:t>
            </a:r>
          </a:p>
        </p:txBody>
      </p:sp>
      <p:sp>
        <p:nvSpPr>
          <p:cNvPr id="3" name="">
            <a:extLst xmlns:a="http://schemas.openxmlformats.org/drawingml/2006/main">
              <a:ext uri="{FF2B5EF4-FFF2-40B4-BE49-F238E27FC236}">
                <a16:creationId xmlns:a16="http://schemas.microsoft.com/office/drawing/2014/main" id="{3269B6E1-3103-47AE-B8B5-AC9D667297C3}"/>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4" name="">
            <a:extLst xmlns:a="http://schemas.openxmlformats.org/drawingml/2006/main">
              <a:ext uri="{FF2B5EF4-FFF2-40B4-BE49-F238E27FC236}">
                <a16:creationId xmlns:a16="http://schemas.microsoft.com/office/drawing/2014/main" id="{41CCD470-CF47-4878-B9F0-426C309FF128}"/>
              </a:ext>
            </a:extLst>
          </p:cNvPr>
          <p:cNvSpPr>
            <a:spLocks xmlns:a="http://schemas.openxmlformats.org/drawingml/2006/main" noGrp="1"/>
          </p:cNvSpPr>
          <p:nvPr/>
        </p:nvSpPr>
        <p:spPr>
          <a:xfrm xmlns:a="http://schemas.openxmlformats.org/drawingml/2006/main">
            <a:off x="685800" y="1390650"/>
            <a:ext cx="904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526174"/>
                </a:solidFill>
              </a:defRPr>
            </a:pPr>
            <a:r>
              <a:rPr sz="1650" b="0">
                <a:solidFill>
                  <a:srgbClr val="526174"/>
                </a:solidFill>
              </a:rPr>
              <a:t>The failed runs were useful because each exposed a different error source.</a:t>
            </a:r>
          </a:p>
        </p:txBody>
      </p:sp>
      <p:sp>
        <p:nvSpPr>
          <p:cNvPr id="5" name="">
            <a:extLst xmlns:a="http://schemas.openxmlformats.org/drawingml/2006/main">
              <a:ext uri="{FF2B5EF4-FFF2-40B4-BE49-F238E27FC236}">
                <a16:creationId xmlns:a16="http://schemas.microsoft.com/office/drawing/2014/main" id="{B99CEA05-A0F5-4073-A00E-DC38359B0613}"/>
              </a:ext>
            </a:extLst>
          </p:cNvPr>
          <p:cNvSpPr>
            <a:spLocks xmlns:a="http://schemas.openxmlformats.org/drawingml/2006/main" noGrp="1"/>
          </p:cNvSpPr>
          <p:nvPr/>
        </p:nvSpPr>
        <p:spPr>
          <a:xfrm xmlns:a="http://schemas.openxmlformats.org/drawingml/2006/main">
            <a:off x="876300" y="207645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1F5A7A"/>
                </a:solidFill>
              </a:defRPr>
            </a:pPr>
            <a:r>
              <a:rPr sz="1275" b="1">
                <a:solidFill>
                  <a:srgbClr val="1F5A7A"/>
                </a:solidFill>
              </a:rPr>
              <a:t>Experiment</a:t>
            </a:r>
          </a:p>
        </p:txBody>
      </p:sp>
      <p:sp>
        <p:nvSpPr>
          <p:cNvPr id="6" name="">
            <a:extLst xmlns:a="http://schemas.openxmlformats.org/drawingml/2006/main">
              <a:ext uri="{FF2B5EF4-FFF2-40B4-BE49-F238E27FC236}">
                <a16:creationId xmlns:a16="http://schemas.microsoft.com/office/drawing/2014/main" id="{1C7E1044-DA8E-4424-84C6-E616891380C6}"/>
              </a:ext>
            </a:extLst>
          </p:cNvPr>
          <p:cNvSpPr>
            <a:spLocks xmlns:a="http://schemas.openxmlformats.org/drawingml/2006/main" noGrp="1"/>
          </p:cNvSpPr>
          <p:nvPr/>
        </p:nvSpPr>
        <p:spPr>
          <a:xfrm xmlns:a="http://schemas.openxmlformats.org/drawingml/2006/main">
            <a:off x="3733800" y="207645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1F5A7A"/>
                </a:solidFill>
              </a:defRPr>
            </a:pPr>
            <a:r>
              <a:rPr sz="1275" b="1">
                <a:solidFill>
                  <a:srgbClr val="1F5A7A"/>
                </a:solidFill>
              </a:rPr>
              <a:t>Observed result</a:t>
            </a:r>
          </a:p>
        </p:txBody>
      </p:sp>
      <p:sp>
        <p:nvSpPr>
          <p:cNvPr id="7" name="">
            <a:extLst xmlns:a="http://schemas.openxmlformats.org/drawingml/2006/main">
              <a:ext uri="{FF2B5EF4-FFF2-40B4-BE49-F238E27FC236}">
                <a16:creationId xmlns:a16="http://schemas.microsoft.com/office/drawing/2014/main" id="{8B46E8D5-DC8A-497D-BCBB-2D6EC630341C}"/>
              </a:ext>
            </a:extLst>
          </p:cNvPr>
          <p:cNvSpPr>
            <a:spLocks xmlns:a="http://schemas.openxmlformats.org/drawingml/2006/main" noGrp="1"/>
          </p:cNvSpPr>
          <p:nvPr/>
        </p:nvSpPr>
        <p:spPr>
          <a:xfrm xmlns:a="http://schemas.openxmlformats.org/drawingml/2006/main">
            <a:off x="7086600" y="2076450"/>
            <a:ext cx="419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1F5A7A"/>
                </a:solidFill>
              </a:defRPr>
            </a:pPr>
            <a:r>
              <a:rPr sz="1275" b="1">
                <a:solidFill>
                  <a:srgbClr val="1F5A7A"/>
                </a:solidFill>
              </a:rPr>
              <a:t>What it taught us</a:t>
            </a:r>
          </a:p>
        </p:txBody>
      </p:sp>
      <p:sp>
        <p:nvSpPr>
          <p:cNvPr id="8" name="">
            <a:extLst xmlns:a="http://schemas.openxmlformats.org/drawingml/2006/main">
              <a:ext uri="{FF2B5EF4-FFF2-40B4-BE49-F238E27FC236}">
                <a16:creationId xmlns:a16="http://schemas.microsoft.com/office/drawing/2014/main" id="{7C6C6BF9-CFA2-4165-B39D-709FF4ADE776}"/>
              </a:ext>
            </a:extLst>
          </p:cNvPr>
          <p:cNvSpPr>
            <a:spLocks xmlns:a="http://schemas.openxmlformats.org/drawingml/2006/main" noGrp="1"/>
          </p:cNvSpPr>
          <p:nvPr/>
        </p:nvSpPr>
        <p:spPr>
          <a:xfrm xmlns:a="http://schemas.openxmlformats.org/drawingml/2006/main">
            <a:off x="876300" y="2419350"/>
            <a:ext cx="10401300" cy="0"/>
          </a:xfrm>
          <a:prstGeom xmlns:a="http://schemas.openxmlformats.org/drawingml/2006/main" prst="line">
            <a:avLst/>
          </a:prstGeom>
          <a:noFill xmlns:a="http://schemas.openxmlformats.org/drawingml/2006/main"/>
          <a:ln xmlns:a="http://schemas.openxmlformats.org/drawingml/2006/main" w="19050">
            <a:solidFill>
              <a:srgbClr val="1F5A7A"/>
            </a:solidFill>
            <a:prstDash val="solid"/>
          </a:ln>
        </p:spPr>
      </p:sp>
      <p:sp>
        <p:nvSpPr>
          <p:cNvPr id="9" name="">
            <a:extLst xmlns:a="http://schemas.openxmlformats.org/drawingml/2006/main">
              <a:ext uri="{FF2B5EF4-FFF2-40B4-BE49-F238E27FC236}">
                <a16:creationId xmlns:a16="http://schemas.microsoft.com/office/drawing/2014/main" id="{F9F8EF04-82AD-47BF-9950-808181378B18}"/>
              </a:ext>
            </a:extLst>
          </p:cNvPr>
          <p:cNvSpPr>
            <a:spLocks xmlns:a="http://schemas.openxmlformats.org/drawingml/2006/main" noGrp="1"/>
          </p:cNvSpPr>
          <p:nvPr/>
        </p:nvSpPr>
        <p:spPr>
          <a:xfrm xmlns:a="http://schemas.openxmlformats.org/drawingml/2006/main">
            <a:off x="876300" y="2571750"/>
            <a:ext cx="247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F172A"/>
                </a:solidFill>
              </a:defRPr>
            </a:pPr>
            <a:r>
              <a:rPr sz="1575" b="1">
                <a:solidFill>
                  <a:srgbClr val="0F172A"/>
                </a:solidFill>
              </a:rPr>
              <a:t>Prompt voting</a:t>
            </a:r>
          </a:p>
        </p:txBody>
      </p:sp>
      <p:sp>
        <p:nvSpPr>
          <p:cNvPr id="10" name="">
            <a:extLst xmlns:a="http://schemas.openxmlformats.org/drawingml/2006/main">
              <a:ext uri="{FF2B5EF4-FFF2-40B4-BE49-F238E27FC236}">
                <a16:creationId xmlns:a16="http://schemas.microsoft.com/office/drawing/2014/main" id="{98D0CF2B-1757-4832-9F64-230ABC2E33A7}"/>
              </a:ext>
            </a:extLst>
          </p:cNvPr>
          <p:cNvSpPr>
            <a:spLocks xmlns:a="http://schemas.openxmlformats.org/drawingml/2006/main" noGrp="1"/>
          </p:cNvSpPr>
          <p:nvPr/>
        </p:nvSpPr>
        <p:spPr>
          <a:xfrm xmlns:a="http://schemas.openxmlformats.org/drawingml/2006/main">
            <a:off x="3733800" y="2571750"/>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526174"/>
                </a:solidFill>
              </a:defRPr>
            </a:pPr>
            <a:r>
              <a:rPr sz="1425" b="0">
                <a:solidFill>
                  <a:srgbClr val="526174"/>
                </a:solidFill>
              </a:rPr>
              <a:t>0.851 local, 0.783 public</a:t>
            </a:r>
          </a:p>
        </p:txBody>
      </p:sp>
      <p:sp>
        <p:nvSpPr>
          <p:cNvPr id="11" name="">
            <a:extLst xmlns:a="http://schemas.openxmlformats.org/drawingml/2006/main">
              <a:ext uri="{FF2B5EF4-FFF2-40B4-BE49-F238E27FC236}">
                <a16:creationId xmlns:a16="http://schemas.microsoft.com/office/drawing/2014/main" id="{C908B4A0-A985-4DC7-B315-C54A77F4D11A}"/>
              </a:ext>
            </a:extLst>
          </p:cNvPr>
          <p:cNvSpPr>
            <a:spLocks xmlns:a="http://schemas.openxmlformats.org/drawingml/2006/main" noGrp="1"/>
          </p:cNvSpPr>
          <p:nvPr/>
        </p:nvSpPr>
        <p:spPr>
          <a:xfrm xmlns:a="http://schemas.openxmlformats.org/drawingml/2006/main">
            <a:off x="7086600" y="2571750"/>
            <a:ext cx="4191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526174"/>
                </a:solidFill>
              </a:defRPr>
            </a:pPr>
            <a:r>
              <a:rPr sz="1425" b="0">
                <a:solidFill>
                  <a:srgbClr val="526174"/>
                </a:solidFill>
              </a:rPr>
              <a:t>Overfit prompt behavior on 299 labels</a:t>
            </a:r>
          </a:p>
        </p:txBody>
      </p:sp>
      <p:sp>
        <p:nvSpPr>
          <p:cNvPr id="12" name="">
            <a:extLst xmlns:a="http://schemas.openxmlformats.org/drawingml/2006/main">
              <a:ext uri="{FF2B5EF4-FFF2-40B4-BE49-F238E27FC236}">
                <a16:creationId xmlns:a16="http://schemas.microsoft.com/office/drawing/2014/main" id="{DA031B81-C13D-4C47-BCAC-A726E19031E2}"/>
              </a:ext>
            </a:extLst>
          </p:cNvPr>
          <p:cNvSpPr>
            <a:spLocks xmlns:a="http://schemas.openxmlformats.org/drawingml/2006/main" noGrp="1"/>
          </p:cNvSpPr>
          <p:nvPr/>
        </p:nvSpPr>
        <p:spPr>
          <a:xfrm xmlns:a="http://schemas.openxmlformats.org/drawingml/2006/main">
            <a:off x="876300" y="3219450"/>
            <a:ext cx="1040130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13" name="">
            <a:extLst xmlns:a="http://schemas.openxmlformats.org/drawingml/2006/main">
              <a:ext uri="{FF2B5EF4-FFF2-40B4-BE49-F238E27FC236}">
                <a16:creationId xmlns:a16="http://schemas.microsoft.com/office/drawing/2014/main" id="{CF71FE61-B1FD-49A8-B4A6-9A0CF416A9F5}"/>
              </a:ext>
            </a:extLst>
          </p:cNvPr>
          <p:cNvSpPr>
            <a:spLocks xmlns:a="http://schemas.openxmlformats.org/drawingml/2006/main" noGrp="1"/>
          </p:cNvSpPr>
          <p:nvPr/>
        </p:nvSpPr>
        <p:spPr>
          <a:xfrm xmlns:a="http://schemas.openxmlformats.org/drawingml/2006/main">
            <a:off x="876300" y="3409950"/>
            <a:ext cx="247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F172A"/>
                </a:solidFill>
              </a:defRPr>
            </a:pPr>
            <a:r>
              <a:rPr sz="1575" b="1">
                <a:solidFill>
                  <a:srgbClr val="0F172A"/>
                </a:solidFill>
              </a:rPr>
              <a:t>TF-IDF verifier</a:t>
            </a:r>
          </a:p>
        </p:txBody>
      </p:sp>
      <p:sp>
        <p:nvSpPr>
          <p:cNvPr id="14" name="">
            <a:extLst xmlns:a="http://schemas.openxmlformats.org/drawingml/2006/main">
              <a:ext uri="{FF2B5EF4-FFF2-40B4-BE49-F238E27FC236}">
                <a16:creationId xmlns:a16="http://schemas.microsoft.com/office/drawing/2014/main" id="{D499279C-E170-4AC2-ACFF-50F1552C2FB0}"/>
              </a:ext>
            </a:extLst>
          </p:cNvPr>
          <p:cNvSpPr>
            <a:spLocks xmlns:a="http://schemas.openxmlformats.org/drawingml/2006/main" noGrp="1"/>
          </p:cNvSpPr>
          <p:nvPr/>
        </p:nvSpPr>
        <p:spPr>
          <a:xfrm xmlns:a="http://schemas.openxmlformats.org/drawingml/2006/main">
            <a:off x="3733800" y="3409950"/>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526174"/>
                </a:solidFill>
              </a:defRPr>
            </a:pPr>
            <a:r>
              <a:rPr sz="1425" b="0">
                <a:solidFill>
                  <a:srgbClr val="526174"/>
                </a:solidFill>
              </a:rPr>
              <a:t>0.826 out of fold</a:t>
            </a:r>
          </a:p>
        </p:txBody>
      </p:sp>
      <p:sp>
        <p:nvSpPr>
          <p:cNvPr id="15" name="">
            <a:extLst xmlns:a="http://schemas.openxmlformats.org/drawingml/2006/main">
              <a:ext uri="{FF2B5EF4-FFF2-40B4-BE49-F238E27FC236}">
                <a16:creationId xmlns:a16="http://schemas.microsoft.com/office/drawing/2014/main" id="{A82F2EC3-3EC6-4991-B5C5-5A855243DF5D}"/>
              </a:ext>
            </a:extLst>
          </p:cNvPr>
          <p:cNvSpPr>
            <a:spLocks xmlns:a="http://schemas.openxmlformats.org/drawingml/2006/main" noGrp="1"/>
          </p:cNvSpPr>
          <p:nvPr/>
        </p:nvSpPr>
        <p:spPr>
          <a:xfrm xmlns:a="http://schemas.openxmlformats.org/drawingml/2006/main">
            <a:off x="7086600" y="3409950"/>
            <a:ext cx="4191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526174"/>
                </a:solidFill>
              </a:defRPr>
            </a:pPr>
            <a:r>
              <a:rPr sz="1425" b="0">
                <a:solidFill>
                  <a:srgbClr val="526174"/>
                </a:solidFill>
              </a:rPr>
              <a:t>Missed no-context cultural facts</a:t>
            </a:r>
          </a:p>
        </p:txBody>
      </p:sp>
      <p:sp>
        <p:nvSpPr>
          <p:cNvPr id="16" name="">
            <a:extLst xmlns:a="http://schemas.openxmlformats.org/drawingml/2006/main">
              <a:ext uri="{FF2B5EF4-FFF2-40B4-BE49-F238E27FC236}">
                <a16:creationId xmlns:a16="http://schemas.microsoft.com/office/drawing/2014/main" id="{74A05A74-026D-486D-B940-26D3EE938687}"/>
              </a:ext>
            </a:extLst>
          </p:cNvPr>
          <p:cNvSpPr>
            <a:spLocks xmlns:a="http://schemas.openxmlformats.org/drawingml/2006/main" noGrp="1"/>
          </p:cNvSpPr>
          <p:nvPr/>
        </p:nvSpPr>
        <p:spPr>
          <a:xfrm xmlns:a="http://schemas.openxmlformats.org/drawingml/2006/main">
            <a:off x="876300" y="4057650"/>
            <a:ext cx="1040130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17" name="">
            <a:extLst xmlns:a="http://schemas.openxmlformats.org/drawingml/2006/main">
              <a:ext uri="{FF2B5EF4-FFF2-40B4-BE49-F238E27FC236}">
                <a16:creationId xmlns:a16="http://schemas.microsoft.com/office/drawing/2014/main" id="{F32EAEFF-8A3C-4B09-9490-02E409FFDEF5}"/>
              </a:ext>
            </a:extLst>
          </p:cNvPr>
          <p:cNvSpPr>
            <a:spLocks xmlns:a="http://schemas.openxmlformats.org/drawingml/2006/main" noGrp="1"/>
          </p:cNvSpPr>
          <p:nvPr/>
        </p:nvSpPr>
        <p:spPr>
          <a:xfrm xmlns:a="http://schemas.openxmlformats.org/drawingml/2006/main">
            <a:off x="876300" y="4248150"/>
            <a:ext cx="247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F172A"/>
                </a:solidFill>
              </a:defRPr>
            </a:pPr>
            <a:r>
              <a:rPr sz="1575" b="1">
                <a:solidFill>
                  <a:srgbClr val="0F172A"/>
                </a:solidFill>
              </a:rPr>
              <a:t>Raw QA retrieval</a:t>
            </a:r>
          </a:p>
        </p:txBody>
      </p:sp>
      <p:sp>
        <p:nvSpPr>
          <p:cNvPr id="18" name="">
            <a:extLst xmlns:a="http://schemas.openxmlformats.org/drawingml/2006/main">
              <a:ext uri="{FF2B5EF4-FFF2-40B4-BE49-F238E27FC236}">
                <a16:creationId xmlns:a16="http://schemas.microsoft.com/office/drawing/2014/main" id="{A98700AD-837C-4D8D-9B84-957B8CAFB2C3}"/>
              </a:ext>
            </a:extLst>
          </p:cNvPr>
          <p:cNvSpPr>
            <a:spLocks xmlns:a="http://schemas.openxmlformats.org/drawingml/2006/main" noGrp="1"/>
          </p:cNvSpPr>
          <p:nvPr/>
        </p:nvSpPr>
        <p:spPr>
          <a:xfrm xmlns:a="http://schemas.openxmlformats.org/drawingml/2006/main">
            <a:off x="3733800" y="4248150"/>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526174"/>
                </a:solidFill>
              </a:defRPr>
            </a:pPr>
            <a:r>
              <a:rPr sz="1425" b="0">
                <a:solidFill>
                  <a:srgbClr val="526174"/>
                </a:solidFill>
              </a:rPr>
              <a:t>Relevant passage, wrong answer</a:t>
            </a:r>
          </a:p>
        </p:txBody>
      </p:sp>
      <p:sp>
        <p:nvSpPr>
          <p:cNvPr id="19" name="">
            <a:extLst xmlns:a="http://schemas.openxmlformats.org/drawingml/2006/main">
              <a:ext uri="{FF2B5EF4-FFF2-40B4-BE49-F238E27FC236}">
                <a16:creationId xmlns:a16="http://schemas.microsoft.com/office/drawing/2014/main" id="{8414E97E-4F8A-45D5-8C14-37C5E2649355}"/>
              </a:ext>
            </a:extLst>
          </p:cNvPr>
          <p:cNvSpPr>
            <a:spLocks xmlns:a="http://schemas.openxmlformats.org/drawingml/2006/main" noGrp="1"/>
          </p:cNvSpPr>
          <p:nvPr/>
        </p:nvSpPr>
        <p:spPr>
          <a:xfrm xmlns:a="http://schemas.openxmlformats.org/drawingml/2006/main">
            <a:off x="7086600" y="4248150"/>
            <a:ext cx="4191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526174"/>
                </a:solidFill>
              </a:defRPr>
            </a:pPr>
            <a:r>
              <a:rPr sz="1425" b="0">
                <a:solidFill>
                  <a:srgbClr val="526174"/>
                </a:solidFill>
              </a:rPr>
              <a:t>Similarity confused neighboring relations</a:t>
            </a:r>
          </a:p>
        </p:txBody>
      </p:sp>
      <p:sp>
        <p:nvSpPr>
          <p:cNvPr id="20" name="">
            <a:extLst xmlns:a="http://schemas.openxmlformats.org/drawingml/2006/main">
              <a:ext uri="{FF2B5EF4-FFF2-40B4-BE49-F238E27FC236}">
                <a16:creationId xmlns:a16="http://schemas.microsoft.com/office/drawing/2014/main" id="{E9184ABD-E26C-4F39-92EF-96A1A9C5D131}"/>
              </a:ext>
            </a:extLst>
          </p:cNvPr>
          <p:cNvSpPr>
            <a:spLocks xmlns:a="http://schemas.openxmlformats.org/drawingml/2006/main" noGrp="1"/>
          </p:cNvSpPr>
          <p:nvPr/>
        </p:nvSpPr>
        <p:spPr>
          <a:xfrm xmlns:a="http://schemas.openxmlformats.org/drawingml/2006/main">
            <a:off x="876300" y="4895850"/>
            <a:ext cx="1040130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21" name="">
            <a:extLst xmlns:a="http://schemas.openxmlformats.org/drawingml/2006/main">
              <a:ext uri="{FF2B5EF4-FFF2-40B4-BE49-F238E27FC236}">
                <a16:creationId xmlns:a16="http://schemas.microsoft.com/office/drawing/2014/main" id="{6CDA678B-5EF1-4880-A02F-2B6EF964E238}"/>
              </a:ext>
            </a:extLst>
          </p:cNvPr>
          <p:cNvSpPr>
            <a:spLocks xmlns:a="http://schemas.openxmlformats.org/drawingml/2006/main" noGrp="1"/>
          </p:cNvSpPr>
          <p:nvPr/>
        </p:nvSpPr>
        <p:spPr>
          <a:xfrm xmlns:a="http://schemas.openxmlformats.org/drawingml/2006/main">
            <a:off x="876300" y="5086350"/>
            <a:ext cx="247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F172A"/>
                </a:solidFill>
              </a:defRPr>
            </a:pPr>
            <a:r>
              <a:rPr sz="1575" b="1">
                <a:solidFill>
                  <a:srgbClr val="0F172A"/>
                </a:solidFill>
              </a:rPr>
              <a:t>v87 fact edits</a:t>
            </a:r>
          </a:p>
        </p:txBody>
      </p:sp>
      <p:sp>
        <p:nvSpPr>
          <p:cNvPr id="22" name="">
            <a:extLst xmlns:a="http://schemas.openxmlformats.org/drawingml/2006/main">
              <a:ext uri="{FF2B5EF4-FFF2-40B4-BE49-F238E27FC236}">
                <a16:creationId xmlns:a16="http://schemas.microsoft.com/office/drawing/2014/main" id="{F23F478D-4129-4F68-9024-84C13CE24D21}"/>
              </a:ext>
            </a:extLst>
          </p:cNvPr>
          <p:cNvSpPr>
            <a:spLocks xmlns:a="http://schemas.openxmlformats.org/drawingml/2006/main" noGrp="1"/>
          </p:cNvSpPr>
          <p:nvPr/>
        </p:nvSpPr>
        <p:spPr>
          <a:xfrm xmlns:a="http://schemas.openxmlformats.org/drawingml/2006/main">
            <a:off x="3733800" y="5086350"/>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B5483A"/>
                </a:solidFill>
              </a:defRPr>
            </a:pPr>
            <a:r>
              <a:rPr sz="1425" b="1">
                <a:solidFill>
                  <a:srgbClr val="B5483A"/>
                </a:solidFill>
              </a:rPr>
              <a:t>0.966 to 0.965 public</a:t>
            </a:r>
          </a:p>
        </p:txBody>
      </p:sp>
      <p:sp>
        <p:nvSpPr>
          <p:cNvPr id="23" name="">
            <a:extLst xmlns:a="http://schemas.openxmlformats.org/drawingml/2006/main">
              <a:ext uri="{FF2B5EF4-FFF2-40B4-BE49-F238E27FC236}">
                <a16:creationId xmlns:a16="http://schemas.microsoft.com/office/drawing/2014/main" id="{EB7F5D5B-A078-4693-A57E-92AF3F4EA37B}"/>
              </a:ext>
            </a:extLst>
          </p:cNvPr>
          <p:cNvSpPr>
            <a:spLocks xmlns:a="http://schemas.openxmlformats.org/drawingml/2006/main" noGrp="1"/>
          </p:cNvSpPr>
          <p:nvPr/>
        </p:nvSpPr>
        <p:spPr>
          <a:xfrm xmlns:a="http://schemas.openxmlformats.org/drawingml/2006/main">
            <a:off x="7086600" y="5086350"/>
            <a:ext cx="4191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526174"/>
                </a:solidFill>
              </a:defRPr>
            </a:pPr>
            <a:r>
              <a:rPr sz="1425" b="0">
                <a:solidFill>
                  <a:srgbClr val="526174"/>
                </a:solidFill>
              </a:rPr>
              <a:t>Plausible facts were not enough</a:t>
            </a:r>
          </a:p>
        </p:txBody>
      </p:sp>
      <p:sp>
        <p:nvSpPr>
          <p:cNvPr id="24" name="">
            <a:extLst xmlns:a="http://schemas.openxmlformats.org/drawingml/2006/main">
              <a:ext uri="{FF2B5EF4-FFF2-40B4-BE49-F238E27FC236}">
                <a16:creationId xmlns:a16="http://schemas.microsoft.com/office/drawing/2014/main" id="{FC0872D9-9584-4C05-B16A-AFE7ECB48D0C}"/>
              </a:ext>
            </a:extLst>
          </p:cNvPr>
          <p:cNvSpPr>
            <a:spLocks xmlns:a="http://schemas.openxmlformats.org/drawingml/2006/main" noGrp="1"/>
          </p:cNvSpPr>
          <p:nvPr/>
        </p:nvSpPr>
        <p:spPr>
          <a:xfrm xmlns:a="http://schemas.openxmlformats.org/drawingml/2006/main">
            <a:off x="876300" y="5734050"/>
            <a:ext cx="1040130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25" name="">
            <a:extLst xmlns:a="http://schemas.openxmlformats.org/drawingml/2006/main">
              <a:ext uri="{FF2B5EF4-FFF2-40B4-BE49-F238E27FC236}">
                <a16:creationId xmlns:a16="http://schemas.microsoft.com/office/drawing/2014/main" id="{36703C6F-555D-43E9-A901-539FD919B934}"/>
              </a:ext>
            </a:extLst>
          </p:cNvPr>
          <p:cNvSpPr>
            <a:spLocks xmlns:a="http://schemas.openxmlformats.org/drawingml/2006/main" noGrp="1"/>
          </p:cNvSpPr>
          <p:nvPr/>
        </p:nvSpPr>
        <p:spPr>
          <a:xfrm xmlns:a="http://schemas.openxmlformats.org/drawingml/2006/main">
            <a:off x="1295400" y="5886450"/>
            <a:ext cx="9601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B5483A"/>
                </a:solidFill>
              </a:defRPr>
            </a:pPr>
            <a:r>
              <a:rPr sz="1500" b="1">
                <a:solidFill>
                  <a:srgbClr val="B5483A"/>
                </a:solidFill>
              </a:rPr>
              <a:t>After v87, no evidence record entered the router without an explicit source and relation.</a:t>
            </a:r>
          </a:p>
        </p:txBody>
      </p:sp>
      <p:sp>
        <p:nvSpPr>
          <p:cNvPr id="26" name="">
            <a:extLst xmlns:a="http://schemas.openxmlformats.org/drawingml/2006/main">
              <a:ext uri="{FF2B5EF4-FFF2-40B4-BE49-F238E27FC236}">
                <a16:creationId xmlns:a16="http://schemas.microsoft.com/office/drawing/2014/main" id="{87F64906-5B41-4F9E-985A-1C317087E836}"/>
              </a:ext>
            </a:extLst>
          </p:cNvPr>
          <p:cNvSpPr>
            <a:spLocks xmlns:a="http://schemas.openxmlformats.org/drawingml/2006/main" noGrp="1"/>
          </p:cNvSpPr>
          <p:nvPr/>
        </p:nvSpPr>
        <p:spPr>
          <a:xfrm xmlns:a="http://schemas.openxmlformats.org/drawingml/2006/main">
            <a:off x="685800" y="6372225"/>
            <a:ext cx="1082040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27" name="source-11">
            <a:extLst xmlns:a="http://schemas.openxmlformats.org/drawingml/2006/main">
              <a:ext uri="{FF2B5EF4-FFF2-40B4-BE49-F238E27FC236}">
                <a16:creationId xmlns:a16="http://schemas.microsoft.com/office/drawing/2014/main" id="{EABC0714-0F72-4144-9D31-7E204501AB28}"/>
              </a:ext>
            </a:extLst>
          </p:cNvPr>
          <p:cNvSpPr>
            <a:spLocks xmlns:a="http://schemas.openxmlformats.org/drawingml/2006/main" noGrp="1"/>
          </p:cNvSpPr>
          <p:nvPr/>
        </p:nvSpPr>
        <p:spPr>
          <a:xfrm xmlns:a="http://schemas.openxmlformats.org/drawingml/2006/main">
            <a:off x="685800" y="6457950"/>
            <a:ext cx="9810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526174"/>
                </a:solidFill>
              </a:defRPr>
            </a:pPr>
            <a:r>
              <a:rPr sz="975" b="0">
                <a:solidFill>
                  <a:srgbClr val="526174"/>
                </a:solidFill>
              </a:rPr>
              <a:t>[7] Rejected and scored experiment records in EXPERIMENT.log</a:t>
            </a:r>
          </a:p>
        </p:txBody>
      </p:sp>
      <p:sp>
        <p:nvSpPr>
          <p:cNvPr id="28" name="page-11">
            <a:extLst xmlns:a="http://schemas.openxmlformats.org/drawingml/2006/main">
              <a:ext uri="{FF2B5EF4-FFF2-40B4-BE49-F238E27FC236}">
                <a16:creationId xmlns:a16="http://schemas.microsoft.com/office/drawing/2014/main" id="{002BA4FA-BBD1-4C52-982E-6C5D570A9A3C}"/>
              </a:ext>
            </a:extLst>
          </p:cNvPr>
          <p:cNvSpPr>
            <a:spLocks xmlns:a="http://schemas.openxmlformats.org/drawingml/2006/main" noGrp="1"/>
          </p:cNvSpPr>
          <p:nvPr/>
        </p:nvSpPr>
        <p:spPr>
          <a:xfrm xmlns:a="http://schemas.openxmlformats.org/drawingml/2006/main">
            <a:off x="10810875" y="6457950"/>
            <a:ext cx="6953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1F5A7A"/>
                </a:solidFill>
              </a:defRPr>
            </a:pPr>
            <a:r>
              <a:rPr sz="975" b="1">
                <a:solidFill>
                  <a:srgbClr val="1F5A7A"/>
                </a:solidFill>
              </a:rPr>
              <a:t>11</a:t>
            </a:r>
          </a:p>
        </p:txBody>
      </p:sp>
    </p:spTree>
    <p:extLst>
      <p:ext uri="{BB962C8B-B14F-4D97-AF65-F5344CB8AC3E}">
        <p14:creationId xmlns:p14="http://schemas.microsoft.com/office/powerpoint/2010/main" val="1489459955"/>
      </p:ext>
    </p:extLst>
  </p:cSld>
</p:sld>
</file>

<file path=ppt/slides/slide12.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2" name="kicker-12">
            <a:extLst xmlns:a="http://schemas.openxmlformats.org/drawingml/2006/main">
              <a:ext uri="{FF2B5EF4-FFF2-40B4-BE49-F238E27FC236}">
                <a16:creationId xmlns:a16="http://schemas.microsoft.com/office/drawing/2014/main" id="{9BDD6C35-D331-4EEA-B97F-AD1E2BD06A64}"/>
              </a:ext>
            </a:extLst>
          </p:cNvPr>
          <p:cNvSpPr>
            <a:spLocks xmlns:a="http://schemas.openxmlformats.org/drawingml/2006/main" noGrp="1"/>
          </p:cNvSpPr>
          <p:nvPr/>
        </p:nvSpPr>
        <p:spPr>
          <a:xfrm xmlns:a="http://schemas.openxmlformats.org/drawingml/2006/main">
            <a:off x="685800" y="32385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F5A7A"/>
                </a:solidFill>
              </a:defRPr>
            </a:pPr>
            <a:r>
              <a:rPr sz="1050" b="1">
                <a:solidFill>
                  <a:srgbClr val="1F5A7A"/>
                </a:solidFill>
              </a:rPr>
              <a:t>TEAM HUNTRIX</a:t>
            </a:r>
          </a:p>
        </p:txBody>
      </p:sp>
      <p:sp>
        <p:nvSpPr>
          <p:cNvPr id="2" name="title-12">
            <a:extLst xmlns:a="http://schemas.openxmlformats.org/drawingml/2006/main">
              <a:ext uri="{FF2B5EF4-FFF2-40B4-BE49-F238E27FC236}">
                <a16:creationId xmlns:a16="http://schemas.microsoft.com/office/drawing/2014/main" id="{75F40FF2-67E0-410A-8E9A-1B04AABC9EB8}"/>
              </a:ext>
            </a:extLst>
          </p:cNvPr>
          <p:cNvSpPr>
            <a:spLocks xmlns:a="http://schemas.openxmlformats.org/drawingml/2006/main" noGrp="1"/>
          </p:cNvSpPr>
          <p:nvPr/>
        </p:nvSpPr>
        <p:spPr>
          <a:xfrm xmlns:a="http://schemas.openxmlformats.org/drawingml/2006/main">
            <a:off x="685800" y="590550"/>
            <a:ext cx="10820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F172A"/>
                </a:solidFill>
              </a:defRPr>
            </a:pPr>
            <a:r>
              <a:rPr sz="2700" b="1">
                <a:solidFill>
                  <a:srgbClr val="0F172A"/>
                </a:solidFill>
              </a:rPr>
              <a:t>The final result held across local, public, and private views</a:t>
            </a:r>
          </a:p>
        </p:txBody>
      </p:sp>
      <p:sp>
        <p:nvSpPr>
          <p:cNvPr id="3" name="">
            <a:extLst xmlns:a="http://schemas.openxmlformats.org/drawingml/2006/main">
              <a:ext uri="{FF2B5EF4-FFF2-40B4-BE49-F238E27FC236}">
                <a16:creationId xmlns:a16="http://schemas.microsoft.com/office/drawing/2014/main" id="{2CFEE0B7-DC10-4E90-B9C4-DA235876BEDC}"/>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4" name="">
            <a:extLst xmlns:a="http://schemas.openxmlformats.org/drawingml/2006/main">
              <a:ext uri="{FF2B5EF4-FFF2-40B4-BE49-F238E27FC236}">
                <a16:creationId xmlns:a16="http://schemas.microsoft.com/office/drawing/2014/main" id="{DB748DA7-DEE5-4A29-A4E4-3A0779599D38}"/>
              </a:ext>
            </a:extLst>
          </p:cNvPr>
          <p:cNvSpPr>
            <a:spLocks xmlns:a="http://schemas.openxmlformats.org/drawingml/2006/main" noGrp="1"/>
          </p:cNvSpPr>
          <p:nvPr/>
        </p:nvSpPr>
        <p:spPr>
          <a:xfrm xmlns:a="http://schemas.openxmlformats.org/drawingml/2006/main">
            <a:off x="685800" y="1390650"/>
            <a:ext cx="904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526174"/>
                </a:solidFill>
              </a:defRPr>
            </a:pPr>
            <a:r>
              <a:rPr sz="1650" b="0">
                <a:solidFill>
                  <a:srgbClr val="526174"/>
                </a:solidFill>
              </a:rPr>
              <a:t>Each view answers a different question, so we report them separately.</a:t>
            </a:r>
          </a:p>
        </p:txBody>
      </p:sp>
      <p:sp>
        <p:nvSpPr>
          <p:cNvPr id="5" name="">
            <a:extLst xmlns:a="http://schemas.openxmlformats.org/drawingml/2006/main">
              <a:ext uri="{FF2B5EF4-FFF2-40B4-BE49-F238E27FC236}">
                <a16:creationId xmlns:a16="http://schemas.microsoft.com/office/drawing/2014/main" id="{2D666B3C-9EF1-4F4E-8EDB-EC458EA50FA1}"/>
              </a:ext>
            </a:extLst>
          </p:cNvPr>
          <p:cNvSpPr>
            <a:spLocks xmlns:a="http://schemas.openxmlformats.org/drawingml/2006/main" noGrp="1"/>
          </p:cNvSpPr>
          <p:nvPr/>
        </p:nvSpPr>
        <p:spPr>
          <a:xfrm xmlns:a="http://schemas.openxmlformats.org/drawingml/2006/main">
            <a:off x="914400" y="2247900"/>
            <a:ext cx="2381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600" b="1">
                <a:solidFill>
                  <a:srgbClr val="1F5A7A"/>
                </a:solidFill>
              </a:defRPr>
            </a:pPr>
            <a:r>
              <a:rPr sz="3600" b="1">
                <a:solidFill>
                  <a:srgbClr val="1F5A7A"/>
                </a:solidFill>
              </a:rPr>
              <a:t>0.9933</a:t>
            </a:r>
          </a:p>
        </p:txBody>
      </p:sp>
      <p:sp>
        <p:nvSpPr>
          <p:cNvPr id="6" name="">
            <a:extLst xmlns:a="http://schemas.openxmlformats.org/drawingml/2006/main">
              <a:ext uri="{FF2B5EF4-FFF2-40B4-BE49-F238E27FC236}">
                <a16:creationId xmlns:a16="http://schemas.microsoft.com/office/drawing/2014/main" id="{0ED34D52-2C71-4F18-9207-80BABAF835C1}"/>
              </a:ext>
            </a:extLst>
          </p:cNvPr>
          <p:cNvSpPr>
            <a:spLocks xmlns:a="http://schemas.openxmlformats.org/drawingml/2006/main" noGrp="1"/>
          </p:cNvSpPr>
          <p:nvPr/>
        </p:nvSpPr>
        <p:spPr>
          <a:xfrm xmlns:a="http://schemas.openxmlformats.org/drawingml/2006/main">
            <a:off x="914400" y="2933700"/>
            <a:ext cx="2381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526174"/>
                </a:solidFill>
              </a:defRPr>
            </a:pPr>
            <a:r>
              <a:rPr sz="1350" b="0">
                <a:solidFill>
                  <a:srgbClr val="526174"/>
                </a:solidFill>
              </a:rPr>
              <a:t>macro F1 on 299 released labels</a:t>
            </a:r>
          </a:p>
        </p:txBody>
      </p:sp>
      <p:sp>
        <p:nvSpPr>
          <p:cNvPr id="7" name="">
            <a:extLst xmlns:a="http://schemas.openxmlformats.org/drawingml/2006/main">
              <a:ext uri="{FF2B5EF4-FFF2-40B4-BE49-F238E27FC236}">
                <a16:creationId xmlns:a16="http://schemas.microsoft.com/office/drawing/2014/main" id="{7582C0CC-734D-4F08-B571-2F7D35F2FB3C}"/>
              </a:ext>
            </a:extLst>
          </p:cNvPr>
          <p:cNvSpPr>
            <a:spLocks xmlns:a="http://schemas.openxmlformats.org/drawingml/2006/main" noGrp="1"/>
          </p:cNvSpPr>
          <p:nvPr/>
        </p:nvSpPr>
        <p:spPr>
          <a:xfrm xmlns:a="http://schemas.openxmlformats.org/drawingml/2006/main">
            <a:off x="3714750" y="2247900"/>
            <a:ext cx="247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600" b="1">
                <a:solidFill>
                  <a:srgbClr val="2A8C82"/>
                </a:solidFill>
              </a:defRPr>
            </a:pPr>
            <a:r>
              <a:rPr sz="3600" b="1">
                <a:solidFill>
                  <a:srgbClr val="2A8C82"/>
                </a:solidFill>
              </a:rPr>
              <a:t>1.0000</a:t>
            </a:r>
          </a:p>
        </p:txBody>
      </p:sp>
      <p:sp>
        <p:nvSpPr>
          <p:cNvPr id="8" name="">
            <a:extLst xmlns:a="http://schemas.openxmlformats.org/drawingml/2006/main">
              <a:ext uri="{FF2B5EF4-FFF2-40B4-BE49-F238E27FC236}">
                <a16:creationId xmlns:a16="http://schemas.microsoft.com/office/drawing/2014/main" id="{1E17A185-C797-42DD-B84E-FCA230CFD214}"/>
              </a:ext>
            </a:extLst>
          </p:cNvPr>
          <p:cNvSpPr>
            <a:spLocks xmlns:a="http://schemas.openxmlformats.org/drawingml/2006/main" noGrp="1"/>
          </p:cNvSpPr>
          <p:nvPr/>
        </p:nvSpPr>
        <p:spPr>
          <a:xfrm xmlns:a="http://schemas.openxmlformats.org/drawingml/2006/main">
            <a:off x="3714750" y="2933700"/>
            <a:ext cx="2476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526174"/>
                </a:solidFill>
              </a:defRPr>
            </a:pPr>
            <a:r>
              <a:rPr sz="1350" b="0">
                <a:solidFill>
                  <a:srgbClr val="526174"/>
                </a:solidFill>
              </a:rPr>
              <a:t>macro F1 on 225 deterministic controls</a:t>
            </a:r>
          </a:p>
        </p:txBody>
      </p:sp>
      <p:sp>
        <p:nvSpPr>
          <p:cNvPr id="9" name="">
            <a:extLst xmlns:a="http://schemas.openxmlformats.org/drawingml/2006/main">
              <a:ext uri="{FF2B5EF4-FFF2-40B4-BE49-F238E27FC236}">
                <a16:creationId xmlns:a16="http://schemas.microsoft.com/office/drawing/2014/main" id="{2B194588-495A-4852-A901-DBD8A7751B43}"/>
              </a:ext>
            </a:extLst>
          </p:cNvPr>
          <p:cNvSpPr>
            <a:spLocks xmlns:a="http://schemas.openxmlformats.org/drawingml/2006/main" noGrp="1"/>
          </p:cNvSpPr>
          <p:nvPr/>
        </p:nvSpPr>
        <p:spPr>
          <a:xfrm xmlns:a="http://schemas.openxmlformats.org/drawingml/2006/main">
            <a:off x="6667500" y="2247900"/>
            <a:ext cx="2190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600" b="1">
                <a:solidFill>
                  <a:srgbClr val="D59B32"/>
                </a:solidFill>
              </a:defRPr>
            </a:pPr>
            <a:r>
              <a:rPr sz="3600" b="1">
                <a:solidFill>
                  <a:srgbClr val="D59B32"/>
                </a:solidFill>
              </a:rPr>
              <a:t>0.967</a:t>
            </a:r>
          </a:p>
        </p:txBody>
      </p:sp>
      <p:sp>
        <p:nvSpPr>
          <p:cNvPr id="10" name="">
            <a:extLst xmlns:a="http://schemas.openxmlformats.org/drawingml/2006/main">
              <a:ext uri="{FF2B5EF4-FFF2-40B4-BE49-F238E27FC236}">
                <a16:creationId xmlns:a16="http://schemas.microsoft.com/office/drawing/2014/main" id="{B26AD642-A1EF-45FB-AD3A-F8EE5138A4A5}"/>
              </a:ext>
            </a:extLst>
          </p:cNvPr>
          <p:cNvSpPr>
            <a:spLocks xmlns:a="http://schemas.openxmlformats.org/drawingml/2006/main" noGrp="1"/>
          </p:cNvSpPr>
          <p:nvPr/>
        </p:nvSpPr>
        <p:spPr>
          <a:xfrm xmlns:a="http://schemas.openxmlformats.org/drawingml/2006/main">
            <a:off x="6667500" y="2933700"/>
            <a:ext cx="2190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526174"/>
                </a:solidFill>
              </a:defRPr>
            </a:pPr>
            <a:r>
              <a:rPr sz="1350" b="0">
                <a:solidFill>
                  <a:srgbClr val="526174"/>
                </a:solidFill>
              </a:rPr>
              <a:t>public macro F1, rank 5</a:t>
            </a:r>
          </a:p>
        </p:txBody>
      </p:sp>
      <p:sp>
        <p:nvSpPr>
          <p:cNvPr id="11" name="">
            <a:extLst xmlns:a="http://schemas.openxmlformats.org/drawingml/2006/main">
              <a:ext uri="{FF2B5EF4-FFF2-40B4-BE49-F238E27FC236}">
                <a16:creationId xmlns:a16="http://schemas.microsoft.com/office/drawing/2014/main" id="{84EC31E0-65DC-4445-8CB2-19BFB3CF4AF7}"/>
              </a:ext>
            </a:extLst>
          </p:cNvPr>
          <p:cNvSpPr>
            <a:spLocks xmlns:a="http://schemas.openxmlformats.org/drawingml/2006/main" noGrp="1"/>
          </p:cNvSpPr>
          <p:nvPr/>
        </p:nvSpPr>
        <p:spPr>
          <a:xfrm xmlns:a="http://schemas.openxmlformats.org/drawingml/2006/main">
            <a:off x="9277350" y="2247900"/>
            <a:ext cx="2190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600" b="1">
                <a:solidFill>
                  <a:srgbClr val="2A8C82"/>
                </a:solidFill>
              </a:defRPr>
            </a:pPr>
            <a:r>
              <a:rPr sz="3600" b="1">
                <a:solidFill>
                  <a:srgbClr val="2A8C82"/>
                </a:solidFill>
              </a:rPr>
              <a:t>0.982</a:t>
            </a:r>
          </a:p>
        </p:txBody>
      </p:sp>
      <p:sp>
        <p:nvSpPr>
          <p:cNvPr id="12" name="">
            <a:extLst xmlns:a="http://schemas.openxmlformats.org/drawingml/2006/main">
              <a:ext uri="{FF2B5EF4-FFF2-40B4-BE49-F238E27FC236}">
                <a16:creationId xmlns:a16="http://schemas.microsoft.com/office/drawing/2014/main" id="{AC8C37FC-596D-4E98-8821-8CD554FAA8EB}"/>
              </a:ext>
            </a:extLst>
          </p:cNvPr>
          <p:cNvSpPr>
            <a:spLocks xmlns:a="http://schemas.openxmlformats.org/drawingml/2006/main" noGrp="1"/>
          </p:cNvSpPr>
          <p:nvPr/>
        </p:nvSpPr>
        <p:spPr>
          <a:xfrm xmlns:a="http://schemas.openxmlformats.org/drawingml/2006/main">
            <a:off x="9277350" y="2933700"/>
            <a:ext cx="2190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526174"/>
                </a:solidFill>
              </a:defRPr>
            </a:pPr>
            <a:r>
              <a:rPr sz="1350" b="0">
                <a:solidFill>
                  <a:srgbClr val="526174"/>
                </a:solidFill>
              </a:rPr>
              <a:t>private macro F1, rank 1</a:t>
            </a:r>
          </a:p>
        </p:txBody>
      </p:sp>
      <p:sp>
        <p:nvSpPr>
          <p:cNvPr id="13" name="">
            <a:extLst xmlns:a="http://schemas.openxmlformats.org/drawingml/2006/main">
              <a:ext uri="{FF2B5EF4-FFF2-40B4-BE49-F238E27FC236}">
                <a16:creationId xmlns:a16="http://schemas.microsoft.com/office/drawing/2014/main" id="{D46BD6E3-01F2-4900-B2FF-0EB7EE55BE9C}"/>
              </a:ext>
            </a:extLst>
          </p:cNvPr>
          <p:cNvSpPr>
            <a:spLocks xmlns:a="http://schemas.openxmlformats.org/drawingml/2006/main" noGrp="1"/>
          </p:cNvSpPr>
          <p:nvPr/>
        </p:nvSpPr>
        <p:spPr>
          <a:xfrm xmlns:a="http://schemas.openxmlformats.org/drawingml/2006/main">
            <a:off x="914400" y="3695700"/>
            <a:ext cx="1036320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14" name="">
            <a:extLst xmlns:a="http://schemas.openxmlformats.org/drawingml/2006/main">
              <a:ext uri="{FF2B5EF4-FFF2-40B4-BE49-F238E27FC236}">
                <a16:creationId xmlns:a16="http://schemas.microsoft.com/office/drawing/2014/main" id="{DFFA2D03-71FC-46DD-A9B8-54223AFC212A}"/>
              </a:ext>
            </a:extLst>
          </p:cNvPr>
          <p:cNvSpPr>
            <a:spLocks xmlns:a="http://schemas.openxmlformats.org/drawingml/2006/main" noGrp="1"/>
          </p:cNvSpPr>
          <p:nvPr/>
        </p:nvSpPr>
        <p:spPr>
          <a:xfrm xmlns:a="http://schemas.openxmlformats.org/drawingml/2006/main">
            <a:off x="1181100" y="4095750"/>
            <a:ext cx="9829800" cy="16764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9525">
            <a:solidFill>
              <a:srgbClr val="D8E0EA"/>
            </a:solidFill>
            <a:prstDash val="solid"/>
          </a:ln>
        </p:spPr>
      </p:sp>
      <p:sp>
        <p:nvSpPr>
          <p:cNvPr id="15" name="">
            <a:extLst xmlns:a="http://schemas.openxmlformats.org/drawingml/2006/main">
              <a:ext uri="{FF2B5EF4-FFF2-40B4-BE49-F238E27FC236}">
                <a16:creationId xmlns:a16="http://schemas.microsoft.com/office/drawing/2014/main" id="{08CA1957-69EE-4B96-8003-99D1332B31F2}"/>
              </a:ext>
            </a:extLst>
          </p:cNvPr>
          <p:cNvSpPr>
            <a:spLocks xmlns:a="http://schemas.openxmlformats.org/drawingml/2006/main" noGrp="1"/>
          </p:cNvSpPr>
          <p:nvPr/>
        </p:nvSpPr>
        <p:spPr>
          <a:xfrm xmlns:a="http://schemas.openxmlformats.org/drawingml/2006/main">
            <a:off x="1524000" y="434340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F5A7A"/>
                </a:solidFill>
              </a:defRPr>
            </a:pPr>
            <a:r>
              <a:rPr sz="1650" b="1">
                <a:solidFill>
                  <a:srgbClr val="1F5A7A"/>
                </a:solidFill>
              </a:rPr>
              <a:t>What we can claim</a:t>
            </a:r>
          </a:p>
        </p:txBody>
      </p:sp>
      <p:sp>
        <p:nvSpPr>
          <p:cNvPr id="16" name="">
            <a:extLst xmlns:a="http://schemas.openxmlformats.org/drawingml/2006/main">
              <a:ext uri="{FF2B5EF4-FFF2-40B4-BE49-F238E27FC236}">
                <a16:creationId xmlns:a16="http://schemas.microsoft.com/office/drawing/2014/main" id="{26036E5B-C638-445D-BB97-70E60A5B3899}"/>
              </a:ext>
            </a:extLst>
          </p:cNvPr>
          <p:cNvSpPr>
            <a:spLocks xmlns:a="http://schemas.openxmlformats.org/drawingml/2006/main" noGrp="1"/>
          </p:cNvSpPr>
          <p:nvPr/>
        </p:nvSpPr>
        <p:spPr>
          <a:xfrm xmlns:a="http://schemas.openxmlformats.org/drawingml/2006/main">
            <a:off x="1524000" y="4781550"/>
            <a:ext cx="857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0F172A"/>
                </a:solidFill>
              </a:defRPr>
            </a:pPr>
            <a:r>
              <a:rPr sz="1500" b="0">
                <a:solidFill>
                  <a:srgbClr val="0F172A"/>
                </a:solidFill>
              </a:rPr>
              <a:t>The final system generalized better than our public-only experiments suggested.</a:t>
            </a:r>
          </a:p>
        </p:txBody>
      </p:sp>
      <p:sp>
        <p:nvSpPr>
          <p:cNvPr id="17" name="">
            <a:extLst xmlns:a="http://schemas.openxmlformats.org/drawingml/2006/main">
              <a:ext uri="{FF2B5EF4-FFF2-40B4-BE49-F238E27FC236}">
                <a16:creationId xmlns:a16="http://schemas.microsoft.com/office/drawing/2014/main" id="{63F802C0-13AC-402E-984A-9BCCD4936272}"/>
              </a:ext>
            </a:extLst>
          </p:cNvPr>
          <p:cNvSpPr>
            <a:spLocks xmlns:a="http://schemas.openxmlformats.org/drawingml/2006/main" noGrp="1"/>
          </p:cNvSpPr>
          <p:nvPr/>
        </p:nvSpPr>
        <p:spPr>
          <a:xfrm xmlns:a="http://schemas.openxmlformats.org/drawingml/2006/main">
            <a:off x="1524000" y="50292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B5483A"/>
                </a:solidFill>
              </a:defRPr>
            </a:pPr>
            <a:r>
              <a:rPr sz="1350" b="1">
                <a:solidFill>
                  <a:srgbClr val="B5483A"/>
                </a:solidFill>
              </a:rPr>
              <a:t>What we cannot claim</a:t>
            </a:r>
          </a:p>
        </p:txBody>
      </p:sp>
      <p:sp>
        <p:nvSpPr>
          <p:cNvPr id="18" name="">
            <a:extLst xmlns:a="http://schemas.openxmlformats.org/drawingml/2006/main">
              <a:ext uri="{FF2B5EF4-FFF2-40B4-BE49-F238E27FC236}">
                <a16:creationId xmlns:a16="http://schemas.microsoft.com/office/drawing/2014/main" id="{F1E01BEB-2FC1-4BE2-BCE1-754A1EBCD616}"/>
              </a:ext>
            </a:extLst>
          </p:cNvPr>
          <p:cNvSpPr>
            <a:spLocks xmlns:a="http://schemas.openxmlformats.org/drawingml/2006/main" noGrp="1"/>
          </p:cNvSpPr>
          <p:nvPr/>
        </p:nvSpPr>
        <p:spPr>
          <a:xfrm xmlns:a="http://schemas.openxmlformats.org/drawingml/2006/main">
            <a:off x="1524000" y="5353050"/>
            <a:ext cx="876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526174"/>
                </a:solidFill>
              </a:defRPr>
            </a:pPr>
            <a:r>
              <a:rPr sz="1350" b="0">
                <a:solidFill>
                  <a:srgbClr val="526174"/>
                </a:solidFill>
              </a:rPr>
              <a:t>A private score does not prove every v91 rule will transfer to the broader Phase 2 sources.</a:t>
            </a:r>
          </a:p>
        </p:txBody>
      </p:sp>
      <p:sp>
        <p:nvSpPr>
          <p:cNvPr id="19" name="">
            <a:extLst xmlns:a="http://schemas.openxmlformats.org/drawingml/2006/main">
              <a:ext uri="{FF2B5EF4-FFF2-40B4-BE49-F238E27FC236}">
                <a16:creationId xmlns:a16="http://schemas.microsoft.com/office/drawing/2014/main" id="{49AA8DB7-8A72-4BE0-8F44-432B2C6D69C6}"/>
              </a:ext>
            </a:extLst>
          </p:cNvPr>
          <p:cNvSpPr>
            <a:spLocks xmlns:a="http://schemas.openxmlformats.org/drawingml/2006/main" noGrp="1"/>
          </p:cNvSpPr>
          <p:nvPr/>
        </p:nvSpPr>
        <p:spPr>
          <a:xfrm xmlns:a="http://schemas.openxmlformats.org/drawingml/2006/main">
            <a:off x="685800" y="6372225"/>
            <a:ext cx="1082040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20" name="source-12">
            <a:extLst xmlns:a="http://schemas.openxmlformats.org/drawingml/2006/main">
              <a:ext uri="{FF2B5EF4-FFF2-40B4-BE49-F238E27FC236}">
                <a16:creationId xmlns:a16="http://schemas.microsoft.com/office/drawing/2014/main" id="{19F48FE5-225D-4BD1-A1AF-C7855515BDEE}"/>
              </a:ext>
            </a:extLst>
          </p:cNvPr>
          <p:cNvSpPr>
            <a:spLocks xmlns:a="http://schemas.openxmlformats.org/drawingml/2006/main" noGrp="1"/>
          </p:cNvSpPr>
          <p:nvPr/>
        </p:nvSpPr>
        <p:spPr>
          <a:xfrm xmlns:a="http://schemas.openxmlformats.org/drawingml/2006/main">
            <a:off x="685800" y="6457950"/>
            <a:ext cx="9810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526174"/>
                </a:solidFill>
              </a:defRPr>
            </a:pPr>
            <a:r>
              <a:rPr sz="975" b="0">
                <a:solidFill>
                  <a:srgbClr val="526174"/>
                </a:solidFill>
              </a:rPr>
              <a:t>[7] Released-set evaluation and final Kaggle public/private leaderboards</a:t>
            </a:r>
          </a:p>
        </p:txBody>
      </p:sp>
      <p:sp>
        <p:nvSpPr>
          <p:cNvPr id="21" name="page-12">
            <a:extLst xmlns:a="http://schemas.openxmlformats.org/drawingml/2006/main">
              <a:ext uri="{FF2B5EF4-FFF2-40B4-BE49-F238E27FC236}">
                <a16:creationId xmlns:a16="http://schemas.microsoft.com/office/drawing/2014/main" id="{B254905E-71CB-42D4-9474-8F801E79DAF2}"/>
              </a:ext>
            </a:extLst>
          </p:cNvPr>
          <p:cNvSpPr>
            <a:spLocks xmlns:a="http://schemas.openxmlformats.org/drawingml/2006/main" noGrp="1"/>
          </p:cNvSpPr>
          <p:nvPr/>
        </p:nvSpPr>
        <p:spPr>
          <a:xfrm xmlns:a="http://schemas.openxmlformats.org/drawingml/2006/main">
            <a:off x="10810875" y="6457950"/>
            <a:ext cx="6953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1F5A7A"/>
                </a:solidFill>
              </a:defRPr>
            </a:pPr>
            <a:r>
              <a:rPr sz="975" b="1">
                <a:solidFill>
                  <a:srgbClr val="1F5A7A"/>
                </a:solidFill>
              </a:rPr>
              <a:t>12</a:t>
            </a:r>
          </a:p>
        </p:txBody>
      </p:sp>
    </p:spTree>
    <p:extLst>
      <p:ext uri="{BB962C8B-B14F-4D97-AF65-F5344CB8AC3E}">
        <p14:creationId xmlns:p14="http://schemas.microsoft.com/office/powerpoint/2010/main" val="731809455"/>
      </p:ext>
    </p:extLst>
  </p:cSld>
</p:sld>
</file>

<file path=ppt/slides/slide1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6" name="kicker-13">
            <a:extLst xmlns:a="http://schemas.openxmlformats.org/drawingml/2006/main">
              <a:ext uri="{FF2B5EF4-FFF2-40B4-BE49-F238E27FC236}">
                <a16:creationId xmlns:a16="http://schemas.microsoft.com/office/drawing/2014/main" id="{7B0F3D13-E0E0-4B50-B428-D131E9939393}"/>
              </a:ext>
            </a:extLst>
          </p:cNvPr>
          <p:cNvSpPr>
            <a:spLocks xmlns:a="http://schemas.openxmlformats.org/drawingml/2006/main" noGrp="1"/>
          </p:cNvSpPr>
          <p:nvPr/>
        </p:nvSpPr>
        <p:spPr>
          <a:xfrm xmlns:a="http://schemas.openxmlformats.org/drawingml/2006/main">
            <a:off x="685800" y="32385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F5A7A"/>
                </a:solidFill>
              </a:defRPr>
            </a:pPr>
            <a:r>
              <a:rPr sz="1050" b="1">
                <a:solidFill>
                  <a:srgbClr val="1F5A7A"/>
                </a:solidFill>
              </a:rPr>
              <a:t>TEAM HUNTRIX</a:t>
            </a:r>
          </a:p>
        </p:txBody>
      </p:sp>
      <p:sp>
        <p:nvSpPr>
          <p:cNvPr id="2" name="title-13">
            <a:extLst xmlns:a="http://schemas.openxmlformats.org/drawingml/2006/main">
              <a:ext uri="{FF2B5EF4-FFF2-40B4-BE49-F238E27FC236}">
                <a16:creationId xmlns:a16="http://schemas.microsoft.com/office/drawing/2014/main" id="{33133EE9-9CFB-450A-8369-64712025AC05}"/>
              </a:ext>
            </a:extLst>
          </p:cNvPr>
          <p:cNvSpPr>
            <a:spLocks xmlns:a="http://schemas.openxmlformats.org/drawingml/2006/main" noGrp="1"/>
          </p:cNvSpPr>
          <p:nvPr/>
        </p:nvSpPr>
        <p:spPr>
          <a:xfrm xmlns:a="http://schemas.openxmlformats.org/drawingml/2006/main">
            <a:off x="685800" y="590550"/>
            <a:ext cx="10820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F172A"/>
                </a:solidFill>
              </a:defRPr>
            </a:pPr>
            <a:r>
              <a:rPr sz="2700" b="1">
                <a:solidFill>
                  <a:srgbClr val="0F172A"/>
                </a:solidFill>
              </a:rPr>
              <a:t>Three full runs reproduced the same CSV in under ten minutes</a:t>
            </a:r>
          </a:p>
        </p:txBody>
      </p:sp>
      <p:sp>
        <p:nvSpPr>
          <p:cNvPr id="3" name="">
            <a:extLst xmlns:a="http://schemas.openxmlformats.org/drawingml/2006/main">
              <a:ext uri="{FF2B5EF4-FFF2-40B4-BE49-F238E27FC236}">
                <a16:creationId xmlns:a16="http://schemas.microsoft.com/office/drawing/2014/main" id="{984B1E7A-332C-43F4-AC27-A81BF2ADDE87}"/>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4" name="">
            <a:extLst xmlns:a="http://schemas.openxmlformats.org/drawingml/2006/main">
              <a:ext uri="{FF2B5EF4-FFF2-40B4-BE49-F238E27FC236}">
                <a16:creationId xmlns:a16="http://schemas.microsoft.com/office/drawing/2014/main" id="{1CFB3FDF-1A79-4A66-9B84-2ADAFA6AE954}"/>
              </a:ext>
            </a:extLst>
          </p:cNvPr>
          <p:cNvSpPr>
            <a:spLocks xmlns:a="http://schemas.openxmlformats.org/drawingml/2006/main" noGrp="1"/>
          </p:cNvSpPr>
          <p:nvPr/>
        </p:nvSpPr>
        <p:spPr>
          <a:xfrm xmlns:a="http://schemas.openxmlformats.org/drawingml/2006/main">
            <a:off x="685800" y="1390650"/>
            <a:ext cx="904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526174"/>
                </a:solidFill>
              </a:defRPr>
            </a:pPr>
            <a:r>
              <a:rPr sz="1650" b="0">
                <a:solidFill>
                  <a:srgbClr val="526174"/>
                </a:solidFill>
              </a:rPr>
              <a:t>All timings cover the complete 2,516-row file on Kaggle T4 x2.</a:t>
            </a:r>
          </a:p>
        </p:txBody>
      </p:sp>
      <p:sp>
        <p:nvSpPr>
          <p:cNvPr id="5" name="">
            <a:extLst xmlns:a="http://schemas.openxmlformats.org/drawingml/2006/main">
              <a:ext uri="{FF2B5EF4-FFF2-40B4-BE49-F238E27FC236}">
                <a16:creationId xmlns:a16="http://schemas.microsoft.com/office/drawing/2014/main" id="{417FE6CD-0CE8-4827-9254-A4DBE7AF82CC}"/>
              </a:ext>
            </a:extLst>
          </p:cNvPr>
          <p:cNvSpPr>
            <a:spLocks xmlns:a="http://schemas.openxmlformats.org/drawingml/2006/main" noGrp="1"/>
          </p:cNvSpPr>
          <p:nvPr/>
        </p:nvSpPr>
        <p:spPr>
          <a:xfrm xmlns:a="http://schemas.openxmlformats.org/drawingml/2006/main">
            <a:off x="914400" y="2295525"/>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0F172A"/>
                </a:solidFill>
              </a:defRPr>
            </a:pPr>
            <a:r>
              <a:rPr sz="1425" b="1">
                <a:solidFill>
                  <a:srgbClr val="0F172A"/>
                </a:solidFill>
              </a:rPr>
              <a:t>Run 1</a:t>
            </a:r>
          </a:p>
        </p:txBody>
      </p:sp>
      <p:sp>
        <p:nvSpPr>
          <p:cNvPr id="6" name="">
            <a:extLst xmlns:a="http://schemas.openxmlformats.org/drawingml/2006/main">
              <a:ext uri="{FF2B5EF4-FFF2-40B4-BE49-F238E27FC236}">
                <a16:creationId xmlns:a16="http://schemas.microsoft.com/office/drawing/2014/main" id="{2460BB7D-7B3A-4539-B23A-BDF77DB6709E}"/>
              </a:ext>
            </a:extLst>
          </p:cNvPr>
          <p:cNvSpPr>
            <a:spLocks xmlns:a="http://schemas.openxmlformats.org/drawingml/2006/main" noGrp="1"/>
          </p:cNvSpPr>
          <p:nvPr/>
        </p:nvSpPr>
        <p:spPr>
          <a:xfrm xmlns:a="http://schemas.openxmlformats.org/drawingml/2006/main">
            <a:off x="2095500" y="2190750"/>
            <a:ext cx="6572250" cy="495300"/>
          </a:xfrm>
          <a:prstGeom xmlns:a="http://schemas.openxmlformats.org/drawingml/2006/main" prst="roundRect">
            <a:avLst>
              <a:gd name="adj" fmla="val 26923"/>
            </a:avLst>
          </a:prstGeom>
          <a:solidFill xmlns:a="http://schemas.openxmlformats.org/drawingml/2006/main">
            <a:srgbClr val="E7EEF4"/>
          </a:solidFill>
          <a:ln xmlns:a="http://schemas.openxmlformats.org/drawingml/2006/main" w="0">
            <a:solidFill>
              <a:srgbClr val="E7EEF4"/>
            </a:solidFill>
            <a:prstDash val="solid"/>
          </a:ln>
        </p:spPr>
      </p:sp>
      <p:sp>
        <p:nvSpPr>
          <p:cNvPr id="7" name="">
            <a:extLst xmlns:a="http://schemas.openxmlformats.org/drawingml/2006/main">
              <a:ext uri="{FF2B5EF4-FFF2-40B4-BE49-F238E27FC236}">
                <a16:creationId xmlns:a16="http://schemas.microsoft.com/office/drawing/2014/main" id="{70017E23-5E4C-4E47-BE94-AEABA372E4EC}"/>
              </a:ext>
            </a:extLst>
          </p:cNvPr>
          <p:cNvSpPr>
            <a:spLocks xmlns:a="http://schemas.openxmlformats.org/drawingml/2006/main" noGrp="1"/>
          </p:cNvSpPr>
          <p:nvPr/>
        </p:nvSpPr>
        <p:spPr>
          <a:xfrm xmlns:a="http://schemas.openxmlformats.org/drawingml/2006/main">
            <a:off x="2095500" y="2190750"/>
            <a:ext cx="4734490" cy="495300"/>
          </a:xfrm>
          <a:prstGeom xmlns:a="http://schemas.openxmlformats.org/drawingml/2006/main" prst="roundRect">
            <a:avLst>
              <a:gd name="adj" fmla="val 26923"/>
            </a:avLst>
          </a:prstGeom>
          <a:solidFill xmlns:a="http://schemas.openxmlformats.org/drawingml/2006/main">
            <a:srgbClr val="2A8C82"/>
          </a:solidFill>
          <a:ln xmlns:a="http://schemas.openxmlformats.org/drawingml/2006/main" w="0">
            <a:solidFill>
              <a:srgbClr val="2A8C82"/>
            </a:solidFill>
            <a:prstDash val="solid"/>
          </a:ln>
        </p:spPr>
      </p:sp>
      <p:sp>
        <p:nvSpPr>
          <p:cNvPr id="8" name="">
            <a:extLst xmlns:a="http://schemas.openxmlformats.org/drawingml/2006/main">
              <a:ext uri="{FF2B5EF4-FFF2-40B4-BE49-F238E27FC236}">
                <a16:creationId xmlns:a16="http://schemas.microsoft.com/office/drawing/2014/main" id="{0E39282B-A738-4B8B-B979-CFB09E9BFFEE}"/>
              </a:ext>
            </a:extLst>
          </p:cNvPr>
          <p:cNvSpPr>
            <a:spLocks xmlns:a="http://schemas.openxmlformats.org/drawingml/2006/main" noGrp="1"/>
          </p:cNvSpPr>
          <p:nvPr/>
        </p:nvSpPr>
        <p:spPr>
          <a:xfrm xmlns:a="http://schemas.openxmlformats.org/drawingml/2006/main">
            <a:off x="8839200" y="2286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500" b="1">
                <a:solidFill>
                  <a:srgbClr val="2A8C82"/>
                </a:solidFill>
              </a:defRPr>
            </a:pPr>
            <a:r>
              <a:rPr sz="1500" b="1">
                <a:solidFill>
                  <a:srgbClr val="2A8C82"/>
                </a:solidFill>
              </a:rPr>
              <a:t>440.87 s</a:t>
            </a:r>
          </a:p>
        </p:txBody>
      </p:sp>
      <p:sp>
        <p:nvSpPr>
          <p:cNvPr id="9" name="">
            <a:extLst xmlns:a="http://schemas.openxmlformats.org/drawingml/2006/main">
              <a:ext uri="{FF2B5EF4-FFF2-40B4-BE49-F238E27FC236}">
                <a16:creationId xmlns:a16="http://schemas.microsoft.com/office/drawing/2014/main" id="{34E76F05-F448-483B-A739-106FF1CE7C6A}"/>
              </a:ext>
            </a:extLst>
          </p:cNvPr>
          <p:cNvSpPr>
            <a:spLocks xmlns:a="http://schemas.openxmlformats.org/drawingml/2006/main" noGrp="1"/>
          </p:cNvSpPr>
          <p:nvPr/>
        </p:nvSpPr>
        <p:spPr>
          <a:xfrm xmlns:a="http://schemas.openxmlformats.org/drawingml/2006/main">
            <a:off x="914400" y="3171825"/>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0F172A"/>
                </a:solidFill>
              </a:defRPr>
            </a:pPr>
            <a:r>
              <a:rPr sz="1425" b="1">
                <a:solidFill>
                  <a:srgbClr val="0F172A"/>
                </a:solidFill>
              </a:rPr>
              <a:t>Run 2</a:t>
            </a:r>
          </a:p>
        </p:txBody>
      </p:sp>
      <p:sp>
        <p:nvSpPr>
          <p:cNvPr id="10" name="">
            <a:extLst xmlns:a="http://schemas.openxmlformats.org/drawingml/2006/main">
              <a:ext uri="{FF2B5EF4-FFF2-40B4-BE49-F238E27FC236}">
                <a16:creationId xmlns:a16="http://schemas.microsoft.com/office/drawing/2014/main" id="{3401E0AD-FF4F-4091-9437-EE4166853F40}"/>
              </a:ext>
            </a:extLst>
          </p:cNvPr>
          <p:cNvSpPr>
            <a:spLocks xmlns:a="http://schemas.openxmlformats.org/drawingml/2006/main" noGrp="1"/>
          </p:cNvSpPr>
          <p:nvPr/>
        </p:nvSpPr>
        <p:spPr>
          <a:xfrm xmlns:a="http://schemas.openxmlformats.org/drawingml/2006/main">
            <a:off x="2095500" y="3067050"/>
            <a:ext cx="6572250" cy="495300"/>
          </a:xfrm>
          <a:prstGeom xmlns:a="http://schemas.openxmlformats.org/drawingml/2006/main" prst="roundRect">
            <a:avLst>
              <a:gd name="adj" fmla="val 26923"/>
            </a:avLst>
          </a:prstGeom>
          <a:solidFill xmlns:a="http://schemas.openxmlformats.org/drawingml/2006/main">
            <a:srgbClr val="E7EEF4"/>
          </a:solidFill>
          <a:ln xmlns:a="http://schemas.openxmlformats.org/drawingml/2006/main" w="0">
            <a:solidFill>
              <a:srgbClr val="E7EEF4"/>
            </a:solidFill>
            <a:prstDash val="solid"/>
          </a:ln>
        </p:spPr>
      </p:sp>
      <p:sp>
        <p:nvSpPr>
          <p:cNvPr id="11" name="">
            <a:extLst xmlns:a="http://schemas.openxmlformats.org/drawingml/2006/main">
              <a:ext uri="{FF2B5EF4-FFF2-40B4-BE49-F238E27FC236}">
                <a16:creationId xmlns:a16="http://schemas.microsoft.com/office/drawing/2014/main" id="{04DBA1A8-0EEC-4CCC-9689-DE8DD7D63771}"/>
              </a:ext>
            </a:extLst>
          </p:cNvPr>
          <p:cNvSpPr>
            <a:spLocks xmlns:a="http://schemas.openxmlformats.org/drawingml/2006/main" noGrp="1"/>
          </p:cNvSpPr>
          <p:nvPr/>
        </p:nvSpPr>
        <p:spPr>
          <a:xfrm xmlns:a="http://schemas.openxmlformats.org/drawingml/2006/main">
            <a:off x="2095500" y="3067050"/>
            <a:ext cx="5659760" cy="495300"/>
          </a:xfrm>
          <a:prstGeom xmlns:a="http://schemas.openxmlformats.org/drawingml/2006/main" prst="roundRect">
            <a:avLst>
              <a:gd name="adj" fmla="val 26923"/>
            </a:avLst>
          </a:prstGeom>
          <a:solidFill xmlns:a="http://schemas.openxmlformats.org/drawingml/2006/main">
            <a:srgbClr val="1F5A7A"/>
          </a:solidFill>
          <a:ln xmlns:a="http://schemas.openxmlformats.org/drawingml/2006/main" w="0">
            <a:solidFill>
              <a:srgbClr val="1F5A7A"/>
            </a:solidFill>
            <a:prstDash val="solid"/>
          </a:ln>
        </p:spPr>
      </p:sp>
      <p:sp>
        <p:nvSpPr>
          <p:cNvPr id="12" name="">
            <a:extLst xmlns:a="http://schemas.openxmlformats.org/drawingml/2006/main">
              <a:ext uri="{FF2B5EF4-FFF2-40B4-BE49-F238E27FC236}">
                <a16:creationId xmlns:a16="http://schemas.microsoft.com/office/drawing/2014/main" id="{65C372EF-5381-432B-82E1-07AC4C71DCF0}"/>
              </a:ext>
            </a:extLst>
          </p:cNvPr>
          <p:cNvSpPr>
            <a:spLocks xmlns:a="http://schemas.openxmlformats.org/drawingml/2006/main" noGrp="1"/>
          </p:cNvSpPr>
          <p:nvPr/>
        </p:nvSpPr>
        <p:spPr>
          <a:xfrm xmlns:a="http://schemas.openxmlformats.org/drawingml/2006/main">
            <a:off x="8839200" y="31623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500" b="1">
                <a:solidFill>
                  <a:srgbClr val="1F5A7A"/>
                </a:solidFill>
              </a:defRPr>
            </a:pPr>
            <a:r>
              <a:rPr sz="1500" b="1">
                <a:solidFill>
                  <a:srgbClr val="1F5A7A"/>
                </a:solidFill>
              </a:rPr>
              <a:t>527.03 s</a:t>
            </a:r>
          </a:p>
        </p:txBody>
      </p:sp>
      <p:sp>
        <p:nvSpPr>
          <p:cNvPr id="13" name="">
            <a:extLst xmlns:a="http://schemas.openxmlformats.org/drawingml/2006/main">
              <a:ext uri="{FF2B5EF4-FFF2-40B4-BE49-F238E27FC236}">
                <a16:creationId xmlns:a16="http://schemas.microsoft.com/office/drawing/2014/main" id="{514FE940-722E-4854-A8BF-AB9857802D23}"/>
              </a:ext>
            </a:extLst>
          </p:cNvPr>
          <p:cNvSpPr>
            <a:spLocks xmlns:a="http://schemas.openxmlformats.org/drawingml/2006/main" noGrp="1"/>
          </p:cNvSpPr>
          <p:nvPr/>
        </p:nvSpPr>
        <p:spPr>
          <a:xfrm xmlns:a="http://schemas.openxmlformats.org/drawingml/2006/main">
            <a:off x="914400" y="4048125"/>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0F172A"/>
                </a:solidFill>
              </a:defRPr>
            </a:pPr>
            <a:r>
              <a:rPr sz="1425" b="1">
                <a:solidFill>
                  <a:srgbClr val="0F172A"/>
                </a:solidFill>
              </a:rPr>
              <a:t>Run 3</a:t>
            </a:r>
          </a:p>
        </p:txBody>
      </p:sp>
      <p:sp>
        <p:nvSpPr>
          <p:cNvPr id="14" name="">
            <a:extLst xmlns:a="http://schemas.openxmlformats.org/drawingml/2006/main">
              <a:ext uri="{FF2B5EF4-FFF2-40B4-BE49-F238E27FC236}">
                <a16:creationId xmlns:a16="http://schemas.microsoft.com/office/drawing/2014/main" id="{D6083F06-C226-4CDD-B61E-AFE359079309}"/>
              </a:ext>
            </a:extLst>
          </p:cNvPr>
          <p:cNvSpPr>
            <a:spLocks xmlns:a="http://schemas.openxmlformats.org/drawingml/2006/main" noGrp="1"/>
          </p:cNvSpPr>
          <p:nvPr/>
        </p:nvSpPr>
        <p:spPr>
          <a:xfrm xmlns:a="http://schemas.openxmlformats.org/drawingml/2006/main">
            <a:off x="2095500" y="3943350"/>
            <a:ext cx="6572250" cy="495300"/>
          </a:xfrm>
          <a:prstGeom xmlns:a="http://schemas.openxmlformats.org/drawingml/2006/main" prst="roundRect">
            <a:avLst>
              <a:gd name="adj" fmla="val 26923"/>
            </a:avLst>
          </a:prstGeom>
          <a:solidFill xmlns:a="http://schemas.openxmlformats.org/drawingml/2006/main">
            <a:srgbClr val="E7EEF4"/>
          </a:solidFill>
          <a:ln xmlns:a="http://schemas.openxmlformats.org/drawingml/2006/main" w="0">
            <a:solidFill>
              <a:srgbClr val="E7EEF4"/>
            </a:solidFill>
            <a:prstDash val="solid"/>
          </a:ln>
        </p:spPr>
      </p:sp>
      <p:sp>
        <p:nvSpPr>
          <p:cNvPr id="15" name="">
            <a:extLst xmlns:a="http://schemas.openxmlformats.org/drawingml/2006/main">
              <a:ext uri="{FF2B5EF4-FFF2-40B4-BE49-F238E27FC236}">
                <a16:creationId xmlns:a16="http://schemas.microsoft.com/office/drawing/2014/main" id="{1D255EA1-8427-40FF-854B-B63184774572}"/>
              </a:ext>
            </a:extLst>
          </p:cNvPr>
          <p:cNvSpPr>
            <a:spLocks xmlns:a="http://schemas.openxmlformats.org/drawingml/2006/main" noGrp="1"/>
          </p:cNvSpPr>
          <p:nvPr/>
        </p:nvSpPr>
        <p:spPr>
          <a:xfrm xmlns:a="http://schemas.openxmlformats.org/drawingml/2006/main">
            <a:off x="2095500" y="3943350"/>
            <a:ext cx="6372827" cy="495300"/>
          </a:xfrm>
          <a:prstGeom xmlns:a="http://schemas.openxmlformats.org/drawingml/2006/main" prst="roundRect">
            <a:avLst>
              <a:gd name="adj" fmla="val 26923"/>
            </a:avLst>
          </a:prstGeom>
          <a:solidFill xmlns:a="http://schemas.openxmlformats.org/drawingml/2006/main">
            <a:srgbClr val="D59B32"/>
          </a:solidFill>
          <a:ln xmlns:a="http://schemas.openxmlformats.org/drawingml/2006/main" w="0">
            <a:solidFill>
              <a:srgbClr val="D59B32"/>
            </a:solidFill>
            <a:prstDash val="solid"/>
          </a:ln>
        </p:spPr>
      </p:sp>
      <p:sp>
        <p:nvSpPr>
          <p:cNvPr id="16" name="">
            <a:extLst xmlns:a="http://schemas.openxmlformats.org/drawingml/2006/main">
              <a:ext uri="{FF2B5EF4-FFF2-40B4-BE49-F238E27FC236}">
                <a16:creationId xmlns:a16="http://schemas.microsoft.com/office/drawing/2014/main" id="{F559F7A7-00A5-47BB-B51E-4F435FA69793}"/>
              </a:ext>
            </a:extLst>
          </p:cNvPr>
          <p:cNvSpPr>
            <a:spLocks xmlns:a="http://schemas.openxmlformats.org/drawingml/2006/main" noGrp="1"/>
          </p:cNvSpPr>
          <p:nvPr/>
        </p:nvSpPr>
        <p:spPr>
          <a:xfrm xmlns:a="http://schemas.openxmlformats.org/drawingml/2006/main">
            <a:off x="8839200" y="40386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500" b="1">
                <a:solidFill>
                  <a:srgbClr val="D59B32"/>
                </a:solidFill>
              </a:defRPr>
            </a:pPr>
            <a:r>
              <a:rPr sz="1500" b="1">
                <a:solidFill>
                  <a:srgbClr val="D59B32"/>
                </a:solidFill>
              </a:rPr>
              <a:t>593.43 s</a:t>
            </a:r>
          </a:p>
        </p:txBody>
      </p:sp>
      <p:sp>
        <p:nvSpPr>
          <p:cNvPr id="17" name="">
            <a:extLst xmlns:a="http://schemas.openxmlformats.org/drawingml/2006/main">
              <a:ext uri="{FF2B5EF4-FFF2-40B4-BE49-F238E27FC236}">
                <a16:creationId xmlns:a16="http://schemas.microsoft.com/office/drawing/2014/main" id="{6685A69C-F665-4856-B578-96283FBA0A5C}"/>
              </a:ext>
            </a:extLst>
          </p:cNvPr>
          <p:cNvSpPr>
            <a:spLocks xmlns:a="http://schemas.openxmlformats.org/drawingml/2006/main" noGrp="1"/>
          </p:cNvSpPr>
          <p:nvPr/>
        </p:nvSpPr>
        <p:spPr>
          <a:xfrm xmlns:a="http://schemas.openxmlformats.org/drawingml/2006/main">
            <a:off x="2095500" y="4943475"/>
            <a:ext cx="657225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18" name="">
            <a:extLst xmlns:a="http://schemas.openxmlformats.org/drawingml/2006/main">
              <a:ext uri="{FF2B5EF4-FFF2-40B4-BE49-F238E27FC236}">
                <a16:creationId xmlns:a16="http://schemas.microsoft.com/office/drawing/2014/main" id="{CB157332-1B9D-46CE-8D29-CD4CAC731755}"/>
              </a:ext>
            </a:extLst>
          </p:cNvPr>
          <p:cNvSpPr>
            <a:spLocks xmlns:a="http://schemas.openxmlformats.org/drawingml/2006/main" noGrp="1"/>
          </p:cNvSpPr>
          <p:nvPr/>
        </p:nvSpPr>
        <p:spPr>
          <a:xfrm xmlns:a="http://schemas.openxmlformats.org/drawingml/2006/main">
            <a:off x="6115050" y="5029200"/>
            <a:ext cx="2552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125" b="0">
                <a:solidFill>
                  <a:srgbClr val="526174"/>
                </a:solidFill>
              </a:defRPr>
            </a:pPr>
            <a:r>
              <a:rPr sz="1125" b="0">
                <a:solidFill>
                  <a:srgbClr val="526174"/>
                </a:solidFill>
              </a:rPr>
              <a:t>612 s conservative form value</a:t>
            </a:r>
          </a:p>
        </p:txBody>
      </p:sp>
      <p:sp>
        <p:nvSpPr>
          <p:cNvPr id="19" name="">
            <a:extLst xmlns:a="http://schemas.openxmlformats.org/drawingml/2006/main">
              <a:ext uri="{FF2B5EF4-FFF2-40B4-BE49-F238E27FC236}">
                <a16:creationId xmlns:a16="http://schemas.microsoft.com/office/drawing/2014/main" id="{BEB4366F-4289-42A4-A1F1-A2EE35909D0B}"/>
              </a:ext>
            </a:extLst>
          </p:cNvPr>
          <p:cNvSpPr>
            <a:spLocks xmlns:a="http://schemas.openxmlformats.org/drawingml/2006/main" noGrp="1"/>
          </p:cNvSpPr>
          <p:nvPr/>
        </p:nvSpPr>
        <p:spPr>
          <a:xfrm xmlns:a="http://schemas.openxmlformats.org/drawingml/2006/main">
            <a:off x="1143000" y="5524500"/>
            <a:ext cx="4667250" cy="590550"/>
          </a:xfrm>
          <a:prstGeom xmlns:a="http://schemas.openxmlformats.org/drawingml/2006/main" prst="roundRect">
            <a:avLst>
              <a:gd name="adj" fmla="val 22581"/>
            </a:avLst>
          </a:prstGeom>
          <a:solidFill xmlns:a="http://schemas.openxmlformats.org/drawingml/2006/main">
            <a:srgbClr val="DDF2EE"/>
          </a:solidFill>
          <a:ln xmlns:a="http://schemas.openxmlformats.org/drawingml/2006/main" w="9525">
            <a:solidFill>
              <a:srgbClr val="2A8C82"/>
            </a:solidFill>
            <a:prstDash val="solid"/>
          </a:ln>
        </p:spPr>
      </p:sp>
      <p:sp>
        <p:nvSpPr>
          <p:cNvPr id="20" name="">
            <a:extLst xmlns:a="http://schemas.openxmlformats.org/drawingml/2006/main">
              <a:ext uri="{FF2B5EF4-FFF2-40B4-BE49-F238E27FC236}">
                <a16:creationId xmlns:a16="http://schemas.microsoft.com/office/drawing/2014/main" id="{FE30E318-DF02-4632-A78A-E9EBB21BE35B}"/>
              </a:ext>
            </a:extLst>
          </p:cNvPr>
          <p:cNvSpPr>
            <a:spLocks xmlns:a="http://schemas.openxmlformats.org/drawingml/2006/main" noGrp="1"/>
          </p:cNvSpPr>
          <p:nvPr/>
        </p:nvSpPr>
        <p:spPr>
          <a:xfrm xmlns:a="http://schemas.openxmlformats.org/drawingml/2006/main">
            <a:off x="1371600" y="5676900"/>
            <a:ext cx="421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2A8C82"/>
                </a:solidFill>
              </a:defRPr>
            </a:pPr>
            <a:r>
              <a:rPr sz="1425" b="1">
                <a:solidFill>
                  <a:srgbClr val="2A8C82"/>
                </a:solidFill>
              </a:rPr>
              <a:t>5,000 same-mix rows: 14.60 min</a:t>
            </a:r>
          </a:p>
        </p:txBody>
      </p:sp>
      <p:sp>
        <p:nvSpPr>
          <p:cNvPr id="21" name="">
            <a:extLst xmlns:a="http://schemas.openxmlformats.org/drawingml/2006/main">
              <a:ext uri="{FF2B5EF4-FFF2-40B4-BE49-F238E27FC236}">
                <a16:creationId xmlns:a16="http://schemas.microsoft.com/office/drawing/2014/main" id="{03AD3186-BE05-4B59-8559-F04339714B27}"/>
              </a:ext>
            </a:extLst>
          </p:cNvPr>
          <p:cNvSpPr>
            <a:spLocks xmlns:a="http://schemas.openxmlformats.org/drawingml/2006/main" noGrp="1"/>
          </p:cNvSpPr>
          <p:nvPr/>
        </p:nvSpPr>
        <p:spPr>
          <a:xfrm xmlns:a="http://schemas.openxmlformats.org/drawingml/2006/main">
            <a:off x="6381750" y="5524500"/>
            <a:ext cx="4667250" cy="590550"/>
          </a:xfrm>
          <a:prstGeom xmlns:a="http://schemas.openxmlformats.org/drawingml/2006/main" prst="roundRect">
            <a:avLst>
              <a:gd name="adj" fmla="val 22581"/>
            </a:avLst>
          </a:prstGeom>
          <a:solidFill xmlns:a="http://schemas.openxmlformats.org/drawingml/2006/main">
            <a:srgbClr val="FBF0D8"/>
          </a:solidFill>
          <a:ln xmlns:a="http://schemas.openxmlformats.org/drawingml/2006/main" w="9525">
            <a:solidFill>
              <a:srgbClr val="D59B32"/>
            </a:solidFill>
            <a:prstDash val="solid"/>
          </a:ln>
        </p:spPr>
      </p:sp>
      <p:sp>
        <p:nvSpPr>
          <p:cNvPr id="22" name="">
            <a:extLst xmlns:a="http://schemas.openxmlformats.org/drawingml/2006/main">
              <a:ext uri="{FF2B5EF4-FFF2-40B4-BE49-F238E27FC236}">
                <a16:creationId xmlns:a16="http://schemas.microsoft.com/office/drawing/2014/main" id="{7C4B09CC-5095-417B-AC0D-2B7BD4F6B915}"/>
              </a:ext>
            </a:extLst>
          </p:cNvPr>
          <p:cNvSpPr>
            <a:spLocks xmlns:a="http://schemas.openxmlformats.org/drawingml/2006/main" noGrp="1"/>
          </p:cNvSpPr>
          <p:nvPr/>
        </p:nvSpPr>
        <p:spPr>
          <a:xfrm xmlns:a="http://schemas.openxmlformats.org/drawingml/2006/main">
            <a:off x="6610350" y="5676900"/>
            <a:ext cx="421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D59B32"/>
                </a:solidFill>
              </a:defRPr>
            </a:pPr>
            <a:r>
              <a:rPr sz="1425" b="1">
                <a:solidFill>
                  <a:srgbClr val="D59B32"/>
                </a:solidFill>
              </a:rPr>
              <a:t>all-uncertain estimate: 5.2 to 5.5 h</a:t>
            </a:r>
          </a:p>
        </p:txBody>
      </p:sp>
      <p:sp>
        <p:nvSpPr>
          <p:cNvPr id="23" name="">
            <a:extLst xmlns:a="http://schemas.openxmlformats.org/drawingml/2006/main">
              <a:ext uri="{FF2B5EF4-FFF2-40B4-BE49-F238E27FC236}">
                <a16:creationId xmlns:a16="http://schemas.microsoft.com/office/drawing/2014/main" id="{B4DFB0EF-E188-426E-92CF-D4D82C7F531C}"/>
              </a:ext>
            </a:extLst>
          </p:cNvPr>
          <p:cNvSpPr>
            <a:spLocks xmlns:a="http://schemas.openxmlformats.org/drawingml/2006/main" noGrp="1"/>
          </p:cNvSpPr>
          <p:nvPr/>
        </p:nvSpPr>
        <p:spPr>
          <a:xfrm xmlns:a="http://schemas.openxmlformats.org/drawingml/2006/main">
            <a:off x="685800" y="6372225"/>
            <a:ext cx="1082040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24" name="source-13">
            <a:extLst xmlns:a="http://schemas.openxmlformats.org/drawingml/2006/main">
              <a:ext uri="{FF2B5EF4-FFF2-40B4-BE49-F238E27FC236}">
                <a16:creationId xmlns:a16="http://schemas.microsoft.com/office/drawing/2014/main" id="{914129A8-3E9B-4BA8-881A-416852027894}"/>
              </a:ext>
            </a:extLst>
          </p:cNvPr>
          <p:cNvSpPr>
            <a:spLocks xmlns:a="http://schemas.openxmlformats.org/drawingml/2006/main" noGrp="1"/>
          </p:cNvSpPr>
          <p:nvPr/>
        </p:nvSpPr>
        <p:spPr>
          <a:xfrm xmlns:a="http://schemas.openxmlformats.org/drawingml/2006/main">
            <a:off x="685800" y="6457950"/>
            <a:ext cx="9810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526174"/>
                </a:solidFill>
              </a:defRPr>
            </a:pPr>
            <a:r>
              <a:rPr sz="975" b="0">
                <a:solidFill>
                  <a:srgbClr val="526174"/>
                </a:solidFill>
              </a:rPr>
              <a:t>[7] Kaggle notebook versions 1 to 3, frozen output SHA and runtime records</a:t>
            </a:r>
          </a:p>
        </p:txBody>
      </p:sp>
      <p:sp>
        <p:nvSpPr>
          <p:cNvPr id="25" name="page-13">
            <a:extLst xmlns:a="http://schemas.openxmlformats.org/drawingml/2006/main">
              <a:ext uri="{FF2B5EF4-FFF2-40B4-BE49-F238E27FC236}">
                <a16:creationId xmlns:a16="http://schemas.microsoft.com/office/drawing/2014/main" id="{69B1991C-585C-45E3-93A8-43EA36AAB775}"/>
              </a:ext>
            </a:extLst>
          </p:cNvPr>
          <p:cNvSpPr>
            <a:spLocks xmlns:a="http://schemas.openxmlformats.org/drawingml/2006/main" noGrp="1"/>
          </p:cNvSpPr>
          <p:nvPr/>
        </p:nvSpPr>
        <p:spPr>
          <a:xfrm xmlns:a="http://schemas.openxmlformats.org/drawingml/2006/main">
            <a:off x="10810875" y="6457950"/>
            <a:ext cx="6953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1F5A7A"/>
                </a:solidFill>
              </a:defRPr>
            </a:pPr>
            <a:r>
              <a:rPr sz="975" b="1">
                <a:solidFill>
                  <a:srgbClr val="1F5A7A"/>
                </a:solidFill>
              </a:rPr>
              <a:t>13</a:t>
            </a:r>
          </a:p>
        </p:txBody>
      </p:sp>
    </p:spTree>
    <p:extLst>
      <p:ext uri="{BB962C8B-B14F-4D97-AF65-F5344CB8AC3E}">
        <p14:creationId xmlns:p14="http://schemas.microsoft.com/office/powerpoint/2010/main" val="1929103618"/>
      </p:ext>
    </p:extLst>
  </p:cSld>
</p:sld>
</file>

<file path=ppt/slides/slide14.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30" name="kicker-14">
            <a:extLst xmlns:a="http://schemas.openxmlformats.org/drawingml/2006/main">
              <a:ext uri="{FF2B5EF4-FFF2-40B4-BE49-F238E27FC236}">
                <a16:creationId xmlns:a16="http://schemas.microsoft.com/office/drawing/2014/main" id="{08C26A14-BB34-4FAC-B82D-692B52503000}"/>
              </a:ext>
            </a:extLst>
          </p:cNvPr>
          <p:cNvSpPr>
            <a:spLocks xmlns:a="http://schemas.openxmlformats.org/drawingml/2006/main" noGrp="1"/>
          </p:cNvSpPr>
          <p:nvPr/>
        </p:nvSpPr>
        <p:spPr>
          <a:xfrm xmlns:a="http://schemas.openxmlformats.org/drawingml/2006/main">
            <a:off x="685800" y="32385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F5A7A"/>
                </a:solidFill>
              </a:defRPr>
            </a:pPr>
            <a:r>
              <a:rPr sz="1050" b="1">
                <a:solidFill>
                  <a:srgbClr val="1F5A7A"/>
                </a:solidFill>
              </a:rPr>
              <a:t>TEAM HUNTRIX</a:t>
            </a:r>
          </a:p>
        </p:txBody>
      </p:sp>
      <p:sp>
        <p:nvSpPr>
          <p:cNvPr id="2" name="title-14">
            <a:extLst xmlns:a="http://schemas.openxmlformats.org/drawingml/2006/main">
              <a:ext uri="{FF2B5EF4-FFF2-40B4-BE49-F238E27FC236}">
                <a16:creationId xmlns:a16="http://schemas.microsoft.com/office/drawing/2014/main" id="{C6953931-6178-458B-BBB7-576586540728}"/>
              </a:ext>
            </a:extLst>
          </p:cNvPr>
          <p:cNvSpPr>
            <a:spLocks xmlns:a="http://schemas.openxmlformats.org/drawingml/2006/main" noGrp="1"/>
          </p:cNvSpPr>
          <p:nvPr/>
        </p:nvSpPr>
        <p:spPr>
          <a:xfrm xmlns:a="http://schemas.openxmlformats.org/drawingml/2006/main">
            <a:off x="685800" y="590550"/>
            <a:ext cx="10820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F172A"/>
                </a:solidFill>
              </a:defRPr>
            </a:pPr>
            <a:r>
              <a:rPr sz="2700" b="1">
                <a:solidFill>
                  <a:srgbClr val="0F172A"/>
                </a:solidFill>
              </a:rPr>
              <a:t>Phase 2 widens the source mix, so abstention matters more</a:t>
            </a:r>
          </a:p>
        </p:txBody>
      </p:sp>
      <p:sp>
        <p:nvSpPr>
          <p:cNvPr id="3" name="">
            <a:extLst xmlns:a="http://schemas.openxmlformats.org/drawingml/2006/main">
              <a:ext uri="{FF2B5EF4-FFF2-40B4-BE49-F238E27FC236}">
                <a16:creationId xmlns:a16="http://schemas.microsoft.com/office/drawing/2014/main" id="{ECCA668D-D0AC-4E73-9A9A-6C95A0B687E1}"/>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4" name="">
            <a:extLst xmlns:a="http://schemas.openxmlformats.org/drawingml/2006/main">
              <a:ext uri="{FF2B5EF4-FFF2-40B4-BE49-F238E27FC236}">
                <a16:creationId xmlns:a16="http://schemas.microsoft.com/office/drawing/2014/main" id="{B8718CB7-A05D-4067-99B4-826ABC4DC98D}"/>
              </a:ext>
            </a:extLst>
          </p:cNvPr>
          <p:cNvSpPr>
            <a:spLocks xmlns:a="http://schemas.openxmlformats.org/drawingml/2006/main" noGrp="1"/>
          </p:cNvSpPr>
          <p:nvPr/>
        </p:nvSpPr>
        <p:spPr>
          <a:xfrm xmlns:a="http://schemas.openxmlformats.org/drawingml/2006/main">
            <a:off x="685800" y="1390650"/>
            <a:ext cx="1000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526174"/>
                </a:solidFill>
              </a:defRPr>
            </a:pPr>
            <a:r>
              <a:rPr sz="1650" b="0">
                <a:solidFill>
                  <a:srgbClr val="526174"/>
                </a:solidFill>
              </a:rPr>
              <a:t>Exact Phase 1 lineage will cover less. The fallback must remain safe when coverage drops.</a:t>
            </a:r>
          </a:p>
        </p:txBody>
      </p:sp>
      <p:sp>
        <p:nvSpPr>
          <p:cNvPr id="5" name="">
            <a:extLst xmlns:a="http://schemas.openxmlformats.org/drawingml/2006/main">
              <a:ext uri="{FF2B5EF4-FFF2-40B4-BE49-F238E27FC236}">
                <a16:creationId xmlns:a16="http://schemas.microsoft.com/office/drawing/2014/main" id="{C7011E96-6C23-4CA9-876B-2AED4333964C}"/>
              </a:ext>
            </a:extLst>
          </p:cNvPr>
          <p:cNvSpPr>
            <a:spLocks xmlns:a="http://schemas.openxmlformats.org/drawingml/2006/main" noGrp="1"/>
          </p:cNvSpPr>
          <p:nvPr/>
        </p:nvSpPr>
        <p:spPr>
          <a:xfrm xmlns:a="http://schemas.openxmlformats.org/drawingml/2006/main">
            <a:off x="914400" y="215265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1F5A7A"/>
                </a:solidFill>
              </a:defRPr>
            </a:pPr>
            <a:r>
              <a:rPr sz="1575" b="1">
                <a:solidFill>
                  <a:srgbClr val="1F5A7A"/>
                </a:solidFill>
              </a:rPr>
              <a:t>Web and news</a:t>
            </a:r>
          </a:p>
        </p:txBody>
      </p:sp>
      <p:sp>
        <p:nvSpPr>
          <p:cNvPr id="6" name="">
            <a:extLst xmlns:a="http://schemas.openxmlformats.org/drawingml/2006/main">
              <a:ext uri="{FF2B5EF4-FFF2-40B4-BE49-F238E27FC236}">
                <a16:creationId xmlns:a16="http://schemas.microsoft.com/office/drawing/2014/main" id="{66172D70-A0CD-48D5-B842-98CA670A4CB0}"/>
              </a:ext>
            </a:extLst>
          </p:cNvPr>
          <p:cNvSpPr>
            <a:spLocks xmlns:a="http://schemas.openxmlformats.org/drawingml/2006/main" noGrp="1"/>
          </p:cNvSpPr>
          <p:nvPr/>
        </p:nvSpPr>
        <p:spPr>
          <a:xfrm xmlns:a="http://schemas.openxmlformats.org/drawingml/2006/main">
            <a:off x="914400" y="247650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26174"/>
                </a:solidFill>
              </a:defRPr>
            </a:pPr>
            <a:r>
              <a:rPr sz="1275" b="0">
                <a:solidFill>
                  <a:srgbClr val="526174"/>
                </a:solidFill>
              </a:rPr>
              <a:t>Common Crawl, recent newspapers</a:t>
            </a:r>
          </a:p>
        </p:txBody>
      </p:sp>
      <p:sp>
        <p:nvSpPr>
          <p:cNvPr id="7" name="">
            <a:extLst xmlns:a="http://schemas.openxmlformats.org/drawingml/2006/main">
              <a:ext uri="{FF2B5EF4-FFF2-40B4-BE49-F238E27FC236}">
                <a16:creationId xmlns:a16="http://schemas.microsoft.com/office/drawing/2014/main" id="{CE6FD31F-9975-4E92-AABD-77FCC1941799}"/>
              </a:ext>
            </a:extLst>
          </p:cNvPr>
          <p:cNvSpPr>
            <a:spLocks xmlns:a="http://schemas.openxmlformats.org/drawingml/2006/main" noGrp="1"/>
          </p:cNvSpPr>
          <p:nvPr/>
        </p:nvSpPr>
        <p:spPr>
          <a:xfrm xmlns:a="http://schemas.openxmlformats.org/drawingml/2006/main">
            <a:off x="914400" y="2895600"/>
            <a:ext cx="314325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8" name="">
            <a:extLst xmlns:a="http://schemas.openxmlformats.org/drawingml/2006/main">
              <a:ext uri="{FF2B5EF4-FFF2-40B4-BE49-F238E27FC236}">
                <a16:creationId xmlns:a16="http://schemas.microsoft.com/office/drawing/2014/main" id="{67694C10-4191-405F-B732-8C9A6B38E994}"/>
              </a:ext>
            </a:extLst>
          </p:cNvPr>
          <p:cNvSpPr>
            <a:spLocks xmlns:a="http://schemas.openxmlformats.org/drawingml/2006/main" noGrp="1"/>
          </p:cNvSpPr>
          <p:nvPr/>
        </p:nvSpPr>
        <p:spPr>
          <a:xfrm xmlns:a="http://schemas.openxmlformats.org/drawingml/2006/main">
            <a:off x="914400" y="302895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1F5A7A"/>
                </a:solidFill>
              </a:defRPr>
            </a:pPr>
            <a:r>
              <a:rPr sz="1575" b="1">
                <a:solidFill>
                  <a:srgbClr val="1F5A7A"/>
                </a:solidFill>
              </a:rPr>
              <a:t>Knowledge</a:t>
            </a:r>
          </a:p>
        </p:txBody>
      </p:sp>
      <p:sp>
        <p:nvSpPr>
          <p:cNvPr id="9" name="">
            <a:extLst xmlns:a="http://schemas.openxmlformats.org/drawingml/2006/main">
              <a:ext uri="{FF2B5EF4-FFF2-40B4-BE49-F238E27FC236}">
                <a16:creationId xmlns:a16="http://schemas.microsoft.com/office/drawing/2014/main" id="{5A309530-9A4E-45AA-84CE-15B4E9928396}"/>
              </a:ext>
            </a:extLst>
          </p:cNvPr>
          <p:cNvSpPr>
            <a:spLocks xmlns:a="http://schemas.openxmlformats.org/drawingml/2006/main" noGrp="1"/>
          </p:cNvSpPr>
          <p:nvPr/>
        </p:nvSpPr>
        <p:spPr>
          <a:xfrm xmlns:a="http://schemas.openxmlformats.org/drawingml/2006/main">
            <a:off x="914400" y="335280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26174"/>
                </a:solidFill>
              </a:defRPr>
            </a:pPr>
            <a:r>
              <a:rPr sz="1275" b="0">
                <a:solidFill>
                  <a:srgbClr val="526174"/>
                </a:solidFill>
              </a:rPr>
              <a:t>Wikipedia and Banglapedia</a:t>
            </a:r>
          </a:p>
        </p:txBody>
      </p:sp>
      <p:sp>
        <p:nvSpPr>
          <p:cNvPr id="10" name="">
            <a:extLst xmlns:a="http://schemas.openxmlformats.org/drawingml/2006/main">
              <a:ext uri="{FF2B5EF4-FFF2-40B4-BE49-F238E27FC236}">
                <a16:creationId xmlns:a16="http://schemas.microsoft.com/office/drawing/2014/main" id="{FD31221D-86A0-440C-9373-0FCA0D9EEB81}"/>
              </a:ext>
            </a:extLst>
          </p:cNvPr>
          <p:cNvSpPr>
            <a:spLocks xmlns:a="http://schemas.openxmlformats.org/drawingml/2006/main" noGrp="1"/>
          </p:cNvSpPr>
          <p:nvPr/>
        </p:nvSpPr>
        <p:spPr>
          <a:xfrm xmlns:a="http://schemas.openxmlformats.org/drawingml/2006/main">
            <a:off x="914400" y="3771900"/>
            <a:ext cx="314325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11" name="">
            <a:extLst xmlns:a="http://schemas.openxmlformats.org/drawingml/2006/main">
              <a:ext uri="{FF2B5EF4-FFF2-40B4-BE49-F238E27FC236}">
                <a16:creationId xmlns:a16="http://schemas.microsoft.com/office/drawing/2014/main" id="{B29E71B6-68F5-4430-9088-1CADECECD340}"/>
              </a:ext>
            </a:extLst>
          </p:cNvPr>
          <p:cNvSpPr>
            <a:spLocks xmlns:a="http://schemas.openxmlformats.org/drawingml/2006/main" noGrp="1"/>
          </p:cNvSpPr>
          <p:nvPr/>
        </p:nvSpPr>
        <p:spPr>
          <a:xfrm xmlns:a="http://schemas.openxmlformats.org/drawingml/2006/main">
            <a:off x="914400" y="390525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1F5A7A"/>
                </a:solidFill>
              </a:defRPr>
            </a:pPr>
            <a:r>
              <a:rPr sz="1575" b="1">
                <a:solidFill>
                  <a:srgbClr val="1F5A7A"/>
                </a:solidFill>
              </a:rPr>
              <a:t>Civic and legal</a:t>
            </a:r>
          </a:p>
        </p:txBody>
      </p:sp>
      <p:sp>
        <p:nvSpPr>
          <p:cNvPr id="12" name="">
            <a:extLst xmlns:a="http://schemas.openxmlformats.org/drawingml/2006/main">
              <a:ext uri="{FF2B5EF4-FFF2-40B4-BE49-F238E27FC236}">
                <a16:creationId xmlns:a16="http://schemas.microsoft.com/office/drawing/2014/main" id="{588E853A-DD46-4FD1-91F1-6A4D6CAD357A}"/>
              </a:ext>
            </a:extLst>
          </p:cNvPr>
          <p:cNvSpPr>
            <a:spLocks xmlns:a="http://schemas.openxmlformats.org/drawingml/2006/main" noGrp="1"/>
          </p:cNvSpPr>
          <p:nvPr/>
        </p:nvSpPr>
        <p:spPr>
          <a:xfrm xmlns:a="http://schemas.openxmlformats.org/drawingml/2006/main">
            <a:off x="914400" y="422910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26174"/>
                </a:solidFill>
              </a:defRPr>
            </a:pPr>
            <a:r>
              <a:rPr sz="1275" b="0">
                <a:solidFill>
                  <a:srgbClr val="526174"/>
                </a:solidFill>
              </a:rPr>
              <a:t>government services and bdlaws</a:t>
            </a:r>
          </a:p>
        </p:txBody>
      </p:sp>
      <p:sp>
        <p:nvSpPr>
          <p:cNvPr id="13" name="">
            <a:extLst xmlns:a="http://schemas.openxmlformats.org/drawingml/2006/main">
              <a:ext uri="{FF2B5EF4-FFF2-40B4-BE49-F238E27FC236}">
                <a16:creationId xmlns:a16="http://schemas.microsoft.com/office/drawing/2014/main" id="{BEDC108A-B1DD-446E-98E2-F17614A13513}"/>
              </a:ext>
            </a:extLst>
          </p:cNvPr>
          <p:cNvSpPr>
            <a:spLocks xmlns:a="http://schemas.openxmlformats.org/drawingml/2006/main" noGrp="1"/>
          </p:cNvSpPr>
          <p:nvPr/>
        </p:nvSpPr>
        <p:spPr>
          <a:xfrm xmlns:a="http://schemas.openxmlformats.org/drawingml/2006/main">
            <a:off x="914400" y="4648200"/>
            <a:ext cx="314325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14" name="">
            <a:extLst xmlns:a="http://schemas.openxmlformats.org/drawingml/2006/main">
              <a:ext uri="{FF2B5EF4-FFF2-40B4-BE49-F238E27FC236}">
                <a16:creationId xmlns:a16="http://schemas.microsoft.com/office/drawing/2014/main" id="{6D1BC4E7-31BB-4E2B-A0FF-0849E0E9DE2B}"/>
              </a:ext>
            </a:extLst>
          </p:cNvPr>
          <p:cNvSpPr>
            <a:spLocks xmlns:a="http://schemas.openxmlformats.org/drawingml/2006/main" noGrp="1"/>
          </p:cNvSpPr>
          <p:nvPr/>
        </p:nvSpPr>
        <p:spPr>
          <a:xfrm xmlns:a="http://schemas.openxmlformats.org/drawingml/2006/main">
            <a:off x="914400" y="478155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1F5A7A"/>
                </a:solidFill>
              </a:defRPr>
            </a:pPr>
            <a:r>
              <a:rPr sz="1575" b="1">
                <a:solidFill>
                  <a:srgbClr val="1F5A7A"/>
                </a:solidFill>
              </a:rPr>
              <a:t>Education and culture</a:t>
            </a:r>
          </a:p>
        </p:txBody>
      </p:sp>
      <p:sp>
        <p:nvSpPr>
          <p:cNvPr id="15" name="">
            <a:extLst xmlns:a="http://schemas.openxmlformats.org/drawingml/2006/main">
              <a:ext uri="{FF2B5EF4-FFF2-40B4-BE49-F238E27FC236}">
                <a16:creationId xmlns:a16="http://schemas.microsoft.com/office/drawing/2014/main" id="{B3BAA34C-5D15-4DA5-8C17-8F4189E58E5E}"/>
              </a:ext>
            </a:extLst>
          </p:cNvPr>
          <p:cNvSpPr>
            <a:spLocks xmlns:a="http://schemas.openxmlformats.org/drawingml/2006/main" noGrp="1"/>
          </p:cNvSpPr>
          <p:nvPr/>
        </p:nvSpPr>
        <p:spPr>
          <a:xfrm xmlns:a="http://schemas.openxmlformats.org/drawingml/2006/main">
            <a:off x="914400" y="510540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26174"/>
                </a:solidFill>
              </a:defRPr>
            </a:pPr>
            <a:r>
              <a:rPr sz="1275" b="0">
                <a:solidFill>
                  <a:srgbClr val="526174"/>
                </a:solidFill>
              </a:rPr>
              <a:t>NCTB textbooks and literature</a:t>
            </a:r>
          </a:p>
        </p:txBody>
      </p:sp>
      <p:sp>
        <p:nvSpPr>
          <p:cNvPr id="16" name="">
            <a:extLst xmlns:a="http://schemas.openxmlformats.org/drawingml/2006/main">
              <a:ext uri="{FF2B5EF4-FFF2-40B4-BE49-F238E27FC236}">
                <a16:creationId xmlns:a16="http://schemas.microsoft.com/office/drawing/2014/main" id="{F2CA0D3A-520D-4448-B5BE-B80901675613}"/>
              </a:ext>
            </a:extLst>
          </p:cNvPr>
          <p:cNvSpPr>
            <a:spLocks xmlns:a="http://schemas.openxmlformats.org/drawingml/2006/main" noGrp="1"/>
          </p:cNvSpPr>
          <p:nvPr/>
        </p:nvSpPr>
        <p:spPr>
          <a:xfrm xmlns:a="http://schemas.openxmlformats.org/drawingml/2006/main">
            <a:off x="914400" y="5524500"/>
            <a:ext cx="314325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17" name="">
            <a:extLst xmlns:a="http://schemas.openxmlformats.org/drawingml/2006/main">
              <a:ext uri="{FF2B5EF4-FFF2-40B4-BE49-F238E27FC236}">
                <a16:creationId xmlns:a16="http://schemas.microsoft.com/office/drawing/2014/main" id="{A8789183-8AC6-498A-9C6A-490E6BE2F66B}"/>
              </a:ext>
            </a:extLst>
          </p:cNvPr>
          <p:cNvSpPr>
            <a:spLocks xmlns:a="http://schemas.openxmlformats.org/drawingml/2006/main" noGrp="1"/>
          </p:cNvSpPr>
          <p:nvPr/>
        </p:nvSpPr>
        <p:spPr>
          <a:xfrm xmlns:a="http://schemas.openxmlformats.org/drawingml/2006/main">
            <a:off x="4400550" y="3200400"/>
            <a:ext cx="914400" cy="323850"/>
          </a:xfrm>
          <a:prstGeom xmlns:a="http://schemas.openxmlformats.org/drawingml/2006/main" prst="rightArrow">
            <a:avLst/>
          </a:prstGeom>
          <a:solidFill xmlns:a="http://schemas.openxmlformats.org/drawingml/2006/main">
            <a:srgbClr val="D8E0EA"/>
          </a:solidFill>
          <a:ln xmlns:a="http://schemas.openxmlformats.org/drawingml/2006/main" w="0">
            <a:solidFill>
              <a:srgbClr val="D8E0EA"/>
            </a:solidFill>
            <a:prstDash val="solid"/>
          </a:ln>
        </p:spPr>
      </p:sp>
      <p:sp>
        <p:nvSpPr>
          <p:cNvPr id="18" name="">
            <a:extLst xmlns:a="http://schemas.openxmlformats.org/drawingml/2006/main">
              <a:ext uri="{FF2B5EF4-FFF2-40B4-BE49-F238E27FC236}">
                <a16:creationId xmlns:a16="http://schemas.microsoft.com/office/drawing/2014/main" id="{A59C8E5F-0F21-4151-86AD-B4376F52CFCF}"/>
              </a:ext>
            </a:extLst>
          </p:cNvPr>
          <p:cNvSpPr>
            <a:spLocks xmlns:a="http://schemas.openxmlformats.org/drawingml/2006/main" noGrp="1"/>
          </p:cNvSpPr>
          <p:nvPr/>
        </p:nvSpPr>
        <p:spPr>
          <a:xfrm xmlns:a="http://schemas.openxmlformats.org/drawingml/2006/main">
            <a:off x="8096250" y="3200400"/>
            <a:ext cx="914400" cy="323850"/>
          </a:xfrm>
          <a:prstGeom xmlns:a="http://schemas.openxmlformats.org/drawingml/2006/main" prst="rightArrow">
            <a:avLst/>
          </a:prstGeom>
          <a:solidFill xmlns:a="http://schemas.openxmlformats.org/drawingml/2006/main">
            <a:srgbClr val="D8E0EA"/>
          </a:solidFill>
          <a:ln xmlns:a="http://schemas.openxmlformats.org/drawingml/2006/main" w="0">
            <a:solidFill>
              <a:srgbClr val="D8E0EA"/>
            </a:solidFill>
            <a:prstDash val="solid"/>
          </a:ln>
        </p:spPr>
      </p:sp>
      <p:sp>
        <p:nvSpPr>
          <p:cNvPr id="19" name="">
            <a:extLst xmlns:a="http://schemas.openxmlformats.org/drawingml/2006/main">
              <a:ext uri="{FF2B5EF4-FFF2-40B4-BE49-F238E27FC236}">
                <a16:creationId xmlns:a16="http://schemas.microsoft.com/office/drawing/2014/main" id="{0249D217-84C4-43DA-A02F-3792D6D1E62A}"/>
              </a:ext>
            </a:extLst>
          </p:cNvPr>
          <p:cNvSpPr>
            <a:spLocks xmlns:a="http://schemas.openxmlformats.org/drawingml/2006/main" noGrp="1"/>
          </p:cNvSpPr>
          <p:nvPr/>
        </p:nvSpPr>
        <p:spPr>
          <a:xfrm xmlns:a="http://schemas.openxmlformats.org/drawingml/2006/main">
            <a:off x="5334000" y="2324100"/>
            <a:ext cx="2724150" cy="2095500"/>
          </a:xfrm>
          <a:prstGeom xmlns:a="http://schemas.openxmlformats.org/drawingml/2006/main" prst="roundRect">
            <a:avLst>
              <a:gd name="adj" fmla="val 8182"/>
            </a:avLst>
          </a:prstGeom>
          <a:solidFill xmlns:a="http://schemas.openxmlformats.org/drawingml/2006/main">
            <a:srgbClr val="FFFFFF"/>
          </a:solidFill>
          <a:ln xmlns:a="http://schemas.openxmlformats.org/drawingml/2006/main" w="9525">
            <a:solidFill>
              <a:srgbClr val="2A8C82"/>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0" name="">
            <a:extLst xmlns:a="http://schemas.openxmlformats.org/drawingml/2006/main">
              <a:ext uri="{FF2B5EF4-FFF2-40B4-BE49-F238E27FC236}">
                <a16:creationId xmlns:a16="http://schemas.microsoft.com/office/drawing/2014/main" id="{C4490D81-C25D-46F7-A275-AE83C2C049C9}"/>
              </a:ext>
            </a:extLst>
          </p:cNvPr>
          <p:cNvSpPr>
            <a:spLocks xmlns:a="http://schemas.openxmlformats.org/drawingml/2006/main" noGrp="1"/>
          </p:cNvSpPr>
          <p:nvPr/>
        </p:nvSpPr>
        <p:spPr>
          <a:xfrm xmlns:a="http://schemas.openxmlformats.org/drawingml/2006/main">
            <a:off x="5619750" y="2628900"/>
            <a:ext cx="21526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2A8C82"/>
                </a:solidFill>
              </a:defRPr>
            </a:pPr>
            <a:r>
              <a:rPr sz="1875" b="1">
                <a:solidFill>
                  <a:srgbClr val="2A8C82"/>
                </a:solidFill>
              </a:rPr>
              <a:t>Try exact routing</a:t>
            </a:r>
          </a:p>
        </p:txBody>
      </p:sp>
      <p:sp>
        <p:nvSpPr>
          <p:cNvPr id="21" name="">
            <a:extLst xmlns:a="http://schemas.openxmlformats.org/drawingml/2006/main">
              <a:ext uri="{FF2B5EF4-FFF2-40B4-BE49-F238E27FC236}">
                <a16:creationId xmlns:a16="http://schemas.microsoft.com/office/drawing/2014/main" id="{14D5EBA9-7DA6-4F80-9A20-FCE688905596}"/>
              </a:ext>
            </a:extLst>
          </p:cNvPr>
          <p:cNvSpPr>
            <a:spLocks xmlns:a="http://schemas.openxmlformats.org/drawingml/2006/main" noGrp="1"/>
          </p:cNvSpPr>
          <p:nvPr/>
        </p:nvSpPr>
        <p:spPr>
          <a:xfrm xmlns:a="http://schemas.openxmlformats.org/drawingml/2006/main">
            <a:off x="5657850" y="3143250"/>
            <a:ext cx="20764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0">
                <a:solidFill>
                  <a:srgbClr val="526174"/>
                </a:solidFill>
              </a:defRPr>
            </a:pPr>
            <a:r>
              <a:rPr sz="1425" b="0">
                <a:solidFill>
                  <a:srgbClr val="526174"/>
                </a:solidFill>
              </a:rPr>
              <a:t>context clauses</a:t>
            </a:r>
          </a:p>
          <a:p xmlns:a="http://schemas.openxmlformats.org/drawingml/2006/main">
            <a:pPr algn="ctr">
              <a:defRPr sz="1425" b="0">
                <a:solidFill>
                  <a:srgbClr val="526174"/>
                </a:solidFill>
              </a:defRPr>
            </a:pPr>
            <a:r>
              <a:rPr sz="1425" b="0">
                <a:solidFill>
                  <a:srgbClr val="526174"/>
                </a:solidFill>
              </a:rPr>
              <a:t>structured solvers</a:t>
            </a:r>
          </a:p>
          <a:p xmlns:a="http://schemas.openxmlformats.org/drawingml/2006/main">
            <a:pPr algn="ctr">
              <a:defRPr sz="1425" b="0">
                <a:solidFill>
                  <a:srgbClr val="526174"/>
                </a:solidFill>
              </a:defRPr>
            </a:pPr>
            <a:r>
              <a:rPr sz="1425" b="0">
                <a:solidFill>
                  <a:srgbClr val="526174"/>
                </a:solidFill>
              </a:rPr>
              <a:t>entity-relation checks</a:t>
            </a:r>
          </a:p>
        </p:txBody>
      </p:sp>
      <p:sp>
        <p:nvSpPr>
          <p:cNvPr id="22" name="">
            <a:extLst xmlns:a="http://schemas.openxmlformats.org/drawingml/2006/main">
              <a:ext uri="{FF2B5EF4-FFF2-40B4-BE49-F238E27FC236}">
                <a16:creationId xmlns:a16="http://schemas.microsoft.com/office/drawing/2014/main" id="{DEA8CD74-708E-42C9-B51E-6CB11C1304AE}"/>
              </a:ext>
            </a:extLst>
          </p:cNvPr>
          <p:cNvSpPr>
            <a:spLocks xmlns:a="http://schemas.openxmlformats.org/drawingml/2006/main" noGrp="1"/>
          </p:cNvSpPr>
          <p:nvPr/>
        </p:nvSpPr>
        <p:spPr>
          <a:xfrm xmlns:a="http://schemas.openxmlformats.org/drawingml/2006/main">
            <a:off x="9029700" y="2324100"/>
            <a:ext cx="2247900" cy="2095500"/>
          </a:xfrm>
          <a:prstGeom xmlns:a="http://schemas.openxmlformats.org/drawingml/2006/main" prst="roundRect">
            <a:avLst>
              <a:gd name="adj" fmla="val 8182"/>
            </a:avLst>
          </a:prstGeom>
          <a:solidFill xmlns:a="http://schemas.openxmlformats.org/drawingml/2006/main">
            <a:srgbClr val="FBF0D8"/>
          </a:solidFill>
          <a:ln xmlns:a="http://schemas.openxmlformats.org/drawingml/2006/main" w="9525">
            <a:solidFill>
              <a:srgbClr val="D59B32"/>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3" name="">
            <a:extLst xmlns:a="http://schemas.openxmlformats.org/drawingml/2006/main">
              <a:ext uri="{FF2B5EF4-FFF2-40B4-BE49-F238E27FC236}">
                <a16:creationId xmlns:a16="http://schemas.microsoft.com/office/drawing/2014/main" id="{0446F2D3-D792-4059-A79F-E10A591FFBCD}"/>
              </a:ext>
            </a:extLst>
          </p:cNvPr>
          <p:cNvSpPr>
            <a:spLocks xmlns:a="http://schemas.openxmlformats.org/drawingml/2006/main" noGrp="1"/>
          </p:cNvSpPr>
          <p:nvPr/>
        </p:nvSpPr>
        <p:spPr>
          <a:xfrm xmlns:a="http://schemas.openxmlformats.org/drawingml/2006/main">
            <a:off x="9296400" y="262890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D59B32"/>
                </a:solidFill>
              </a:defRPr>
            </a:pPr>
            <a:r>
              <a:rPr sz="1875" b="1">
                <a:solidFill>
                  <a:srgbClr val="D59B32"/>
                </a:solidFill>
              </a:rPr>
              <a:t>If uncertain</a:t>
            </a:r>
          </a:p>
        </p:txBody>
      </p:sp>
      <p:sp>
        <p:nvSpPr>
          <p:cNvPr id="24" name="">
            <a:extLst xmlns:a="http://schemas.openxmlformats.org/drawingml/2006/main">
              <a:ext uri="{FF2B5EF4-FFF2-40B4-BE49-F238E27FC236}">
                <a16:creationId xmlns:a16="http://schemas.microsoft.com/office/drawing/2014/main" id="{6493AE42-22F9-4ADE-A9E0-2DB612442410}"/>
              </a:ext>
            </a:extLst>
          </p:cNvPr>
          <p:cNvSpPr>
            <a:spLocks xmlns:a="http://schemas.openxmlformats.org/drawingml/2006/main" noGrp="1"/>
          </p:cNvSpPr>
          <p:nvPr/>
        </p:nvSpPr>
        <p:spPr>
          <a:xfrm xmlns:a="http://schemas.openxmlformats.org/drawingml/2006/main">
            <a:off x="9296400" y="3143250"/>
            <a:ext cx="17145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0">
                <a:solidFill>
                  <a:srgbClr val="526174"/>
                </a:solidFill>
              </a:defRPr>
            </a:pPr>
            <a:r>
              <a:rPr sz="1350" b="0">
                <a:solidFill>
                  <a:srgbClr val="526174"/>
                </a:solidFill>
              </a:rPr>
              <a:t>skip lineage</a:t>
            </a:r>
          </a:p>
          <a:p xmlns:a="http://schemas.openxmlformats.org/drawingml/2006/main">
            <a:pPr algn="ctr">
              <a:defRPr sz="1350" b="0">
                <a:solidFill>
                  <a:srgbClr val="526174"/>
                </a:solidFill>
              </a:defRPr>
            </a:pPr>
            <a:r>
              <a:rPr sz="1350" b="0">
                <a:solidFill>
                  <a:srgbClr val="526174"/>
                </a:solidFill>
              </a:rPr>
              <a:t>use the fixed judge</a:t>
            </a:r>
          </a:p>
          <a:p xmlns:a="http://schemas.openxmlformats.org/drawingml/2006/main">
            <a:pPr algn="ctr">
              <a:defRPr sz="1350" b="0">
                <a:solidFill>
                  <a:srgbClr val="526174"/>
                </a:solidFill>
              </a:defRPr>
            </a:pPr>
            <a:r>
              <a:rPr sz="1350" b="0">
                <a:solidFill>
                  <a:srgbClr val="526174"/>
                </a:solidFill>
              </a:rPr>
              <a:t>keep the same vote rule</a:t>
            </a:r>
          </a:p>
        </p:txBody>
      </p:sp>
      <p:sp>
        <p:nvSpPr>
          <p:cNvPr id="25" name="">
            <a:extLst xmlns:a="http://schemas.openxmlformats.org/drawingml/2006/main">
              <a:ext uri="{FF2B5EF4-FFF2-40B4-BE49-F238E27FC236}">
                <a16:creationId xmlns:a16="http://schemas.microsoft.com/office/drawing/2014/main" id="{EB393495-D758-45AD-8918-3680EFB362B9}"/>
              </a:ext>
            </a:extLst>
          </p:cNvPr>
          <p:cNvSpPr>
            <a:spLocks xmlns:a="http://schemas.openxmlformats.org/drawingml/2006/main" noGrp="1"/>
          </p:cNvSpPr>
          <p:nvPr/>
        </p:nvSpPr>
        <p:spPr>
          <a:xfrm xmlns:a="http://schemas.openxmlformats.org/drawingml/2006/main">
            <a:off x="4857750" y="5029200"/>
            <a:ext cx="6286500" cy="819150"/>
          </a:xfrm>
          <a:prstGeom xmlns:a="http://schemas.openxmlformats.org/drawingml/2006/main" prst="roundRect">
            <a:avLst>
              <a:gd name="adj" fmla="val 18605"/>
            </a:avLst>
          </a:prstGeom>
          <a:solidFill xmlns:a="http://schemas.openxmlformats.org/drawingml/2006/main">
            <a:srgbClr val="E7EEF4"/>
          </a:solidFill>
          <a:ln xmlns:a="http://schemas.openxmlformats.org/drawingml/2006/main" w="9525">
            <a:solidFill>
              <a:srgbClr val="1F5A7A"/>
            </a:solidFill>
            <a:prstDash val="solid"/>
          </a:ln>
        </p:spPr>
      </p:sp>
      <p:sp>
        <p:nvSpPr>
          <p:cNvPr id="26" name="">
            <a:extLst xmlns:a="http://schemas.openxmlformats.org/drawingml/2006/main">
              <a:ext uri="{FF2B5EF4-FFF2-40B4-BE49-F238E27FC236}">
                <a16:creationId xmlns:a16="http://schemas.microsoft.com/office/drawing/2014/main" id="{8EE6D0CD-66E1-4047-9747-F9CAD39F2BCD}"/>
              </a:ext>
            </a:extLst>
          </p:cNvPr>
          <p:cNvSpPr>
            <a:spLocks xmlns:a="http://schemas.openxmlformats.org/drawingml/2006/main" noGrp="1"/>
          </p:cNvSpPr>
          <p:nvPr/>
        </p:nvSpPr>
        <p:spPr>
          <a:xfrm xmlns:a="http://schemas.openxmlformats.org/drawingml/2006/main">
            <a:off x="5162550" y="5238750"/>
            <a:ext cx="5676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1F5A7A"/>
                </a:solidFill>
              </a:defRPr>
            </a:pPr>
            <a:r>
              <a:rPr sz="1425" b="1">
                <a:solidFill>
                  <a:srgbClr val="1F5A7A"/>
                </a:solidFill>
              </a:rPr>
              <a:t>Lower deterministic coverage raises runtime. It should not force weak evidence into a label.</a:t>
            </a:r>
          </a:p>
        </p:txBody>
      </p:sp>
      <p:sp>
        <p:nvSpPr>
          <p:cNvPr id="27" name="">
            <a:extLst xmlns:a="http://schemas.openxmlformats.org/drawingml/2006/main">
              <a:ext uri="{FF2B5EF4-FFF2-40B4-BE49-F238E27FC236}">
                <a16:creationId xmlns:a16="http://schemas.microsoft.com/office/drawing/2014/main" id="{52B137CF-EB41-4A69-9838-11BE24013F89}"/>
              </a:ext>
            </a:extLst>
          </p:cNvPr>
          <p:cNvSpPr>
            <a:spLocks xmlns:a="http://schemas.openxmlformats.org/drawingml/2006/main" noGrp="1"/>
          </p:cNvSpPr>
          <p:nvPr/>
        </p:nvSpPr>
        <p:spPr>
          <a:xfrm xmlns:a="http://schemas.openxmlformats.org/drawingml/2006/main">
            <a:off x="685800" y="6372225"/>
            <a:ext cx="1082040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28" name="source-14">
            <a:extLst xmlns:a="http://schemas.openxmlformats.org/drawingml/2006/main">
              <a:ext uri="{FF2B5EF4-FFF2-40B4-BE49-F238E27FC236}">
                <a16:creationId xmlns:a16="http://schemas.microsoft.com/office/drawing/2014/main" id="{27144B3B-FE05-4724-A395-32502533155F}"/>
              </a:ext>
            </a:extLst>
          </p:cNvPr>
          <p:cNvSpPr>
            <a:spLocks xmlns:a="http://schemas.openxmlformats.org/drawingml/2006/main" noGrp="1"/>
          </p:cNvSpPr>
          <p:nvPr/>
        </p:nvSpPr>
        <p:spPr>
          <a:xfrm xmlns:a="http://schemas.openxmlformats.org/drawingml/2006/main">
            <a:off x="685800" y="6457950"/>
            <a:ext cx="9810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526174"/>
                </a:solidFill>
              </a:defRPr>
            </a:pPr>
            <a:r>
              <a:rPr sz="975" b="0">
                <a:solidFill>
                  <a:srgbClr val="526174"/>
                </a:solidFill>
              </a:rPr>
              <a:t>[2] Organizer Phase 2 preview  [7] Held-out routing and runtime stress analysis</a:t>
            </a:r>
          </a:p>
        </p:txBody>
      </p:sp>
      <p:sp>
        <p:nvSpPr>
          <p:cNvPr id="29" name="page-14">
            <a:extLst xmlns:a="http://schemas.openxmlformats.org/drawingml/2006/main">
              <a:ext uri="{FF2B5EF4-FFF2-40B4-BE49-F238E27FC236}">
                <a16:creationId xmlns:a16="http://schemas.microsoft.com/office/drawing/2014/main" id="{F7D888FF-5EA6-4013-9EFF-4D40FE379062}"/>
              </a:ext>
            </a:extLst>
          </p:cNvPr>
          <p:cNvSpPr>
            <a:spLocks xmlns:a="http://schemas.openxmlformats.org/drawingml/2006/main" noGrp="1"/>
          </p:cNvSpPr>
          <p:nvPr/>
        </p:nvSpPr>
        <p:spPr>
          <a:xfrm xmlns:a="http://schemas.openxmlformats.org/drawingml/2006/main">
            <a:off x="10810875" y="6457950"/>
            <a:ext cx="6953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1F5A7A"/>
                </a:solidFill>
              </a:defRPr>
            </a:pPr>
            <a:r>
              <a:rPr sz="975" b="1">
                <a:solidFill>
                  <a:srgbClr val="1F5A7A"/>
                </a:solidFill>
              </a:rPr>
              <a:t>14</a:t>
            </a:r>
          </a:p>
        </p:txBody>
      </p:sp>
    </p:spTree>
    <p:extLst>
      <p:ext uri="{BB962C8B-B14F-4D97-AF65-F5344CB8AC3E}">
        <p14:creationId xmlns:p14="http://schemas.microsoft.com/office/powerpoint/2010/main" val="643366142"/>
      </p:ext>
    </p:extLst>
  </p:cSld>
</p:sld>
</file>

<file path=ppt/slides/slide15.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B7D46D60-BC96-4A8C-B3E8-D56FF56E9509}"/>
              </a:ext>
            </a:extLst>
          </p:cNvPr>
          <p:cNvSpPr>
            <a:spLocks xmlns:a="http://schemas.openxmlformats.org/drawingml/2006/main" noGrp="1"/>
          </p:cNvSpPr>
          <p:nvPr/>
        </p:nvSpPr>
        <p:spPr>
          <a:xfrm xmlns:a="http://schemas.openxmlformats.org/drawingml/2006/main">
            <a:off x="685800" y="4000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F5A7A"/>
                </a:solidFill>
              </a:defRPr>
            </a:pPr>
            <a:r>
              <a:rPr sz="1050" b="1">
                <a:solidFill>
                  <a:srgbClr val="1F5A7A"/>
                </a:solidFill>
              </a:rPr>
              <a:t>TEAM HUNTRIX</a:t>
            </a:r>
          </a:p>
        </p:txBody>
      </p:sp>
      <p:sp>
        <p:nvSpPr>
          <p:cNvPr id="2" name="">
            <a:extLst xmlns:a="http://schemas.openxmlformats.org/drawingml/2006/main">
              <a:ext uri="{FF2B5EF4-FFF2-40B4-BE49-F238E27FC236}">
                <a16:creationId xmlns:a16="http://schemas.microsoft.com/office/drawing/2014/main" id="{C52A164A-51BF-4387-9385-7FD81096892A}"/>
              </a:ext>
            </a:extLst>
          </p:cNvPr>
          <p:cNvSpPr>
            <a:spLocks xmlns:a="http://schemas.openxmlformats.org/drawingml/2006/main" noGrp="1"/>
          </p:cNvSpPr>
          <p:nvPr/>
        </p:nvSpPr>
        <p:spPr>
          <a:xfrm xmlns:a="http://schemas.openxmlformats.org/drawingml/2006/main">
            <a:off x="685800" y="838200"/>
            <a:ext cx="78105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600" b="1">
                <a:solidFill>
                  <a:srgbClr val="0F172A"/>
                </a:solidFill>
              </a:defRPr>
            </a:pPr>
            <a:r>
              <a:rPr sz="3600" b="1">
                <a:solidFill>
                  <a:srgbClr val="0F172A"/>
                </a:solidFill>
              </a:rPr>
              <a:t>Be exact when possible.</a:t>
            </a:r>
          </a:p>
          <a:p xmlns:a="http://schemas.openxmlformats.org/drawingml/2006/main">
            <a:pPr algn="l">
              <a:defRPr sz="3600" b="1">
                <a:solidFill>
                  <a:srgbClr val="0F172A"/>
                </a:solidFill>
              </a:defRPr>
            </a:pPr>
            <a:r>
              <a:rPr sz="3600" b="1">
                <a:solidFill>
                  <a:srgbClr val="0F172A"/>
                </a:solidFill>
              </a:rPr>
              <a:t>Abstain when necessary.</a:t>
            </a:r>
          </a:p>
        </p:txBody>
      </p:sp>
      <p:sp>
        <p:nvSpPr>
          <p:cNvPr id="3" name="">
            <a:extLst xmlns:a="http://schemas.openxmlformats.org/drawingml/2006/main">
              <a:ext uri="{FF2B5EF4-FFF2-40B4-BE49-F238E27FC236}">
                <a16:creationId xmlns:a16="http://schemas.microsoft.com/office/drawing/2014/main" id="{119CDF1C-1044-497A-ADFC-84D6264721EB}"/>
              </a:ext>
            </a:extLst>
          </p:cNvPr>
          <p:cNvSpPr>
            <a:spLocks xmlns:a="http://schemas.openxmlformats.org/drawingml/2006/main" noGrp="1"/>
          </p:cNvSpPr>
          <p:nvPr/>
        </p:nvSpPr>
        <p:spPr>
          <a:xfrm xmlns:a="http://schemas.openxmlformats.org/drawingml/2006/main">
            <a:off x="685800" y="2667000"/>
            <a:ext cx="571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2A8C82"/>
                </a:solidFill>
              </a:defRPr>
            </a:pPr>
            <a:r>
              <a:rPr sz="1350" b="1">
                <a:solidFill>
                  <a:srgbClr val="2A8C82"/>
                </a:solidFill>
              </a:rPr>
              <a:t>01</a:t>
            </a:r>
          </a:p>
        </p:txBody>
      </p:sp>
      <p:sp>
        <p:nvSpPr>
          <p:cNvPr id="4" name="">
            <a:extLst xmlns:a="http://schemas.openxmlformats.org/drawingml/2006/main">
              <a:ext uri="{FF2B5EF4-FFF2-40B4-BE49-F238E27FC236}">
                <a16:creationId xmlns:a16="http://schemas.microsoft.com/office/drawing/2014/main" id="{AFEEB84E-0B61-4554-83B4-34C10F908118}"/>
              </a:ext>
            </a:extLst>
          </p:cNvPr>
          <p:cNvSpPr>
            <a:spLocks xmlns:a="http://schemas.openxmlformats.org/drawingml/2006/main" noGrp="1"/>
          </p:cNvSpPr>
          <p:nvPr/>
        </p:nvSpPr>
        <p:spPr>
          <a:xfrm xmlns:a="http://schemas.openxmlformats.org/drawingml/2006/main">
            <a:off x="1447800" y="2628900"/>
            <a:ext cx="8763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0F172A"/>
                </a:solidFill>
              </a:defRPr>
            </a:pPr>
            <a:r>
              <a:rPr sz="1800" b="0">
                <a:solidFill>
                  <a:srgbClr val="0F172A"/>
                </a:solidFill>
              </a:rPr>
              <a:t>Task families need different evidence standards.</a:t>
            </a:r>
          </a:p>
        </p:txBody>
      </p:sp>
      <p:sp>
        <p:nvSpPr>
          <p:cNvPr id="5" name="">
            <a:extLst xmlns:a="http://schemas.openxmlformats.org/drawingml/2006/main">
              <a:ext uri="{FF2B5EF4-FFF2-40B4-BE49-F238E27FC236}">
                <a16:creationId xmlns:a16="http://schemas.microsoft.com/office/drawing/2014/main" id="{2288E2C5-064D-45C2-B4B4-43D3AEAF7489}"/>
              </a:ext>
            </a:extLst>
          </p:cNvPr>
          <p:cNvSpPr>
            <a:spLocks xmlns:a="http://schemas.openxmlformats.org/drawingml/2006/main" noGrp="1"/>
          </p:cNvSpPr>
          <p:nvPr/>
        </p:nvSpPr>
        <p:spPr>
          <a:xfrm xmlns:a="http://schemas.openxmlformats.org/drawingml/2006/main">
            <a:off x="1447800" y="3124200"/>
            <a:ext cx="876300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6" name="">
            <a:extLst xmlns:a="http://schemas.openxmlformats.org/drawingml/2006/main">
              <a:ext uri="{FF2B5EF4-FFF2-40B4-BE49-F238E27FC236}">
                <a16:creationId xmlns:a16="http://schemas.microsoft.com/office/drawing/2014/main" id="{E1B24717-D398-4848-B02F-BBACB86D0EEA}"/>
              </a:ext>
            </a:extLst>
          </p:cNvPr>
          <p:cNvSpPr>
            <a:spLocks xmlns:a="http://schemas.openxmlformats.org/drawingml/2006/main" noGrp="1"/>
          </p:cNvSpPr>
          <p:nvPr/>
        </p:nvSpPr>
        <p:spPr>
          <a:xfrm xmlns:a="http://schemas.openxmlformats.org/drawingml/2006/main">
            <a:off x="685800" y="3486150"/>
            <a:ext cx="571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2A8C82"/>
                </a:solidFill>
              </a:defRPr>
            </a:pPr>
            <a:r>
              <a:rPr sz="1350" b="1">
                <a:solidFill>
                  <a:srgbClr val="2A8C82"/>
                </a:solidFill>
              </a:rPr>
              <a:t>02</a:t>
            </a:r>
          </a:p>
        </p:txBody>
      </p:sp>
      <p:sp>
        <p:nvSpPr>
          <p:cNvPr id="7" name="">
            <a:extLst xmlns:a="http://schemas.openxmlformats.org/drawingml/2006/main">
              <a:ext uri="{FF2B5EF4-FFF2-40B4-BE49-F238E27FC236}">
                <a16:creationId xmlns:a16="http://schemas.microsoft.com/office/drawing/2014/main" id="{CCAB4505-6E2B-430E-B927-14C24E250E37}"/>
              </a:ext>
            </a:extLst>
          </p:cNvPr>
          <p:cNvSpPr>
            <a:spLocks xmlns:a="http://schemas.openxmlformats.org/drawingml/2006/main" noGrp="1"/>
          </p:cNvSpPr>
          <p:nvPr/>
        </p:nvSpPr>
        <p:spPr>
          <a:xfrm xmlns:a="http://schemas.openxmlformats.org/drawingml/2006/main">
            <a:off x="1447800" y="3448050"/>
            <a:ext cx="8763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0F172A"/>
                </a:solidFill>
              </a:defRPr>
            </a:pPr>
            <a:r>
              <a:rPr sz="1800" b="0">
                <a:solidFill>
                  <a:srgbClr val="0F172A"/>
                </a:solidFill>
              </a:rPr>
              <a:t>The requested relation matters more than semantic similarity.</a:t>
            </a:r>
          </a:p>
        </p:txBody>
      </p:sp>
      <p:sp>
        <p:nvSpPr>
          <p:cNvPr id="8" name="">
            <a:extLst xmlns:a="http://schemas.openxmlformats.org/drawingml/2006/main">
              <a:ext uri="{FF2B5EF4-FFF2-40B4-BE49-F238E27FC236}">
                <a16:creationId xmlns:a16="http://schemas.microsoft.com/office/drawing/2014/main" id="{4F08A49B-4437-4374-81E4-EE6D39A52D95}"/>
              </a:ext>
            </a:extLst>
          </p:cNvPr>
          <p:cNvSpPr>
            <a:spLocks xmlns:a="http://schemas.openxmlformats.org/drawingml/2006/main" noGrp="1"/>
          </p:cNvSpPr>
          <p:nvPr/>
        </p:nvSpPr>
        <p:spPr>
          <a:xfrm xmlns:a="http://schemas.openxmlformats.org/drawingml/2006/main">
            <a:off x="1447800" y="3943350"/>
            <a:ext cx="876300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9" name="">
            <a:extLst xmlns:a="http://schemas.openxmlformats.org/drawingml/2006/main">
              <a:ext uri="{FF2B5EF4-FFF2-40B4-BE49-F238E27FC236}">
                <a16:creationId xmlns:a16="http://schemas.microsoft.com/office/drawing/2014/main" id="{3DB8428B-53F1-4A47-B9E0-EF19D58ACC0A}"/>
              </a:ext>
            </a:extLst>
          </p:cNvPr>
          <p:cNvSpPr>
            <a:spLocks xmlns:a="http://schemas.openxmlformats.org/drawingml/2006/main" noGrp="1"/>
          </p:cNvSpPr>
          <p:nvPr/>
        </p:nvSpPr>
        <p:spPr>
          <a:xfrm xmlns:a="http://schemas.openxmlformats.org/drawingml/2006/main">
            <a:off x="685800" y="4305300"/>
            <a:ext cx="571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D59B32"/>
                </a:solidFill>
              </a:defRPr>
            </a:pPr>
            <a:r>
              <a:rPr sz="1350" b="1">
                <a:solidFill>
                  <a:srgbClr val="D59B32"/>
                </a:solidFill>
              </a:rPr>
              <a:t>03</a:t>
            </a:r>
          </a:p>
        </p:txBody>
      </p:sp>
      <p:sp>
        <p:nvSpPr>
          <p:cNvPr id="10" name="">
            <a:extLst xmlns:a="http://schemas.openxmlformats.org/drawingml/2006/main">
              <a:ext uri="{FF2B5EF4-FFF2-40B4-BE49-F238E27FC236}">
                <a16:creationId xmlns:a16="http://schemas.microsoft.com/office/drawing/2014/main" id="{671D259B-158D-408D-9A6B-00BE74B890E0}"/>
              </a:ext>
            </a:extLst>
          </p:cNvPr>
          <p:cNvSpPr>
            <a:spLocks xmlns:a="http://schemas.openxmlformats.org/drawingml/2006/main" noGrp="1"/>
          </p:cNvSpPr>
          <p:nvPr/>
        </p:nvSpPr>
        <p:spPr>
          <a:xfrm xmlns:a="http://schemas.openxmlformats.org/drawingml/2006/main">
            <a:off x="1447800" y="4267200"/>
            <a:ext cx="8763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0F172A"/>
                </a:solidFill>
              </a:defRPr>
            </a:pPr>
            <a:r>
              <a:rPr sz="1800" b="1">
                <a:solidFill>
                  <a:srgbClr val="0F172A"/>
                </a:solidFill>
              </a:rPr>
              <a:t>Selective judging made inference faster and more reproducible.</a:t>
            </a:r>
          </a:p>
        </p:txBody>
      </p:sp>
      <p:sp>
        <p:nvSpPr>
          <p:cNvPr id="11" name="">
            <a:extLst xmlns:a="http://schemas.openxmlformats.org/drawingml/2006/main">
              <a:ext uri="{FF2B5EF4-FFF2-40B4-BE49-F238E27FC236}">
                <a16:creationId xmlns:a16="http://schemas.microsoft.com/office/drawing/2014/main" id="{2B099257-0B61-4244-A651-2B9DCDB2F2E4}"/>
              </a:ext>
            </a:extLst>
          </p:cNvPr>
          <p:cNvSpPr>
            <a:spLocks xmlns:a="http://schemas.openxmlformats.org/drawingml/2006/main" noGrp="1"/>
          </p:cNvSpPr>
          <p:nvPr/>
        </p:nvSpPr>
        <p:spPr>
          <a:xfrm xmlns:a="http://schemas.openxmlformats.org/drawingml/2006/main">
            <a:off x="1447800" y="4762500"/>
            <a:ext cx="876300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12" name="">
            <a:extLst xmlns:a="http://schemas.openxmlformats.org/drawingml/2006/main">
              <a:ext uri="{FF2B5EF4-FFF2-40B4-BE49-F238E27FC236}">
                <a16:creationId xmlns:a16="http://schemas.microsoft.com/office/drawing/2014/main" id="{FE6691BA-E369-4245-9841-AB68824A9E3F}"/>
              </a:ext>
            </a:extLst>
          </p:cNvPr>
          <p:cNvSpPr>
            <a:spLocks xmlns:a="http://schemas.openxmlformats.org/drawingml/2006/main" noGrp="1"/>
          </p:cNvSpPr>
          <p:nvPr/>
        </p:nvSpPr>
        <p:spPr>
          <a:xfrm xmlns:a="http://schemas.openxmlformats.org/drawingml/2006/main">
            <a:off x="685800" y="5524500"/>
            <a:ext cx="304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1F5A7A"/>
                </a:solidFill>
              </a:defRPr>
            </a:pPr>
            <a:r>
              <a:rPr sz="2700" b="1">
                <a:solidFill>
                  <a:srgbClr val="1F5A7A"/>
                </a:solidFill>
              </a:rPr>
              <a:t>Questions</a:t>
            </a:r>
          </a:p>
        </p:txBody>
      </p:sp>
      <p:sp>
        <p:nvSpPr>
          <p:cNvPr id="13" name="">
            <a:extLst xmlns:a="http://schemas.openxmlformats.org/drawingml/2006/main">
              <a:ext uri="{FF2B5EF4-FFF2-40B4-BE49-F238E27FC236}">
                <a16:creationId xmlns:a16="http://schemas.microsoft.com/office/drawing/2014/main" id="{3396DE8A-655D-4662-9C83-1AA2D76CA0E6}"/>
              </a:ext>
            </a:extLst>
          </p:cNvPr>
          <p:cNvSpPr>
            <a:spLocks xmlns:a="http://schemas.openxmlformats.org/drawingml/2006/main" noGrp="1"/>
          </p:cNvSpPr>
          <p:nvPr/>
        </p:nvSpPr>
        <p:spPr>
          <a:xfrm xmlns:a="http://schemas.openxmlformats.org/drawingml/2006/main">
            <a:off x="4552950" y="5581650"/>
            <a:ext cx="685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500" b="1">
                <a:solidFill>
                  <a:srgbClr val="526174"/>
                </a:solidFill>
              </a:defRPr>
            </a:pPr>
            <a:r>
              <a:rPr sz="1500" b="1">
                <a:solidFill>
                  <a:srgbClr val="526174"/>
                </a:solidFill>
              </a:rPr>
              <a:t>Private rank 1  |  0.982 macro F1  |  9-hour compliant</a:t>
            </a:r>
          </a:p>
        </p:txBody>
      </p:sp>
      <p:sp>
        <p:nvSpPr>
          <p:cNvPr id="14" name="">
            <a:extLst xmlns:a="http://schemas.openxmlformats.org/drawingml/2006/main">
              <a:ext uri="{FF2B5EF4-FFF2-40B4-BE49-F238E27FC236}">
                <a16:creationId xmlns:a16="http://schemas.microsoft.com/office/drawing/2014/main" id="{C5EF9A95-E185-4938-8AA1-25A08E40201C}"/>
              </a:ext>
            </a:extLst>
          </p:cNvPr>
          <p:cNvSpPr>
            <a:spLocks xmlns:a="http://schemas.openxmlformats.org/drawingml/2006/main" noGrp="1"/>
          </p:cNvSpPr>
          <p:nvPr/>
        </p:nvSpPr>
        <p:spPr>
          <a:xfrm xmlns:a="http://schemas.openxmlformats.org/drawingml/2006/main">
            <a:off x="685800" y="6372225"/>
            <a:ext cx="1082040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15" name="">
            <a:extLst xmlns:a="http://schemas.openxmlformats.org/drawingml/2006/main">
              <a:ext uri="{FF2B5EF4-FFF2-40B4-BE49-F238E27FC236}">
                <a16:creationId xmlns:a16="http://schemas.microsoft.com/office/drawing/2014/main" id="{82503043-059F-4FAE-8133-001251403DDA}"/>
              </a:ext>
            </a:extLst>
          </p:cNvPr>
          <p:cNvSpPr>
            <a:spLocks xmlns:a="http://schemas.openxmlformats.org/drawingml/2006/main" noGrp="1"/>
          </p:cNvSpPr>
          <p:nvPr/>
        </p:nvSpPr>
        <p:spPr>
          <a:xfrm xmlns:a="http://schemas.openxmlformats.org/drawingml/2006/main">
            <a:off x="685800" y="6457950"/>
            <a:ext cx="9810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526174"/>
                </a:solidFill>
              </a:defRPr>
            </a:pPr>
            <a:r>
              <a:rPr sz="975" b="0">
                <a:solidFill>
                  <a:srgbClr val="526174"/>
                </a:solidFill>
              </a:rPr>
              <a:t>[7] Team Huntrix final system and reproducibility package</a:t>
            </a:r>
          </a:p>
        </p:txBody>
      </p:sp>
      <p:sp>
        <p:nvSpPr>
          <p:cNvPr id="16" name="">
            <a:extLst xmlns:a="http://schemas.openxmlformats.org/drawingml/2006/main">
              <a:ext uri="{FF2B5EF4-FFF2-40B4-BE49-F238E27FC236}">
                <a16:creationId xmlns:a16="http://schemas.microsoft.com/office/drawing/2014/main" id="{007A285A-FA12-4B7D-8378-3CDE70D124B5}"/>
              </a:ext>
            </a:extLst>
          </p:cNvPr>
          <p:cNvSpPr>
            <a:spLocks xmlns:a="http://schemas.openxmlformats.org/drawingml/2006/main" noGrp="1"/>
          </p:cNvSpPr>
          <p:nvPr/>
        </p:nvSpPr>
        <p:spPr>
          <a:xfrm xmlns:a="http://schemas.openxmlformats.org/drawingml/2006/main">
            <a:off x="10810875" y="6457950"/>
            <a:ext cx="6953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1F5A7A"/>
                </a:solidFill>
              </a:defRPr>
            </a:pPr>
            <a:r>
              <a:rPr sz="975" b="1">
                <a:solidFill>
                  <a:srgbClr val="1F5A7A"/>
                </a:solidFill>
              </a:rPr>
              <a:t>15</a:t>
            </a:r>
          </a:p>
        </p:txBody>
      </p:sp>
    </p:spTree>
    <p:extLst>
      <p:ext uri="{BB962C8B-B14F-4D97-AF65-F5344CB8AC3E}">
        <p14:creationId xmlns:p14="http://schemas.microsoft.com/office/powerpoint/2010/main" val="187688408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2026-07-22T18:32:43.7420000Z</dcterms:created>
  <dcterms:modified xsi:type="dcterms:W3CDTF">2026-07-22T18:32:43.7420000Z</dcterms:modified>
</coreProperties>
</file>