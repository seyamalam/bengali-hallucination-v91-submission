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f31f5a558644ea1" /><Relationship Type="http://schemas.openxmlformats.org/officeDocument/2006/relationships/extended-properties" Target="/docProps/app.xml" Id="Raafd460fbeaa4882" /><Relationship Type="http://schemas.openxmlformats.org/officeDocument/2006/relationships/officeDocument" Target="/ppt/presentation.xml" Id="Rfb4ac243037b4708" /></Relationships>
</file>

<file path=ppt/presentation.xml><?xml version="1.0" encoding="utf-8"?>
<p:presentation xmlns:p="http://schemas.openxmlformats.org/presentationml/2006/main">
  <p:sldMasterIdLst>
    <p:sldMasterId xmlns:r="http://schemas.openxmlformats.org/officeDocument/2006/relationships" id="2147483648" r:id="Ra2074f835e6e49d3"/>
  </p:sldMasterIdLst>
  <p:notesMasterIdLst>
    <p:notesMasterId xmlns:r="http://schemas.openxmlformats.org/officeDocument/2006/relationships" r:id="Re9dee522748445ca"/>
  </p:notesMasterIdLst>
  <p:sldIdLst>
    <p:sldId xmlns:r="http://schemas.openxmlformats.org/officeDocument/2006/relationships" id="256" r:id="R48fdf22a5e53407c"/>
    <p:sldId xmlns:r="http://schemas.openxmlformats.org/officeDocument/2006/relationships" id="257" r:id="R2298c36092834288"/>
    <p:sldId xmlns:r="http://schemas.openxmlformats.org/officeDocument/2006/relationships" id="258" r:id="R35e45843a6724e9e"/>
    <p:sldId xmlns:r="http://schemas.openxmlformats.org/officeDocument/2006/relationships" id="259" r:id="R066230ac937e4520"/>
    <p:sldId xmlns:r="http://schemas.openxmlformats.org/officeDocument/2006/relationships" id="260" r:id="R9face599c8704143"/>
    <p:sldId xmlns:r="http://schemas.openxmlformats.org/officeDocument/2006/relationships" id="261" r:id="R41067e09c75b4e9d"/>
    <p:sldId xmlns:r="http://schemas.openxmlformats.org/officeDocument/2006/relationships" id="262" r:id="Rad721ac56b934c19"/>
    <p:sldId xmlns:r="http://schemas.openxmlformats.org/officeDocument/2006/relationships" id="263" r:id="R6d025e94c4dd4ef8"/>
    <p:sldId xmlns:r="http://schemas.openxmlformats.org/officeDocument/2006/relationships" id="264" r:id="R95c6d96a27094305"/>
    <p:sldId xmlns:r="http://schemas.openxmlformats.org/officeDocument/2006/relationships" id="265" r:id="R351374c76ca944f0"/>
    <p:sldId xmlns:r="http://schemas.openxmlformats.org/officeDocument/2006/relationships" id="266" r:id="R8f1c48d80d7146f0"/>
    <p:sldId xmlns:r="http://schemas.openxmlformats.org/officeDocument/2006/relationships" id="267" r:id="R9bbdf36b608b4a82"/>
    <p:sldId xmlns:r="http://schemas.openxmlformats.org/officeDocument/2006/relationships" id="268" r:id="Re31b7c7f64c74b32"/>
    <p:sldId xmlns:r="http://schemas.openxmlformats.org/officeDocument/2006/relationships" id="269" r:id="Rcac2cf87b3524dd6"/>
    <p:sldId xmlns:r="http://schemas.openxmlformats.org/officeDocument/2006/relationships" id="270" r:id="Rfb0317e0a97744d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ca8f970bbb4a4e" /><Relationship Type="http://schemas.openxmlformats.org/officeDocument/2006/relationships/slideMaster" Target="/ppt/slideMasters/slideMaster1.xml" Id="Ra2074f835e6e49d3" /><Relationship Type="http://schemas.openxmlformats.org/officeDocument/2006/relationships/notesMaster" Target="/ppt/notesMasters/notesMaster1.xml" Id="Re9dee522748445ca" /><Relationship Type="http://schemas.openxmlformats.org/officeDocument/2006/relationships/presProps" Target="/ppt/presProps.xml" Id="R9ab580372dbe4b96" /><Relationship Type="http://schemas.openxmlformats.org/officeDocument/2006/relationships/tableStyles" Target="/ppt/tableStyles.xml" Id="Rd0240372becc4875" /><Relationship Type="http://schemas.openxmlformats.org/officeDocument/2006/relationships/slide" Target="/ppt/slides/slide1.xml" Id="R48fdf22a5e53407c" /><Relationship Type="http://schemas.openxmlformats.org/officeDocument/2006/relationships/slide" Target="/ppt/slides/slide2.xml" Id="R2298c36092834288" /><Relationship Type="http://schemas.openxmlformats.org/officeDocument/2006/relationships/slide" Target="/ppt/slides/slide3.xml" Id="R35e45843a6724e9e" /><Relationship Type="http://schemas.openxmlformats.org/officeDocument/2006/relationships/slide" Target="/ppt/slides/slide4.xml" Id="R066230ac937e4520" /><Relationship Type="http://schemas.openxmlformats.org/officeDocument/2006/relationships/slide" Target="/ppt/slides/slide5.xml" Id="R9face599c8704143" /><Relationship Type="http://schemas.openxmlformats.org/officeDocument/2006/relationships/slide" Target="/ppt/slides/slide6.xml" Id="R41067e09c75b4e9d" /><Relationship Type="http://schemas.openxmlformats.org/officeDocument/2006/relationships/slide" Target="/ppt/slides/slide7.xml" Id="Rad721ac56b934c19" /><Relationship Type="http://schemas.openxmlformats.org/officeDocument/2006/relationships/slide" Target="/ppt/slides/slide8.xml" Id="R6d025e94c4dd4ef8" /><Relationship Type="http://schemas.openxmlformats.org/officeDocument/2006/relationships/slide" Target="/ppt/slides/slide9.xml" Id="R95c6d96a27094305" /><Relationship Type="http://schemas.openxmlformats.org/officeDocument/2006/relationships/slide" Target="/ppt/slides/slide10.xml" Id="R351374c76ca944f0" /><Relationship Type="http://schemas.openxmlformats.org/officeDocument/2006/relationships/slide" Target="/ppt/slides/slide11.xml" Id="R8f1c48d80d7146f0" /><Relationship Type="http://schemas.openxmlformats.org/officeDocument/2006/relationships/slide" Target="/ppt/slides/slide12.xml" Id="R9bbdf36b608b4a82" /><Relationship Type="http://schemas.openxmlformats.org/officeDocument/2006/relationships/slide" Target="/ppt/slides/slide13.xml" Id="Re31b7c7f64c74b32" /><Relationship Type="http://schemas.openxmlformats.org/officeDocument/2006/relationships/slide" Target="/ppt/slides/slide14.xml" Id="Rcac2cf87b3524dd6" /><Relationship Type="http://schemas.openxmlformats.org/officeDocument/2006/relationships/slide" Target="/ppt/slides/slide15.xml" Id="Rfb0317e0a97744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6b499693a141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e34ba3cc51485c" /><Relationship Type="http://schemas.openxmlformats.org/officeDocument/2006/relationships/notesMaster" Target="/ppt/notesMasters/notesMaster1.xml" Id="R5cad3bd4ce7a49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571646433d4291" /><Relationship Type="http://schemas.openxmlformats.org/officeDocument/2006/relationships/notesMaster" Target="/ppt/notesMasters/notesMaster1.xml" Id="Ra1a425427f4d49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46b8bf656c4d90" /><Relationship Type="http://schemas.openxmlformats.org/officeDocument/2006/relationships/notesMaster" Target="/ppt/notesMasters/notesMaster1.xml" Id="R749ee548408b46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6e972d449f42e4" /><Relationship Type="http://schemas.openxmlformats.org/officeDocument/2006/relationships/notesMaster" Target="/ppt/notesMasters/notesMaster1.xml" Id="R663eedb2ed6f41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b34a2c525c4a35" /><Relationship Type="http://schemas.openxmlformats.org/officeDocument/2006/relationships/notesMaster" Target="/ppt/notesMasters/notesMaster1.xml" Id="R071c50595d2e4c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3bace5c29c4163" /><Relationship Type="http://schemas.openxmlformats.org/officeDocument/2006/relationships/notesMaster" Target="/ppt/notesMasters/notesMaster1.xml" Id="Rc9acf008d5eb4e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d71786b75d4391" /><Relationship Type="http://schemas.openxmlformats.org/officeDocument/2006/relationships/notesMaster" Target="/ppt/notesMasters/notesMaster1.xml" Id="Rf5b8be3f042a42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c9e7818a544726" /><Relationship Type="http://schemas.openxmlformats.org/officeDocument/2006/relationships/notesMaster" Target="/ppt/notesMasters/notesMaster1.xml" Id="R3481158c54454fc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473df1fd4c4c8c" /><Relationship Type="http://schemas.openxmlformats.org/officeDocument/2006/relationships/notesMaster" Target="/ppt/notesMasters/notesMaster1.xml" Id="R01fed6bf53eb45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d3c0f8d17b4c89" /><Relationship Type="http://schemas.openxmlformats.org/officeDocument/2006/relationships/notesMaster" Target="/ppt/notesMasters/notesMaster1.xml" Id="R0e2ef6f28bbe4f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c0f93b4e3284fe0" /><Relationship Type="http://schemas.openxmlformats.org/officeDocument/2006/relationships/notesMaster" Target="/ppt/notesMasters/notesMaster1.xml" Id="R23063ecb949648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1eaed722c1f439d" /><Relationship Type="http://schemas.openxmlformats.org/officeDocument/2006/relationships/notesMaster" Target="/ppt/notesMasters/notesMaster1.xml" Id="Rca7fbd89e54f4c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69bd00b77594389" /><Relationship Type="http://schemas.openxmlformats.org/officeDocument/2006/relationships/notesMaster" Target="/ppt/notesMasters/notesMaster1.xml" Id="Rff45d3c23d0740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f6b2152f441459f" /><Relationship Type="http://schemas.openxmlformats.org/officeDocument/2006/relationships/notesMaster" Target="/ppt/notesMasters/notesMaster1.xml" Id="Rbe29b7a9f254419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d1d6b8bbae54c66" /><Relationship Type="http://schemas.openxmlformats.org/officeDocument/2006/relationships/notesMaster" Target="/ppt/notesMasters/notesMaster1.xml" Id="R284dfe0ce6d84d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Exact lineage can decide an exact source match. Structured solvers can decide a parsed number or option. Context checks can decide a contradiction inside the supplied passage. Typed evidence can decide an idiom or legal relation. Each stage can also return nothing. If the source is only similar, or the relation is unclear, we do not force a label.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Coverage alone would have been dangerous, so we imposed an evidence order. A contradiction inside the supplied context came first. Exact source lineage followed. Structured solvers needed the value, entity, and requested predicate to agree. Idiom, legal, and public fact records were typed by relation. A year near the right entity was not enough if the prompt asked about a different event. Fuzzy retrieval had the weakest role. It could surface a candidate, but it could not decide against stronger evidence. If two equally trusted sources disagreed, the router abstained. That policy sometimes increased the judge queue, but it prevented confident relation swaps.</a:t>
            </a:r>
          </a:p>
          <a:p xmlns:a="http://schemas.openxmlformats.org/drawingml/2006/main">
            <a:r>
              <a:t/>
            </a:r>
          </a:p>
          <a:p xmlns:a="http://schemas.openxmlformats.org/drawingml/2006/main">
            <a:r>
              <a:t>Sources:</a:t>
            </a:r>
          </a:p>
          <a:p xmlns:a="http://schemas.openxmlformats.org/drawingml/2006/main">
            <a:r>
              <a:t>[3] BenHalluEval. [4] Bengali idiom benchmark. [7] v91 evidence hierarchy and conflict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This history is useful because it shows changes in method, including a regression. The early character and embedding baseline scored 0.657. Gemma reached 0.742, and a uniform Qwen judge reached 0.797. At v6, source and structured routing raised the score to 0.903, which changed our main hypothesis from model selection to decision routing. v37 introduced a stricter provenance gate. Later versions repaired relation checks and added legal and idiom evidence. v87 is the dip near the right: two plausible fact edits reduced the public score, so we reverted them. v91 then required typed relations and reached 0.967 publicly. We use the curve to identify pivots, not to imply that every version was progress.</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A score alone could not tell us whether a change was safe, so we used four gates. The codebase had 249 automated tests, including 225 deterministic controls. Three inference runs produced byte-identical CSVs, and validation found no schema or ID-order failure. We then reported the aggregate evaluation separately: 0.9933 macro F1 on 299 released labels, 0.967 on the public Phase 1 split, and 0.982 on the private split. The frozen output hash matched the scored CSV. Finally, the organizer-run notebook validated all 5,000 Phase 2 rows in 3 hours and 52 minutes. These checks answer different questions; none substitutes for row-level Phase 2 accuracy, which has not been released. Orny will cover that deployment evidence now.</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It is measured runtime evidence, not a Phase 2 accuracy score.</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Accuracy remains an open question until the organizer provides a score.</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main limitations are equally important. We had only 299 released labels, aggregate competition scores provide no row-level errors, and the Phase 2 accuracy result is still unknown. When those labels or analyses become available, the next work is to inspect the judged tail, recalibrate uncertain cases, and expand licensed evidence for civic and news domains. What we can already verify is reproducibility and runtime compliance.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13003850f54e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3f35ca54fe4af1" /><Relationship Type="http://schemas.openxmlformats.org/officeDocument/2006/relationships/slideLayout" Target="/ppt/slideLayouts/slideLayout1.xml" Id="R9b51d89fc77842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51d89fc77842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77c6ba0923d46af" /><Relationship Type="http://schemas.openxmlformats.org/officeDocument/2006/relationships/notesSlide" Target="/ppt/notesSlides/notesSlide1.xml" Id="Ree449b2e6f734a4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849d2c11094837" /><Relationship Type="http://schemas.openxmlformats.org/officeDocument/2006/relationships/notesSlide" Target="/ppt/notesSlides/notesSlide2.xml" Id="R0582eb8b0a7446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ad6b6183474bd2" /><Relationship Type="http://schemas.openxmlformats.org/officeDocument/2006/relationships/notesSlide" Target="/ppt/notesSlides/notesSlide3.xml" Id="R46f39fe0dbf74f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c65bf9fe5974e6d" /><Relationship Type="http://schemas.openxmlformats.org/officeDocument/2006/relationships/notesSlide" Target="/ppt/notesSlides/notesSlide4.xml" Id="R69c0a63814df43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61b4304afef427c" /><Relationship Type="http://schemas.openxmlformats.org/officeDocument/2006/relationships/notesSlide" Target="/ppt/notesSlides/notesSlide5.xml" Id="R00b0cd0475d14f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ac90789186c4488" /><Relationship Type="http://schemas.openxmlformats.org/officeDocument/2006/relationships/notesSlide" Target="/ppt/notesSlides/notesSlide6.xml" Id="Radcb601c3efd45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b8e672e9f7f4a10" /><Relationship Type="http://schemas.openxmlformats.org/officeDocument/2006/relationships/notesSlide" Target="/ppt/notesSlides/notesSlide7.xml" Id="Rb7eb6f7317d84f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19eedf33d524bd7" /><Relationship Type="http://schemas.openxmlformats.org/officeDocument/2006/relationships/notesSlide" Target="/ppt/notesSlides/notesSlide8.xml" Id="R46062a7348fd4d7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20ddc0689294e97" /><Relationship Type="http://schemas.openxmlformats.org/officeDocument/2006/relationships/notesSlide" Target="/ppt/notesSlides/notesSlide9.xml" Id="R6f2dfbeee49642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7958e5953c47bd" /><Relationship Type="http://schemas.openxmlformats.org/officeDocument/2006/relationships/chart" Target="/ppt/slides/charts/chart1.xml" Id="R4c2db883d9414cda" /><Relationship Type="http://schemas.openxmlformats.org/officeDocument/2006/relationships/notesSlide" Target="/ppt/notesSlides/notesSlide10.xml" Id="R410fcd039d42491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064efda9f9e42be" /><Relationship Type="http://schemas.openxmlformats.org/officeDocument/2006/relationships/notesSlide" Target="/ppt/notesSlides/notesSlide11.xml" Id="Rf1bb683f225348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4f823e4871d4d24" /><Relationship Type="http://schemas.openxmlformats.org/officeDocument/2006/relationships/notesSlide" Target="/ppt/notesSlides/notesSlide12.xml" Id="R6e2ed2af6efd4c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e8074e7556e4d4b" /><Relationship Type="http://schemas.openxmlformats.org/officeDocument/2006/relationships/notesSlide" Target="/ppt/notesSlides/notesSlide13.xml" Id="R24d1002ea4564d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40b58e55de4a42" /><Relationship Type="http://schemas.openxmlformats.org/officeDocument/2006/relationships/notesSlide" Target="/ppt/notesSlides/notesSlide14.xml" Id="R4be8897536114af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f5bd256de644cc3" /><Relationship Type="http://schemas.openxmlformats.org/officeDocument/2006/relationships/notesSlide" Target="/ppt/notesSlides/notesSlide15.xml" Id="R7a508ebb2d3f4893" /></Relationships>
</file>

<file path=ppt/slides/charts/chart1.xml><?xml version="1.0" encoding="utf-8"?>
<c:chartSpace xmlns:c="http://schemas.openxmlformats.org/drawingml/2006/chart">
  <c:lang val="en-US"/>
  <c:chart>
    <c:plotArea>
      <c:lineChart>
        <c:grouping val="standard"/>
        <c:ser>
          <c:idx val="0"/>
          <c:order val="0"/>
          <c:tx>
            <c:v>Public macro F1</c:v>
          </c:tx>
          <c:spPr>
            <a:ln xmlns:a="http://schemas.openxmlformats.org/drawingml/2006/main" w="38100">
              <a:solidFill>
                <a:srgbClr val="1F5A7A"/>
              </a:solidFill>
              <a:prstDash val="solid"/>
            </a:ln>
          </c:spPr>
          <c:marker>
            <c:symbol val="circle"/>
            <c:size val="7"/>
          </c:marker>
          <c:cat>
            <c:strLit>
              <c:ptCount val="11"/>
              <c:pt idx="0">
                <c:v>Base</c:v>
              </c:pt>
              <c:pt idx="1">
                <c:v>Gemma</c:v>
              </c:pt>
              <c:pt idx="2">
                <c:v>Qwen</c:v>
              </c:pt>
              <c:pt idx="3">
                <c:v>v6</c:v>
              </c:pt>
              <c:pt idx="4">
                <c:v>v15</c:v>
              </c:pt>
              <c:pt idx="5">
                <c:v>v23</c:v>
              </c:pt>
              <c:pt idx="6">
                <c:v>v37</c:v>
              </c:pt>
              <c:pt idx="7">
                <c:v>v60</c:v>
              </c:pt>
              <c:pt idx="8">
                <c:v>v85</c:v>
              </c:pt>
              <c:pt idx="9">
                <c:v>v87</c:v>
              </c:pt>
              <c:pt idx="10">
                <c:v>v91</c:v>
              </c:pt>
            </c:strLit>
          </c:cat>
          <c:val>
            <c:numLit>
              <c:formatCode>0.000</c:formatCode>
              <c:ptCount val="11"/>
              <c:pt idx="0">
                <c:v>0.657</c:v>
              </c:pt>
              <c:pt idx="1">
                <c:v>0.742</c:v>
              </c:pt>
              <c:pt idx="2">
                <c:v>0.797</c:v>
              </c:pt>
              <c:pt idx="3">
                <c:v>0.903</c:v>
              </c:pt>
              <c:pt idx="4">
                <c:v>0.934</c:v>
              </c:pt>
              <c:pt idx="5">
                <c:v>0.945</c:v>
              </c:pt>
              <c:pt idx="6">
                <c:v>0.961</c:v>
              </c:pt>
              <c:pt idx="7">
                <c:v>0.963</c:v>
              </c:pt>
              <c:pt idx="8">
                <c:v>0.966</c:v>
              </c:pt>
              <c:pt idx="9">
                <c:v>0.965</c:v>
              </c:pt>
              <c:pt idx="10">
                <c:v>0.967</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E0EA"/>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72768"/>
        <c:lblAlgn val="ctr"/>
        <c:lblOffset val="100"/>
        <c:noMultiLvlLbl val="0"/>
      </c:catAx>
      <c:valAx>
        <c:axId val="48672768"/>
        <c:scaling>
          <c:orientation val="minMax"/>
          <c:max val="1"/>
          <c:min val="0.6"/>
        </c:scaling>
        <c:delete val="0"/>
        <c:axPos val="l"/>
        <c:majorGridlines>
          <c:spPr>
            <a:ln xmlns:a="http://schemas.openxmlformats.org/drawingml/2006/main" w="9525">
              <a:solidFill>
                <a:srgbClr val="D8E0EA"/>
              </a:solidFill>
              <a:prstDash val="solid"/>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50112"/>
        <c:crossBetween val="between"/>
        <c:majorUnit val="0.1"/>
      </c:valAx>
      <c:spPr>
        <a:solidFill xmlns:a="http://schemas.openxmlformats.org/drawingml/2006/main">
          <a:srgbClr val="FFFFFF"/>
        </a:solidFill>
        <a:ln xmlns:a="http://schemas.openxmlformats.org/drawingml/2006/main" w="9525">
          <a:solidFill>
            <a:srgbClr val="D8E0EA"/>
          </a:solidFill>
          <a:prstDash val="solid"/>
        </a:ln>
      </c:spPr>
    </c:plotArea>
    <c:plotVisOnly val="1"/>
  </c:chart>
  <c:spPr>
    <a:solidFill xmlns:a="http://schemas.openxmlformats.org/drawingml/2006/main">
      <a:srgbClr val="F7F9FC"/>
    </a:solidFill>
  </c:spPr>
</c:chartSpace>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40AA49-77BD-4C09-A56D-0D1DB5CEF4D0}"/>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70EB99D8-4F09-40D7-B09C-10C91384532C}"/>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30E9DDE2-17E1-408A-887A-412E6A6B3DF9}"/>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525" b="1">
                <a:solidFill>
                  <a:srgbClr val="0F172A"/>
                </a:solidFill>
              </a:defRPr>
            </a:pPr>
            <a:r>
              <a:rPr sz="3525" b="1">
                <a:solidFill>
                  <a:srgbClr val="0F172A"/>
                </a:solidFill>
              </a:rPr>
              <a:t>Evidence-first selective inference</a:t>
            </a:r>
          </a:p>
          <a:p xmlns:a="http://schemas.openxmlformats.org/drawingml/2006/main">
            <a:pPr algn="l">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6BE3BE6E-7DAA-458A-809B-A7333AA7D6B1}"/>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41F7ACD0-EA70-4572-A6BC-B7269C529EE2}"/>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E972804D-2DA2-4B6D-868B-63517B158F3C}"/>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BF58DDF3-6467-4E66-BE91-4460BBD3742E}"/>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22C0C530-0169-4A7D-8CF2-57BB5B936770}"/>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F5459A7A-2A50-4F3F-9C3D-646AC5268515}"/>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0CB6B8E7-C3AC-4C02-928F-68282823926D}"/>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942D8F79-E257-403F-9DCE-733075C13E45}"/>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26174"/>
                </a:solidFill>
              </a:defRPr>
            </a:pPr>
            <a:r>
              <a:rPr sz="1125"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C75C0311-4A34-47D7-92E0-BDFFCB8C3EFE}"/>
              </a:ext>
            </a:extLst>
          </p:cNvPr>
          <p:cNvSpPr>
            <a:spLocks xmlns:a="http://schemas.openxmlformats.org/drawingml/2006/main" noGrp="1"/>
          </p:cNvSpPr>
          <p:nvPr/>
        </p:nvSpPr>
        <p:spPr>
          <a:xfrm xmlns:a="http://schemas.openxmlformats.org/drawingml/2006/main">
            <a:off x="914400" y="649605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B1A477DB-CBA1-4896-87E1-5A69DCE9DE0F}"/>
              </a:ext>
            </a:extLst>
          </p:cNvPr>
          <p:cNvSpPr>
            <a:spLocks xmlns:a="http://schemas.openxmlformats.org/drawingml/2006/main" noGrp="1"/>
          </p:cNvSpPr>
          <p:nvPr/>
        </p:nvSpPr>
        <p:spPr>
          <a:xfrm xmlns:a="http://schemas.openxmlformats.org/drawingml/2006/main">
            <a:off x="10810875" y="6496050"/>
            <a:ext cx="6953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01</a:t>
            </a:r>
          </a:p>
        </p:txBody>
      </p:sp>
    </p:spTree>
    <p:extLst>
      <p:ext uri="{BB962C8B-B14F-4D97-AF65-F5344CB8AC3E}">
        <p14:creationId xmlns:p14="http://schemas.microsoft.com/office/powerpoint/2010/main" val="1050747199"/>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386DF953-A53E-4301-A436-82AD6D3369C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604E9483-2A49-48FC-9C61-4A11521AB285}"/>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DA40D6AB-E12A-4CCF-908A-524087A7526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D271C44A-576F-4F5F-BC09-0E89C80B39AE}"/>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B6A35D4A-4BAF-4FC0-8CD8-F6195773D644}"/>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9E85BCC6-CDDD-492D-ABC9-FBF6CDC55049}"/>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D4C9206A-EF91-4F56-90D6-ECBF89987F55}"/>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EED382D2-73DB-47A5-ABAC-2206AEEBD9A6}"/>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09DA4E00-CE92-45F3-84BC-21541DAE5D15}"/>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4C9008A4-D7CC-4A55-B7C8-9BA9E280BE80}"/>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1D7A6880-855B-418A-8EFC-93B49880DF60}"/>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856F76E4-CAE4-491B-BBD9-C181C90AE18E}"/>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0761E939-8329-493E-A005-3B54802DED4C}"/>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152F1C8A-8C57-48A9-BF1E-870092B328B8}"/>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1AF4E21B-407B-423D-84CD-C458D6EF35A5}"/>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472B2A09-60A0-4D76-9F4C-A0BB55368389}"/>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D657DBFD-D5E3-449A-B1C9-6FAD5A9658B0}"/>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62859696-40FA-4F29-9FFC-86F88C77655F}"/>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95BF3BD5-5A04-4170-A596-F8BFEC311D92}"/>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56F5141C-C7A9-40AD-97BB-40E730C9BE32}"/>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5D6CE8F2-C92D-4CD3-B44B-9E4E8BDEA2F5}"/>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D52B9E50-6734-40D8-8216-B5AA1CD006FC}"/>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4CE9406E-24BD-411F-BBEA-B2AD4001F237}"/>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5C0476B7-C9F4-4266-AE1B-2AEAA2A659FC}"/>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084EE425-C9FF-4EAC-AF0F-8B8FEDC78237}"/>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04E4CC6F-4B55-402E-B1F6-DDE53251F429}"/>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CE9BB1B4-0038-4668-A365-10AA54FE3D35}"/>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1D3608C8-B6A8-498B-9E6A-B160178CE5FD}"/>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B0EB3BD7-7223-475C-A8FC-936B684807A7}"/>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02</a:t>
            </a:r>
          </a:p>
        </p:txBody>
      </p:sp>
    </p:spTree>
    <p:extLst>
      <p:ext uri="{BB962C8B-B14F-4D97-AF65-F5344CB8AC3E}">
        <p14:creationId xmlns:p14="http://schemas.microsoft.com/office/powerpoint/2010/main" val="1478103298"/>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3">
            <a:extLst xmlns:a="http://schemas.openxmlformats.org/drawingml/2006/main">
              <a:ext uri="{FF2B5EF4-FFF2-40B4-BE49-F238E27FC236}">
                <a16:creationId xmlns:a16="http://schemas.microsoft.com/office/drawing/2014/main" id="{1EDD93B9-D336-43FF-9D39-5F3A70042F07}"/>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F15915F0-4E4B-4CFD-84C8-5179FB100BB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C21D17DE-EF03-47AB-BBFA-3F7DACE1961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D1EB538-C74F-443F-AC7C-A656ABF74A39}"/>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CE56F57B-ADCD-4E84-BA7A-040813D81DEF}"/>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8A5778D6-7B38-4A97-BBF8-925C24A0FB34}"/>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AEB9CF4F-5452-4E42-B94C-707D65AEDF30}"/>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359BD188-0754-4F90-ACDA-ED2E873C70A0}"/>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C755496F-EC8C-4637-9C05-FD52D8B62F0B}"/>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53D8CB73-A5A6-4739-8014-890F66879153}"/>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07BEDDB1-6D20-44B8-91EA-457700F6F049}"/>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digits, options,</a:t>
            </a:r>
          </a:p>
          <a:p xmlns:a="http://schemas.openxmlformats.org/drawingml/2006/main">
            <a:pPr algn="ctr">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EB86841F-CE7D-4FC4-8965-5D111BA1D107}"/>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848BFAFF-3CAA-4E4B-ADE2-8D8AF548C496}"/>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691AA2E5-4E5B-47EA-A9D6-C4A51F3D136C}"/>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context, numeric,</a:t>
            </a:r>
          </a:p>
          <a:p xmlns:a="http://schemas.openxmlformats.org/drawingml/2006/main">
            <a:pPr algn="ctr">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CD4E5498-95BF-4A0A-B015-AEBEBE25504C}"/>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3A631005-123B-4AB5-A315-29D05CE282E5}"/>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130CCF3E-42CB-48F9-B821-93083803D321}"/>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exact lineage and</a:t>
            </a:r>
          </a:p>
          <a:p xmlns:a="http://schemas.openxmlformats.org/drawingml/2006/main">
            <a:pPr algn="ctr">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1763E046-E424-477C-B224-D54C30E8D596}"/>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8D9F6A5A-AC62-4DF4-AE01-D92799E9627B}"/>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E2C68B8E-7F8F-4C8E-B8D5-C5DC2C773471}"/>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resolved label or</a:t>
            </a:r>
          </a:p>
          <a:p xmlns:a="http://schemas.openxmlformats.org/drawingml/2006/main">
            <a:pPr algn="ctr">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106F8333-CAD4-4A8E-A56C-DA44D90AE5A5}"/>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87303980-DB20-4BC0-8153-5FCDB28A839F}"/>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2434B39E-3014-47C6-82DC-84CA7482F2A1}"/>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Qwen binary</a:t>
            </a:r>
          </a:p>
          <a:p xmlns:a="http://schemas.openxmlformats.org/drawingml/2006/main">
            <a:pPr algn="ctr">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AE0A5C6F-A1C5-4E41-9E19-4B9F738E158F}"/>
              </a:ext>
            </a:extLst>
          </p:cNvPr>
          <p:cNvSpPr>
            <a:spLocks xmlns:a="http://schemas.openxmlformats.org/drawingml/2006/main" noGrp="1"/>
          </p:cNvSpPr>
          <p:nvPr/>
        </p:nvSpPr>
        <p:spPr>
          <a:xfrm xmlns:a="http://schemas.openxmlformats.org/drawingml/2006/main">
            <a:off x="1428750" y="44767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0F172A"/>
                </a:solidFill>
              </a:defRPr>
            </a:pPr>
            <a:r>
              <a:rPr sz="1800" b="1">
                <a:solidFill>
                  <a:srgbClr val="0F172A"/>
                </a:solidFill>
              </a:rPr>
              <a:t>Deterministic stages record the source family and relation behind each decision.</a:t>
            </a:r>
          </a:p>
        </p:txBody>
      </p:sp>
      <p:sp>
        <p:nvSpPr>
          <p:cNvPr id="25" name="">
            <a:extLst xmlns:a="http://schemas.openxmlformats.org/drawingml/2006/main">
              <a:ext uri="{FF2B5EF4-FFF2-40B4-BE49-F238E27FC236}">
                <a16:creationId xmlns:a16="http://schemas.microsoft.com/office/drawing/2014/main" id="{23A64C4D-1326-4B91-88C4-D13500F2C44C}"/>
              </a:ext>
            </a:extLst>
          </p:cNvPr>
          <p:cNvSpPr>
            <a:spLocks xmlns:a="http://schemas.openxmlformats.org/drawingml/2006/main" noGrp="1"/>
          </p:cNvSpPr>
          <p:nvPr/>
        </p:nvSpPr>
        <p:spPr>
          <a:xfrm xmlns:a="http://schemas.openxmlformats.org/drawingml/2006/main">
            <a:off x="2095500" y="49530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526174"/>
                </a:solidFill>
              </a:defRPr>
            </a:pPr>
            <a:r>
              <a:rPr sz="1500" b="0">
                <a:solidFill>
                  <a:srgbClr val="526174"/>
                </a:solidFill>
              </a:rPr>
              <a:t>If those fields are not defensible, the row moves forward unchanged.</a:t>
            </a:r>
          </a:p>
        </p:txBody>
      </p:sp>
      <p:sp>
        <p:nvSpPr>
          <p:cNvPr id="26" name="">
            <a:extLst xmlns:a="http://schemas.openxmlformats.org/drawingml/2006/main">
              <a:ext uri="{FF2B5EF4-FFF2-40B4-BE49-F238E27FC236}">
                <a16:creationId xmlns:a16="http://schemas.microsoft.com/office/drawing/2014/main" id="{EB4D11CD-7952-457A-B193-AEF991F0EB4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3">
            <a:extLst xmlns:a="http://schemas.openxmlformats.org/drawingml/2006/main">
              <a:ext uri="{FF2B5EF4-FFF2-40B4-BE49-F238E27FC236}">
                <a16:creationId xmlns:a16="http://schemas.microsoft.com/office/drawing/2014/main" id="{5465011E-8753-4CA1-8A52-C189DE9B142C}"/>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Frozen v91 architecture</a:t>
            </a:r>
          </a:p>
        </p:txBody>
      </p:sp>
      <p:sp>
        <p:nvSpPr>
          <p:cNvPr id="28" name="page-3">
            <a:extLst xmlns:a="http://schemas.openxmlformats.org/drawingml/2006/main">
              <a:ext uri="{FF2B5EF4-FFF2-40B4-BE49-F238E27FC236}">
                <a16:creationId xmlns:a16="http://schemas.microsoft.com/office/drawing/2014/main" id="{AF3E1CDA-4CA2-4CF8-A84C-2859C190E8E7}"/>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03</a:t>
            </a:r>
          </a:p>
        </p:txBody>
      </p:sp>
    </p:spTree>
    <p:extLst>
      <p:ext uri="{BB962C8B-B14F-4D97-AF65-F5344CB8AC3E}">
        <p14:creationId xmlns:p14="http://schemas.microsoft.com/office/powerpoint/2010/main" val="85134180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7A92DA30-FDBB-4708-A4BC-8F28C060FBEE}"/>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074E97EA-2800-453A-A9BE-3C38ADF0616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2D3B87DC-D4A6-487D-A118-157A08A1BE5D}"/>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2547AFC-8C96-4718-A2D9-7AA81ED7E9BA}"/>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80A2BF3A-6846-4709-9C7D-3EFC25C3D251}"/>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1D33BB3F-CF36-4A64-9539-5B63FB862C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64CA2443-B169-4AF7-B783-3404F0FBB29B}"/>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F58AC71C-9B78-4ABB-A232-22CB6ACC73FB}"/>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BBAD1DAA-2FF6-47F7-B303-6C0344382029}"/>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78873D9A-079D-4D9F-ACC8-114A2D37131E}"/>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1AAB3976-A3D0-4DA7-98B4-BBCC3CFAA4D5}"/>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0B5C22D2-18D5-45ED-B538-D81D1B143D8D}"/>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F4B92989-1A71-4759-8C40-22795D643C3D}"/>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425A085-103D-4838-9DBC-A8A197B5A282}"/>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9EF38E10-A386-430A-8D7B-BEB5F170045E}"/>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normalize</a:t>
            </a:r>
          </a:p>
        </p:txBody>
      </p:sp>
      <p:sp>
        <p:nvSpPr>
          <p:cNvPr id="16" name="">
            <a:extLst xmlns:a="http://schemas.openxmlformats.org/drawingml/2006/main">
              <a:ext uri="{FF2B5EF4-FFF2-40B4-BE49-F238E27FC236}">
                <a16:creationId xmlns:a16="http://schemas.microsoft.com/office/drawing/2014/main" id="{D9EFC611-389B-4DD5-8F1F-79C3B1ECD443}"/>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E99BFED5-C8C7-4766-AB91-87566523A44E}"/>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Context</a:t>
            </a:r>
          </a:p>
          <a:p xmlns:a="http://schemas.openxmlformats.org/drawingml/2006/main">
            <a:pPr algn="ctr">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484FADEB-96E4-4AEF-B82F-4E6AF82004F5}"/>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A9142BF5-0034-4EA2-801B-CAF3952E7BE6}"/>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Structured</a:t>
            </a:r>
          </a:p>
          <a:p xmlns:a="http://schemas.openxmlformats.org/drawingml/2006/main">
            <a:pPr algn="ctr">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A3FDDE26-0A1A-49FF-A1D6-848CD89880B3}"/>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E89D0D8B-143E-4036-9518-3753B2A97311}"/>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Exact source</a:t>
            </a:r>
          </a:p>
          <a:p xmlns:a="http://schemas.openxmlformats.org/drawingml/2006/main">
            <a:pPr algn="ctr">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E33FC659-DEB8-4456-A209-389AFF1CAF16}"/>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3" name="">
            <a:extLst xmlns:a="http://schemas.openxmlformats.org/drawingml/2006/main">
              <a:ext uri="{FF2B5EF4-FFF2-40B4-BE49-F238E27FC236}">
                <a16:creationId xmlns:a16="http://schemas.microsoft.com/office/drawing/2014/main" id="{049FFDE3-C19F-4AC1-B6CF-B8D41A483B0A}"/>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4" name="">
            <a:extLst xmlns:a="http://schemas.openxmlformats.org/drawingml/2006/main">
              <a:ext uri="{FF2B5EF4-FFF2-40B4-BE49-F238E27FC236}">
                <a16:creationId xmlns:a16="http://schemas.microsoft.com/office/drawing/2014/main" id="{594A78BA-E7B8-46AE-B242-E0D9B98E72CD}"/>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526174"/>
                </a:solidFill>
              </a:defRPr>
            </a:pPr>
            <a:r>
              <a:rPr sz="1050" b="1">
                <a:solidFill>
                  <a:srgbClr val="526174"/>
                </a:solidFill>
              </a:rPr>
              <a:t>no</a:t>
            </a:r>
          </a:p>
        </p:txBody>
      </p:sp>
      <p:sp>
        <p:nvSpPr>
          <p:cNvPr id="25" name="">
            <a:extLst xmlns:a="http://schemas.openxmlformats.org/drawingml/2006/main">
              <a:ext uri="{FF2B5EF4-FFF2-40B4-BE49-F238E27FC236}">
                <a16:creationId xmlns:a16="http://schemas.microsoft.com/office/drawing/2014/main" id="{885CCC30-9336-4803-B73B-7CF450A9368C}"/>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6" name="">
            <a:extLst xmlns:a="http://schemas.openxmlformats.org/drawingml/2006/main">
              <a:ext uri="{FF2B5EF4-FFF2-40B4-BE49-F238E27FC236}">
                <a16:creationId xmlns:a16="http://schemas.microsoft.com/office/drawing/2014/main" id="{0BD7D5DD-1FBC-49CF-B6A4-D54C444B0FBE}"/>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7" name="">
            <a:extLst xmlns:a="http://schemas.openxmlformats.org/drawingml/2006/main">
              <a:ext uri="{FF2B5EF4-FFF2-40B4-BE49-F238E27FC236}">
                <a16:creationId xmlns:a16="http://schemas.microsoft.com/office/drawing/2014/main" id="{AF10906D-D499-48B8-A41A-226BDEF26000}"/>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2A8C82"/>
                </a:solidFill>
              </a:defRPr>
            </a:pPr>
            <a:r>
              <a:rPr sz="1050" b="1">
                <a:solidFill>
                  <a:srgbClr val="2A8C82"/>
                </a:solidFill>
              </a:rPr>
              <a:t>yes</a:t>
            </a:r>
          </a:p>
        </p:txBody>
      </p:sp>
      <p:sp>
        <p:nvSpPr>
          <p:cNvPr id="28" name="">
            <a:extLst xmlns:a="http://schemas.openxmlformats.org/drawingml/2006/main">
              <a:ext uri="{FF2B5EF4-FFF2-40B4-BE49-F238E27FC236}">
                <a16:creationId xmlns:a16="http://schemas.microsoft.com/office/drawing/2014/main" id="{93F8E1E4-F5D1-402C-83C2-86AF6A25CD38}"/>
              </a:ext>
            </a:extLst>
          </p:cNvPr>
          <p:cNvSpPr>
            <a:spLocks xmlns:a="http://schemas.openxmlformats.org/drawingml/2006/main" noGrp="1"/>
          </p:cNvSpPr>
          <p:nvPr/>
        </p:nvSpPr>
        <p:spPr>
          <a:xfrm xmlns:a="http://schemas.openxmlformats.org/drawingml/2006/main">
            <a:off x="2038350" y="3733800"/>
            <a:ext cx="1676400" cy="1104900"/>
          </a:xfrm>
          <a:prstGeom xmlns:a="http://schemas.openxmlformats.org/drawingml/2006/main" prst="roundRect">
            <a:avLst>
              <a:gd name="adj" fmla="val 12069"/>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5D78A324-1506-4C02-AEDD-251DC7502272}"/>
              </a:ext>
            </a:extLst>
          </p:cNvPr>
          <p:cNvSpPr>
            <a:spLocks xmlns:a="http://schemas.openxmlformats.org/drawingml/2006/main" noGrp="1"/>
          </p:cNvSpPr>
          <p:nvPr/>
        </p:nvSpPr>
        <p:spPr>
          <a:xfrm xmlns:a="http://schemas.openxmlformats.org/drawingml/2006/main">
            <a:off x="2171700" y="3914775"/>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Context verifier</a:t>
            </a:r>
          </a:p>
        </p:txBody>
      </p:sp>
      <p:sp>
        <p:nvSpPr>
          <p:cNvPr id="30" name="">
            <a:extLst xmlns:a="http://schemas.openxmlformats.org/drawingml/2006/main">
              <a:ext uri="{FF2B5EF4-FFF2-40B4-BE49-F238E27FC236}">
                <a16:creationId xmlns:a16="http://schemas.microsoft.com/office/drawing/2014/main" id="{27066154-D9F7-490D-82A6-273F96E605F2}"/>
              </a:ext>
            </a:extLst>
          </p:cNvPr>
          <p:cNvSpPr>
            <a:spLocks xmlns:a="http://schemas.openxmlformats.org/drawingml/2006/main" noGrp="1"/>
          </p:cNvSpPr>
          <p:nvPr/>
        </p:nvSpPr>
        <p:spPr>
          <a:xfrm xmlns:a="http://schemas.openxmlformats.org/drawingml/2006/main">
            <a:off x="2171700" y="4267200"/>
            <a:ext cx="1409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claim support, contradiction, extra claims</a:t>
            </a:r>
          </a:p>
        </p:txBody>
      </p:sp>
      <p:sp>
        <p:nvSpPr>
          <p:cNvPr id="31" name="">
            <a:extLst xmlns:a="http://schemas.openxmlformats.org/drawingml/2006/main">
              <a:ext uri="{FF2B5EF4-FFF2-40B4-BE49-F238E27FC236}">
                <a16:creationId xmlns:a16="http://schemas.microsoft.com/office/drawing/2014/main" id="{594AAB0F-6A0F-48F7-96D6-0090EC2CB85E}"/>
              </a:ext>
            </a:extLst>
          </p:cNvPr>
          <p:cNvSpPr>
            <a:spLocks xmlns:a="http://schemas.openxmlformats.org/drawingml/2006/main" noGrp="1"/>
          </p:cNvSpPr>
          <p:nvPr/>
        </p:nvSpPr>
        <p:spPr>
          <a:xfrm xmlns:a="http://schemas.openxmlformats.org/drawingml/2006/main">
            <a:off x="3962400" y="3733800"/>
            <a:ext cx="1676400" cy="1104900"/>
          </a:xfrm>
          <a:prstGeom xmlns:a="http://schemas.openxmlformats.org/drawingml/2006/main" prst="roundRect">
            <a:avLst>
              <a:gd name="adj" fmla="val 12069"/>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F6B150F2-3E97-46EF-83A6-67DCA019BB29}"/>
              </a:ext>
            </a:extLst>
          </p:cNvPr>
          <p:cNvSpPr>
            <a:spLocks xmlns:a="http://schemas.openxmlformats.org/drawingml/2006/main" noGrp="1"/>
          </p:cNvSpPr>
          <p:nvPr/>
        </p:nvSpPr>
        <p:spPr>
          <a:xfrm xmlns:a="http://schemas.openxmlformats.org/drawingml/2006/main">
            <a:off x="4095750" y="3914775"/>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Structured solver</a:t>
            </a:r>
          </a:p>
        </p:txBody>
      </p:sp>
      <p:sp>
        <p:nvSpPr>
          <p:cNvPr id="33" name="">
            <a:extLst xmlns:a="http://schemas.openxmlformats.org/drawingml/2006/main">
              <a:ext uri="{FF2B5EF4-FFF2-40B4-BE49-F238E27FC236}">
                <a16:creationId xmlns:a16="http://schemas.microsoft.com/office/drawing/2014/main" id="{91140818-E0A3-49A9-97CE-A6CFAD46109A}"/>
              </a:ext>
            </a:extLst>
          </p:cNvPr>
          <p:cNvSpPr>
            <a:spLocks xmlns:a="http://schemas.openxmlformats.org/drawingml/2006/main" noGrp="1"/>
          </p:cNvSpPr>
          <p:nvPr/>
        </p:nvSpPr>
        <p:spPr>
          <a:xfrm xmlns:a="http://schemas.openxmlformats.org/drawingml/2006/main">
            <a:off x="4095750" y="4267200"/>
            <a:ext cx="1409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numbers, ranges, MCQ, morphology</a:t>
            </a:r>
          </a:p>
        </p:txBody>
      </p:sp>
      <p:sp>
        <p:nvSpPr>
          <p:cNvPr id="34" name="">
            <a:extLst xmlns:a="http://schemas.openxmlformats.org/drawingml/2006/main">
              <a:ext uri="{FF2B5EF4-FFF2-40B4-BE49-F238E27FC236}">
                <a16:creationId xmlns:a16="http://schemas.microsoft.com/office/drawing/2014/main" id="{85A5A3FC-0EDC-4235-8CFF-F3F05E984B69}"/>
              </a:ext>
            </a:extLst>
          </p:cNvPr>
          <p:cNvSpPr>
            <a:spLocks xmlns:a="http://schemas.openxmlformats.org/drawingml/2006/main" noGrp="1"/>
          </p:cNvSpPr>
          <p:nvPr/>
        </p:nvSpPr>
        <p:spPr>
          <a:xfrm xmlns:a="http://schemas.openxmlformats.org/drawingml/2006/main">
            <a:off x="5886450" y="3733800"/>
            <a:ext cx="1676400" cy="1104900"/>
          </a:xfrm>
          <a:prstGeom xmlns:a="http://schemas.openxmlformats.org/drawingml/2006/main" prst="roundRect">
            <a:avLst>
              <a:gd name="adj" fmla="val 12069"/>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C46BA838-2D52-45E9-932D-6729DD6D9AF9}"/>
              </a:ext>
            </a:extLst>
          </p:cNvPr>
          <p:cNvSpPr>
            <a:spLocks xmlns:a="http://schemas.openxmlformats.org/drawingml/2006/main" noGrp="1"/>
          </p:cNvSpPr>
          <p:nvPr/>
        </p:nvSpPr>
        <p:spPr>
          <a:xfrm xmlns:a="http://schemas.openxmlformats.org/drawingml/2006/main">
            <a:off x="6019800" y="3914775"/>
            <a:ext cx="1409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Typed evidence</a:t>
            </a:r>
          </a:p>
        </p:txBody>
      </p:sp>
      <p:sp>
        <p:nvSpPr>
          <p:cNvPr id="36" name="">
            <a:extLst xmlns:a="http://schemas.openxmlformats.org/drawingml/2006/main">
              <a:ext uri="{FF2B5EF4-FFF2-40B4-BE49-F238E27FC236}">
                <a16:creationId xmlns:a16="http://schemas.microsoft.com/office/drawing/2014/main" id="{0D5A5E75-4D99-4824-9A2D-2FB061CBDB50}"/>
              </a:ext>
            </a:extLst>
          </p:cNvPr>
          <p:cNvSpPr>
            <a:spLocks xmlns:a="http://schemas.openxmlformats.org/drawingml/2006/main" noGrp="1"/>
          </p:cNvSpPr>
          <p:nvPr/>
        </p:nvSpPr>
        <p:spPr>
          <a:xfrm xmlns:a="http://schemas.openxmlformats.org/drawingml/2006/main">
            <a:off x="6019800" y="4267200"/>
            <a:ext cx="1409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entity + predicate + value + provenance</a:t>
            </a:r>
          </a:p>
        </p:txBody>
      </p:sp>
      <p:sp>
        <p:nvSpPr>
          <p:cNvPr id="37" name="">
            <a:extLst xmlns:a="http://schemas.openxmlformats.org/drawingml/2006/main">
              <a:ext uri="{FF2B5EF4-FFF2-40B4-BE49-F238E27FC236}">
                <a16:creationId xmlns:a16="http://schemas.microsoft.com/office/drawing/2014/main" id="{4BD14FB5-1A2E-4FF3-ADD5-938BA48A9B6B}"/>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CE4A1F86-CCD6-49E4-B10C-0700B5917382}"/>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B6DC2361-8F65-41E9-B2F9-9AFEE64ECBA2}"/>
              </a:ext>
            </a:extLst>
          </p:cNvPr>
          <p:cNvSpPr>
            <a:spLocks xmlns:a="http://schemas.openxmlformats.org/drawingml/2006/main" noGrp="1"/>
          </p:cNvSpPr>
          <p:nvPr/>
        </p:nvSpPr>
        <p:spPr>
          <a:xfrm xmlns:a="http://schemas.openxmlformats.org/drawingml/2006/main">
            <a:off x="7924800" y="2657475"/>
            <a:ext cx="114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a:solidFill>
                  <a:srgbClr val="526174"/>
                </a:solidFill>
              </a:defRPr>
            </a:pPr>
            <a:r>
              <a:rPr sz="975" b="0">
                <a:solidFill>
                  <a:srgbClr val="526174"/>
                </a:solidFill>
              </a:rPr>
              <a:t>no rule or conflict</a:t>
            </a:r>
          </a:p>
        </p:txBody>
      </p:sp>
      <p:sp>
        <p:nvSpPr>
          <p:cNvPr id="40" name="">
            <a:extLst xmlns:a="http://schemas.openxmlformats.org/drawingml/2006/main">
              <a:ext uri="{FF2B5EF4-FFF2-40B4-BE49-F238E27FC236}">
                <a16:creationId xmlns:a16="http://schemas.microsoft.com/office/drawing/2014/main" id="{3608E198-7916-4092-A002-C3A606D67D3E}"/>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B2F7E994-E4AB-4411-BA3F-253FEAB0DE4B}"/>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DAFF6EE-7585-49D1-B9C8-7A32B4242570}"/>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unresolved tail</a:t>
            </a:r>
          </a:p>
          <a:p xmlns:a="http://schemas.openxmlformats.org/drawingml/2006/main">
            <a:pPr algn="ctr">
              <a:defRPr sz="1125" b="0">
                <a:solidFill>
                  <a:srgbClr val="526174"/>
                </a:solidFill>
              </a:defRPr>
            </a:pPr>
            <a:r>
              <a:rPr sz="1125" b="0">
                <a:solidFill>
                  <a:srgbClr val="526174"/>
                </a:solidFill>
              </a:rPr>
              <a:t>only</a:t>
            </a:r>
          </a:p>
        </p:txBody>
      </p:sp>
      <p:sp>
        <p:nvSpPr>
          <p:cNvPr id="43" name="">
            <a:extLst xmlns:a="http://schemas.openxmlformats.org/drawingml/2006/main">
              <a:ext uri="{FF2B5EF4-FFF2-40B4-BE49-F238E27FC236}">
                <a16:creationId xmlns:a16="http://schemas.microsoft.com/office/drawing/2014/main" id="{1736F131-E38C-429A-868A-A8A6076ABA9B}"/>
              </a:ext>
            </a:extLst>
          </p:cNvPr>
          <p:cNvSpPr>
            <a:spLocks xmlns:a="http://schemas.openxmlformats.org/drawingml/2006/main" noGrp="1"/>
          </p:cNvSpPr>
          <p:nvPr/>
        </p:nvSpPr>
        <p:spPr>
          <a:xfrm xmlns:a="http://schemas.openxmlformats.org/drawingml/2006/main">
            <a:off x="1562100" y="521970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8A44D103-104E-45CC-B0C8-5176D1591B0F}"/>
              </a:ext>
            </a:extLst>
          </p:cNvPr>
          <p:cNvSpPr>
            <a:spLocks xmlns:a="http://schemas.openxmlformats.org/drawingml/2006/main" noGrp="1"/>
          </p:cNvSpPr>
          <p:nvPr/>
        </p:nvSpPr>
        <p:spPr>
          <a:xfrm xmlns:a="http://schemas.openxmlformats.org/drawingml/2006/main">
            <a:off x="1790700" y="538162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841E3189-0C97-47C4-83E4-8D8EAE9CE331}"/>
              </a:ext>
            </a:extLst>
          </p:cNvPr>
          <p:cNvSpPr>
            <a:spLocks xmlns:a="http://schemas.openxmlformats.org/drawingml/2006/main" noGrp="1"/>
          </p:cNvSpPr>
          <p:nvPr/>
        </p:nvSpPr>
        <p:spPr>
          <a:xfrm xmlns:a="http://schemas.openxmlformats.org/drawingml/2006/main">
            <a:off x="3562350" y="538162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C540BCC5-0A63-4501-980F-34DDCC0E93E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D000708C-C103-4FA5-AE30-21E43F822D41}"/>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5B6066D5-D911-4314-B54D-E47407EC30D5}"/>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04</a:t>
            </a:r>
          </a:p>
        </p:txBody>
      </p:sp>
    </p:spTree>
    <p:extLst>
      <p:ext uri="{BB962C8B-B14F-4D97-AF65-F5344CB8AC3E}">
        <p14:creationId xmlns:p14="http://schemas.microsoft.com/office/powerpoint/2010/main" val="1665815857"/>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C6F25FA5-BD10-4050-9C5C-6C2559FC455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C7E74211-6776-46CB-B95C-576AACA41B9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7E615A14-6C87-4583-BC1E-51B1C88FDEBD}"/>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450B9BB-37CE-4940-BCBA-00B6EB6BEF77}"/>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DF6F4BC9-E15A-4CC0-A25F-028C685EBB41}"/>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F6502818-7E0A-439F-832A-C84C77C05302}"/>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B6E06ACC-4A0B-4CF6-8884-3D32E71402E1}"/>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B2BA65BD-7749-408E-A691-BE2070FB85CB}"/>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D3FC1128-C8E5-46A8-9360-5F427F935C71}"/>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0E51BB58-C7BE-44F7-BD7B-4FCA3D49C0B8}"/>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A4055746-8A37-4607-A8F9-AD4EDD780E15}"/>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D8F03750-34EC-496F-8D02-F0D106B5E463}"/>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2FD72DE5-4E76-4C5A-92B1-5F81525FA2F2}"/>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4E1E1C43-00A3-4911-A420-C583CB7CF67B}"/>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1961C03D-647E-4EB0-B912-FF5D6951B7E7}"/>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58F26D5B-FF01-49C2-B578-F6BF0C9188A0}"/>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73BD301F-DBEC-4DA0-A11E-BD791A6A61CC}"/>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4A05E970-D6CA-4C8D-BF1F-1C18DFA7502B}"/>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3C41C5BA-73C7-4EF4-B07B-00DFBE642A54}"/>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3294EB34-EC29-48F6-BFB5-025C08C0CA74}"/>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D5817ACE-BB6B-4F80-B2F9-D8FED57063E8}"/>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EE59EBE2-01FF-4414-A3F0-6C4680E8435A}"/>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61DCE1CF-ED90-48CA-A397-0AF2EB5402A6}"/>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D64B5CC5-ACC9-4E59-9F4D-CD077E665E54}"/>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0C71AFF1-D362-4852-9E8C-3E7387549583}"/>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1660401-9BBD-4A40-B31C-A3C5A35F9197}"/>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A40680A6-FA28-400A-9A3A-7DA24B9D09C7}"/>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214EAFF9-066F-471C-81D1-2C21105EA3E1}"/>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7ADBA59F-DE06-4901-BFBD-1B2781775DD6}"/>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4F0D8EC6-EB81-4768-8A2C-39CDCCE1D467}"/>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5CEA030E-84D5-4566-8B04-FD90164E174F}"/>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A15A6251-A808-47D7-99C4-40ABF6C9DD7F}"/>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DFF8DD7C-39E0-41D5-91D9-8F3EEA13947C}"/>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F7982384-7168-4C87-966B-8A3436DE02F5}"/>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1CBB7645-5ED5-459F-B48D-700FE7F5351A}"/>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C0BE3AC8-74B5-4D51-9103-AF7D42433CAC}"/>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7D682935-6A05-4E40-B52D-D92D68EBF4D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4DBD602C-C064-45D8-AA52-F670DAA04A06}"/>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8BA8AB26-4FED-4CE9-8580-B20263C0CD69}"/>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D1128C4A-F5B7-4B56-8FA7-32B68573A85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98C2067E-FD16-47F6-A6C7-9EC43B485BC6}"/>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207AA954-0048-41AB-9274-22A6A1ADC1D0}"/>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05</a:t>
            </a:r>
          </a:p>
        </p:txBody>
      </p:sp>
    </p:spTree>
    <p:extLst>
      <p:ext uri="{BB962C8B-B14F-4D97-AF65-F5344CB8AC3E}">
        <p14:creationId xmlns:p14="http://schemas.microsoft.com/office/powerpoint/2010/main" val="1938352261"/>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6">
            <a:extLst xmlns:a="http://schemas.openxmlformats.org/drawingml/2006/main">
              <a:ext uri="{FF2B5EF4-FFF2-40B4-BE49-F238E27FC236}">
                <a16:creationId xmlns:a16="http://schemas.microsoft.com/office/drawing/2014/main" id="{998B9B09-474A-477B-ACAD-1AF9DCAF4A0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FC5E57D5-62EC-46D8-B1F9-19C02CA493C5}"/>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Evidence could decide only when the relation matched</a:t>
            </a:r>
          </a:p>
        </p:txBody>
      </p:sp>
      <p:sp>
        <p:nvSpPr>
          <p:cNvPr id="3" name="">
            <a:extLst xmlns:a="http://schemas.openxmlformats.org/drawingml/2006/main">
              <a:ext uri="{FF2B5EF4-FFF2-40B4-BE49-F238E27FC236}">
                <a16:creationId xmlns:a16="http://schemas.microsoft.com/office/drawing/2014/main" id="{A44EF8E9-B779-4964-BD29-D29501A7724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5FB90B0-7FFA-4B16-BA92-55B454E7CC0C}"/>
              </a:ext>
            </a:extLst>
          </p:cNvPr>
          <p:cNvSpPr>
            <a:spLocks xmlns:a="http://schemas.openxmlformats.org/drawingml/2006/main" noGrp="1"/>
          </p:cNvSpPr>
          <p:nvPr/>
        </p:nvSpPr>
        <p:spPr>
          <a:xfrm xmlns:a="http://schemas.openxmlformats.org/drawingml/2006/main">
            <a:off x="685800" y="13906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Similarity proposed candidates. It never overruled stronger evidence.</a:t>
            </a:r>
          </a:p>
        </p:txBody>
      </p:sp>
      <p:sp>
        <p:nvSpPr>
          <p:cNvPr id="5" name="">
            <a:extLst xmlns:a="http://schemas.openxmlformats.org/drawingml/2006/main">
              <a:ext uri="{FF2B5EF4-FFF2-40B4-BE49-F238E27FC236}">
                <a16:creationId xmlns:a16="http://schemas.microsoft.com/office/drawing/2014/main" id="{5A33C448-8664-407B-A524-36FCA7F99E6B}"/>
              </a:ext>
            </a:extLst>
          </p:cNvPr>
          <p:cNvSpPr>
            <a:spLocks xmlns:a="http://schemas.openxmlformats.org/drawingml/2006/main" noGrp="1"/>
          </p:cNvSpPr>
          <p:nvPr/>
        </p:nvSpPr>
        <p:spPr>
          <a:xfrm xmlns:a="http://schemas.openxmlformats.org/drawingml/2006/main">
            <a:off x="1104900" y="26479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CFCDB668-10C0-4ADC-AF91-CF0A44EDEB7E}"/>
              </a:ext>
            </a:extLst>
          </p:cNvPr>
          <p:cNvSpPr>
            <a:spLocks xmlns:a="http://schemas.openxmlformats.org/drawingml/2006/main" noGrp="1"/>
          </p:cNvSpPr>
          <p:nvPr/>
        </p:nvSpPr>
        <p:spPr>
          <a:xfrm xmlns:a="http://schemas.openxmlformats.org/drawingml/2006/main">
            <a:off x="1104900" y="21336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1</a:t>
            </a:r>
          </a:p>
        </p:txBody>
      </p:sp>
      <p:sp>
        <p:nvSpPr>
          <p:cNvPr id="7" name="">
            <a:extLst xmlns:a="http://schemas.openxmlformats.org/drawingml/2006/main">
              <a:ext uri="{FF2B5EF4-FFF2-40B4-BE49-F238E27FC236}">
                <a16:creationId xmlns:a16="http://schemas.microsoft.com/office/drawing/2014/main" id="{6A5CB29C-7D5A-408B-8D9A-3C1E636C8960}"/>
              </a:ext>
            </a:extLst>
          </p:cNvPr>
          <p:cNvSpPr>
            <a:spLocks xmlns:a="http://schemas.openxmlformats.org/drawingml/2006/main" noGrp="1"/>
          </p:cNvSpPr>
          <p:nvPr/>
        </p:nvSpPr>
        <p:spPr>
          <a:xfrm xmlns:a="http://schemas.openxmlformats.org/drawingml/2006/main">
            <a:off x="1676400" y="21050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Context contradiction</a:t>
            </a:r>
          </a:p>
        </p:txBody>
      </p:sp>
      <p:sp>
        <p:nvSpPr>
          <p:cNvPr id="8" name="">
            <a:extLst xmlns:a="http://schemas.openxmlformats.org/drawingml/2006/main">
              <a:ext uri="{FF2B5EF4-FFF2-40B4-BE49-F238E27FC236}">
                <a16:creationId xmlns:a16="http://schemas.microsoft.com/office/drawing/2014/main" id="{5B94B40C-2D59-4CB0-A36C-66474CDD816E}"/>
              </a:ext>
            </a:extLst>
          </p:cNvPr>
          <p:cNvSpPr>
            <a:spLocks xmlns:a="http://schemas.openxmlformats.org/drawingml/2006/main" noGrp="1"/>
          </p:cNvSpPr>
          <p:nvPr/>
        </p:nvSpPr>
        <p:spPr>
          <a:xfrm xmlns:a="http://schemas.openxmlformats.org/drawingml/2006/main">
            <a:off x="4762500" y="21145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same clause, prompt anchors, no competing claim</a:t>
            </a:r>
          </a:p>
        </p:txBody>
      </p:sp>
      <p:sp>
        <p:nvSpPr>
          <p:cNvPr id="9" name="">
            <a:extLst xmlns:a="http://schemas.openxmlformats.org/drawingml/2006/main">
              <a:ext uri="{FF2B5EF4-FFF2-40B4-BE49-F238E27FC236}">
                <a16:creationId xmlns:a16="http://schemas.microsoft.com/office/drawing/2014/main" id="{20F9245C-3204-4FAC-9110-80EB463C5E95}"/>
              </a:ext>
            </a:extLst>
          </p:cNvPr>
          <p:cNvSpPr>
            <a:spLocks xmlns:a="http://schemas.openxmlformats.org/drawingml/2006/main" noGrp="1"/>
          </p:cNvSpPr>
          <p:nvPr/>
        </p:nvSpPr>
        <p:spPr>
          <a:xfrm xmlns:a="http://schemas.openxmlformats.org/drawingml/2006/main">
            <a:off x="1104900" y="33909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27B21F7F-3E3A-41B7-8FFC-7E8E020F0ECC}"/>
              </a:ext>
            </a:extLst>
          </p:cNvPr>
          <p:cNvSpPr>
            <a:spLocks xmlns:a="http://schemas.openxmlformats.org/drawingml/2006/main" noGrp="1"/>
          </p:cNvSpPr>
          <p:nvPr/>
        </p:nvSpPr>
        <p:spPr>
          <a:xfrm xmlns:a="http://schemas.openxmlformats.org/drawingml/2006/main">
            <a:off x="1104900" y="28765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F5A7A"/>
                </a:solidFill>
              </a:defRPr>
            </a:pPr>
            <a:r>
              <a:rPr sz="1500" b="1">
                <a:solidFill>
                  <a:srgbClr val="1F5A7A"/>
                </a:solidFill>
              </a:rPr>
              <a:t>2</a:t>
            </a:r>
          </a:p>
        </p:txBody>
      </p:sp>
      <p:sp>
        <p:nvSpPr>
          <p:cNvPr id="11" name="">
            <a:extLst xmlns:a="http://schemas.openxmlformats.org/drawingml/2006/main">
              <a:ext uri="{FF2B5EF4-FFF2-40B4-BE49-F238E27FC236}">
                <a16:creationId xmlns:a16="http://schemas.microsoft.com/office/drawing/2014/main" id="{C1F8B548-B9FF-4829-BDAE-4893DE880D46}"/>
              </a:ext>
            </a:extLst>
          </p:cNvPr>
          <p:cNvSpPr>
            <a:spLocks xmlns:a="http://schemas.openxmlformats.org/drawingml/2006/main" noGrp="1"/>
          </p:cNvSpPr>
          <p:nvPr/>
        </p:nvSpPr>
        <p:spPr>
          <a:xfrm xmlns:a="http://schemas.openxmlformats.org/drawingml/2006/main">
            <a:off x="1676400" y="28479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Exact source lineage</a:t>
            </a:r>
          </a:p>
        </p:txBody>
      </p:sp>
      <p:sp>
        <p:nvSpPr>
          <p:cNvPr id="12" name="">
            <a:extLst xmlns:a="http://schemas.openxmlformats.org/drawingml/2006/main">
              <a:ext uri="{FF2B5EF4-FFF2-40B4-BE49-F238E27FC236}">
                <a16:creationId xmlns:a16="http://schemas.microsoft.com/office/drawing/2014/main" id="{665456B5-E1B1-4372-93AA-630A6D6BCEE4}"/>
              </a:ext>
            </a:extLst>
          </p:cNvPr>
          <p:cNvSpPr>
            <a:spLocks xmlns:a="http://schemas.openxmlformats.org/drawingml/2006/main" noGrp="1"/>
          </p:cNvSpPr>
          <p:nvPr/>
        </p:nvSpPr>
        <p:spPr>
          <a:xfrm xmlns:a="http://schemas.openxmlformats.org/drawingml/2006/main">
            <a:off x="4762500" y="28575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prompt, response, and applicable context agree</a:t>
            </a:r>
          </a:p>
        </p:txBody>
      </p:sp>
      <p:sp>
        <p:nvSpPr>
          <p:cNvPr id="13" name="">
            <a:extLst xmlns:a="http://schemas.openxmlformats.org/drawingml/2006/main">
              <a:ext uri="{FF2B5EF4-FFF2-40B4-BE49-F238E27FC236}">
                <a16:creationId xmlns:a16="http://schemas.microsoft.com/office/drawing/2014/main" id="{DB3E29F7-4161-4B3D-86C4-198FF6FEE76F}"/>
              </a:ext>
            </a:extLst>
          </p:cNvPr>
          <p:cNvSpPr>
            <a:spLocks xmlns:a="http://schemas.openxmlformats.org/drawingml/2006/main" noGrp="1"/>
          </p:cNvSpPr>
          <p:nvPr/>
        </p:nvSpPr>
        <p:spPr>
          <a:xfrm xmlns:a="http://schemas.openxmlformats.org/drawingml/2006/main">
            <a:off x="1104900" y="41338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E43A9D6-8B3C-4151-9C83-111AA1DDA6AE}"/>
              </a:ext>
            </a:extLst>
          </p:cNvPr>
          <p:cNvSpPr>
            <a:spLocks xmlns:a="http://schemas.openxmlformats.org/drawingml/2006/main" noGrp="1"/>
          </p:cNvSpPr>
          <p:nvPr/>
        </p:nvSpPr>
        <p:spPr>
          <a:xfrm xmlns:a="http://schemas.openxmlformats.org/drawingml/2006/main">
            <a:off x="1104900" y="36195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A8C82"/>
                </a:solidFill>
              </a:defRPr>
            </a:pPr>
            <a:r>
              <a:rPr sz="1500" b="1">
                <a:solidFill>
                  <a:srgbClr val="2A8C82"/>
                </a:solidFill>
              </a:rPr>
              <a:t>3</a:t>
            </a:r>
          </a:p>
        </p:txBody>
      </p:sp>
      <p:sp>
        <p:nvSpPr>
          <p:cNvPr id="15" name="">
            <a:extLst xmlns:a="http://schemas.openxmlformats.org/drawingml/2006/main">
              <a:ext uri="{FF2B5EF4-FFF2-40B4-BE49-F238E27FC236}">
                <a16:creationId xmlns:a16="http://schemas.microsoft.com/office/drawing/2014/main" id="{C2D2D38C-05DD-4A9A-8D4B-4D492BE96E56}"/>
              </a:ext>
            </a:extLst>
          </p:cNvPr>
          <p:cNvSpPr>
            <a:spLocks xmlns:a="http://schemas.openxmlformats.org/drawingml/2006/main" noGrp="1"/>
          </p:cNvSpPr>
          <p:nvPr/>
        </p:nvSpPr>
        <p:spPr>
          <a:xfrm xmlns:a="http://schemas.openxmlformats.org/drawingml/2006/main">
            <a:off x="1676400" y="35909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Structured solver</a:t>
            </a:r>
          </a:p>
        </p:txBody>
      </p:sp>
      <p:sp>
        <p:nvSpPr>
          <p:cNvPr id="16" name="">
            <a:extLst xmlns:a="http://schemas.openxmlformats.org/drawingml/2006/main">
              <a:ext uri="{FF2B5EF4-FFF2-40B4-BE49-F238E27FC236}">
                <a16:creationId xmlns:a16="http://schemas.microsoft.com/office/drawing/2014/main" id="{7675DB32-6BFA-4396-B11F-E6D713D2C183}"/>
              </a:ext>
            </a:extLst>
          </p:cNvPr>
          <p:cNvSpPr>
            <a:spLocks xmlns:a="http://schemas.openxmlformats.org/drawingml/2006/main" noGrp="1"/>
          </p:cNvSpPr>
          <p:nvPr/>
        </p:nvSpPr>
        <p:spPr>
          <a:xfrm xmlns:a="http://schemas.openxmlformats.org/drawingml/2006/main">
            <a:off x="4762500" y="36004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parsed value, entity, and predicate align</a:t>
            </a:r>
          </a:p>
        </p:txBody>
      </p:sp>
      <p:sp>
        <p:nvSpPr>
          <p:cNvPr id="17" name="">
            <a:extLst xmlns:a="http://schemas.openxmlformats.org/drawingml/2006/main">
              <a:ext uri="{FF2B5EF4-FFF2-40B4-BE49-F238E27FC236}">
                <a16:creationId xmlns:a16="http://schemas.microsoft.com/office/drawing/2014/main" id="{AE9D8E3E-E98F-4093-A923-1EA1D763E200}"/>
              </a:ext>
            </a:extLst>
          </p:cNvPr>
          <p:cNvSpPr>
            <a:spLocks xmlns:a="http://schemas.openxmlformats.org/drawingml/2006/main" noGrp="1"/>
          </p:cNvSpPr>
          <p:nvPr/>
        </p:nvSpPr>
        <p:spPr>
          <a:xfrm xmlns:a="http://schemas.openxmlformats.org/drawingml/2006/main">
            <a:off x="1104900" y="48768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3F1F136D-6A7E-4BF2-AB26-CBE63ED9436E}"/>
              </a:ext>
            </a:extLst>
          </p:cNvPr>
          <p:cNvSpPr>
            <a:spLocks xmlns:a="http://schemas.openxmlformats.org/drawingml/2006/main" noGrp="1"/>
          </p:cNvSpPr>
          <p:nvPr/>
        </p:nvSpPr>
        <p:spPr>
          <a:xfrm xmlns:a="http://schemas.openxmlformats.org/drawingml/2006/main">
            <a:off x="1104900" y="43624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4</a:t>
            </a:r>
          </a:p>
        </p:txBody>
      </p:sp>
      <p:sp>
        <p:nvSpPr>
          <p:cNvPr id="19" name="">
            <a:extLst xmlns:a="http://schemas.openxmlformats.org/drawingml/2006/main">
              <a:ext uri="{FF2B5EF4-FFF2-40B4-BE49-F238E27FC236}">
                <a16:creationId xmlns:a16="http://schemas.microsoft.com/office/drawing/2014/main" id="{330A8D3C-011D-4428-A409-2BF7EFCDD9B8}"/>
              </a:ext>
            </a:extLst>
          </p:cNvPr>
          <p:cNvSpPr>
            <a:spLocks xmlns:a="http://schemas.openxmlformats.org/drawingml/2006/main" noGrp="1"/>
          </p:cNvSpPr>
          <p:nvPr/>
        </p:nvSpPr>
        <p:spPr>
          <a:xfrm xmlns:a="http://schemas.openxmlformats.org/drawingml/2006/main">
            <a:off x="1676400" y="4333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Typed evidence</a:t>
            </a:r>
          </a:p>
        </p:txBody>
      </p:sp>
      <p:sp>
        <p:nvSpPr>
          <p:cNvPr id="20" name="">
            <a:extLst xmlns:a="http://schemas.openxmlformats.org/drawingml/2006/main">
              <a:ext uri="{FF2B5EF4-FFF2-40B4-BE49-F238E27FC236}">
                <a16:creationId xmlns:a16="http://schemas.microsoft.com/office/drawing/2014/main" id="{A1CA48E0-ED8E-4C67-A15C-21CE86AC29C2}"/>
              </a:ext>
            </a:extLst>
          </p:cNvPr>
          <p:cNvSpPr>
            <a:spLocks xmlns:a="http://schemas.openxmlformats.org/drawingml/2006/main" noGrp="1"/>
          </p:cNvSpPr>
          <p:nvPr/>
        </p:nvSpPr>
        <p:spPr>
          <a:xfrm xmlns:a="http://schemas.openxmlformats.org/drawingml/2006/main">
            <a:off x="4762500" y="43434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exact idiom sense, law section, or two-source fact</a:t>
            </a:r>
          </a:p>
        </p:txBody>
      </p:sp>
      <p:sp>
        <p:nvSpPr>
          <p:cNvPr id="21" name="">
            <a:extLst xmlns:a="http://schemas.openxmlformats.org/drawingml/2006/main">
              <a:ext uri="{FF2B5EF4-FFF2-40B4-BE49-F238E27FC236}">
                <a16:creationId xmlns:a16="http://schemas.microsoft.com/office/drawing/2014/main" id="{A4D7BA8C-5172-4F13-B52E-EE25E7780099}"/>
              </a:ext>
            </a:extLst>
          </p:cNvPr>
          <p:cNvSpPr>
            <a:spLocks xmlns:a="http://schemas.openxmlformats.org/drawingml/2006/main" noGrp="1"/>
          </p:cNvSpPr>
          <p:nvPr/>
        </p:nvSpPr>
        <p:spPr>
          <a:xfrm xmlns:a="http://schemas.openxmlformats.org/drawingml/2006/main">
            <a:off x="1104900" y="56197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0A41A0F8-65C4-493B-BF06-7D42283A6FF8}"/>
              </a:ext>
            </a:extLst>
          </p:cNvPr>
          <p:cNvSpPr>
            <a:spLocks xmlns:a="http://schemas.openxmlformats.org/drawingml/2006/main" noGrp="1"/>
          </p:cNvSpPr>
          <p:nvPr/>
        </p:nvSpPr>
        <p:spPr>
          <a:xfrm xmlns:a="http://schemas.openxmlformats.org/drawingml/2006/main">
            <a:off x="1104900" y="51054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94A3B8"/>
                </a:solidFill>
              </a:defRPr>
            </a:pPr>
            <a:r>
              <a:rPr sz="1500" b="1">
                <a:solidFill>
                  <a:srgbClr val="94A3B8"/>
                </a:solidFill>
              </a:rPr>
              <a:t>5</a:t>
            </a:r>
          </a:p>
        </p:txBody>
      </p:sp>
      <p:sp>
        <p:nvSpPr>
          <p:cNvPr id="23" name="">
            <a:extLst xmlns:a="http://schemas.openxmlformats.org/drawingml/2006/main">
              <a:ext uri="{FF2B5EF4-FFF2-40B4-BE49-F238E27FC236}">
                <a16:creationId xmlns:a16="http://schemas.microsoft.com/office/drawing/2014/main" id="{3EE5DD6A-5210-4D3F-865F-954E04584445}"/>
              </a:ext>
            </a:extLst>
          </p:cNvPr>
          <p:cNvSpPr>
            <a:spLocks xmlns:a="http://schemas.openxmlformats.org/drawingml/2006/main" noGrp="1"/>
          </p:cNvSpPr>
          <p:nvPr/>
        </p:nvSpPr>
        <p:spPr>
          <a:xfrm xmlns:a="http://schemas.openxmlformats.org/drawingml/2006/main">
            <a:off x="1676400" y="50768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Fuzzy retrieval</a:t>
            </a:r>
          </a:p>
        </p:txBody>
      </p:sp>
      <p:sp>
        <p:nvSpPr>
          <p:cNvPr id="24" name="">
            <a:extLst xmlns:a="http://schemas.openxmlformats.org/drawingml/2006/main">
              <a:ext uri="{FF2B5EF4-FFF2-40B4-BE49-F238E27FC236}">
                <a16:creationId xmlns:a16="http://schemas.microsoft.com/office/drawing/2014/main" id="{07E0164A-21EB-4E58-89DD-A789940441C6}"/>
              </a:ext>
            </a:extLst>
          </p:cNvPr>
          <p:cNvSpPr>
            <a:spLocks xmlns:a="http://schemas.openxmlformats.org/drawingml/2006/main" noGrp="1"/>
          </p:cNvSpPr>
          <p:nvPr/>
        </p:nvSpPr>
        <p:spPr>
          <a:xfrm xmlns:a="http://schemas.openxmlformats.org/drawingml/2006/main">
            <a:off x="4762500" y="50863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candidate only; otherwise abstain</a:t>
            </a:r>
          </a:p>
        </p:txBody>
      </p:sp>
      <p:sp>
        <p:nvSpPr>
          <p:cNvPr id="25" name="">
            <a:extLst xmlns:a="http://schemas.openxmlformats.org/drawingml/2006/main">
              <a:ext uri="{FF2B5EF4-FFF2-40B4-BE49-F238E27FC236}">
                <a16:creationId xmlns:a16="http://schemas.microsoft.com/office/drawing/2014/main" id="{0634C5EF-2516-4271-9740-FDEC7A8CA877}"/>
              </a:ext>
            </a:extLst>
          </p:cNvPr>
          <p:cNvSpPr>
            <a:spLocks xmlns:a="http://schemas.openxmlformats.org/drawingml/2006/main" noGrp="1"/>
          </p:cNvSpPr>
          <p:nvPr/>
        </p:nvSpPr>
        <p:spPr>
          <a:xfrm xmlns:a="http://schemas.openxmlformats.org/drawingml/2006/main">
            <a:off x="1676400" y="59055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F5A7A"/>
                </a:solidFill>
              </a:defRPr>
            </a:pPr>
            <a:r>
              <a:rPr sz="1500" b="1">
                <a:solidFill>
                  <a:srgbClr val="1F5A7A"/>
                </a:solidFill>
              </a:rPr>
              <a:t>Conflict between equal-strength sources also produced abstention.</a:t>
            </a:r>
          </a:p>
        </p:txBody>
      </p:sp>
      <p:sp>
        <p:nvSpPr>
          <p:cNvPr id="26" name="">
            <a:extLst xmlns:a="http://schemas.openxmlformats.org/drawingml/2006/main">
              <a:ext uri="{FF2B5EF4-FFF2-40B4-BE49-F238E27FC236}">
                <a16:creationId xmlns:a16="http://schemas.microsoft.com/office/drawing/2014/main" id="{D38C2242-26D4-4D2A-9DBF-15378EF2FBE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6">
            <a:extLst xmlns:a="http://schemas.openxmlformats.org/drawingml/2006/main">
              <a:ext uri="{FF2B5EF4-FFF2-40B4-BE49-F238E27FC236}">
                <a16:creationId xmlns:a16="http://schemas.microsoft.com/office/drawing/2014/main" id="{782F1095-357A-4C24-8164-B1486FA20F83}"/>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v91 evidence policy</a:t>
            </a:r>
          </a:p>
        </p:txBody>
      </p:sp>
      <p:sp>
        <p:nvSpPr>
          <p:cNvPr id="28" name="page-6">
            <a:extLst xmlns:a="http://schemas.openxmlformats.org/drawingml/2006/main">
              <a:ext uri="{FF2B5EF4-FFF2-40B4-BE49-F238E27FC236}">
                <a16:creationId xmlns:a16="http://schemas.microsoft.com/office/drawing/2014/main" id="{47DEEAFD-084B-416E-B88B-1D36DC530B72}"/>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06</a:t>
            </a:r>
          </a:p>
        </p:txBody>
      </p:sp>
    </p:spTree>
    <p:extLst>
      <p:ext uri="{BB962C8B-B14F-4D97-AF65-F5344CB8AC3E}">
        <p14:creationId xmlns:p14="http://schemas.microsoft.com/office/powerpoint/2010/main" val="2064369203"/>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C740484A-8072-4A81-AAD3-9AABF3CAB1B7}"/>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6AC2839-FE22-4A91-ADCE-7F930E33964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709B4B3F-B75D-4875-A7A8-73B41DD893B3}"/>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8B3F5C8-8ACB-4EF0-9620-8FF2B1BE65E2}"/>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63F1D27D-41D2-40DF-8800-C0C8768132BC}"/>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E2494BB0-B355-4EEB-B581-D2D431EF3869}"/>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D89EA9FA-DF42-48DB-A4E8-2D771BE478F8}"/>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B47BF12D-82D8-415A-B1F9-24F6427D452A}"/>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FC6C5D57-8766-43EA-82B8-0A962AAB39CF}"/>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924D1394-DA32-435B-89AB-3D4FE107ABFE}"/>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D2AC484C-D0D6-45B7-8C29-0E125BE12425}"/>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segment into</a:t>
            </a:r>
          </a:p>
          <a:p xmlns:a="http://schemas.openxmlformats.org/drawingml/2006/main">
            <a:pPr algn="ctr">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3CFFCF7A-E65B-4873-9DB4-C2766F9195ED}"/>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E9C3F44A-9452-493B-88B6-B229F6633FF4}"/>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9E5F6CD0-18E4-4567-B132-C8ECA975BFED}"/>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extract atomic</a:t>
            </a:r>
          </a:p>
          <a:p xmlns:a="http://schemas.openxmlformats.org/drawingml/2006/main">
            <a:pPr algn="ctr">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3D5EFACE-A813-4EDB-AA12-6DE44C9FE017}"/>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526E8575-11F7-4857-8273-2CEC83C8DE9B}"/>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C98D969D-1ED1-4397-BE2D-8C5DDA601E30}"/>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number,</a:t>
            </a:r>
          </a:p>
          <a:p xmlns:a="http://schemas.openxmlformats.org/drawingml/2006/main">
            <a:pPr algn="ctr">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1BBFC45B-8643-44DC-AF6D-57EC21B72C07}"/>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94C30E75-E690-408A-8403-7AA412C4EA68}"/>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A1637672-2234-4BB2-9209-5D90BE82D06A}"/>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best applicable</a:t>
            </a:r>
          </a:p>
          <a:p xmlns:a="http://schemas.openxmlformats.org/drawingml/2006/main">
            <a:pPr algn="ctr">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54A7F979-BB55-4FCC-954B-BFBC98BA7D94}"/>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158FE1EF-7B7A-4527-9791-C62061A88534}"/>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B8754653-10EF-4072-8783-59F1897CD505}"/>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support / contradict</a:t>
            </a:r>
          </a:p>
          <a:p xmlns:a="http://schemas.openxmlformats.org/drawingml/2006/main">
            <a:pPr algn="ctr">
              <a:defRPr sz="1200" b="0">
                <a:solidFill>
                  <a:srgbClr val="526174"/>
                </a:solidFill>
              </a:defRPr>
            </a:pPr>
            <a:r>
              <a:rPr sz="1200" b="0">
                <a:solidFill>
                  <a:srgbClr val="526174"/>
                </a:solidFill>
              </a:rPr>
              <a:t>/ unknown</a:t>
            </a:r>
          </a:p>
        </p:txBody>
      </p:sp>
      <p:sp>
        <p:nvSpPr>
          <p:cNvPr id="24" name="">
            <a:extLst xmlns:a="http://schemas.openxmlformats.org/drawingml/2006/main">
              <a:ext uri="{FF2B5EF4-FFF2-40B4-BE49-F238E27FC236}">
                <a16:creationId xmlns:a16="http://schemas.microsoft.com/office/drawing/2014/main" id="{719A3B89-DFDB-479F-9850-1CB05F9C673D}"/>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C6E4035B-00C6-4021-8E6C-BB7766B5BC9E}"/>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1E53F26A-A65D-4A9D-B78F-4EBB38F9F452}"/>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2B05D140-1625-487E-9AF9-FF8873906772}"/>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exists i: state(ci) = contradict</a:t>
            </a:r>
          </a:p>
        </p:txBody>
      </p:sp>
      <p:sp>
        <p:nvSpPr>
          <p:cNvPr id="28" name="">
            <a:extLst xmlns:a="http://schemas.openxmlformats.org/drawingml/2006/main">
              <a:ext uri="{FF2B5EF4-FFF2-40B4-BE49-F238E27FC236}">
                <a16:creationId xmlns:a16="http://schemas.microsoft.com/office/drawing/2014/main" id="{3BDBABC5-7DA9-4F21-8D30-333679DB0242}"/>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EB681483-BFAD-41E0-B1D5-944F48C6B5FE}"/>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71BF6129-6076-483F-B130-B9BF22FCC3E7}"/>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4E608F2F-69CD-46A9-9D20-32923F1D19B4}"/>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for all i: state(ci) = support; no extra factual claim</a:t>
            </a:r>
          </a:p>
        </p:txBody>
      </p:sp>
      <p:sp>
        <p:nvSpPr>
          <p:cNvPr id="32" name="">
            <a:extLst xmlns:a="http://schemas.openxmlformats.org/drawingml/2006/main">
              <a:ext uri="{FF2B5EF4-FFF2-40B4-BE49-F238E27FC236}">
                <a16:creationId xmlns:a16="http://schemas.microsoft.com/office/drawing/2014/main" id="{A6349AEA-7364-4477-848D-CAE363A3FE66}"/>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E3865589-F548-4E3D-8529-B5223EF11AF2}"/>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7B7C2377-839C-4A57-884D-836C335A443E}"/>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892C139C-6A4D-4AFD-953A-39B76F685B8F}"/>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04548B0E-AEA9-44E3-BF35-228A70EBBB41}"/>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B106F90C-EA62-4947-9CF2-B1F793BFAB0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99548027-F782-418B-BA9D-0D27B0B276CC}"/>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Context-faithfulness task design  [7] v91 clause and claim verifier</a:t>
            </a:r>
          </a:p>
        </p:txBody>
      </p:sp>
      <p:sp>
        <p:nvSpPr>
          <p:cNvPr id="39" name="page-7">
            <a:extLst xmlns:a="http://schemas.openxmlformats.org/drawingml/2006/main">
              <a:ext uri="{FF2B5EF4-FFF2-40B4-BE49-F238E27FC236}">
                <a16:creationId xmlns:a16="http://schemas.microsoft.com/office/drawing/2014/main" id="{A1BA36DA-F5B7-4C03-9A81-35D065DA57E7}"/>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07</a:t>
            </a:r>
          </a:p>
        </p:txBody>
      </p:sp>
    </p:spTree>
    <p:extLst>
      <p:ext uri="{BB962C8B-B14F-4D97-AF65-F5344CB8AC3E}">
        <p14:creationId xmlns:p14="http://schemas.microsoft.com/office/powerpoint/2010/main" val="604397222"/>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18A7C5C0-4E42-416F-AA5F-61CAD978E86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B47EEB21-14BE-4E7F-9F09-1EE80CCF5F9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57CBC113-3131-43BE-956D-F54976E933E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B6BF604-117B-4F46-B90C-3A96D18A3382}"/>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2DED919A-3658-4EEB-9E12-8E956502783E}"/>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5B0820F0-5A5C-4FDD-AC56-1128F64CA1EF}"/>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5ACD71EA-BC70-4D59-8B7F-518D8A0BD9C9}"/>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D32665CF-E724-4A51-8E33-4DD84CD20343}"/>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F7E3F22A-A477-4F3A-BFCC-7591307B1B8B}"/>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501AB780-43D3-4196-AC14-859EB8F2A1B8}"/>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0DCCF604-1E46-401D-AB91-C7F53B595F31}"/>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D85254BD-20EF-4BF6-AAFC-0F3B9C2CDF9F}"/>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92DCBB82-6E1D-4736-9D22-3E5F8D48AEF8}"/>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F4A62FAB-75E3-4410-A4D6-08F468E5541E}"/>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CA659970-0DEE-4219-80F3-886A27B502C9}"/>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60CC11CC-C33C-4D80-80A7-8B66FC1653A1}"/>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BC0D63BE-234D-47C5-8ED5-89FFF4DC697D}"/>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63983B02-AE9D-4E05-8138-3378AFEE237F}"/>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B180A76D-7059-4B18-82CE-FAA46C66E843}"/>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08</a:t>
            </a:r>
          </a:p>
        </p:txBody>
      </p:sp>
    </p:spTree>
    <p:extLst>
      <p:ext uri="{BB962C8B-B14F-4D97-AF65-F5344CB8AC3E}">
        <p14:creationId xmlns:p14="http://schemas.microsoft.com/office/powerpoint/2010/main" val="1376066605"/>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6CC98ABD-4CEE-4922-A70E-86870D6EBFC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AF0A7F00-CBF4-4C8B-BE46-ABC9D655BBA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B0804F74-5FF9-43EF-B8A7-0804325E1DA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80B121D6-77A3-4DD8-8DDE-2D2A76CABFEF}"/>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trace preserved why a row was resolved, which source supported it, and which relation was tested.</a:t>
            </a:r>
          </a:p>
        </p:txBody>
      </p:sp>
      <p:sp>
        <p:nvSpPr>
          <p:cNvPr id="5" name="">
            <a:extLst xmlns:a="http://schemas.openxmlformats.org/drawingml/2006/main">
              <a:ext uri="{FF2B5EF4-FFF2-40B4-BE49-F238E27FC236}">
                <a16:creationId xmlns:a16="http://schemas.microsoft.com/office/drawing/2014/main" id="{848C9508-E432-4136-8BE9-C20F595B56C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BBF72ED0-916C-4065-BCB9-D97BEF4993BB}"/>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E3443B2C-C6B6-4074-A4B6-03EA78BD11BE}"/>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CA91D556-0511-4B98-8B46-9BF0E5744817}"/>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Typed evidence</a:t>
            </a:r>
          </a:p>
          <a:p xmlns:a="http://schemas.openxmlformats.org/drawingml/2006/main">
            <a:pPr algn="ctr">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E1EC0BEF-873B-4556-966B-4F2AE976E804}"/>
              </a:ext>
            </a:extLst>
          </p:cNvPr>
          <p:cNvSpPr>
            <a:spLocks xmlns:a="http://schemas.openxmlformats.org/drawingml/2006/main" noGrp="1"/>
          </p:cNvSpPr>
          <p:nvPr/>
        </p:nvSpPr>
        <p:spPr>
          <a:xfrm xmlns:a="http://schemas.openxmlformats.org/drawingml/2006/main">
            <a:off x="1028700" y="27813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A66945AA-13D2-4C19-AB70-BEA21021D770}"/>
              </a:ext>
            </a:extLst>
          </p:cNvPr>
          <p:cNvSpPr>
            <a:spLocks xmlns:a="http://schemas.openxmlformats.org/drawingml/2006/main" noGrp="1"/>
          </p:cNvSpPr>
          <p:nvPr/>
        </p:nvSpPr>
        <p:spPr>
          <a:xfrm xmlns:a="http://schemas.openxmlformats.org/drawingml/2006/main">
            <a:off x="2133600" y="27813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4E7AC492-0042-4652-8B54-1F4371101C7B}"/>
              </a:ext>
            </a:extLst>
          </p:cNvPr>
          <p:cNvSpPr>
            <a:spLocks xmlns:a="http://schemas.openxmlformats.org/drawingml/2006/main" noGrp="1"/>
          </p:cNvSpPr>
          <p:nvPr/>
        </p:nvSpPr>
        <p:spPr>
          <a:xfrm xmlns:a="http://schemas.openxmlformats.org/drawingml/2006/main">
            <a:off x="1028700" y="31432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family</a:t>
            </a:r>
          </a:p>
        </p:txBody>
      </p:sp>
      <p:sp>
        <p:nvSpPr>
          <p:cNvPr id="12" name="">
            <a:extLst xmlns:a="http://schemas.openxmlformats.org/drawingml/2006/main">
              <a:ext uri="{FF2B5EF4-FFF2-40B4-BE49-F238E27FC236}">
                <a16:creationId xmlns:a16="http://schemas.microsoft.com/office/drawing/2014/main" id="{664E6C89-6D34-4A73-BD14-DBDF695EE3D7}"/>
              </a:ext>
            </a:extLst>
          </p:cNvPr>
          <p:cNvSpPr>
            <a:spLocks xmlns:a="http://schemas.openxmlformats.org/drawingml/2006/main" noGrp="1"/>
          </p:cNvSpPr>
          <p:nvPr/>
        </p:nvSpPr>
        <p:spPr>
          <a:xfrm xmlns:a="http://schemas.openxmlformats.org/drawingml/2006/main">
            <a:off x="2133600" y="31432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2FFDFE5E-7755-4906-89C3-2496C81E28B4}"/>
              </a:ext>
            </a:extLst>
          </p:cNvPr>
          <p:cNvSpPr>
            <a:spLocks xmlns:a="http://schemas.openxmlformats.org/drawingml/2006/main" noGrp="1"/>
          </p:cNvSpPr>
          <p:nvPr/>
        </p:nvSpPr>
        <p:spPr>
          <a:xfrm xmlns:a="http://schemas.openxmlformats.org/drawingml/2006/main">
            <a:off x="1028700" y="35052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entity</a:t>
            </a:r>
          </a:p>
        </p:txBody>
      </p:sp>
      <p:sp>
        <p:nvSpPr>
          <p:cNvPr id="14" name="">
            <a:extLst xmlns:a="http://schemas.openxmlformats.org/drawingml/2006/main">
              <a:ext uri="{FF2B5EF4-FFF2-40B4-BE49-F238E27FC236}">
                <a16:creationId xmlns:a16="http://schemas.microsoft.com/office/drawing/2014/main" id="{399C816D-6FC9-4DFD-89B6-94DC5D0E4AC2}"/>
              </a:ext>
            </a:extLst>
          </p:cNvPr>
          <p:cNvSpPr>
            <a:spLocks xmlns:a="http://schemas.openxmlformats.org/drawingml/2006/main" noGrp="1"/>
          </p:cNvSpPr>
          <p:nvPr/>
        </p:nvSpPr>
        <p:spPr>
          <a:xfrm xmlns:a="http://schemas.openxmlformats.org/drawingml/2006/main">
            <a:off x="2133600" y="35052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9A4D6D1D-8AA2-47F4-90A7-8C93133822DC}"/>
              </a:ext>
            </a:extLst>
          </p:cNvPr>
          <p:cNvSpPr>
            <a:spLocks xmlns:a="http://schemas.openxmlformats.org/drawingml/2006/main" noGrp="1"/>
          </p:cNvSpPr>
          <p:nvPr/>
        </p:nvSpPr>
        <p:spPr>
          <a:xfrm xmlns:a="http://schemas.openxmlformats.org/drawingml/2006/main">
            <a:off x="1028700" y="38671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64C593A6-EA0F-4D94-9423-ECFD559C8BFC}"/>
              </a:ext>
            </a:extLst>
          </p:cNvPr>
          <p:cNvSpPr>
            <a:spLocks xmlns:a="http://schemas.openxmlformats.org/drawingml/2006/main" noGrp="1"/>
          </p:cNvSpPr>
          <p:nvPr/>
        </p:nvSpPr>
        <p:spPr>
          <a:xfrm xmlns:a="http://schemas.openxmlformats.org/drawingml/2006/main">
            <a:off x="2133600" y="38671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73644616-E2AA-4611-BB58-BC0D1CBACADF}"/>
              </a:ext>
            </a:extLst>
          </p:cNvPr>
          <p:cNvSpPr>
            <a:spLocks xmlns:a="http://schemas.openxmlformats.org/drawingml/2006/main" noGrp="1"/>
          </p:cNvSpPr>
          <p:nvPr/>
        </p:nvSpPr>
        <p:spPr>
          <a:xfrm xmlns:a="http://schemas.openxmlformats.org/drawingml/2006/main">
            <a:off x="1028700" y="422910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value</a:t>
            </a:r>
          </a:p>
        </p:txBody>
      </p:sp>
      <p:sp>
        <p:nvSpPr>
          <p:cNvPr id="18" name="">
            <a:extLst xmlns:a="http://schemas.openxmlformats.org/drawingml/2006/main">
              <a:ext uri="{FF2B5EF4-FFF2-40B4-BE49-F238E27FC236}">
                <a16:creationId xmlns:a16="http://schemas.microsoft.com/office/drawing/2014/main" id="{271BFDDE-31CC-4055-BDF7-31F1BD271C4D}"/>
              </a:ext>
            </a:extLst>
          </p:cNvPr>
          <p:cNvSpPr>
            <a:spLocks xmlns:a="http://schemas.openxmlformats.org/drawingml/2006/main" noGrp="1"/>
          </p:cNvSpPr>
          <p:nvPr/>
        </p:nvSpPr>
        <p:spPr>
          <a:xfrm xmlns:a="http://schemas.openxmlformats.org/drawingml/2006/main">
            <a:off x="2133600" y="422910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70C0E713-4A07-4CF3-9066-729C70E7025E}"/>
              </a:ext>
            </a:extLst>
          </p:cNvPr>
          <p:cNvSpPr>
            <a:spLocks xmlns:a="http://schemas.openxmlformats.org/drawingml/2006/main" noGrp="1"/>
          </p:cNvSpPr>
          <p:nvPr/>
        </p:nvSpPr>
        <p:spPr>
          <a:xfrm xmlns:a="http://schemas.openxmlformats.org/drawingml/2006/main">
            <a:off x="1028700" y="4591050"/>
            <a:ext cx="971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A8C82"/>
                </a:solidFill>
              </a:defRPr>
            </a:pPr>
            <a:r>
              <a:rPr sz="975"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FE8C2D67-129F-47F8-818A-0C5B38A08D44}"/>
              </a:ext>
            </a:extLst>
          </p:cNvPr>
          <p:cNvSpPr>
            <a:spLocks xmlns:a="http://schemas.openxmlformats.org/drawingml/2006/main" noGrp="1"/>
          </p:cNvSpPr>
          <p:nvPr/>
        </p:nvSpPr>
        <p:spPr>
          <a:xfrm xmlns:a="http://schemas.openxmlformats.org/drawingml/2006/main">
            <a:off x="2133600" y="4591050"/>
            <a:ext cx="1028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21C7AB76-DA03-47B5-8629-2BC0ECB20883}"/>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FD96F9CA-9421-4570-89A3-6D1976CB6F2C}"/>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DD1BE053-3407-4134-9DB8-D273B6959AA0}"/>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1EC24C8A-A2DB-4992-BDB5-0A0FA24916CF}"/>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5349849-5318-4408-91FE-2816165A77A4}"/>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BA2F588F-1B2E-4182-B45B-BD339F1C1524}"/>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B6FC9AB-14E2-435E-B814-15BDF65FFE17}"/>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26ADC0D6-C5F2-4A1B-8EF6-86C908A53FFD}"/>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9DECAF76-D273-40EB-803F-676C8A86BED9}"/>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C63993A1-3253-4C8E-AEAD-948BE1EC3FDB}"/>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181FB6B7-0739-4BD3-9A84-D493BF6747FF}"/>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477BCC53-8355-41F5-8DAE-1A852854A743}"/>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BE5FA0AF-D003-4376-B706-43D74A828416}"/>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5B8F3F91-5F0D-412D-ABFA-83EE3198DD78}"/>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D87EF4A3-1036-4914-8FAC-324F02E13A1D}"/>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2C76D3A6-16EF-4A86-A1E2-19A66675F129}"/>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457C46DC-00B3-479C-908E-F1B62AEDDFA9}"/>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E529170A-D23E-40E2-9E07-B09A863E158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C3DBDF5C-0EE0-43D9-8B31-7E211559AA14}"/>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A7EDBA0-DF7C-44E7-95B6-42DFBF248C43}"/>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83E69D4B-E83C-48BE-B462-5E59DDFA1A0A}"/>
              </a:ext>
            </a:extLst>
          </p:cNvPr>
          <p:cNvSpPr>
            <a:spLocks xmlns:a="http://schemas.openxmlformats.org/drawingml/2006/main" noGrp="1"/>
          </p:cNvSpPr>
          <p:nvPr/>
        </p:nvSpPr>
        <p:spPr>
          <a:xfrm xmlns:a="http://schemas.openxmlformats.org/drawingml/2006/main">
            <a:off x="8705850" y="28194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route</a:t>
            </a:r>
          </a:p>
        </p:txBody>
      </p:sp>
      <p:sp>
        <p:nvSpPr>
          <p:cNvPr id="42" name="">
            <a:extLst xmlns:a="http://schemas.openxmlformats.org/drawingml/2006/main">
              <a:ext uri="{FF2B5EF4-FFF2-40B4-BE49-F238E27FC236}">
                <a16:creationId xmlns:a16="http://schemas.microsoft.com/office/drawing/2014/main" id="{DB0B1E46-918D-4CFD-AB9B-E4A9989193CA}"/>
              </a:ext>
            </a:extLst>
          </p:cNvPr>
          <p:cNvSpPr>
            <a:spLocks xmlns:a="http://schemas.openxmlformats.org/drawingml/2006/main" noGrp="1"/>
          </p:cNvSpPr>
          <p:nvPr/>
        </p:nvSpPr>
        <p:spPr>
          <a:xfrm xmlns:a="http://schemas.openxmlformats.org/drawingml/2006/main">
            <a:off x="9620250" y="281940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F97E5C44-FBEA-49EF-B7C0-953518B8336C}"/>
              </a:ext>
            </a:extLst>
          </p:cNvPr>
          <p:cNvSpPr>
            <a:spLocks xmlns:a="http://schemas.openxmlformats.org/drawingml/2006/main" noGrp="1"/>
          </p:cNvSpPr>
          <p:nvPr/>
        </p:nvSpPr>
        <p:spPr>
          <a:xfrm xmlns:a="http://schemas.openxmlformats.org/drawingml/2006/main">
            <a:off x="8705850" y="31813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source</a:t>
            </a:r>
          </a:p>
        </p:txBody>
      </p:sp>
      <p:sp>
        <p:nvSpPr>
          <p:cNvPr id="44" name="">
            <a:extLst xmlns:a="http://schemas.openxmlformats.org/drawingml/2006/main">
              <a:ext uri="{FF2B5EF4-FFF2-40B4-BE49-F238E27FC236}">
                <a16:creationId xmlns:a16="http://schemas.microsoft.com/office/drawing/2014/main" id="{0D2EE264-3CC0-4EE9-B920-26D122220839}"/>
              </a:ext>
            </a:extLst>
          </p:cNvPr>
          <p:cNvSpPr>
            <a:spLocks xmlns:a="http://schemas.openxmlformats.org/drawingml/2006/main" noGrp="1"/>
          </p:cNvSpPr>
          <p:nvPr/>
        </p:nvSpPr>
        <p:spPr>
          <a:xfrm xmlns:a="http://schemas.openxmlformats.org/drawingml/2006/main">
            <a:off x="9620250" y="318135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0F172A"/>
                </a:solidFill>
              </a:defRPr>
            </a:pPr>
            <a:r>
              <a:rPr sz="1125"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88D0C46F-3FA5-439C-BBD6-D24333772EB4}"/>
              </a:ext>
            </a:extLst>
          </p:cNvPr>
          <p:cNvSpPr>
            <a:spLocks xmlns:a="http://schemas.openxmlformats.org/drawingml/2006/main" noGrp="1"/>
          </p:cNvSpPr>
          <p:nvPr/>
        </p:nvSpPr>
        <p:spPr>
          <a:xfrm xmlns:a="http://schemas.openxmlformats.org/drawingml/2006/main">
            <a:off x="8705850" y="35433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2B9A1AE2-7E33-4D3A-989E-45008E10541A}"/>
              </a:ext>
            </a:extLst>
          </p:cNvPr>
          <p:cNvSpPr>
            <a:spLocks xmlns:a="http://schemas.openxmlformats.org/drawingml/2006/main" noGrp="1"/>
          </p:cNvSpPr>
          <p:nvPr/>
        </p:nvSpPr>
        <p:spPr>
          <a:xfrm xmlns:a="http://schemas.openxmlformats.org/drawingml/2006/main">
            <a:off x="9620250" y="35433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0F172A"/>
                </a:solidFill>
              </a:defRPr>
            </a:pPr>
            <a:r>
              <a:rPr sz="1050" b="0">
                <a:solidFill>
                  <a:srgbClr val="0F172A"/>
                </a:solidFill>
              </a:rPr>
              <a:t>commencement_date</a:t>
            </a:r>
          </a:p>
        </p:txBody>
      </p:sp>
      <p:sp>
        <p:nvSpPr>
          <p:cNvPr id="47" name="">
            <a:extLst xmlns:a="http://schemas.openxmlformats.org/drawingml/2006/main">
              <a:ext uri="{FF2B5EF4-FFF2-40B4-BE49-F238E27FC236}">
                <a16:creationId xmlns:a16="http://schemas.microsoft.com/office/drawing/2014/main" id="{80AF8EA7-875B-48E9-BC94-385BF44FE17C}"/>
              </a:ext>
            </a:extLst>
          </p:cNvPr>
          <p:cNvSpPr>
            <a:spLocks xmlns:a="http://schemas.openxmlformats.org/drawingml/2006/main" noGrp="1"/>
          </p:cNvSpPr>
          <p:nvPr/>
        </p:nvSpPr>
        <p:spPr>
          <a:xfrm xmlns:a="http://schemas.openxmlformats.org/drawingml/2006/main">
            <a:off x="8705850" y="39052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2A8C82"/>
                </a:solidFill>
              </a:defRPr>
            </a:pPr>
            <a:r>
              <a:rPr sz="1125" b="1">
                <a:solidFill>
                  <a:srgbClr val="2A8C82"/>
                </a:solidFill>
              </a:rPr>
              <a:t>verdict</a:t>
            </a:r>
          </a:p>
        </p:txBody>
      </p:sp>
      <p:sp>
        <p:nvSpPr>
          <p:cNvPr id="48" name="">
            <a:extLst xmlns:a="http://schemas.openxmlformats.org/drawingml/2006/main">
              <a:ext uri="{FF2B5EF4-FFF2-40B4-BE49-F238E27FC236}">
                <a16:creationId xmlns:a16="http://schemas.microsoft.com/office/drawing/2014/main" id="{551FEFB1-D167-44F5-A791-1278BF3672D1}"/>
              </a:ext>
            </a:extLst>
          </p:cNvPr>
          <p:cNvSpPr>
            <a:spLocks xmlns:a="http://schemas.openxmlformats.org/drawingml/2006/main" noGrp="1"/>
          </p:cNvSpPr>
          <p:nvPr/>
        </p:nvSpPr>
        <p:spPr>
          <a:xfrm xmlns:a="http://schemas.openxmlformats.org/drawingml/2006/main">
            <a:off x="9620250" y="3905250"/>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74C797E1-9A42-49B6-9ACD-8B56E640562B}"/>
              </a:ext>
            </a:extLst>
          </p:cNvPr>
          <p:cNvSpPr>
            <a:spLocks xmlns:a="http://schemas.openxmlformats.org/drawingml/2006/main" noGrp="1"/>
          </p:cNvSpPr>
          <p:nvPr/>
        </p:nvSpPr>
        <p:spPr>
          <a:xfrm xmlns:a="http://schemas.openxmlformats.org/drawingml/2006/main">
            <a:off x="8610600" y="455295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B5483A"/>
                </a:solidFill>
              </a:defRPr>
            </a:pPr>
            <a:r>
              <a:rPr sz="1125" b="1">
                <a:solidFill>
                  <a:srgbClr val="B5483A"/>
                </a:solidFill>
              </a:rPr>
              <a:t>If any gate fails: verdict = null</a:t>
            </a:r>
          </a:p>
        </p:txBody>
      </p:sp>
      <p:sp>
        <p:nvSpPr>
          <p:cNvPr id="50" name="">
            <a:extLst xmlns:a="http://schemas.openxmlformats.org/drawingml/2006/main">
              <a:ext uri="{FF2B5EF4-FFF2-40B4-BE49-F238E27FC236}">
                <a16:creationId xmlns:a16="http://schemas.microsoft.com/office/drawing/2014/main" id="{F29E018C-735D-4305-95EB-880EAAFFB00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4B14FF23-1659-4DD1-89C7-E4A44CB3F878}"/>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v91 evidence schema, provenance ledger and row-level decision trace</a:t>
            </a:r>
          </a:p>
        </p:txBody>
      </p:sp>
      <p:sp>
        <p:nvSpPr>
          <p:cNvPr id="52" name="page-9">
            <a:extLst xmlns:a="http://schemas.openxmlformats.org/drawingml/2006/main">
              <a:ext uri="{FF2B5EF4-FFF2-40B4-BE49-F238E27FC236}">
                <a16:creationId xmlns:a16="http://schemas.microsoft.com/office/drawing/2014/main" id="{04E68293-96CF-413D-9471-B6F06AD5A850}"/>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09</a:t>
            </a:r>
          </a:p>
        </p:txBody>
      </p:sp>
    </p:spTree>
    <p:extLst>
      <p:ext uri="{BB962C8B-B14F-4D97-AF65-F5344CB8AC3E}">
        <p14:creationId xmlns:p14="http://schemas.microsoft.com/office/powerpoint/2010/main" val="99722256"/>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10">
            <a:extLst xmlns:a="http://schemas.openxmlformats.org/drawingml/2006/main">
              <a:ext uri="{FF2B5EF4-FFF2-40B4-BE49-F238E27FC236}">
                <a16:creationId xmlns:a16="http://schemas.microsoft.com/office/drawing/2014/main" id="{2266C73C-66AE-4275-A834-A3C460772811}"/>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EFAFC5E8-E1F3-4BB7-8A09-33D99C92CC75}"/>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Score progression tracked changes in method</a:t>
            </a:r>
          </a:p>
        </p:txBody>
      </p:sp>
      <p:sp>
        <p:nvSpPr>
          <p:cNvPr id="3" name="">
            <a:extLst xmlns:a="http://schemas.openxmlformats.org/drawingml/2006/main">
              <a:ext uri="{FF2B5EF4-FFF2-40B4-BE49-F238E27FC236}">
                <a16:creationId xmlns:a16="http://schemas.microsoft.com/office/drawing/2014/main" id="{21AF8242-5A24-4A71-9176-D56FB42FDC1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ABE6FD2-6752-47C6-97D0-6B2B8101D427}"/>
              </a:ext>
            </a:extLst>
          </p:cNvPr>
          <p:cNvSpPr>
            <a:spLocks xmlns:a="http://schemas.openxmlformats.org/drawingml/2006/main" noGrp="1"/>
          </p:cNvSpPr>
          <p:nvPr/>
        </p:nvSpPr>
        <p:spPr>
          <a:xfrm xmlns:a="http://schemas.openxmlformats.org/drawingml/2006/main">
            <a:off x="685800" y="1381125"/>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important points were architectural pivots, regressions, and reversions—not a monotonic climb.</a:t>
            </a:r>
          </a:p>
        </p:txBody>
      </p:sp>
      <p:graphicFrame>
        <p:nvGraphicFramePr>
          <p:cNvPr id="24" name="Chart"/>
          <p:cNvGraphicFramePr/>
          <p:nvPr/>
        </p:nvGraphicFramePr>
        <p:xfrm>
          <a:off xmlns:a="http://schemas.openxmlformats.org/drawingml/2006/main" x="876300" y="2019300"/>
          <a:ext xmlns:a="http://schemas.openxmlformats.org/drawingml/2006/main" cx="8953500" cy="3467100"/>
        </p:xfrm>
        <a:graphic xmlns:a="http://schemas.openxmlformats.org/drawingml/2006/main">
          <a:graphicData uri="http://schemas.openxmlformats.org/drawingml/2006/chart">
            <c:chart xmlns:r="http://schemas.openxmlformats.org/officeDocument/2006/relationships" xmlns:c="http://schemas.openxmlformats.org/drawingml/2006/chart" r:id="R4c2db883d9414cda"/>
          </a:graphicData>
        </a:graphic>
      </p:graphicFrame>
      <p:sp>
        <p:nvSpPr>
          <p:cNvPr id="6" name="">
            <a:extLst xmlns:a="http://schemas.openxmlformats.org/drawingml/2006/main">
              <a:ext uri="{FF2B5EF4-FFF2-40B4-BE49-F238E27FC236}">
                <a16:creationId xmlns:a16="http://schemas.microsoft.com/office/drawing/2014/main" id="{B480E4B5-4E45-4644-B95F-CACD73AB9073}"/>
              </a:ext>
            </a:extLst>
          </p:cNvPr>
          <p:cNvSpPr>
            <a:spLocks xmlns:a="http://schemas.openxmlformats.org/drawingml/2006/main" noGrp="1"/>
          </p:cNvSpPr>
          <p:nvPr/>
        </p:nvSpPr>
        <p:spPr>
          <a:xfrm xmlns:a="http://schemas.openxmlformats.org/drawingml/2006/main">
            <a:off x="9982200" y="2400300"/>
            <a:ext cx="1485900" cy="1295400"/>
          </a:xfrm>
          <a:prstGeom xmlns:a="http://schemas.openxmlformats.org/drawingml/2006/main" prst="roundRect">
            <a:avLst>
              <a:gd name="adj" fmla="val 11765"/>
            </a:avLst>
          </a:prstGeom>
          <a:solidFill xmlns:a="http://schemas.openxmlformats.org/drawingml/2006/main">
            <a:srgbClr val="DDF2EE"/>
          </a:solidFill>
          <a:ln xmlns:a="http://schemas.openxmlformats.org/drawingml/2006/main" w="9525">
            <a:solidFill>
              <a:srgbClr val="2A8C82"/>
            </a:solidFill>
            <a:prstDash val="solid"/>
          </a:ln>
        </p:spPr>
      </p:sp>
      <p:sp>
        <p:nvSpPr>
          <p:cNvPr id="7" name="">
            <a:extLst xmlns:a="http://schemas.openxmlformats.org/drawingml/2006/main">
              <a:ext uri="{FF2B5EF4-FFF2-40B4-BE49-F238E27FC236}">
                <a16:creationId xmlns:a16="http://schemas.microsoft.com/office/drawing/2014/main" id="{BAE9C764-7789-48C3-976B-D8BA3C290E16}"/>
              </a:ext>
            </a:extLst>
          </p:cNvPr>
          <p:cNvSpPr>
            <a:spLocks xmlns:a="http://schemas.openxmlformats.org/drawingml/2006/main" noGrp="1"/>
          </p:cNvSpPr>
          <p:nvPr/>
        </p:nvSpPr>
        <p:spPr>
          <a:xfrm xmlns:a="http://schemas.openxmlformats.org/drawingml/2006/main">
            <a:off x="10191750" y="257175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v6</a:t>
            </a:r>
          </a:p>
        </p:txBody>
      </p:sp>
      <p:sp>
        <p:nvSpPr>
          <p:cNvPr id="8" name="">
            <a:extLst xmlns:a="http://schemas.openxmlformats.org/drawingml/2006/main">
              <a:ext uri="{FF2B5EF4-FFF2-40B4-BE49-F238E27FC236}">
                <a16:creationId xmlns:a16="http://schemas.microsoft.com/office/drawing/2014/main" id="{2DC4E9D8-42D7-43F1-BCED-2EEA810BAB9B}"/>
              </a:ext>
            </a:extLst>
          </p:cNvPr>
          <p:cNvSpPr>
            <a:spLocks xmlns:a="http://schemas.openxmlformats.org/drawingml/2006/main" noGrp="1"/>
          </p:cNvSpPr>
          <p:nvPr/>
        </p:nvSpPr>
        <p:spPr>
          <a:xfrm xmlns:a="http://schemas.openxmlformats.org/drawingml/2006/main">
            <a:off x="10153650" y="29527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+0.106</a:t>
            </a:r>
          </a:p>
        </p:txBody>
      </p:sp>
      <p:sp>
        <p:nvSpPr>
          <p:cNvPr id="9" name="">
            <a:extLst xmlns:a="http://schemas.openxmlformats.org/drawingml/2006/main">
              <a:ext uri="{FF2B5EF4-FFF2-40B4-BE49-F238E27FC236}">
                <a16:creationId xmlns:a16="http://schemas.microsoft.com/office/drawing/2014/main" id="{1028609C-7FC1-475D-B0B6-BE2286EB8868}"/>
              </a:ext>
            </a:extLst>
          </p:cNvPr>
          <p:cNvSpPr>
            <a:spLocks xmlns:a="http://schemas.openxmlformats.org/drawingml/2006/main" noGrp="1"/>
          </p:cNvSpPr>
          <p:nvPr/>
        </p:nvSpPr>
        <p:spPr>
          <a:xfrm xmlns:a="http://schemas.openxmlformats.org/drawingml/2006/main">
            <a:off x="10134600" y="338137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routing pivot</a:t>
            </a:r>
          </a:p>
        </p:txBody>
      </p:sp>
      <p:sp>
        <p:nvSpPr>
          <p:cNvPr id="10" name="">
            <a:extLst xmlns:a="http://schemas.openxmlformats.org/drawingml/2006/main">
              <a:ext uri="{FF2B5EF4-FFF2-40B4-BE49-F238E27FC236}">
                <a16:creationId xmlns:a16="http://schemas.microsoft.com/office/drawing/2014/main" id="{89ACD5D9-3B84-48A0-B7F6-E6FC2EBC57B0}"/>
              </a:ext>
            </a:extLst>
          </p:cNvPr>
          <p:cNvSpPr>
            <a:spLocks xmlns:a="http://schemas.openxmlformats.org/drawingml/2006/main" noGrp="1"/>
          </p:cNvSpPr>
          <p:nvPr/>
        </p:nvSpPr>
        <p:spPr>
          <a:xfrm xmlns:a="http://schemas.openxmlformats.org/drawingml/2006/main">
            <a:off x="9982200" y="3943350"/>
            <a:ext cx="1485900" cy="1295400"/>
          </a:xfrm>
          <a:prstGeom xmlns:a="http://schemas.openxmlformats.org/drawingml/2006/main" prst="roundRect">
            <a:avLst>
              <a:gd name="adj" fmla="val 11765"/>
            </a:avLst>
          </a:prstGeom>
          <a:solidFill xmlns:a="http://schemas.openxmlformats.org/drawingml/2006/main">
            <a:srgbClr val="FBF0D8"/>
          </a:solidFill>
          <a:ln xmlns:a="http://schemas.openxmlformats.org/drawingml/2006/main" w="9525">
            <a:solidFill>
              <a:srgbClr val="D59B32"/>
            </a:solidFill>
            <a:prstDash val="solid"/>
          </a:ln>
        </p:spPr>
      </p:sp>
      <p:sp>
        <p:nvSpPr>
          <p:cNvPr id="11" name="">
            <a:extLst xmlns:a="http://schemas.openxmlformats.org/drawingml/2006/main">
              <a:ext uri="{FF2B5EF4-FFF2-40B4-BE49-F238E27FC236}">
                <a16:creationId xmlns:a16="http://schemas.microsoft.com/office/drawing/2014/main" id="{768C13E5-3B5F-43D0-9DA7-927FE279EC37}"/>
              </a:ext>
            </a:extLst>
          </p:cNvPr>
          <p:cNvSpPr>
            <a:spLocks xmlns:a="http://schemas.openxmlformats.org/drawingml/2006/main" noGrp="1"/>
          </p:cNvSpPr>
          <p:nvPr/>
        </p:nvSpPr>
        <p:spPr>
          <a:xfrm xmlns:a="http://schemas.openxmlformats.org/drawingml/2006/main">
            <a:off x="10191750" y="411480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v91</a:t>
            </a:r>
          </a:p>
        </p:txBody>
      </p:sp>
      <p:sp>
        <p:nvSpPr>
          <p:cNvPr id="12" name="">
            <a:extLst xmlns:a="http://schemas.openxmlformats.org/drawingml/2006/main">
              <a:ext uri="{FF2B5EF4-FFF2-40B4-BE49-F238E27FC236}">
                <a16:creationId xmlns:a16="http://schemas.microsoft.com/office/drawing/2014/main" id="{83CBA987-C71B-493E-AB61-156DDB59B7E0}"/>
              </a:ext>
            </a:extLst>
          </p:cNvPr>
          <p:cNvSpPr>
            <a:spLocks xmlns:a="http://schemas.openxmlformats.org/drawingml/2006/main" noGrp="1"/>
          </p:cNvSpPr>
          <p:nvPr/>
        </p:nvSpPr>
        <p:spPr>
          <a:xfrm xmlns:a="http://schemas.openxmlformats.org/drawingml/2006/main">
            <a:off x="10153650" y="44958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0.967</a:t>
            </a:r>
          </a:p>
        </p:txBody>
      </p:sp>
      <p:sp>
        <p:nvSpPr>
          <p:cNvPr id="13" name="">
            <a:extLst xmlns:a="http://schemas.openxmlformats.org/drawingml/2006/main">
              <a:ext uri="{FF2B5EF4-FFF2-40B4-BE49-F238E27FC236}">
                <a16:creationId xmlns:a16="http://schemas.microsoft.com/office/drawing/2014/main" id="{31865EB5-65DD-4B39-867A-58C60B32706A}"/>
              </a:ext>
            </a:extLst>
          </p:cNvPr>
          <p:cNvSpPr>
            <a:spLocks xmlns:a="http://schemas.openxmlformats.org/drawingml/2006/main" noGrp="1"/>
          </p:cNvSpPr>
          <p:nvPr/>
        </p:nvSpPr>
        <p:spPr>
          <a:xfrm xmlns:a="http://schemas.openxmlformats.org/drawingml/2006/main">
            <a:off x="10134600" y="492442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typed relations</a:t>
            </a:r>
          </a:p>
        </p:txBody>
      </p:sp>
      <p:sp>
        <p:nvSpPr>
          <p:cNvPr id="14" name="">
            <a:extLst xmlns:a="http://schemas.openxmlformats.org/drawingml/2006/main">
              <a:ext uri="{FF2B5EF4-FFF2-40B4-BE49-F238E27FC236}">
                <a16:creationId xmlns:a16="http://schemas.microsoft.com/office/drawing/2014/main" id="{CD0975C6-F862-4169-B694-A745738FE944}"/>
              </a:ext>
            </a:extLst>
          </p:cNvPr>
          <p:cNvSpPr>
            <a:spLocks xmlns:a="http://schemas.openxmlformats.org/drawingml/2006/main" noGrp="1"/>
          </p:cNvSpPr>
          <p:nvPr/>
        </p:nvSpPr>
        <p:spPr>
          <a:xfrm xmlns:a="http://schemas.openxmlformats.org/drawingml/2006/main">
            <a:off x="2019300" y="56578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1F5A7A"/>
                </a:solidFill>
              </a:defRPr>
            </a:pPr>
            <a:r>
              <a:rPr sz="1050" b="1">
                <a:solidFill>
                  <a:srgbClr val="1F5A7A"/>
                </a:solidFill>
              </a:rPr>
              <a:t>v37: provenance gate</a:t>
            </a:r>
          </a:p>
        </p:txBody>
      </p:sp>
      <p:sp>
        <p:nvSpPr>
          <p:cNvPr id="15" name="">
            <a:extLst xmlns:a="http://schemas.openxmlformats.org/drawingml/2006/main">
              <a:ext uri="{FF2B5EF4-FFF2-40B4-BE49-F238E27FC236}">
                <a16:creationId xmlns:a16="http://schemas.microsoft.com/office/drawing/2014/main" id="{81B3D0B8-8793-4755-BA00-EE233E11218C}"/>
              </a:ext>
            </a:extLst>
          </p:cNvPr>
          <p:cNvSpPr>
            <a:spLocks xmlns:a="http://schemas.openxmlformats.org/drawingml/2006/main" noGrp="1"/>
          </p:cNvSpPr>
          <p:nvPr/>
        </p:nvSpPr>
        <p:spPr>
          <a:xfrm xmlns:a="http://schemas.openxmlformats.org/drawingml/2006/main">
            <a:off x="4953000" y="56578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B5483A"/>
                </a:solidFill>
              </a:defRPr>
            </a:pPr>
            <a:r>
              <a:rPr sz="1050" b="1">
                <a:solidFill>
                  <a:srgbClr val="B5483A"/>
                </a:solidFill>
              </a:rPr>
              <a:t>v87: regression -&gt; revert</a:t>
            </a:r>
          </a:p>
        </p:txBody>
      </p:sp>
      <p:sp>
        <p:nvSpPr>
          <p:cNvPr id="16" name="">
            <a:extLst xmlns:a="http://schemas.openxmlformats.org/drawingml/2006/main">
              <a:ext uri="{FF2B5EF4-FFF2-40B4-BE49-F238E27FC236}">
                <a16:creationId xmlns:a16="http://schemas.microsoft.com/office/drawing/2014/main" id="{7231A80C-BBCD-4005-A812-AF47E067C770}"/>
              </a:ext>
            </a:extLst>
          </p:cNvPr>
          <p:cNvSpPr>
            <a:spLocks xmlns:a="http://schemas.openxmlformats.org/drawingml/2006/main" noGrp="1"/>
          </p:cNvSpPr>
          <p:nvPr/>
        </p:nvSpPr>
        <p:spPr>
          <a:xfrm xmlns:a="http://schemas.openxmlformats.org/drawingml/2006/main">
            <a:off x="7829550" y="56578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1">
                <a:solidFill>
                  <a:srgbClr val="D59B32"/>
                </a:solidFill>
              </a:defRPr>
            </a:pPr>
            <a:r>
              <a:rPr sz="1050" b="1">
                <a:solidFill>
                  <a:srgbClr val="D59B32"/>
                </a:solidFill>
              </a:rPr>
              <a:t>v91: relation-typed evidence</a:t>
            </a:r>
          </a:p>
        </p:txBody>
      </p:sp>
      <p:sp>
        <p:nvSpPr>
          <p:cNvPr id="17" name="">
            <a:extLst xmlns:a="http://schemas.openxmlformats.org/drawingml/2006/main">
              <a:ext uri="{FF2B5EF4-FFF2-40B4-BE49-F238E27FC236}">
                <a16:creationId xmlns:a16="http://schemas.microsoft.com/office/drawing/2014/main" id="{D50B81CD-D598-4603-A9E4-9E5753262F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10">
            <a:extLst xmlns:a="http://schemas.openxmlformats.org/drawingml/2006/main">
              <a:ext uri="{FF2B5EF4-FFF2-40B4-BE49-F238E27FC236}">
                <a16:creationId xmlns:a16="http://schemas.microsoft.com/office/drawing/2014/main" id="{981BBBC3-DF61-41D3-BAEF-A10E31F25434}"/>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Scored Phase 1 experiment ledger and Kaggle public leaderboard</a:t>
            </a:r>
          </a:p>
        </p:txBody>
      </p:sp>
      <p:sp>
        <p:nvSpPr>
          <p:cNvPr id="19" name="page-10">
            <a:extLst xmlns:a="http://schemas.openxmlformats.org/drawingml/2006/main">
              <a:ext uri="{FF2B5EF4-FFF2-40B4-BE49-F238E27FC236}">
                <a16:creationId xmlns:a16="http://schemas.microsoft.com/office/drawing/2014/main" id="{883E75EB-4B30-406A-A431-00CF0866C6B9}"/>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10</a:t>
            </a:r>
          </a:p>
        </p:txBody>
      </p:sp>
    </p:spTree>
    <p:extLst>
      <p:ext uri="{BB962C8B-B14F-4D97-AF65-F5344CB8AC3E}">
        <p14:creationId xmlns:p14="http://schemas.microsoft.com/office/powerpoint/2010/main" val="1268578479"/>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625AE8CB-0C94-4609-8390-4C97A41C01A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594B65A9-6760-4C3B-931D-5F496FAA8ED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AD0C3652-9D01-40EA-BECA-B2BECD8D36F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8FFE28C2-5AD6-432C-9A77-4A47E48F60D6}"/>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95103302-A6A5-47D3-83D7-651C64E9DE6A}"/>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57CF3F3E-D372-47FB-BC71-6926E9EAB000}"/>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C9DB1B5B-C2B6-4DF6-95F8-54A08ACA949E}"/>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9CD186C0-E526-4169-8499-16A0D34ED8BC}"/>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B9AC08FD-2628-442A-88EE-BE33E83F5D60}"/>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C3FDFC95-5F7B-4606-8DE8-326F99805378}"/>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C4C360FF-E04E-491E-B0C2-81312F6D1E4F}"/>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D01F79FD-61F1-4A31-95F8-7F2CC8778206}"/>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BB038077-AE17-4549-8449-43624651231D}"/>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91A13FE0-DF7D-4AE5-99F8-DCE53725FA0F}"/>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DDDC46DC-5BE5-4A52-A0AE-3E16D789EFF1}"/>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A268A6E8-4E27-4A18-B412-E0F7A01349B3}"/>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B94478DD-E93E-4572-9359-7E27F1D51497}"/>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5F8453F5-CA98-446A-AC75-63B3D91D1F7B}"/>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405614A3-3842-4A46-B240-4A677279101D}"/>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D30D0CCC-DA79-4DD9-93A6-A46E84A5D5CC}"/>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30E50BF-E199-4BE6-809C-E8CA59971879}"/>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8A5AD899-E95A-4A99-9248-DBDD7FA38740}"/>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FA04B6E4-C897-4256-92AA-4E485C0547D5}"/>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C0CE661D-1A5E-4F22-A281-FACBE7ECEB8B}"/>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B51FAC8C-954C-401F-91A1-E2B70172E4A5}"/>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B8921EB6-F693-4CD5-B111-C21C8048AAE0}"/>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07BC1876-CB43-4267-B07C-07A08A532B9F}"/>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59AEB281-26AB-4D1C-8E6C-96EE9FA96B4A}"/>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11</a:t>
            </a:r>
          </a:p>
        </p:txBody>
      </p:sp>
    </p:spTree>
    <p:extLst>
      <p:ext uri="{BB962C8B-B14F-4D97-AF65-F5344CB8AC3E}">
        <p14:creationId xmlns:p14="http://schemas.microsoft.com/office/powerpoint/2010/main" val="547779737"/>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6" name="kicker-12">
            <a:extLst xmlns:a="http://schemas.openxmlformats.org/drawingml/2006/main">
              <a:ext uri="{FF2B5EF4-FFF2-40B4-BE49-F238E27FC236}">
                <a16:creationId xmlns:a16="http://schemas.microsoft.com/office/drawing/2014/main" id="{21124CDE-42E3-443F-84F1-A87B8768516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9F7DC580-1AEC-4C20-9956-EDA6C02C46D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Regression gates separated progress from score noise</a:t>
            </a:r>
          </a:p>
        </p:txBody>
      </p:sp>
      <p:sp>
        <p:nvSpPr>
          <p:cNvPr id="3" name="">
            <a:extLst xmlns:a="http://schemas.openxmlformats.org/drawingml/2006/main">
              <a:ext uri="{FF2B5EF4-FFF2-40B4-BE49-F238E27FC236}">
                <a16:creationId xmlns:a16="http://schemas.microsoft.com/office/drawing/2014/main" id="{19FF1DFC-BFB1-48F3-9771-5BC9813543A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8E11D8A1-A35F-48BD-8EAB-B0E8AA7512C2}"/>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We kept local correctness, reproducibility, aggregate evaluation, and runtime as separate checks.</a:t>
            </a:r>
          </a:p>
        </p:txBody>
      </p:sp>
      <p:sp>
        <p:nvSpPr>
          <p:cNvPr id="5" name="">
            <a:extLst xmlns:a="http://schemas.openxmlformats.org/drawingml/2006/main">
              <a:ext uri="{FF2B5EF4-FFF2-40B4-BE49-F238E27FC236}">
                <a16:creationId xmlns:a16="http://schemas.microsoft.com/office/drawing/2014/main" id="{A76A13DE-C348-4306-A67D-8209990DDB72}"/>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F7D8E3EF-B0E6-4EAD-8137-621766326B15}"/>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A96A4259-23C5-421A-B438-206AB3AAE0B4}"/>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42E32E9D-23BF-49B3-A331-596E80B2293F}"/>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C0680FB1-FFC9-4A81-9975-5AE1C994F61A}"/>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16B98617-6DE7-42B4-AB6B-A5BEE8AB84E2}"/>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776D1D8D-F9D4-4B8F-A3F8-ABD11D990D47}"/>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36F44AD7-7121-45F0-AA7E-6D3612C22C2D}"/>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C49AEAA0-C27B-4B5A-89C3-39911C7DA513}"/>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87E7BEB6-B3FD-434D-A962-72ABA36D8505}"/>
              </a:ext>
            </a:extLst>
          </p:cNvPr>
          <p:cNvSpPr>
            <a:spLocks xmlns:a="http://schemas.openxmlformats.org/drawingml/2006/main" noGrp="1"/>
          </p:cNvSpPr>
          <p:nvPr/>
        </p:nvSpPr>
        <p:spPr>
          <a:xfrm xmlns:a="http://schemas.openxmlformats.org/drawingml/2006/main">
            <a:off x="1181100" y="4095750"/>
            <a:ext cx="9829800" cy="16764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2B21598F-0596-4C30-804B-B915BD547051}"/>
              </a:ext>
            </a:extLst>
          </p:cNvPr>
          <p:cNvSpPr>
            <a:spLocks xmlns:a="http://schemas.openxmlformats.org/drawingml/2006/main" noGrp="1"/>
          </p:cNvSpPr>
          <p:nvPr/>
        </p:nvSpPr>
        <p:spPr>
          <a:xfrm xmlns:a="http://schemas.openxmlformats.org/drawingml/2006/main">
            <a:off x="1524000" y="4286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Released labels</a:t>
            </a:r>
          </a:p>
        </p:txBody>
      </p:sp>
      <p:sp>
        <p:nvSpPr>
          <p:cNvPr id="16" name="">
            <a:extLst xmlns:a="http://schemas.openxmlformats.org/drawingml/2006/main">
              <a:ext uri="{FF2B5EF4-FFF2-40B4-BE49-F238E27FC236}">
                <a16:creationId xmlns:a16="http://schemas.microsoft.com/office/drawing/2014/main" id="{7B902A5B-E913-4200-ADD2-FE65343269F7}"/>
              </a:ext>
            </a:extLst>
          </p:cNvPr>
          <p:cNvSpPr>
            <a:spLocks xmlns:a="http://schemas.openxmlformats.org/drawingml/2006/main" noGrp="1"/>
          </p:cNvSpPr>
          <p:nvPr/>
        </p:nvSpPr>
        <p:spPr>
          <a:xfrm xmlns:a="http://schemas.openxmlformats.org/drawingml/2006/main">
            <a:off x="3905250" y="42862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0.9933 macro F1 on 299 rows</a:t>
            </a:r>
          </a:p>
        </p:txBody>
      </p:sp>
      <p:sp>
        <p:nvSpPr>
          <p:cNvPr id="17" name="">
            <a:extLst xmlns:a="http://schemas.openxmlformats.org/drawingml/2006/main">
              <a:ext uri="{FF2B5EF4-FFF2-40B4-BE49-F238E27FC236}">
                <a16:creationId xmlns:a16="http://schemas.microsoft.com/office/drawing/2014/main" id="{E1D33924-7B47-42E9-AD29-750269AA19A1}"/>
              </a:ext>
            </a:extLst>
          </p:cNvPr>
          <p:cNvSpPr>
            <a:spLocks xmlns:a="http://schemas.openxmlformats.org/drawingml/2006/main" noGrp="1"/>
          </p:cNvSpPr>
          <p:nvPr/>
        </p:nvSpPr>
        <p:spPr>
          <a:xfrm xmlns:a="http://schemas.openxmlformats.org/drawingml/2006/main">
            <a:off x="1524000" y="4667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Phase 1 aggregate</a:t>
            </a:r>
          </a:p>
        </p:txBody>
      </p:sp>
      <p:sp>
        <p:nvSpPr>
          <p:cNvPr id="18" name="">
            <a:extLst xmlns:a="http://schemas.openxmlformats.org/drawingml/2006/main">
              <a:ext uri="{FF2B5EF4-FFF2-40B4-BE49-F238E27FC236}">
                <a16:creationId xmlns:a16="http://schemas.microsoft.com/office/drawing/2014/main" id="{36E16BE8-43A7-464C-8ADE-582E420B2FE9}"/>
              </a:ext>
            </a:extLst>
          </p:cNvPr>
          <p:cNvSpPr>
            <a:spLocks xmlns:a="http://schemas.openxmlformats.org/drawingml/2006/main" noGrp="1"/>
          </p:cNvSpPr>
          <p:nvPr/>
        </p:nvSpPr>
        <p:spPr>
          <a:xfrm xmlns:a="http://schemas.openxmlformats.org/drawingml/2006/main">
            <a:off x="3905250" y="46672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0.967 public; 0.982 private</a:t>
            </a:r>
          </a:p>
        </p:txBody>
      </p:sp>
      <p:sp>
        <p:nvSpPr>
          <p:cNvPr id="19" name="">
            <a:extLst xmlns:a="http://schemas.openxmlformats.org/drawingml/2006/main">
              <a:ext uri="{FF2B5EF4-FFF2-40B4-BE49-F238E27FC236}">
                <a16:creationId xmlns:a16="http://schemas.microsoft.com/office/drawing/2014/main" id="{5295B11D-0C97-47AE-B41E-1B5810496A80}"/>
              </a:ext>
            </a:extLst>
          </p:cNvPr>
          <p:cNvSpPr>
            <a:spLocks xmlns:a="http://schemas.openxmlformats.org/drawingml/2006/main" noGrp="1"/>
          </p:cNvSpPr>
          <p:nvPr/>
        </p:nvSpPr>
        <p:spPr>
          <a:xfrm xmlns:a="http://schemas.openxmlformats.org/drawingml/2006/main">
            <a:off x="1524000" y="5048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Frozen output</a:t>
            </a:r>
          </a:p>
        </p:txBody>
      </p:sp>
      <p:sp>
        <p:nvSpPr>
          <p:cNvPr id="20" name="">
            <a:extLst xmlns:a="http://schemas.openxmlformats.org/drawingml/2006/main">
              <a:ext uri="{FF2B5EF4-FFF2-40B4-BE49-F238E27FC236}">
                <a16:creationId xmlns:a16="http://schemas.microsoft.com/office/drawing/2014/main" id="{A15D2101-8EE8-4624-B982-1A083E4EEE11}"/>
              </a:ext>
            </a:extLst>
          </p:cNvPr>
          <p:cNvSpPr>
            <a:spLocks xmlns:a="http://schemas.openxmlformats.org/drawingml/2006/main" noGrp="1"/>
          </p:cNvSpPr>
          <p:nvPr/>
        </p:nvSpPr>
        <p:spPr>
          <a:xfrm xmlns:a="http://schemas.openxmlformats.org/drawingml/2006/main">
            <a:off x="3905250" y="50482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SHA-256 matched the scored CSV</a:t>
            </a:r>
          </a:p>
        </p:txBody>
      </p:sp>
      <p:sp>
        <p:nvSpPr>
          <p:cNvPr id="21" name="">
            <a:extLst xmlns:a="http://schemas.openxmlformats.org/drawingml/2006/main">
              <a:ext uri="{FF2B5EF4-FFF2-40B4-BE49-F238E27FC236}">
                <a16:creationId xmlns:a16="http://schemas.microsoft.com/office/drawing/2014/main" id="{9883E36E-309F-4EC1-84ED-8639C5D6AFAE}"/>
              </a:ext>
            </a:extLst>
          </p:cNvPr>
          <p:cNvSpPr>
            <a:spLocks xmlns:a="http://schemas.openxmlformats.org/drawingml/2006/main" noGrp="1"/>
          </p:cNvSpPr>
          <p:nvPr/>
        </p:nvSpPr>
        <p:spPr>
          <a:xfrm xmlns:a="http://schemas.openxmlformats.org/drawingml/2006/main">
            <a:off x="1524000" y="5429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Phase 2 contract</a:t>
            </a:r>
          </a:p>
        </p:txBody>
      </p:sp>
      <p:sp>
        <p:nvSpPr>
          <p:cNvPr id="22" name="">
            <a:extLst xmlns:a="http://schemas.openxmlformats.org/drawingml/2006/main">
              <a:ext uri="{FF2B5EF4-FFF2-40B4-BE49-F238E27FC236}">
                <a16:creationId xmlns:a16="http://schemas.microsoft.com/office/drawing/2014/main" id="{3A7AE3DD-2A88-45DF-A6A9-9B8AE1956887}"/>
              </a:ext>
            </a:extLst>
          </p:cNvPr>
          <p:cNvSpPr>
            <a:spLocks xmlns:a="http://schemas.openxmlformats.org/drawingml/2006/main" noGrp="1"/>
          </p:cNvSpPr>
          <p:nvPr/>
        </p:nvSpPr>
        <p:spPr>
          <a:xfrm xmlns:a="http://schemas.openxmlformats.org/drawingml/2006/main">
            <a:off x="3905250" y="542925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5,000 ordered rows validated in 3:52:02</a:t>
            </a:r>
          </a:p>
        </p:txBody>
      </p:sp>
      <p:sp>
        <p:nvSpPr>
          <p:cNvPr id="23" name="">
            <a:extLst xmlns:a="http://schemas.openxmlformats.org/drawingml/2006/main">
              <a:ext uri="{FF2B5EF4-FFF2-40B4-BE49-F238E27FC236}">
                <a16:creationId xmlns:a16="http://schemas.microsoft.com/office/drawing/2014/main" id="{C580FB3E-B77C-41EC-9F01-15883C1363A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4" name="source-12">
            <a:extLst xmlns:a="http://schemas.openxmlformats.org/drawingml/2006/main">
              <a:ext uri="{FF2B5EF4-FFF2-40B4-BE49-F238E27FC236}">
                <a16:creationId xmlns:a16="http://schemas.microsoft.com/office/drawing/2014/main" id="{F4B1FD70-F49D-4DEA-B3FD-DAEB9AAD10F6}"/>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Regression suite, freeze manifest, evaluation ledger  [8] Phase 2 runtime evidence</a:t>
            </a:r>
          </a:p>
        </p:txBody>
      </p:sp>
      <p:sp>
        <p:nvSpPr>
          <p:cNvPr id="25" name="page-12">
            <a:extLst xmlns:a="http://schemas.openxmlformats.org/drawingml/2006/main">
              <a:ext uri="{FF2B5EF4-FFF2-40B4-BE49-F238E27FC236}">
                <a16:creationId xmlns:a16="http://schemas.microsoft.com/office/drawing/2014/main" id="{C3694267-DDCD-4F13-A65E-5CD99DC3C54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12</a:t>
            </a:r>
          </a:p>
        </p:txBody>
      </p:sp>
    </p:spTree>
    <p:extLst>
      <p:ext uri="{BB962C8B-B14F-4D97-AF65-F5344CB8AC3E}">
        <p14:creationId xmlns:p14="http://schemas.microsoft.com/office/powerpoint/2010/main" val="354991230"/>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08EA9D9F-EC07-4ED1-9C3C-B99F41F08C6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5018F185-51D9-478E-99F1-B7A1656FB11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completed in 3 h 52 min with 95.9% judged</a:t>
            </a:r>
          </a:p>
        </p:txBody>
      </p:sp>
      <p:sp>
        <p:nvSpPr>
          <p:cNvPr id="3" name="">
            <a:extLst xmlns:a="http://schemas.openxmlformats.org/drawingml/2006/main">
              <a:ext uri="{FF2B5EF4-FFF2-40B4-BE49-F238E27FC236}">
                <a16:creationId xmlns:a16="http://schemas.microsoft.com/office/drawing/2014/main" id="{5E40B5B9-01B4-4F7B-B62E-F8B1B1C50DE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CFBC0D92-26ED-4BB3-8912-C31590318752}"/>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Measured organizer-run inference on 5,000 rows using Kaggle Tesla T4 x2.</a:t>
            </a:r>
          </a:p>
        </p:txBody>
      </p:sp>
      <p:sp>
        <p:nvSpPr>
          <p:cNvPr id="5" name="">
            <a:extLst xmlns:a="http://schemas.openxmlformats.org/drawingml/2006/main">
              <a:ext uri="{FF2B5EF4-FFF2-40B4-BE49-F238E27FC236}">
                <a16:creationId xmlns:a16="http://schemas.microsoft.com/office/drawing/2014/main" id="{2F397C4F-2226-4BEB-990C-AF900685E929}"/>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5,000</a:t>
            </a:r>
          </a:p>
        </p:txBody>
      </p:sp>
      <p:sp>
        <p:nvSpPr>
          <p:cNvPr id="6" name="">
            <a:extLst xmlns:a="http://schemas.openxmlformats.org/drawingml/2006/main">
              <a:ext uri="{FF2B5EF4-FFF2-40B4-BE49-F238E27FC236}">
                <a16:creationId xmlns:a16="http://schemas.microsoft.com/office/drawing/2014/main" id="{3D75A14C-365C-4EF5-9CC8-933281E20F74}"/>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held-out rows</a:t>
            </a:r>
          </a:p>
        </p:txBody>
      </p:sp>
      <p:sp>
        <p:nvSpPr>
          <p:cNvPr id="7" name="">
            <a:extLst xmlns:a="http://schemas.openxmlformats.org/drawingml/2006/main">
              <a:ext uri="{FF2B5EF4-FFF2-40B4-BE49-F238E27FC236}">
                <a16:creationId xmlns:a16="http://schemas.microsoft.com/office/drawing/2014/main" id="{A198033B-F402-4D5A-832F-849F276455AA}"/>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207</a:t>
            </a:r>
          </a:p>
        </p:txBody>
      </p:sp>
      <p:sp>
        <p:nvSpPr>
          <p:cNvPr id="8" name="">
            <a:extLst xmlns:a="http://schemas.openxmlformats.org/drawingml/2006/main">
              <a:ext uri="{FF2B5EF4-FFF2-40B4-BE49-F238E27FC236}">
                <a16:creationId xmlns:a16="http://schemas.microsoft.com/office/drawing/2014/main" id="{6E1AD017-5386-494E-BDFC-CAE0ABC1D16B}"/>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(4.14%)</a:t>
            </a:r>
          </a:p>
        </p:txBody>
      </p:sp>
      <p:sp>
        <p:nvSpPr>
          <p:cNvPr id="9" name="">
            <a:extLst xmlns:a="http://schemas.openxmlformats.org/drawingml/2006/main">
              <a:ext uri="{FF2B5EF4-FFF2-40B4-BE49-F238E27FC236}">
                <a16:creationId xmlns:a16="http://schemas.microsoft.com/office/drawing/2014/main" id="{4D298023-F6BE-46C7-BEFA-D69CCD62743D}"/>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55D1B936-B455-4001-973F-C0E7C23C58C5}"/>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6B9F3450-B968-48EC-9B6B-4B7DFAF29ACF}"/>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7AFD2CB4-F2F5-4398-A2D8-9B81D9785296}"/>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validated end to end</a:t>
            </a:r>
          </a:p>
        </p:txBody>
      </p:sp>
      <p:sp>
        <p:nvSpPr>
          <p:cNvPr id="13" name="">
            <a:extLst xmlns:a="http://schemas.openxmlformats.org/drawingml/2006/main">
              <a:ext uri="{FF2B5EF4-FFF2-40B4-BE49-F238E27FC236}">
                <a16:creationId xmlns:a16="http://schemas.microsoft.com/office/drawing/2014/main" id="{98428F48-0294-4BA2-8DBD-09AA5047E48E}"/>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91FA80DF-536D-4349-BC1B-E3FC90B75D7D}"/>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8E1117E8-3B0B-4839-BFC9-983FE7E5A829}"/>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D8629289-A485-4D97-B6EE-19207F99550C}"/>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6EFDAE9A-E5D4-4354-805F-E861FA7B7223}"/>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B2152F5D-FE26-4A78-93A1-A2C7D60289E9}"/>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8CE0A63C-0E06-486A-AB8D-B692AF11BFE5}"/>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7984AB67-C415-4E24-BD35-78112A32D027}"/>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CCF30C90-B9CF-4884-9766-3663C9D992BE}"/>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81DEB01B-E6FF-414F-8487-411C8D4B7135}"/>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47F86FB5-EAD1-4BB6-869C-BE34FBF1972E}"/>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496A3353-8AB7-4B88-9135-2E7B3E35D662}"/>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B006009F-078C-4E88-BCC3-C1514C940648}"/>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1EF7B33F-A39F-4E0C-92FD-125D8A57CED1}"/>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24BC2A87-C8B9-4975-9CD4-836DEF2D99AE}"/>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19CB0DC9-9C82-4718-922E-1B3EFF4F1B43}"/>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1177DB08-2315-425E-8DE6-BEC9DA898FE7}"/>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0A265FEC-707E-4569-AE68-8EC680629154}"/>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B753128A-E0A6-4D5D-AE3F-CE7533C33E65}"/>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356B1403-E9A7-4FA9-BFCE-14296DC971D6}"/>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F0A5D704-9272-46AF-8EB7-C27A53F3BAB0}"/>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725E7AB9-4889-4872-8C53-79C55DCEF491}"/>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[8] Organizer-executed Phase 2 notebook and runtime report</a:t>
            </a:r>
          </a:p>
        </p:txBody>
      </p:sp>
      <p:sp>
        <p:nvSpPr>
          <p:cNvPr id="35" name="page-13">
            <a:extLst xmlns:a="http://schemas.openxmlformats.org/drawingml/2006/main">
              <a:ext uri="{FF2B5EF4-FFF2-40B4-BE49-F238E27FC236}">
                <a16:creationId xmlns:a16="http://schemas.microsoft.com/office/drawing/2014/main" id="{A98E0FB1-2128-434C-A9ED-EDD83261C846}"/>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13</a:t>
            </a:r>
          </a:p>
        </p:txBody>
      </p:sp>
    </p:spTree>
    <p:extLst>
      <p:ext uri="{BB962C8B-B14F-4D97-AF65-F5344CB8AC3E}">
        <p14:creationId xmlns:p14="http://schemas.microsoft.com/office/powerpoint/2010/main" val="1740923909"/>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90D67FD6-7C22-4496-820C-9D101441F6C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3F7CABC6-783A-4D4D-8E86-9EDEF2FEA466}"/>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coverage fell from 93.72% to 4.14%</a:t>
            </a:r>
          </a:p>
        </p:txBody>
      </p:sp>
      <p:sp>
        <p:nvSpPr>
          <p:cNvPr id="3" name="">
            <a:extLst xmlns:a="http://schemas.openxmlformats.org/drawingml/2006/main">
              <a:ext uri="{FF2B5EF4-FFF2-40B4-BE49-F238E27FC236}">
                <a16:creationId xmlns:a16="http://schemas.microsoft.com/office/drawing/2014/main" id="{432ABE0A-ABC8-4F99-B344-5275C60E3EA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597357D-9B7F-405B-BA66-CB3CFB4D2FB1}"/>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96E4D679-9253-445F-9A20-9CF23953E536}"/>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B5079DA5-24B1-43F8-9ED8-77E5439DADD9}"/>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ED6D5DCD-3578-4FB8-AAF5-4AD843FC0300}"/>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B9612770-CDB8-42F1-811D-FF6AA77A9CD0}"/>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EBE5E054-2586-4668-B38B-8C1363EA30F5}"/>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04E856E9-F47F-4F8D-B860-4D0A4AF45C1B}"/>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3A43B170-DB6D-4238-AB2D-F103E8555C36}"/>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F23404EE-AD2B-4ACF-811F-89F5C2E206F9}"/>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005A0F57-D679-4AD9-92EF-F4256278169C}"/>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8D4F667B-438C-4F6D-AF65-29326ED76263}"/>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C0209546-552E-4845-8565-EDA4103256F7}"/>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AAF5F9AD-8B8F-4B53-B8E6-FB097C3AA433}"/>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0E4359D6-330E-4A32-AEA8-B5A2CAB1C605}"/>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AD8A8FEC-6CCA-49D6-956B-FB9BCFDB7411}"/>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AFD15C9F-E211-437F-A0C0-1E921F09EF0E}"/>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E6E4DE71-FF7C-4739-B015-DA736528DD65}"/>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718D6CCF-2A9A-4513-9513-1B1E1E7202CB}"/>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0">
                <a:solidFill>
                  <a:srgbClr val="526174"/>
                </a:solidFill>
              </a:defRPr>
            </a:pPr>
            <a:r>
              <a:rPr sz="1425" b="0">
                <a:solidFill>
                  <a:srgbClr val="526174"/>
                </a:solidFill>
              </a:rPr>
              <a:t>context clauses</a:t>
            </a:r>
          </a:p>
          <a:p xmlns:a="http://schemas.openxmlformats.org/drawingml/2006/main">
            <a:pPr algn="ctr">
              <a:defRPr sz="1425" b="0">
                <a:solidFill>
                  <a:srgbClr val="526174"/>
                </a:solidFill>
              </a:defRPr>
            </a:pPr>
            <a:r>
              <a:rPr sz="1425" b="0">
                <a:solidFill>
                  <a:srgbClr val="526174"/>
                </a:solidFill>
              </a:rPr>
              <a:t>structured solvers</a:t>
            </a:r>
          </a:p>
          <a:p xmlns:a="http://schemas.openxmlformats.org/drawingml/2006/main">
            <a:pPr algn="ctr">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B8997795-4E3C-4A0C-9C26-478DF0D2BCF6}"/>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BE2A5FD6-E187-4422-8D4E-F51C344F3347}"/>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E8282D56-791D-4176-8B23-062C8FB8E2B6}"/>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skip lineage</a:t>
            </a:r>
          </a:p>
          <a:p xmlns:a="http://schemas.openxmlformats.org/drawingml/2006/main">
            <a:pPr algn="ctr">
              <a:defRPr sz="1350" b="0">
                <a:solidFill>
                  <a:srgbClr val="526174"/>
                </a:solidFill>
              </a:defRPr>
            </a:pPr>
            <a:r>
              <a:rPr sz="1350" b="0">
                <a:solidFill>
                  <a:srgbClr val="526174"/>
                </a:solidFill>
              </a:rPr>
              <a:t>use the fixed judge</a:t>
            </a:r>
          </a:p>
          <a:p xmlns:a="http://schemas.openxmlformats.org/drawingml/2006/main">
            <a:pPr algn="ctr">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2C4AFD94-B50B-43F2-B81C-FE9CD5CA5692}"/>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37823AFC-E6FF-4F38-9421-F867252AD7BE}"/>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DC09F3D9-CD25-4B3F-82D6-063D2462680B}"/>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The fixed judge absorbed the shift and still finished in 3:52:02.</a:t>
            </a:r>
          </a:p>
        </p:txBody>
      </p:sp>
      <p:sp>
        <p:nvSpPr>
          <p:cNvPr id="28" name="">
            <a:extLst xmlns:a="http://schemas.openxmlformats.org/drawingml/2006/main">
              <a:ext uri="{FF2B5EF4-FFF2-40B4-BE49-F238E27FC236}">
                <a16:creationId xmlns:a16="http://schemas.microsoft.com/office/drawing/2014/main" id="{406A6216-4B65-4017-A55A-76AF363FD0F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84FD9FD3-DB92-4712-800C-138C4A191EC6}"/>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[2] Phase 2 source preview  [8] Measured held-out run</a:t>
            </a:r>
          </a:p>
        </p:txBody>
      </p:sp>
      <p:sp>
        <p:nvSpPr>
          <p:cNvPr id="30" name="page-14">
            <a:extLst xmlns:a="http://schemas.openxmlformats.org/drawingml/2006/main">
              <a:ext uri="{FF2B5EF4-FFF2-40B4-BE49-F238E27FC236}">
                <a16:creationId xmlns:a16="http://schemas.microsoft.com/office/drawing/2014/main" id="{72F04BA8-7A6A-4771-9748-FB94CFC71CCF}"/>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14</a:t>
            </a:r>
          </a:p>
        </p:txBody>
      </p:sp>
    </p:spTree>
    <p:extLst>
      <p:ext uri="{BB962C8B-B14F-4D97-AF65-F5344CB8AC3E}">
        <p14:creationId xmlns:p14="http://schemas.microsoft.com/office/powerpoint/2010/main" val="778424743"/>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D2B50AA-DFFC-4F87-8BA8-3350B07A4AC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51C7C5F4-7E5B-4620-94EB-DE657B9A376A}"/>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00" b="1">
                <a:solidFill>
                  <a:srgbClr val="0F172A"/>
                </a:solidFill>
              </a:defRPr>
            </a:pPr>
            <a:r>
              <a:rPr sz="3300" b="1">
                <a:solidFill>
                  <a:srgbClr val="0F172A"/>
                </a:solidFill>
              </a:rPr>
              <a:t>What the experiments support—</a:t>
            </a:r>
          </a:p>
          <a:p xmlns:a="http://schemas.openxmlformats.org/drawingml/2006/main">
            <a:pPr algn="l">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43EBAC11-86C0-45BC-958D-B5DAD62456D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CEE4A96C-DBBE-4B8F-902B-59972D8097CC}"/>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1C74FDB9-754D-4D83-B38D-038B8DBBCDD8}"/>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Task families need separate policies.</a:t>
            </a:r>
          </a:p>
          <a:p xmlns:a="http://schemas.openxmlformats.org/drawingml/2006/main">
            <a:pPr algn="l">
              <a:defRPr sz="1275" b="0">
                <a:solidFill>
                  <a:srgbClr val="0F172A"/>
                </a:solidFill>
              </a:defRPr>
            </a:pPr>
            <a:r>
              <a:rPr sz="1275" b="0">
                <a:solidFill>
                  <a:srgbClr val="0F172A"/>
                </a:solidFill>
              </a:rPr>
              <a:t>Predicate alignment prevents relation swaps.</a:t>
            </a:r>
          </a:p>
          <a:p xmlns:a="http://schemas.openxmlformats.org/drawingml/2006/main">
            <a:pPr algn="l">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E5723BA6-41F3-49CE-AC27-3992D8B30D10}"/>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50C4BFE5-CDA4-4229-99BF-93F715CA3A57}"/>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C0C036EE-AB2D-4902-BC6D-62CE99F8A340}"/>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Only 299 released labels.</a:t>
            </a:r>
          </a:p>
          <a:p xmlns:a="http://schemas.openxmlformats.org/drawingml/2006/main">
            <a:pPr algn="l">
              <a:defRPr sz="1275" b="0">
                <a:solidFill>
                  <a:srgbClr val="0F172A"/>
                </a:solidFill>
              </a:defRPr>
            </a:pPr>
            <a:r>
              <a:rPr sz="1275" b="0">
                <a:solidFill>
                  <a:srgbClr val="0F172A"/>
                </a:solidFill>
              </a:rPr>
              <a:t>Aggregate splits provide no row-level errors.</a:t>
            </a:r>
          </a:p>
          <a:p xmlns:a="http://schemas.openxmlformats.org/drawingml/2006/main">
            <a:pPr algn="l">
              <a:defRPr sz="1275" b="0">
                <a:solidFill>
                  <a:srgbClr val="0F172A"/>
                </a:solidFill>
              </a:defRPr>
            </a:pPr>
            <a:r>
              <a:rPr sz="1275" b="0">
                <a:solidFill>
                  <a:srgbClr val="0F172A"/>
                </a:solidFill>
              </a:rPr>
              <a:t>Phase 2 accuracy is still unknown.</a:t>
            </a:r>
          </a:p>
        </p:txBody>
      </p:sp>
      <p:sp>
        <p:nvSpPr>
          <p:cNvPr id="9" name="">
            <a:extLst xmlns:a="http://schemas.openxmlformats.org/drawingml/2006/main">
              <a:ext uri="{FF2B5EF4-FFF2-40B4-BE49-F238E27FC236}">
                <a16:creationId xmlns:a16="http://schemas.microsoft.com/office/drawing/2014/main" id="{CFA44C56-0B3A-4043-A612-04BB67073B76}"/>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B862DEC-19FB-420D-99D2-D67BE2978B42}"/>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605406C1-8011-4F17-93A8-B74555025ACA}"/>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Inspect Phase 2 errors when released.</a:t>
            </a:r>
          </a:p>
          <a:p xmlns:a="http://schemas.openxmlformats.org/drawingml/2006/main">
            <a:pPr algn="l">
              <a:defRPr sz="1275" b="0">
                <a:solidFill>
                  <a:srgbClr val="0F172A"/>
                </a:solidFill>
              </a:defRPr>
            </a:pPr>
            <a:r>
              <a:rPr sz="1275" b="0">
                <a:solidFill>
                  <a:srgbClr val="0F172A"/>
                </a:solidFill>
              </a:rPr>
              <a:t>Calibrate the judged tail.</a:t>
            </a:r>
          </a:p>
          <a:p xmlns:a="http://schemas.openxmlformats.org/drawingml/2006/main">
            <a:pPr algn="l">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2E9D950B-3BBC-4A1D-9865-32242E8A2373}"/>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7E2E0417-E987-4F8B-B5EA-D15E9ACA17F4}"/>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350" b="1">
                <a:solidFill>
                  <a:srgbClr val="526174"/>
                </a:solidFill>
              </a:defRPr>
            </a:pPr>
            <a:r>
              <a:rPr sz="1350" b="1">
                <a:solidFill>
                  <a:srgbClr val="526174"/>
                </a:solidFill>
              </a:rPr>
              <a:t>Selective inference remained reproducible and completed the held-out run within the runtime limit.</a:t>
            </a:r>
          </a:p>
        </p:txBody>
      </p:sp>
      <p:sp>
        <p:nvSpPr>
          <p:cNvPr id="14" name="">
            <a:extLst xmlns:a="http://schemas.openxmlformats.org/drawingml/2006/main">
              <a:ext uri="{FF2B5EF4-FFF2-40B4-BE49-F238E27FC236}">
                <a16:creationId xmlns:a16="http://schemas.microsoft.com/office/drawing/2014/main" id="{8406EE11-AB56-47B3-B74E-EB39B9ACC2F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640024BD-FD05-47A7-B818-F7394D7207E4}"/>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4317606A-48A7-4F30-B9F7-931B672D4E0D}"/>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15</a:t>
            </a:r>
          </a:p>
        </p:txBody>
      </p:sp>
    </p:spTree>
    <p:extLst>
      <p:ext uri="{BB962C8B-B14F-4D97-AF65-F5344CB8AC3E}">
        <p14:creationId xmlns:p14="http://schemas.microsoft.com/office/powerpoint/2010/main" val="1361534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2026-07-22T18:58:59.7720000Z</dcterms:created>
  <dcterms:modified xsi:type="dcterms:W3CDTF">2026-07-22T18:58:59.7720000Z</dcterms:modified>
</coreProperties>
</file>