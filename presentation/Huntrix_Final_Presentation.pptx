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e1741059f184afd" /><Relationship Type="http://schemas.openxmlformats.org/officeDocument/2006/relationships/extended-properties" Target="/docProps/app.xml" Id="Rd09ee6904e6e43cb" /><Relationship Type="http://schemas.openxmlformats.org/officeDocument/2006/relationships/officeDocument" Target="/ppt/presentation.xml" Id="Raba7e6368e5d4129" /></Relationships>
</file>

<file path=ppt/presentation.xml><?xml version="1.0" encoding="utf-8"?>
<p:presentation xmlns:p="http://schemas.openxmlformats.org/presentationml/2006/main">
  <p:sldMasterIdLst>
    <p:sldMasterId xmlns:r="http://schemas.openxmlformats.org/officeDocument/2006/relationships" id="2147483648" r:id="Rd2a48ed8a2c6463a"/>
  </p:sldMasterIdLst>
  <p:notesMasterIdLst>
    <p:notesMasterId xmlns:r="http://schemas.openxmlformats.org/officeDocument/2006/relationships" r:id="R2fc945781a2c4092"/>
  </p:notesMasterIdLst>
  <p:sldIdLst>
    <p:sldId xmlns:r="http://schemas.openxmlformats.org/officeDocument/2006/relationships" id="256" r:id="Ra58b8b1998f543b3"/>
    <p:sldId xmlns:r="http://schemas.openxmlformats.org/officeDocument/2006/relationships" id="257" r:id="R4f4a40980abe4715"/>
    <p:sldId xmlns:r="http://schemas.openxmlformats.org/officeDocument/2006/relationships" id="258" r:id="Rffdb4b44933348ad"/>
    <p:sldId xmlns:r="http://schemas.openxmlformats.org/officeDocument/2006/relationships" id="259" r:id="Rd3bc25cebc5b46aa"/>
    <p:sldId xmlns:r="http://schemas.openxmlformats.org/officeDocument/2006/relationships" id="260" r:id="R6c30e85f4e3f491c"/>
    <p:sldId xmlns:r="http://schemas.openxmlformats.org/officeDocument/2006/relationships" id="261" r:id="R6549cda9def54ac8"/>
    <p:sldId xmlns:r="http://schemas.openxmlformats.org/officeDocument/2006/relationships" id="262" r:id="R5e8c8ebf92a748c7"/>
    <p:sldId xmlns:r="http://schemas.openxmlformats.org/officeDocument/2006/relationships" id="263" r:id="R6fb01cb66d794111"/>
    <p:sldId xmlns:r="http://schemas.openxmlformats.org/officeDocument/2006/relationships" id="264" r:id="Ree494e75d1504f32"/>
    <p:sldId xmlns:r="http://schemas.openxmlformats.org/officeDocument/2006/relationships" id="265" r:id="Re5f67254b2cb448e"/>
    <p:sldId xmlns:r="http://schemas.openxmlformats.org/officeDocument/2006/relationships" id="266" r:id="R400d569af7a04c78"/>
    <p:sldId xmlns:r="http://schemas.openxmlformats.org/officeDocument/2006/relationships" id="267" r:id="R183856c41c1e4aff"/>
    <p:sldId xmlns:r="http://schemas.openxmlformats.org/officeDocument/2006/relationships" id="268" r:id="Re05c45240bcb4f05"/>
    <p:sldId xmlns:r="http://schemas.openxmlformats.org/officeDocument/2006/relationships" id="269" r:id="R972365ca22144ffc"/>
    <p:sldId xmlns:r="http://schemas.openxmlformats.org/officeDocument/2006/relationships" id="270" r:id="Rb8125201ab7e4f83"/>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b830b44386e45d1" /><Relationship Type="http://schemas.openxmlformats.org/officeDocument/2006/relationships/slideMaster" Target="/ppt/slideMasters/slideMaster1.xml" Id="Rd2a48ed8a2c6463a" /><Relationship Type="http://schemas.openxmlformats.org/officeDocument/2006/relationships/notesMaster" Target="/ppt/notesMasters/notesMaster1.xml" Id="R2fc945781a2c4092" /><Relationship Type="http://schemas.openxmlformats.org/officeDocument/2006/relationships/presProps" Target="/ppt/presProps.xml" Id="R971bd9bc8ad04de5" /><Relationship Type="http://schemas.openxmlformats.org/officeDocument/2006/relationships/tableStyles" Target="/ppt/tableStyles.xml" Id="R16d8a2a365294692" /><Relationship Type="http://schemas.openxmlformats.org/officeDocument/2006/relationships/slide" Target="/ppt/slides/slide1.xml" Id="Ra58b8b1998f543b3" /><Relationship Type="http://schemas.openxmlformats.org/officeDocument/2006/relationships/slide" Target="/ppt/slides/slide2.xml" Id="R4f4a40980abe4715" /><Relationship Type="http://schemas.openxmlformats.org/officeDocument/2006/relationships/slide" Target="/ppt/slides/slide3.xml" Id="Rffdb4b44933348ad" /><Relationship Type="http://schemas.openxmlformats.org/officeDocument/2006/relationships/slide" Target="/ppt/slides/slide4.xml" Id="Rd3bc25cebc5b46aa" /><Relationship Type="http://schemas.openxmlformats.org/officeDocument/2006/relationships/slide" Target="/ppt/slides/slide5.xml" Id="R6c30e85f4e3f491c" /><Relationship Type="http://schemas.openxmlformats.org/officeDocument/2006/relationships/slide" Target="/ppt/slides/slide6.xml" Id="R6549cda9def54ac8" /><Relationship Type="http://schemas.openxmlformats.org/officeDocument/2006/relationships/slide" Target="/ppt/slides/slide7.xml" Id="R5e8c8ebf92a748c7" /><Relationship Type="http://schemas.openxmlformats.org/officeDocument/2006/relationships/slide" Target="/ppt/slides/slide8.xml" Id="R6fb01cb66d794111" /><Relationship Type="http://schemas.openxmlformats.org/officeDocument/2006/relationships/slide" Target="/ppt/slides/slide9.xml" Id="Ree494e75d1504f32" /><Relationship Type="http://schemas.openxmlformats.org/officeDocument/2006/relationships/slide" Target="/ppt/slides/slide10.xml" Id="Re5f67254b2cb448e" /><Relationship Type="http://schemas.openxmlformats.org/officeDocument/2006/relationships/slide" Target="/ppt/slides/slide11.xml" Id="R400d569af7a04c78" /><Relationship Type="http://schemas.openxmlformats.org/officeDocument/2006/relationships/slide" Target="/ppt/slides/slide12.xml" Id="R183856c41c1e4aff" /><Relationship Type="http://schemas.openxmlformats.org/officeDocument/2006/relationships/slide" Target="/ppt/slides/slide13.xml" Id="Re05c45240bcb4f05" /><Relationship Type="http://schemas.openxmlformats.org/officeDocument/2006/relationships/slide" Target="/ppt/slides/slide14.xml" Id="R972365ca22144ffc" /><Relationship Type="http://schemas.openxmlformats.org/officeDocument/2006/relationships/slide" Target="/ppt/slides/slide15.xml" Id="Rb8125201ab7e4f8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20e4c69bce4fd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743d82e019745aa" /><Relationship Type="http://schemas.openxmlformats.org/officeDocument/2006/relationships/notesMaster" Target="/ppt/notesMasters/notesMaster1.xml" Id="Ra0748ba459f54028" /></Relationships>
</file>

<file path=ppt/notesSlides/_rels/notesSlide2.xml.rels>&#65279;<?xml version="1.0" encoding="utf-8"?><Relationships xmlns="http://schemas.openxmlformats.org/package/2006/relationships"><Relationship Type="http://schemas.openxmlformats.org/officeDocument/2006/relationships/slide" Target="/ppt/slides/slide2.xml" Id="R0c7b4444070d438c" /><Relationship Type="http://schemas.openxmlformats.org/officeDocument/2006/relationships/notesMaster" Target="/ppt/notesMasters/notesMaster1.xml" Id="Rce5107ebeffd40d6" /></Relationships>
</file>

<file path=ppt/notesSlides/_rels/notesSlide3.xml.rels>&#65279;<?xml version="1.0" encoding="utf-8"?><Relationships xmlns="http://schemas.openxmlformats.org/package/2006/relationships"><Relationship Type="http://schemas.openxmlformats.org/officeDocument/2006/relationships/slide" Target="/ppt/slides/slide3.xml" Id="R16a99e6f6b054993" /><Relationship Type="http://schemas.openxmlformats.org/officeDocument/2006/relationships/notesMaster" Target="/ppt/notesMasters/notesMaster1.xml" Id="R35bb58ac97d54e4e" /></Relationships>
</file>

<file path=ppt/notesSlides/_rels/notesSlide4.xml.rels>&#65279;<?xml version="1.0" encoding="utf-8"?><Relationships xmlns="http://schemas.openxmlformats.org/package/2006/relationships"><Relationship Type="http://schemas.openxmlformats.org/officeDocument/2006/relationships/slide" Target="/ppt/slides/slide4.xml" Id="R40d76f3134674012" /><Relationship Type="http://schemas.openxmlformats.org/officeDocument/2006/relationships/notesMaster" Target="/ppt/notesMasters/notesMaster1.xml" Id="R2b7bd80039ee40a5" /></Relationships>
</file>

<file path=ppt/notesSlides/_rels/notesSlide5.xml.rels>&#65279;<?xml version="1.0" encoding="utf-8"?><Relationships xmlns="http://schemas.openxmlformats.org/package/2006/relationships"><Relationship Type="http://schemas.openxmlformats.org/officeDocument/2006/relationships/slide" Target="/ppt/slides/slide5.xml" Id="R5735ac5795874569" /><Relationship Type="http://schemas.openxmlformats.org/officeDocument/2006/relationships/notesMaster" Target="/ppt/notesMasters/notesMaster1.xml" Id="R663e035d46c544dd" /></Relationships>
</file>

<file path=ppt/notesSlides/_rels/notesSlide6.xml.rels>&#65279;<?xml version="1.0" encoding="utf-8"?><Relationships xmlns="http://schemas.openxmlformats.org/package/2006/relationships"><Relationship Type="http://schemas.openxmlformats.org/officeDocument/2006/relationships/slide" Target="/ppt/slides/slide6.xml" Id="Rd79df8c448064670" /><Relationship Type="http://schemas.openxmlformats.org/officeDocument/2006/relationships/notesMaster" Target="/ppt/notesMasters/notesMaster1.xml" Id="R6cf1a47a50394caa"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fdbc0bb67d49ea" /><Relationship Type="http://schemas.openxmlformats.org/officeDocument/2006/relationships/notesMaster" Target="/ppt/notesMasters/notesMaster1.xml" Id="Rd1034629edc749c5" /></Relationships>
</file>

<file path=ppt/notesSlides/_rels/notesSlide8.xml.rels>&#65279;<?xml version="1.0" encoding="utf-8"?><Relationships xmlns="http://schemas.openxmlformats.org/package/2006/relationships"><Relationship Type="http://schemas.openxmlformats.org/officeDocument/2006/relationships/slide" Target="/ppt/slides/slide8.xml" Id="Rd7830c7eaea146fd" /><Relationship Type="http://schemas.openxmlformats.org/officeDocument/2006/relationships/notesMaster" Target="/ppt/notesMasters/notesMaster1.xml" Id="R6702aa88c1204d70" /></Relationships>
</file>

<file path=ppt/notesSlides/_rels/notesSlide9.xml.rels>&#65279;<?xml version="1.0" encoding="utf-8"?><Relationships xmlns="http://schemas.openxmlformats.org/package/2006/relationships"><Relationship Type="http://schemas.openxmlformats.org/officeDocument/2006/relationships/slide" Target="/ppt/slides/slide9.xml" Id="Rc69574fa6f3040da" /><Relationship Type="http://schemas.openxmlformats.org/officeDocument/2006/relationships/notesMaster" Target="/ppt/notesMasters/notesMaster1.xml" Id="R6666ecbcf2e1416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ffb9b5627384c7a" /><Relationship Type="http://schemas.openxmlformats.org/officeDocument/2006/relationships/notesMaster" Target="/ppt/notesMasters/notesMaster1.xml" Id="R16991c4b2cfb49f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137858e645e4b6b" /><Relationship Type="http://schemas.openxmlformats.org/officeDocument/2006/relationships/notesMaster" Target="/ppt/notesMasters/notesMaster1.xml" Id="R50d9c59595bc410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c6b21602ca145cf" /><Relationship Type="http://schemas.openxmlformats.org/officeDocument/2006/relationships/notesMaster" Target="/ppt/notesMasters/notesMaster1.xml" Id="R2c3294a7d0be49b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8e461fafc814469" /><Relationship Type="http://schemas.openxmlformats.org/officeDocument/2006/relationships/notesMaster" Target="/ppt/notesMasters/notesMaster1.xml" Id="R323ac679fa8547d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2d76aaa8e0d437f" /><Relationship Type="http://schemas.openxmlformats.org/officeDocument/2006/relationships/notesMaster" Target="/ppt/notesMasters/notesMaster1.xml" Id="R7ca76299b898402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f41fb20fbea4b5f" /><Relationship Type="http://schemas.openxmlformats.org/officeDocument/2006/relationships/notesMaster" Target="/ppt/notesMasters/notesMaster1.xml" Id="R4ab6363a24584eb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Good morning. We are Team Huntrix. This talk is about a research question rather than a leaderboard position: when is a Bengali hallucination decision exact enough for a deterministic method, and when should the system abstain to a language-model judge? We will show how that question changed our architecture, which experiments failed, how the decision log shaped later versions, and what the organizer-run Phase 2 notebook revealed about source shift. The final score appears later as one evaluation view, alongside local tests, reproducibility checks, and runtime evidence.</a:t>
            </a:r>
          </a:p>
          <a:p xmlns:a="http://schemas.openxmlformats.org/drawingml/2006/main">
            <a:r>
              <a:t/>
            </a:r>
          </a:p>
          <a:p xmlns:a="http://schemas.openxmlformats.org/drawingml/2006/main">
            <a:r>
              <a:t>Sources:</a:t>
            </a:r>
          </a:p>
          <a:p xmlns:a="http://schemas.openxmlformats.org/drawingml/2006/main">
            <a:r>
              <a:t>[1] Competition task definition. [3,4] Bengali hallucination and idiom studies. [7] Team Huntrix experiment ledger.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50 seconds</a:t>
            </a:r>
          </a:p>
          <a:p xmlns:a="http://schemas.openxmlformats.org/drawingml/2006/main">
            <a:r>
              <a:t/>
            </a:r>
          </a:p>
          <a:p xmlns:a="http://schemas.openxmlformats.org/drawingml/2006/main">
            <a:r>
              <a:t>Script:</a:t>
            </a:r>
          </a:p>
          <a:p xmlns:a="http://schemas.openxmlformats.org/drawingml/2006/main">
            <a:r>
              <a:t>The label looked simple: zero for hallucinated and one for faithful. The rows were not simple. Some asked whether a response followed a supplied passage. Others needed arithmetic, option parsing, Bengali morphology, idiom meaning, legal sections, or a historical fact. One generic judge prompt had to switch between all of these without being told which evidence standard to use. It gave us a useful baseline, but it also created a ceiling. A response could sound reasonable while answering the wrong relation. That pushed us toward task routing.</a:t>
            </a:r>
          </a:p>
          <a:p xmlns:a="http://schemas.openxmlformats.org/drawingml/2006/main">
            <a:r>
              <a:t/>
            </a:r>
          </a:p>
          <a:p xmlns:a="http://schemas.openxmlformats.org/drawingml/2006/main">
            <a:r>
              <a:t>Sources:</a:t>
            </a:r>
          </a:p>
          <a:p xmlns:a="http://schemas.openxmlformats.org/drawingml/2006/main">
            <a:r>
              <a:t>[1] Competition data description. [3] BenHalluEval. [4] Sakhawat et al., Bengali idiom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Our fix was a selective cascade. We normalize the row, identify its task family, and try only the rules that belong to that family. Exact lineage can decide an exact source match. Structured solvers can decide a parsed number or option. Context checks can decide a contradiction inside the supplied passage. Typed evidence can decide an idiom or legal relation. Each stage can also return nothing. If the source is only similar, or the relation is unclear, we do not force a label. The row reaches the judge. The next slide opens this router and shows the actual branch conditions.</a:t>
            </a:r>
          </a:p>
          <a:p xmlns:a="http://schemas.openxmlformats.org/drawingml/2006/main">
            <a:r>
              <a:t/>
            </a:r>
          </a:p>
          <a:p xmlns:a="http://schemas.openxmlformats.org/drawingml/2006/main">
            <a:r>
              <a:t>Sources:</a:t>
            </a:r>
          </a:p>
          <a:p xmlns:a="http://schemas.openxmlformats.org/drawingml/2006/main">
            <a:r>
              <a:t>[3] BenHalluEval. [4] Bengali idiom benchmark. [7] Frozen v91 architecture and trace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This is the router in operational form. After normalization, the first question is whether the row contains an answer-bearing context. If it does, the context verifier compares atomic claims. Without context, the router checks for a structured task such as a number, range, option, or morphology problem. The next branch asks whether an exact source lineage exists. Even then, typed evidence must match the entity, predicate, and value. A conflict between sources of equal trust forces abstention. Every branch has the same contract: return zero, one, or null. Null is not an error. It sends the row forward. Only the final unresolved tail reaches the LLM judge. Abtahee will now quantify that split and then open the two main verification paths.</a:t>
            </a:r>
          </a:p>
          <a:p xmlns:a="http://schemas.openxmlformats.org/drawingml/2006/main">
            <a:r>
              <a:t/>
            </a:r>
          </a:p>
          <a:p xmlns:a="http://schemas.openxmlformats.org/drawingml/2006/main">
            <a:r>
              <a:t>Sources:</a:t>
            </a:r>
          </a:p>
          <a:p xmlns:a="http://schemas.openxmlformats.org/drawingml/2006/main">
            <a:r>
              <a:t>[3] BenHalluEval task decomposition. [7] Frozen v91 router implementation and trace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The deterministic branch was not one large collection of keywords. It contained separate parsers with the same output contract. The numeric solver normalized Bengali digits, units, dates, and ranges before checking the exact comparison requested. The multiple-choice solver extracted the option set, mapped aliases, and verified that the response selected a valid option. The morphology solver identified the requested form and compared the root, suffix, or grammatical class. Idiom and lexical rows first distinguished literal from figurative meaning. All four produced an entity, predicate, parsed value, source, and verdict. If any required field was missing or contradictory, the solver returned null. This shared contract made the router testable even though the parsers were task-specific.</a:t>
            </a:r>
          </a:p>
          <a:p xmlns:a="http://schemas.openxmlformats.org/drawingml/2006/main">
            <a:r>
              <a:t/>
            </a:r>
          </a:p>
          <a:p xmlns:a="http://schemas.openxmlformats.org/drawingml/2006/main">
            <a:r>
              <a:t>Sources:</a:t>
            </a:r>
          </a:p>
          <a:p xmlns:a="http://schemas.openxmlformats.org/drawingml/2006/main">
            <a:r>
              <a:t>[7] Frozen v91 structured solvers, typed relation schema, and regression cases.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Coverage alone would have been dangerous, so we imposed an evidence order. A contradiction inside the supplied context came first. Exact source lineage followed. Structured solvers needed the value, entity, and requested predicate to agree. Idiom, legal, and public fact records were typed by relation. A year near the right entity was not enough if the prompt asked about a different event. Fuzzy retrieval had the weakest role. It could surface a candidate, but it could not decide against stronger evidence. If two equally trusted sources disagreed, the router abstained. That policy sometimes increased the judge queue, but it prevented confident relation swaps.</a:t>
            </a:r>
          </a:p>
          <a:p xmlns:a="http://schemas.openxmlformats.org/drawingml/2006/main">
            <a:r>
              <a:t/>
            </a:r>
          </a:p>
          <a:p xmlns:a="http://schemas.openxmlformats.org/drawingml/2006/main">
            <a:r>
              <a:t>Sources:</a:t>
            </a:r>
          </a:p>
          <a:p xmlns:a="http://schemas.openxmlformats.org/drawingml/2006/main">
            <a:r>
              <a:t>[3] BenHalluEval. [4] Bengali idiom benchmark. [7] v91 evidence hierarchy and conflict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For context rows, raw similarity was not the decision variable. We split the context into clauses and the response into atomic factual claims. Alignment used anchors such as named entities, numbers, negation, and the requested relation. Each claim then received one of three states: supported, contradicted, or unknown. A single contradiction was enough for label zero. Label one required support for every factual claim and no unsupported addition. Anything between those cases produced abstention and moved to the judge. This claim-level rule matters when most of a response copies the context but changes one year, person, quantity, or polarity.</a:t>
            </a:r>
          </a:p>
          <a:p xmlns:a="http://schemas.openxmlformats.org/drawingml/2006/main">
            <a:r>
              <a:t/>
            </a:r>
          </a:p>
          <a:p xmlns:a="http://schemas.openxmlformats.org/drawingml/2006/main">
            <a:r>
              <a:t>Sources:</a:t>
            </a:r>
          </a:p>
          <a:p xmlns:a="http://schemas.openxmlformats.org/drawingml/2006/main">
            <a:r>
              <a:t>This is the expanded presentation view of Figure 2a in the report. [3] BenHalluEval context-faithfulness tasks. [7] Frozen v91 clause segmentation, anchor alignment, and claim decision 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The fallback used Qwen3.6 27B in a 16.332 GiB quantized checkpoint. Context rows received one entailment view. No-context rows received up to three short views: a factual check, strict exam grading, and a check that was deliberately cautious about faithful labels. A no-context response needed unanimous positive votes to receive label one. The first zero ended evaluation early. We disabled thinking and constrained generation to one binary token. Row order, prompt order, seeds, and batch boundaries were fixed. That made the judge fast enough to be a tail component rather than the whole system. Joyeta will now show how every accepted evidence record was traced back to a source and relation.</a:t>
            </a:r>
          </a:p>
          <a:p xmlns:a="http://schemas.openxmlformats.org/drawingml/2006/main">
            <a:r>
              <a:t/>
            </a:r>
          </a:p>
          <a:p xmlns:a="http://schemas.openxmlformats.org/drawingml/2006/main">
            <a:r>
              <a:t>Sources:</a:t>
            </a:r>
          </a:p>
          <a:p xmlns:a="http://schemas.openxmlformats.org/drawingml/2006/main">
            <a:r>
              <a:t>[5] Qwen3.6 model card. [6] llama.cpp, pinned b9637. [7] Frozen v91 judge configuration.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Every deterministic fact was stored as a typed evidence record. The record carried a source identifier, source family, normalized entity, predicate, value, and provenance. At prediction time, four gates had to pass. The entity had to match. The requested predicate had to match, not merely appear near the same topic. The value needed exact or task-specific equivalence. Finally, no source of equal trust could contradict it. The resulting trace recorded the route, source, predicate, and verdict. If any gate failed, the verdict was null and the row moved forward. This trace made error analysis possible without storing a manual label vector for the test set.</a:t>
            </a:r>
          </a:p>
          <a:p xmlns:a="http://schemas.openxmlformats.org/drawingml/2006/main">
            <a:r>
              <a:t/>
            </a:r>
          </a:p>
          <a:p xmlns:a="http://schemas.openxmlformats.org/drawingml/2006/main">
            <a:r>
              <a:t>Sources:</a:t>
            </a:r>
          </a:p>
          <a:p xmlns:a="http://schemas.openxmlformats.org/drawingml/2006/main">
            <a:r>
              <a:t>This is the expanded presentation view of Figure 2b in the report. [7] Frozen v91 evidence schema, provenance ledger, conflict audit, and row-level trace format.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This history is useful because it shows changes in method, including a regression. The early character and embedding baseline scored 0.657. Gemma reached 0.742, and a uniform Qwen judge reached 0.797. At v6, source and structured routing raised the score to 0.903, which changed our main hypothesis from model selection to decision routing. v37 introduced a stricter provenance gate. Later versions repaired relation checks and added legal and idiom evidence. v87 is the dip near the right: two plausible fact edits reduced the public score, so we reverted them. v91 then required typed relations and reached 0.967 publicly. We use the curve to identify pivots, not to imply that every version was progress.</a:t>
            </a:r>
          </a:p>
          <a:p xmlns:a="http://schemas.openxmlformats.org/drawingml/2006/main">
            <a:r>
              <a:t/>
            </a:r>
          </a:p>
          <a:p xmlns:a="http://schemas.openxmlformats.org/drawingml/2006/main">
            <a:r>
              <a:t>Sources:</a:t>
            </a:r>
          </a:p>
          <a:p xmlns:a="http://schemas.openxmlformats.org/drawingml/2006/main">
            <a:r>
              <a:t>[7] Team Huntrix experiment log and public leaderboard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The decision log mattered because a failed experiment had to change the next experiment. Prompt voting looked reasonable on the released set and scored 0.783 publicly, so we stopped treating prompt variation as independent evidence. The TF-IDF verifier reached 0.826 out of fold but missed cultural facts, so we retained it only as a portable fallback. Raw retrieval often found the right entity and the wrong relation, so retrieval was restricted to proposing candidates. v87 changed two labels using plausible facts and reduced the public score from 0.966 to 0.965. We reverted it and added the source-plus-predicate admission rule. Later changes also had to preserve the regression suite and emit an evidence trace.</a:t>
            </a:r>
          </a:p>
          <a:p xmlns:a="http://schemas.openxmlformats.org/drawingml/2006/main">
            <a:r>
              <a:t/>
            </a:r>
          </a:p>
          <a:p xmlns:a="http://schemas.openxmlformats.org/drawingml/2006/main">
            <a:r>
              <a:t>Sources:</a:t>
            </a:r>
          </a:p>
          <a:p xmlns:a="http://schemas.openxmlformats.org/drawingml/2006/main">
            <a:r>
              <a:t>[7] Team Huntrix EXPERIMENT.log and scored submission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A score alone could not tell us whether a change was safe, so we used four gates. The codebase had 249 automated tests, including 225 deterministic controls. Three inference runs produced byte-identical CSVs, and validation found no schema or ID-order failure. We then reported the aggregate evaluation separately: 0.9933 macro F1 on 299 released labels, 0.967 on the public Phase 1 split, and 0.982 on the private split. The frozen output hash matched the scored CSV. Finally, the organizer-run notebook validated all 5,000 Phase 2 rows in 3 hours and 52 minutes. These checks answer different questions; none substitutes for row-level Phase 2 accuracy, which has not been released. Orny will cover that deployment evidence now.</a:t>
            </a:r>
          </a:p>
          <a:p xmlns:a="http://schemas.openxmlformats.org/drawingml/2006/main">
            <a:r>
              <a:t/>
            </a:r>
          </a:p>
          <a:p xmlns:a="http://schemas.openxmlformats.org/drawingml/2006/main">
            <a:r>
              <a:t>Sources:</a:t>
            </a:r>
          </a:p>
          <a:p xmlns:a="http://schemas.openxmlformats.org/drawingml/2006/main">
            <a:r>
              <a:t>[7] Regression suite, freeze manifest, released-label evaluation and aggregate competition records. [8] Phase 2 runtime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The organizer-run Phase 2 notebook processed exactly 5,000 rows on two Tesla T4 GPUs. The router finished in 73.18 seconds but resolved only 207 rows, or 4.14 percent. The remaining 4,793 rows went to Qwen. The model was ready 171.25 seconds after the notebook started, and the judge stage took 13,747.50 seconds. End-to-end runtime was 13,921.91 seconds, which is 3 hours, 52 minutes, and 1.91 seconds. The output validation cell completed successfully with 5,000 ordered IDs and binary labels. This used 42.97 percent of the nine-hour budget. It is measured runtime evidence, not a Phase 2 accuracy score.</a:t>
            </a:r>
          </a:p>
          <a:p xmlns:a="http://schemas.openxmlformats.org/drawingml/2006/main">
            <a:r>
              <a:t/>
            </a:r>
          </a:p>
          <a:p xmlns:a="http://schemas.openxmlformats.org/drawingml/2006/main">
            <a:r>
              <a:t>Sources:</a:t>
            </a:r>
          </a:p>
          <a:p xmlns:a="http://schemas.openxmlformats.org/drawingml/2006/main">
            <a:r>
              <a:t>[8] Organizer-executed Phase 2 notebook huntrix-1.ipynb and its final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Phase 2 changed the source distribution as expected. The organizer listed Common Crawl, recent newspapers, Wikipedia, Banglapedia, government service pages, Bangladesh law, NCTB textbooks, and literature. Deterministic coverage fell from 93.72 percent in Phase 1 to 4.14 percent in the held-out run. The router did not compensate by forcing approximate evidence. It abstained, and 95.86 percent of rows reached the fixed judge. That raised runtime to 3 hours and 52 minutes, but the notebook still finished with more than five hours of headroom. Accuracy remains an open question until the organizer provides a score.</a:t>
            </a:r>
          </a:p>
          <a:p xmlns:a="http://schemas.openxmlformats.org/drawingml/2006/main">
            <a:r>
              <a:t/>
            </a:r>
          </a:p>
          <a:p xmlns:a="http://schemas.openxmlformats.org/drawingml/2006/main">
            <a:r>
              <a:t>Sources:</a:t>
            </a:r>
          </a:p>
          <a:p xmlns:a="http://schemas.openxmlformats.org/drawingml/2006/main">
            <a:r>
              <a:t>[2] Organizer Phase 2 source preview. [8] Measured held-out routing and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We will close by separating supported findings from open questions. The experiments support three design choices: task families benefit from separate policies, predicate alignment reduces relation swaps, and explicit abstention keeps the pipeline safe when deterministic coverage falls. The main limitations are equally important. We had only 299 released labels, aggregate competition scores provide no row-level errors, and the Phase 2 accuracy result is still unknown. When those labels or analyses become available, the next work is to inspect the judged tail, recalibrate uncertain cases, and expand licensed evidence for civic and news domains. What we can already verify is reproducibility and runtime compliance. We are ready for your questions.</a:t>
            </a:r>
          </a:p>
          <a:p xmlns:a="http://schemas.openxmlformats.org/drawingml/2006/main">
            <a:r>
              <a:t/>
            </a:r>
          </a:p>
          <a:p xmlns:a="http://schemas.openxmlformats.org/drawingml/2006/main">
            <a:r>
              <a:t>Sources:</a:t>
            </a:r>
          </a:p>
          <a:p xmlns:a="http://schemas.openxmlformats.org/drawingml/2006/main">
            <a:r>
              <a:t>[7] Team Huntrix experiment and regression records. [8] Measured Phase 2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5b1e1297bb342c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109845f8eb94431" /><Relationship Type="http://schemas.openxmlformats.org/officeDocument/2006/relationships/slideLayout" Target="/ppt/slideLayouts/slideLayout1.xml" Id="R2a5defec6cf0482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a5defec6cf0482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943b786b2ad4034" /><Relationship Type="http://schemas.openxmlformats.org/officeDocument/2006/relationships/notesSlide" Target="/ppt/notesSlides/notesSlide1.xml" Id="Rc12a27b1529241a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440a5ba3d764178" /><Relationship Type="http://schemas.openxmlformats.org/officeDocument/2006/relationships/notesSlide" Target="/ppt/notesSlides/notesSlide2.xml" Id="R90d9388ae937428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1f1a1c6535c4762" /><Relationship Type="http://schemas.openxmlformats.org/officeDocument/2006/relationships/notesSlide" Target="/ppt/notesSlides/notesSlide3.xml" Id="Rb3991e25097c4d5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505a617c2074f1c" /><Relationship Type="http://schemas.openxmlformats.org/officeDocument/2006/relationships/notesSlide" Target="/ppt/notesSlides/notesSlide4.xml" Id="Rd32559f36e1b4fd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8635609d8874a63" /><Relationship Type="http://schemas.openxmlformats.org/officeDocument/2006/relationships/notesSlide" Target="/ppt/notesSlides/notesSlide5.xml" Id="R24a23226ec1442b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5ab6e045efa4593" /><Relationship Type="http://schemas.openxmlformats.org/officeDocument/2006/relationships/notesSlide" Target="/ppt/notesSlides/notesSlide6.xml" Id="Ra268a780cd2c417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bfae734277f4553" /><Relationship Type="http://schemas.openxmlformats.org/officeDocument/2006/relationships/notesSlide" Target="/ppt/notesSlides/notesSlide7.xml" Id="R7695d9aa6cf74db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597585540b04ab8" /><Relationship Type="http://schemas.openxmlformats.org/officeDocument/2006/relationships/notesSlide" Target="/ppt/notesSlides/notesSlide8.xml" Id="R7d79f3ee80e749b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2b6a39d6f444b91" /><Relationship Type="http://schemas.openxmlformats.org/officeDocument/2006/relationships/notesSlide" Target="/ppt/notesSlides/notesSlide9.xml" Id="Re58cd0b40dbd451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9246d28930341b5" /><Relationship Type="http://schemas.openxmlformats.org/officeDocument/2006/relationships/chart" Target="/ppt/slides/charts/chart1.xml" Id="R9987da4d35dc4173" /><Relationship Type="http://schemas.openxmlformats.org/officeDocument/2006/relationships/notesSlide" Target="/ppt/notesSlides/notesSlide10.xml" Id="Ref271618049b4fa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e812b0104c4414d" /><Relationship Type="http://schemas.openxmlformats.org/officeDocument/2006/relationships/notesSlide" Target="/ppt/notesSlides/notesSlide11.xml" Id="R0245ca20d74d4b7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7d43aee510946e4" /><Relationship Type="http://schemas.openxmlformats.org/officeDocument/2006/relationships/notesSlide" Target="/ppt/notesSlides/notesSlide12.xml" Id="R686ba88f1d24480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34d305fc66e428b" /><Relationship Type="http://schemas.openxmlformats.org/officeDocument/2006/relationships/notesSlide" Target="/ppt/notesSlides/notesSlide13.xml" Id="R76ee1a9b6f7d4d0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8e2720bf2c1450e" /><Relationship Type="http://schemas.openxmlformats.org/officeDocument/2006/relationships/notesSlide" Target="/ppt/notesSlides/notesSlide14.xml" Id="R52b1335d35ef4eb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d6441b2fb754346" /><Relationship Type="http://schemas.openxmlformats.org/officeDocument/2006/relationships/notesSlide" Target="/ppt/notesSlides/notesSlide15.xml" Id="Re69c8e614f234cbf" /></Relationships>
</file>

<file path=ppt/slides/charts/chart1.xml><?xml version="1.0" encoding="utf-8"?>
<c:chartSpace xmlns:c="http://schemas.openxmlformats.org/drawingml/2006/chart">
  <c:lang val="en-US"/>
  <c:chart>
    <c:plotArea>
      <c:lineChart>
        <c:grouping val="standard"/>
        <c:ser>
          <c:idx val="0"/>
          <c:order val="0"/>
          <c:tx>
            <c:v>Public macro F1</c:v>
          </c:tx>
          <c:spPr>
            <a:ln xmlns:a="http://schemas.openxmlformats.org/drawingml/2006/main" w="38100">
              <a:solidFill>
                <a:srgbClr val="1F5A7A"/>
              </a:solidFill>
              <a:prstDash val="solid"/>
            </a:ln>
          </c:spPr>
          <c:marker>
            <c:symbol val="circle"/>
            <c:size val="7"/>
          </c:marker>
          <c:cat>
            <c:strLit>
              <c:ptCount val="11"/>
              <c:pt idx="0">
                <c:v>Base</c:v>
              </c:pt>
              <c:pt idx="1">
                <c:v>Gemma</c:v>
              </c:pt>
              <c:pt idx="2">
                <c:v>Qwen</c:v>
              </c:pt>
              <c:pt idx="3">
                <c:v>v6</c:v>
              </c:pt>
              <c:pt idx="4">
                <c:v>v15</c:v>
              </c:pt>
              <c:pt idx="5">
                <c:v>v23</c:v>
              </c:pt>
              <c:pt idx="6">
                <c:v>v37</c:v>
              </c:pt>
              <c:pt idx="7">
                <c:v>v60</c:v>
              </c:pt>
              <c:pt idx="8">
                <c:v>v85</c:v>
              </c:pt>
              <c:pt idx="9">
                <c:v>v87</c:v>
              </c:pt>
              <c:pt idx="10">
                <c:v>v91</c:v>
              </c:pt>
            </c:strLit>
          </c:cat>
          <c:val>
            <c:numLit>
              <c:formatCode>0.000</c:formatCode>
              <c:ptCount val="11"/>
              <c:pt idx="0">
                <c:v>0.657</c:v>
              </c:pt>
              <c:pt idx="1">
                <c:v>0.742</c:v>
              </c:pt>
              <c:pt idx="2">
                <c:v>0.797</c:v>
              </c:pt>
              <c:pt idx="3">
                <c:v>0.903</c:v>
              </c:pt>
              <c:pt idx="4">
                <c:v>0.934</c:v>
              </c:pt>
              <c:pt idx="5">
                <c:v>0.945</c:v>
              </c:pt>
              <c:pt idx="6">
                <c:v>0.961</c:v>
              </c:pt>
              <c:pt idx="7">
                <c:v>0.963</c:v>
              </c:pt>
              <c:pt idx="8">
                <c:v>0.966</c:v>
              </c:pt>
              <c:pt idx="9">
                <c:v>0.965</c:v>
              </c:pt>
              <c:pt idx="10">
                <c:v>0.967</c:v>
              </c:pt>
            </c:numLit>
          </c:val>
        </c:ser>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8E0EA"/>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174"/>
                </a:solidFill>
              </a:defRPr>
            </a:pPr>
          </a:p>
        </c:txPr>
        <c:crossAx val="48672768"/>
        <c:lblAlgn val="ctr"/>
        <c:lblOffset val="100"/>
        <c:noMultiLvlLbl val="0"/>
      </c:catAx>
      <c:valAx>
        <c:axId val="48672768"/>
        <c:scaling>
          <c:orientation val="minMax"/>
          <c:max val="1"/>
          <c:min val="0.6"/>
        </c:scaling>
        <c:delete val="0"/>
        <c:axPos val="l"/>
        <c:majorGridlines>
          <c:spPr>
            <a:ln xmlns:a="http://schemas.openxmlformats.org/drawingml/2006/main" w="9525">
              <a:solidFill>
                <a:srgbClr val="D8E0EA"/>
              </a:solidFill>
              <a:prstDash val="solid"/>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174"/>
                </a:solidFill>
              </a:defRPr>
            </a:pPr>
          </a:p>
        </c:txPr>
        <c:crossAx val="48650112"/>
        <c:crossBetween val="between"/>
        <c:majorUnit val="0.1"/>
      </c:valAx>
      <c:spPr>
        <a:solidFill xmlns:a="http://schemas.openxmlformats.org/drawingml/2006/main">
          <a:srgbClr val="FFFFFF"/>
        </a:solidFill>
        <a:ln xmlns:a="http://schemas.openxmlformats.org/drawingml/2006/main" w="9525">
          <a:solidFill>
            <a:srgbClr val="D8E0EA"/>
          </a:solidFill>
          <a:prstDash val="solid"/>
        </a:ln>
      </c:spPr>
    </c:plotArea>
    <c:plotVisOnly val="1"/>
  </c:chart>
  <c:spPr>
    <a:solidFill xmlns:a="http://schemas.openxmlformats.org/drawingml/2006/main">
      <a:srgbClr val="F7F9FC"/>
    </a:solidFill>
  </c:spPr>
</c:chartSpace>
</file>

<file path=ppt/slides/slide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12FAAA4-A02E-4321-9D51-90952CAA3C16}"/>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A8C82"/>
          </a:solidFill>
          <a:ln xmlns:a="http://schemas.openxmlformats.org/drawingml/2006/main" w="0">
            <a:solidFill>
              <a:srgbClr val="2A8C82"/>
            </a:solidFill>
            <a:prstDash val="solid"/>
          </a:ln>
        </p:spPr>
      </p:sp>
      <p:sp>
        <p:nvSpPr>
          <p:cNvPr id="2" name="">
            <a:extLst xmlns:a="http://schemas.openxmlformats.org/drawingml/2006/main">
              <a:ext uri="{FF2B5EF4-FFF2-40B4-BE49-F238E27FC236}">
                <a16:creationId xmlns:a16="http://schemas.microsoft.com/office/drawing/2014/main" id="{DEC90AC5-DDBA-4E54-B215-014291277444}"/>
              </a:ext>
            </a:extLst>
          </p:cNvPr>
          <p:cNvSpPr>
            <a:spLocks xmlns:a="http://schemas.openxmlformats.org/drawingml/2006/main" noGrp="1"/>
          </p:cNvSpPr>
          <p:nvPr/>
        </p:nvSpPr>
        <p:spPr>
          <a:xfrm xmlns:a="http://schemas.openxmlformats.org/drawingml/2006/main">
            <a:off x="876300" y="6667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F5A7A"/>
                </a:solidFill>
              </a:defRPr>
            </a:pPr>
            <a:r>
              <a:rPr sz="1200" b="1">
                <a:solidFill>
                  <a:srgbClr val="1F5A7A"/>
                </a:solidFill>
              </a:rPr>
              <a:t>BENGALI HALLUCINATION DETECTION</a:t>
            </a:r>
          </a:p>
        </p:txBody>
      </p:sp>
      <p:sp>
        <p:nvSpPr>
          <p:cNvPr id="3" name="">
            <a:extLst xmlns:a="http://schemas.openxmlformats.org/drawingml/2006/main">
              <a:ext uri="{FF2B5EF4-FFF2-40B4-BE49-F238E27FC236}">
                <a16:creationId xmlns:a16="http://schemas.microsoft.com/office/drawing/2014/main" id="{BD016CCC-F61C-4AA1-B1A9-82CC60B34466}"/>
              </a:ext>
            </a:extLst>
          </p:cNvPr>
          <p:cNvSpPr>
            <a:spLocks xmlns:a="http://schemas.openxmlformats.org/drawingml/2006/main" noGrp="1"/>
          </p:cNvSpPr>
          <p:nvPr/>
        </p:nvSpPr>
        <p:spPr>
          <a:xfrm xmlns:a="http://schemas.openxmlformats.org/drawingml/2006/main">
            <a:off x="876300" y="1162050"/>
            <a:ext cx="8953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525" b="1">
                <a:solidFill>
                  <a:srgbClr val="0F172A"/>
                </a:solidFill>
              </a:defRPr>
            </a:pPr>
            <a:r>
              <a:rPr sz="3525" b="1">
                <a:solidFill>
                  <a:srgbClr val="0F172A"/>
                </a:solidFill>
              </a:rPr>
              <a:t>Evidence-first selective inference</a:t>
            </a:r>
          </a:p>
          <a:p xmlns:a="http://schemas.openxmlformats.org/drawingml/2006/main">
            <a:pPr algn="l">
              <a:defRPr sz="3525" b="1">
                <a:solidFill>
                  <a:srgbClr val="0F172A"/>
                </a:solidFill>
              </a:defRPr>
            </a:pPr>
            <a:r>
              <a:rPr sz="3525" b="1">
                <a:solidFill>
                  <a:srgbClr val="0F172A"/>
                </a:solidFill>
              </a:rPr>
              <a:t>for Bengali hallucination detection</a:t>
            </a:r>
          </a:p>
        </p:txBody>
      </p:sp>
      <p:sp>
        <p:nvSpPr>
          <p:cNvPr id="4" name="">
            <a:extLst xmlns:a="http://schemas.openxmlformats.org/drawingml/2006/main">
              <a:ext uri="{FF2B5EF4-FFF2-40B4-BE49-F238E27FC236}">
                <a16:creationId xmlns:a16="http://schemas.microsoft.com/office/drawing/2014/main" id="{65D4D3A0-C517-4396-AD5F-74E7B22AE9AA}"/>
              </a:ext>
            </a:extLst>
          </p:cNvPr>
          <p:cNvSpPr>
            <a:spLocks xmlns:a="http://schemas.openxmlformats.org/drawingml/2006/main" noGrp="1"/>
          </p:cNvSpPr>
          <p:nvPr/>
        </p:nvSpPr>
        <p:spPr>
          <a:xfrm xmlns:a="http://schemas.openxmlformats.org/drawingml/2006/main">
            <a:off x="914400" y="2762250"/>
            <a:ext cx="828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526174"/>
                </a:solidFill>
              </a:defRPr>
            </a:pPr>
            <a:r>
              <a:rPr sz="1800" b="0">
                <a:solidFill>
                  <a:srgbClr val="526174"/>
                </a:solidFill>
              </a:rPr>
              <a:t>A study of routing, abstention, provenance, and domain shift</a:t>
            </a:r>
          </a:p>
        </p:txBody>
      </p:sp>
      <p:sp>
        <p:nvSpPr>
          <p:cNvPr id="5" name="">
            <a:extLst xmlns:a="http://schemas.openxmlformats.org/drawingml/2006/main">
              <a:ext uri="{FF2B5EF4-FFF2-40B4-BE49-F238E27FC236}">
                <a16:creationId xmlns:a16="http://schemas.microsoft.com/office/drawing/2014/main" id="{C8696CB4-6B88-4E4A-8ACD-D0A9F5A2514A}"/>
              </a:ext>
            </a:extLst>
          </p:cNvPr>
          <p:cNvSpPr>
            <a:spLocks xmlns:a="http://schemas.openxmlformats.org/drawingml/2006/main" noGrp="1"/>
          </p:cNvSpPr>
          <p:nvPr/>
        </p:nvSpPr>
        <p:spPr>
          <a:xfrm xmlns:a="http://schemas.openxmlformats.org/drawingml/2006/main">
            <a:off x="914400" y="3390900"/>
            <a:ext cx="99060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6" name="">
            <a:extLst xmlns:a="http://schemas.openxmlformats.org/drawingml/2006/main">
              <a:ext uri="{FF2B5EF4-FFF2-40B4-BE49-F238E27FC236}">
                <a16:creationId xmlns:a16="http://schemas.microsoft.com/office/drawing/2014/main" id="{91E866E3-EAF2-4705-972B-276838D2A8A5}"/>
              </a:ext>
            </a:extLst>
          </p:cNvPr>
          <p:cNvSpPr>
            <a:spLocks xmlns:a="http://schemas.openxmlformats.org/drawingml/2006/main" noGrp="1"/>
          </p:cNvSpPr>
          <p:nvPr/>
        </p:nvSpPr>
        <p:spPr>
          <a:xfrm xmlns:a="http://schemas.openxmlformats.org/drawingml/2006/main">
            <a:off x="914400" y="3714750"/>
            <a:ext cx="8858250" cy="1123950"/>
          </a:xfrm>
          <a:prstGeom xmlns:a="http://schemas.openxmlformats.org/drawingml/2006/main" prst="roundRect">
            <a:avLst>
              <a:gd name="adj" fmla="val 13559"/>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3A8A1C89-C245-4F4C-BAC7-B77D81354A5B}"/>
              </a:ext>
            </a:extLst>
          </p:cNvPr>
          <p:cNvSpPr>
            <a:spLocks xmlns:a="http://schemas.openxmlformats.org/drawingml/2006/main" noGrp="1"/>
          </p:cNvSpPr>
          <p:nvPr/>
        </p:nvSpPr>
        <p:spPr>
          <a:xfrm xmlns:a="http://schemas.openxmlformats.org/drawingml/2006/main">
            <a:off x="1200150" y="39433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Research question</a:t>
            </a:r>
          </a:p>
        </p:txBody>
      </p:sp>
      <p:sp>
        <p:nvSpPr>
          <p:cNvPr id="8" name="">
            <a:extLst xmlns:a="http://schemas.openxmlformats.org/drawingml/2006/main">
              <a:ext uri="{FF2B5EF4-FFF2-40B4-BE49-F238E27FC236}">
                <a16:creationId xmlns:a16="http://schemas.microsoft.com/office/drawing/2014/main" id="{DCC29B0B-4D74-41B2-9B65-C96DC3C5877E}"/>
              </a:ext>
            </a:extLst>
          </p:cNvPr>
          <p:cNvSpPr>
            <a:spLocks xmlns:a="http://schemas.openxmlformats.org/drawingml/2006/main" noGrp="1"/>
          </p:cNvSpPr>
          <p:nvPr/>
        </p:nvSpPr>
        <p:spPr>
          <a:xfrm xmlns:a="http://schemas.openxmlformats.org/drawingml/2006/main">
            <a:off x="3333750" y="3886200"/>
            <a:ext cx="6057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0F172A"/>
                </a:solidFill>
              </a:defRPr>
            </a:pPr>
            <a:r>
              <a:rPr sz="1725" b="1">
                <a:solidFill>
                  <a:srgbClr val="0F172A"/>
                </a:solidFill>
              </a:rPr>
              <a:t>When should exact evidence decide, and when should the system abstain to a language-model judge?</a:t>
            </a:r>
          </a:p>
        </p:txBody>
      </p:sp>
      <p:sp>
        <p:nvSpPr>
          <p:cNvPr id="9" name="">
            <a:extLst xmlns:a="http://schemas.openxmlformats.org/drawingml/2006/main">
              <a:ext uri="{FF2B5EF4-FFF2-40B4-BE49-F238E27FC236}">
                <a16:creationId xmlns:a16="http://schemas.microsoft.com/office/drawing/2014/main" id="{F974FA57-C35C-47FF-8A74-DF700E7DE6C3}"/>
              </a:ext>
            </a:extLst>
          </p:cNvPr>
          <p:cNvSpPr>
            <a:spLocks xmlns:a="http://schemas.openxmlformats.org/drawingml/2006/main" noGrp="1"/>
          </p:cNvSpPr>
          <p:nvPr/>
        </p:nvSpPr>
        <p:spPr>
          <a:xfrm xmlns:a="http://schemas.openxmlformats.org/drawingml/2006/main">
            <a:off x="1200150" y="44958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We trace the hypotheses, failed experiments, routing policies, regression gates, and Phase 2 shift.</a:t>
            </a:r>
          </a:p>
        </p:txBody>
      </p:sp>
      <p:sp>
        <p:nvSpPr>
          <p:cNvPr id="10" name="">
            <a:extLst xmlns:a="http://schemas.openxmlformats.org/drawingml/2006/main">
              <a:ext uri="{FF2B5EF4-FFF2-40B4-BE49-F238E27FC236}">
                <a16:creationId xmlns:a16="http://schemas.microsoft.com/office/drawing/2014/main" id="{661F7B0A-A084-40CC-A965-2E9A315C4457}"/>
              </a:ext>
            </a:extLst>
          </p:cNvPr>
          <p:cNvSpPr>
            <a:spLocks xmlns:a="http://schemas.openxmlformats.org/drawingml/2006/main" noGrp="1"/>
          </p:cNvSpPr>
          <p:nvPr/>
        </p:nvSpPr>
        <p:spPr>
          <a:xfrm xmlns:a="http://schemas.openxmlformats.org/drawingml/2006/main">
            <a:off x="914400" y="5619750"/>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0F172A"/>
                </a:solidFill>
              </a:defRPr>
            </a:pPr>
            <a:r>
              <a:rPr sz="1275" b="1">
                <a:solidFill>
                  <a:srgbClr val="0F172A"/>
                </a:solidFill>
              </a:rPr>
              <a:t>Touhidul Alam Seyam  |  MD. Abtahee Kabir  |  Joyeta Barua Moni  |  Noore Tamanna Orny</a:t>
            </a:r>
          </a:p>
        </p:txBody>
      </p:sp>
      <p:sp>
        <p:nvSpPr>
          <p:cNvPr id="11" name="">
            <a:extLst xmlns:a="http://schemas.openxmlformats.org/drawingml/2006/main">
              <a:ext uri="{FF2B5EF4-FFF2-40B4-BE49-F238E27FC236}">
                <a16:creationId xmlns:a16="http://schemas.microsoft.com/office/drawing/2014/main" id="{D0E83386-EC1D-46C3-8B77-41D0E4D4759D}"/>
              </a:ext>
            </a:extLst>
          </p:cNvPr>
          <p:cNvSpPr>
            <a:spLocks xmlns:a="http://schemas.openxmlformats.org/drawingml/2006/main" noGrp="1"/>
          </p:cNvSpPr>
          <p:nvPr/>
        </p:nvSpPr>
        <p:spPr>
          <a:xfrm xmlns:a="http://schemas.openxmlformats.org/drawingml/2006/main">
            <a:off x="914400" y="5953125"/>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526174"/>
                </a:solidFill>
              </a:defRPr>
            </a:pPr>
            <a:r>
              <a:rPr sz="1125" b="0">
                <a:solidFill>
                  <a:srgbClr val="526174"/>
                </a:solidFill>
              </a:rPr>
              <a:t>BGC Trust University Bangladesh  |  Chittagong University of Engineering &amp; Technology</a:t>
            </a:r>
          </a:p>
        </p:txBody>
      </p:sp>
      <p:sp>
        <p:nvSpPr>
          <p:cNvPr id="12" name="">
            <a:extLst xmlns:a="http://schemas.openxmlformats.org/drawingml/2006/main">
              <a:ext uri="{FF2B5EF4-FFF2-40B4-BE49-F238E27FC236}">
                <a16:creationId xmlns:a16="http://schemas.microsoft.com/office/drawing/2014/main" id="{A38E483B-7E5C-446E-AD7C-D20F521E340A}"/>
              </a:ext>
            </a:extLst>
          </p:cNvPr>
          <p:cNvSpPr>
            <a:spLocks xmlns:a="http://schemas.openxmlformats.org/drawingml/2006/main" noGrp="1"/>
          </p:cNvSpPr>
          <p:nvPr/>
        </p:nvSpPr>
        <p:spPr>
          <a:xfrm xmlns:a="http://schemas.openxmlformats.org/drawingml/2006/main">
            <a:off x="914400" y="649605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[1] Competition task  [3,4] Bengali hallucination and idiom studies  [7] Experiment ledger</a:t>
            </a:r>
          </a:p>
        </p:txBody>
      </p:sp>
      <p:sp>
        <p:nvSpPr>
          <p:cNvPr id="13" name="">
            <a:extLst xmlns:a="http://schemas.openxmlformats.org/drawingml/2006/main">
              <a:ext uri="{FF2B5EF4-FFF2-40B4-BE49-F238E27FC236}">
                <a16:creationId xmlns:a16="http://schemas.microsoft.com/office/drawing/2014/main" id="{90538314-7C8F-4219-A965-3111BB36A6C4}"/>
              </a:ext>
            </a:extLst>
          </p:cNvPr>
          <p:cNvSpPr>
            <a:spLocks xmlns:a="http://schemas.openxmlformats.org/drawingml/2006/main" noGrp="1"/>
          </p:cNvSpPr>
          <p:nvPr/>
        </p:nvSpPr>
        <p:spPr>
          <a:xfrm xmlns:a="http://schemas.openxmlformats.org/drawingml/2006/main">
            <a:off x="10810875" y="6496050"/>
            <a:ext cx="6953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01</a:t>
            </a:r>
          </a:p>
        </p:txBody>
      </p:sp>
    </p:spTree>
    <p:extLst>
      <p:ext uri="{BB962C8B-B14F-4D97-AF65-F5344CB8AC3E}">
        <p14:creationId xmlns:p14="http://schemas.microsoft.com/office/powerpoint/2010/main" val="1115966672"/>
      </p:ext>
    </p:extLst>
  </p:cSld>
</p:sld>
</file>

<file path=ppt/slides/slide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0" name="kicker-2">
            <a:extLst xmlns:a="http://schemas.openxmlformats.org/drawingml/2006/main">
              <a:ext uri="{FF2B5EF4-FFF2-40B4-BE49-F238E27FC236}">
                <a16:creationId xmlns:a16="http://schemas.microsoft.com/office/drawing/2014/main" id="{CBCC5706-7307-4D31-AC8E-A2DBF72FA3C0}"/>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2">
            <a:extLst xmlns:a="http://schemas.openxmlformats.org/drawingml/2006/main">
              <a:ext uri="{FF2B5EF4-FFF2-40B4-BE49-F238E27FC236}">
                <a16:creationId xmlns:a16="http://schemas.microsoft.com/office/drawing/2014/main" id="{40F38B53-F8D4-4969-8C43-48482A5EA540}"/>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One binary label hid many different reasoning tasks</a:t>
            </a:r>
          </a:p>
        </p:txBody>
      </p:sp>
      <p:sp>
        <p:nvSpPr>
          <p:cNvPr id="3" name="">
            <a:extLst xmlns:a="http://schemas.openxmlformats.org/drawingml/2006/main">
              <a:ext uri="{FF2B5EF4-FFF2-40B4-BE49-F238E27FC236}">
                <a16:creationId xmlns:a16="http://schemas.microsoft.com/office/drawing/2014/main" id="{608FB724-CFA0-45BD-BFBF-85118BD67E6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1C847C3C-4238-4E6B-B2C9-24AAF7EB60FF}"/>
              </a:ext>
            </a:extLst>
          </p:cNvPr>
          <p:cNvSpPr>
            <a:spLocks xmlns:a="http://schemas.openxmlformats.org/drawingml/2006/main" noGrp="1"/>
          </p:cNvSpPr>
          <p:nvPr/>
        </p:nvSpPr>
        <p:spPr>
          <a:xfrm xmlns:a="http://schemas.openxmlformats.org/drawingml/2006/main">
            <a:off x="685800" y="1409700"/>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The same label had to cover context faithfulness, language knowledge, and outside facts.</a:t>
            </a:r>
          </a:p>
        </p:txBody>
      </p:sp>
      <p:sp>
        <p:nvSpPr>
          <p:cNvPr id="5" name="">
            <a:extLst xmlns:a="http://schemas.openxmlformats.org/drawingml/2006/main">
              <a:ext uri="{FF2B5EF4-FFF2-40B4-BE49-F238E27FC236}">
                <a16:creationId xmlns:a16="http://schemas.microsoft.com/office/drawing/2014/main" id="{B64BA4ED-529A-4424-8F29-67C7D5269010}"/>
              </a:ext>
            </a:extLst>
          </p:cNvPr>
          <p:cNvSpPr>
            <a:spLocks xmlns:a="http://schemas.openxmlformats.org/drawingml/2006/main" noGrp="1"/>
          </p:cNvSpPr>
          <p:nvPr/>
        </p:nvSpPr>
        <p:spPr>
          <a:xfrm xmlns:a="http://schemas.openxmlformats.org/drawingml/2006/main">
            <a:off x="1104900" y="2971800"/>
            <a:ext cx="9953625" cy="0"/>
          </a:xfrm>
          <a:prstGeom xmlns:a="http://schemas.openxmlformats.org/drawingml/2006/main" prst="line">
            <a:avLst/>
          </a:prstGeom>
          <a:noFill xmlns:a="http://schemas.openxmlformats.org/drawingml/2006/main"/>
          <a:ln xmlns:a="http://schemas.openxmlformats.org/drawingml/2006/main" w="47625">
            <a:solidFill>
              <a:srgbClr val="D8E0EA"/>
            </a:solidFill>
            <a:prstDash val="solid"/>
          </a:ln>
        </p:spPr>
      </p:sp>
      <p:sp>
        <p:nvSpPr>
          <p:cNvPr id="6" name="">
            <a:extLst xmlns:a="http://schemas.openxmlformats.org/drawingml/2006/main">
              <a:ext uri="{FF2B5EF4-FFF2-40B4-BE49-F238E27FC236}">
                <a16:creationId xmlns:a16="http://schemas.microsoft.com/office/drawing/2014/main" id="{5FEC47F6-8E71-409A-8864-7DFD0A06E7D3}"/>
              </a:ext>
            </a:extLst>
          </p:cNvPr>
          <p:cNvSpPr>
            <a:spLocks xmlns:a="http://schemas.openxmlformats.org/drawingml/2006/main" noGrp="1"/>
          </p:cNvSpPr>
          <p:nvPr/>
        </p:nvSpPr>
        <p:spPr>
          <a:xfrm xmlns:a="http://schemas.openxmlformats.org/drawingml/2006/main">
            <a:off x="1009650"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7" name="">
            <a:extLst xmlns:a="http://schemas.openxmlformats.org/drawingml/2006/main">
              <a:ext uri="{FF2B5EF4-FFF2-40B4-BE49-F238E27FC236}">
                <a16:creationId xmlns:a16="http://schemas.microsoft.com/office/drawing/2014/main" id="{B8681C01-671D-46E7-BB16-2A9BCAED8388}"/>
              </a:ext>
            </a:extLst>
          </p:cNvPr>
          <p:cNvSpPr>
            <a:spLocks xmlns:a="http://schemas.openxmlformats.org/drawingml/2006/main" noGrp="1"/>
          </p:cNvSpPr>
          <p:nvPr/>
        </p:nvSpPr>
        <p:spPr>
          <a:xfrm xmlns:a="http://schemas.openxmlformats.org/drawingml/2006/main">
            <a:off x="5524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Context</a:t>
            </a:r>
          </a:p>
        </p:txBody>
      </p:sp>
      <p:sp>
        <p:nvSpPr>
          <p:cNvPr id="8" name="">
            <a:extLst xmlns:a="http://schemas.openxmlformats.org/drawingml/2006/main">
              <a:ext uri="{FF2B5EF4-FFF2-40B4-BE49-F238E27FC236}">
                <a16:creationId xmlns:a16="http://schemas.microsoft.com/office/drawing/2014/main" id="{1FFCB2E8-4CD3-4AF9-91D3-D95900BF73D1}"/>
              </a:ext>
            </a:extLst>
          </p:cNvPr>
          <p:cNvSpPr>
            <a:spLocks xmlns:a="http://schemas.openxmlformats.org/drawingml/2006/main" noGrp="1"/>
          </p:cNvSpPr>
          <p:nvPr/>
        </p:nvSpPr>
        <p:spPr>
          <a:xfrm xmlns:a="http://schemas.openxmlformats.org/drawingml/2006/main">
            <a:off x="3905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entailment</a:t>
            </a:r>
          </a:p>
        </p:txBody>
      </p:sp>
      <p:sp>
        <p:nvSpPr>
          <p:cNvPr id="9" name="">
            <a:extLst xmlns:a="http://schemas.openxmlformats.org/drawingml/2006/main">
              <a:ext uri="{FF2B5EF4-FFF2-40B4-BE49-F238E27FC236}">
                <a16:creationId xmlns:a16="http://schemas.microsoft.com/office/drawing/2014/main" id="{1C7B7C25-FB48-407D-B242-BCFF66B41206}"/>
              </a:ext>
            </a:extLst>
          </p:cNvPr>
          <p:cNvSpPr>
            <a:spLocks xmlns:a="http://schemas.openxmlformats.org/drawingml/2006/main" noGrp="1"/>
          </p:cNvSpPr>
          <p:nvPr/>
        </p:nvSpPr>
        <p:spPr>
          <a:xfrm xmlns:a="http://schemas.openxmlformats.org/drawingml/2006/main">
            <a:off x="30003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10" name="">
            <a:extLst xmlns:a="http://schemas.openxmlformats.org/drawingml/2006/main">
              <a:ext uri="{FF2B5EF4-FFF2-40B4-BE49-F238E27FC236}">
                <a16:creationId xmlns:a16="http://schemas.microsoft.com/office/drawing/2014/main" id="{614A0CBD-CEE7-4ECF-A7CD-86AFA2254876}"/>
              </a:ext>
            </a:extLst>
          </p:cNvPr>
          <p:cNvSpPr>
            <a:spLocks xmlns:a="http://schemas.openxmlformats.org/drawingml/2006/main" noGrp="1"/>
          </p:cNvSpPr>
          <p:nvPr/>
        </p:nvSpPr>
        <p:spPr>
          <a:xfrm xmlns:a="http://schemas.openxmlformats.org/drawingml/2006/main">
            <a:off x="25431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Numbers</a:t>
            </a:r>
          </a:p>
        </p:txBody>
      </p:sp>
      <p:sp>
        <p:nvSpPr>
          <p:cNvPr id="11" name="">
            <a:extLst xmlns:a="http://schemas.openxmlformats.org/drawingml/2006/main">
              <a:ext uri="{FF2B5EF4-FFF2-40B4-BE49-F238E27FC236}">
                <a16:creationId xmlns:a16="http://schemas.microsoft.com/office/drawing/2014/main" id="{ADDC5568-77D3-4CA8-8903-641D742BDAFC}"/>
              </a:ext>
            </a:extLst>
          </p:cNvPr>
          <p:cNvSpPr>
            <a:spLocks xmlns:a="http://schemas.openxmlformats.org/drawingml/2006/main" noGrp="1"/>
          </p:cNvSpPr>
          <p:nvPr/>
        </p:nvSpPr>
        <p:spPr>
          <a:xfrm xmlns:a="http://schemas.openxmlformats.org/drawingml/2006/main">
            <a:off x="23812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dates and ranges</a:t>
            </a:r>
          </a:p>
        </p:txBody>
      </p:sp>
      <p:sp>
        <p:nvSpPr>
          <p:cNvPr id="12" name="">
            <a:extLst xmlns:a="http://schemas.openxmlformats.org/drawingml/2006/main">
              <a:ext uri="{FF2B5EF4-FFF2-40B4-BE49-F238E27FC236}">
                <a16:creationId xmlns:a16="http://schemas.microsoft.com/office/drawing/2014/main" id="{243F4B3B-DA52-4ABC-B885-62F94642AB67}"/>
              </a:ext>
            </a:extLst>
          </p:cNvPr>
          <p:cNvSpPr>
            <a:spLocks xmlns:a="http://schemas.openxmlformats.org/drawingml/2006/main" noGrp="1"/>
          </p:cNvSpPr>
          <p:nvPr/>
        </p:nvSpPr>
        <p:spPr>
          <a:xfrm xmlns:a="http://schemas.openxmlformats.org/drawingml/2006/main">
            <a:off x="4991100" y="2847975"/>
            <a:ext cx="228600" cy="228600"/>
          </a:xfrm>
          <a:prstGeom xmlns:a="http://schemas.openxmlformats.org/drawingml/2006/main" prst="ellipse">
            <a:avLst/>
          </a:prstGeom>
          <a:solidFill xmlns:a="http://schemas.openxmlformats.org/drawingml/2006/main">
            <a:srgbClr val="D59B32"/>
          </a:solidFill>
          <a:ln xmlns:a="http://schemas.openxmlformats.org/drawingml/2006/main" w="0">
            <a:solidFill>
              <a:srgbClr val="D59B32"/>
            </a:solidFill>
            <a:prstDash val="solid"/>
          </a:ln>
        </p:spPr>
      </p:sp>
      <p:sp>
        <p:nvSpPr>
          <p:cNvPr id="13" name="">
            <a:extLst xmlns:a="http://schemas.openxmlformats.org/drawingml/2006/main">
              <a:ext uri="{FF2B5EF4-FFF2-40B4-BE49-F238E27FC236}">
                <a16:creationId xmlns:a16="http://schemas.microsoft.com/office/drawing/2014/main" id="{BCE7CFB9-C7AB-4767-86F0-2A383A6DE6AA}"/>
              </a:ext>
            </a:extLst>
          </p:cNvPr>
          <p:cNvSpPr>
            <a:spLocks xmlns:a="http://schemas.openxmlformats.org/drawingml/2006/main" noGrp="1"/>
          </p:cNvSpPr>
          <p:nvPr/>
        </p:nvSpPr>
        <p:spPr>
          <a:xfrm xmlns:a="http://schemas.openxmlformats.org/drawingml/2006/main">
            <a:off x="453390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MCQ</a:t>
            </a:r>
          </a:p>
        </p:txBody>
      </p:sp>
      <p:sp>
        <p:nvSpPr>
          <p:cNvPr id="14" name="">
            <a:extLst xmlns:a="http://schemas.openxmlformats.org/drawingml/2006/main">
              <a:ext uri="{FF2B5EF4-FFF2-40B4-BE49-F238E27FC236}">
                <a16:creationId xmlns:a16="http://schemas.microsoft.com/office/drawing/2014/main" id="{FE9E0800-FC63-42A9-8C3E-1B71A836A535}"/>
              </a:ext>
            </a:extLst>
          </p:cNvPr>
          <p:cNvSpPr>
            <a:spLocks xmlns:a="http://schemas.openxmlformats.org/drawingml/2006/main" noGrp="1"/>
          </p:cNvSpPr>
          <p:nvPr/>
        </p:nvSpPr>
        <p:spPr>
          <a:xfrm xmlns:a="http://schemas.openxmlformats.org/drawingml/2006/main">
            <a:off x="437197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option parsing</a:t>
            </a:r>
          </a:p>
        </p:txBody>
      </p:sp>
      <p:sp>
        <p:nvSpPr>
          <p:cNvPr id="15" name="">
            <a:extLst xmlns:a="http://schemas.openxmlformats.org/drawingml/2006/main">
              <a:ext uri="{FF2B5EF4-FFF2-40B4-BE49-F238E27FC236}">
                <a16:creationId xmlns:a16="http://schemas.microsoft.com/office/drawing/2014/main" id="{3BD4FF62-2868-4DFC-8783-152B35B5FF16}"/>
              </a:ext>
            </a:extLst>
          </p:cNvPr>
          <p:cNvSpPr>
            <a:spLocks xmlns:a="http://schemas.openxmlformats.org/drawingml/2006/main" noGrp="1"/>
          </p:cNvSpPr>
          <p:nvPr/>
        </p:nvSpPr>
        <p:spPr>
          <a:xfrm xmlns:a="http://schemas.openxmlformats.org/drawingml/2006/main">
            <a:off x="6981825"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16" name="">
            <a:extLst xmlns:a="http://schemas.openxmlformats.org/drawingml/2006/main">
              <a:ext uri="{FF2B5EF4-FFF2-40B4-BE49-F238E27FC236}">
                <a16:creationId xmlns:a16="http://schemas.microsoft.com/office/drawing/2014/main" id="{69053D0F-2C69-4262-9250-C835C106EACE}"/>
              </a:ext>
            </a:extLst>
          </p:cNvPr>
          <p:cNvSpPr>
            <a:spLocks xmlns:a="http://schemas.openxmlformats.org/drawingml/2006/main" noGrp="1"/>
          </p:cNvSpPr>
          <p:nvPr/>
        </p:nvSpPr>
        <p:spPr>
          <a:xfrm xmlns:a="http://schemas.openxmlformats.org/drawingml/2006/main">
            <a:off x="652462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Language</a:t>
            </a:r>
          </a:p>
        </p:txBody>
      </p:sp>
      <p:sp>
        <p:nvSpPr>
          <p:cNvPr id="17" name="">
            <a:extLst xmlns:a="http://schemas.openxmlformats.org/drawingml/2006/main">
              <a:ext uri="{FF2B5EF4-FFF2-40B4-BE49-F238E27FC236}">
                <a16:creationId xmlns:a16="http://schemas.microsoft.com/office/drawing/2014/main" id="{84C0D09A-B132-4BD0-981E-7515EB660DA4}"/>
              </a:ext>
            </a:extLst>
          </p:cNvPr>
          <p:cNvSpPr>
            <a:spLocks xmlns:a="http://schemas.openxmlformats.org/drawingml/2006/main" noGrp="1"/>
          </p:cNvSpPr>
          <p:nvPr/>
        </p:nvSpPr>
        <p:spPr>
          <a:xfrm xmlns:a="http://schemas.openxmlformats.org/drawingml/2006/main">
            <a:off x="636270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morphology</a:t>
            </a:r>
          </a:p>
        </p:txBody>
      </p:sp>
      <p:sp>
        <p:nvSpPr>
          <p:cNvPr id="18" name="">
            <a:extLst xmlns:a="http://schemas.openxmlformats.org/drawingml/2006/main">
              <a:ext uri="{FF2B5EF4-FFF2-40B4-BE49-F238E27FC236}">
                <a16:creationId xmlns:a16="http://schemas.microsoft.com/office/drawing/2014/main" id="{C8C76EE4-EDA7-4F0B-AEDC-0DE8991A6E64}"/>
              </a:ext>
            </a:extLst>
          </p:cNvPr>
          <p:cNvSpPr>
            <a:spLocks xmlns:a="http://schemas.openxmlformats.org/drawingml/2006/main" noGrp="1"/>
          </p:cNvSpPr>
          <p:nvPr/>
        </p:nvSpPr>
        <p:spPr>
          <a:xfrm xmlns:a="http://schemas.openxmlformats.org/drawingml/2006/main">
            <a:off x="8972550" y="2847975"/>
            <a:ext cx="228600" cy="228600"/>
          </a:xfrm>
          <a:prstGeom xmlns:a="http://schemas.openxmlformats.org/drawingml/2006/main" prst="ellipse">
            <a:avLst/>
          </a:prstGeom>
          <a:solidFill xmlns:a="http://schemas.openxmlformats.org/drawingml/2006/main">
            <a:srgbClr val="B5483A"/>
          </a:solidFill>
          <a:ln xmlns:a="http://schemas.openxmlformats.org/drawingml/2006/main" w="0">
            <a:solidFill>
              <a:srgbClr val="B5483A"/>
            </a:solidFill>
            <a:prstDash val="solid"/>
          </a:ln>
        </p:spPr>
      </p:sp>
      <p:sp>
        <p:nvSpPr>
          <p:cNvPr id="19" name="">
            <a:extLst xmlns:a="http://schemas.openxmlformats.org/drawingml/2006/main">
              <a:ext uri="{FF2B5EF4-FFF2-40B4-BE49-F238E27FC236}">
                <a16:creationId xmlns:a16="http://schemas.microsoft.com/office/drawing/2014/main" id="{867C7D5F-D85D-4BD3-B819-6852F6B41A3E}"/>
              </a:ext>
            </a:extLst>
          </p:cNvPr>
          <p:cNvSpPr>
            <a:spLocks xmlns:a="http://schemas.openxmlformats.org/drawingml/2006/main" noGrp="1"/>
          </p:cNvSpPr>
          <p:nvPr/>
        </p:nvSpPr>
        <p:spPr>
          <a:xfrm xmlns:a="http://schemas.openxmlformats.org/drawingml/2006/main">
            <a:off x="85153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Idioms</a:t>
            </a:r>
          </a:p>
        </p:txBody>
      </p:sp>
      <p:sp>
        <p:nvSpPr>
          <p:cNvPr id="20" name="">
            <a:extLst xmlns:a="http://schemas.openxmlformats.org/drawingml/2006/main">
              <a:ext uri="{FF2B5EF4-FFF2-40B4-BE49-F238E27FC236}">
                <a16:creationId xmlns:a16="http://schemas.microsoft.com/office/drawing/2014/main" id="{8C6FE24A-5BAE-4679-A30C-FF180FD6EBAF}"/>
              </a:ext>
            </a:extLst>
          </p:cNvPr>
          <p:cNvSpPr>
            <a:spLocks xmlns:a="http://schemas.openxmlformats.org/drawingml/2006/main" noGrp="1"/>
          </p:cNvSpPr>
          <p:nvPr/>
        </p:nvSpPr>
        <p:spPr>
          <a:xfrm xmlns:a="http://schemas.openxmlformats.org/drawingml/2006/main">
            <a:off x="83534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literal vs figurative</a:t>
            </a:r>
          </a:p>
        </p:txBody>
      </p:sp>
      <p:sp>
        <p:nvSpPr>
          <p:cNvPr id="21" name="">
            <a:extLst xmlns:a="http://schemas.openxmlformats.org/drawingml/2006/main">
              <a:ext uri="{FF2B5EF4-FFF2-40B4-BE49-F238E27FC236}">
                <a16:creationId xmlns:a16="http://schemas.microsoft.com/office/drawing/2014/main" id="{97032F44-4B3B-44D2-B869-35E2BE6C52E3}"/>
              </a:ext>
            </a:extLst>
          </p:cNvPr>
          <p:cNvSpPr>
            <a:spLocks xmlns:a="http://schemas.openxmlformats.org/drawingml/2006/main" noGrp="1"/>
          </p:cNvSpPr>
          <p:nvPr/>
        </p:nvSpPr>
        <p:spPr>
          <a:xfrm xmlns:a="http://schemas.openxmlformats.org/drawingml/2006/main">
            <a:off x="109632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22" name="">
            <a:extLst xmlns:a="http://schemas.openxmlformats.org/drawingml/2006/main">
              <a:ext uri="{FF2B5EF4-FFF2-40B4-BE49-F238E27FC236}">
                <a16:creationId xmlns:a16="http://schemas.microsoft.com/office/drawing/2014/main" id="{A671DEDB-B292-40CA-B18C-62512EA4B6E1}"/>
              </a:ext>
            </a:extLst>
          </p:cNvPr>
          <p:cNvSpPr>
            <a:spLocks xmlns:a="http://schemas.openxmlformats.org/drawingml/2006/main" noGrp="1"/>
          </p:cNvSpPr>
          <p:nvPr/>
        </p:nvSpPr>
        <p:spPr>
          <a:xfrm xmlns:a="http://schemas.openxmlformats.org/drawingml/2006/main">
            <a:off x="105060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Facts</a:t>
            </a:r>
          </a:p>
        </p:txBody>
      </p:sp>
      <p:sp>
        <p:nvSpPr>
          <p:cNvPr id="23" name="">
            <a:extLst xmlns:a="http://schemas.openxmlformats.org/drawingml/2006/main">
              <a:ext uri="{FF2B5EF4-FFF2-40B4-BE49-F238E27FC236}">
                <a16:creationId xmlns:a16="http://schemas.microsoft.com/office/drawing/2014/main" id="{3C9F6947-5D59-4B9E-9A1E-B945934BC1F6}"/>
              </a:ext>
            </a:extLst>
          </p:cNvPr>
          <p:cNvSpPr>
            <a:spLocks xmlns:a="http://schemas.openxmlformats.org/drawingml/2006/main" noGrp="1"/>
          </p:cNvSpPr>
          <p:nvPr/>
        </p:nvSpPr>
        <p:spPr>
          <a:xfrm xmlns:a="http://schemas.openxmlformats.org/drawingml/2006/main">
            <a:off x="103441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history and law</a:t>
            </a:r>
          </a:p>
        </p:txBody>
      </p:sp>
      <p:sp>
        <p:nvSpPr>
          <p:cNvPr id="24" name="">
            <a:extLst xmlns:a="http://schemas.openxmlformats.org/drawingml/2006/main">
              <a:ext uri="{FF2B5EF4-FFF2-40B4-BE49-F238E27FC236}">
                <a16:creationId xmlns:a16="http://schemas.microsoft.com/office/drawing/2014/main" id="{EB6CE7AC-BF51-4010-AC77-A1F8D83E7D60}"/>
              </a:ext>
            </a:extLst>
          </p:cNvPr>
          <p:cNvSpPr>
            <a:spLocks xmlns:a="http://schemas.openxmlformats.org/drawingml/2006/main" noGrp="1"/>
          </p:cNvSpPr>
          <p:nvPr/>
        </p:nvSpPr>
        <p:spPr>
          <a:xfrm xmlns:a="http://schemas.openxmlformats.org/drawingml/2006/main">
            <a:off x="1657350" y="4648200"/>
            <a:ext cx="8877300" cy="1028700"/>
          </a:xfrm>
          <a:prstGeom xmlns:a="http://schemas.openxmlformats.org/drawingml/2006/main" prst="roundRect">
            <a:avLst>
              <a:gd name="adj" fmla="val 12963"/>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5" name="">
            <a:extLst xmlns:a="http://schemas.openxmlformats.org/drawingml/2006/main">
              <a:ext uri="{FF2B5EF4-FFF2-40B4-BE49-F238E27FC236}">
                <a16:creationId xmlns:a16="http://schemas.microsoft.com/office/drawing/2014/main" id="{CFB9CFC2-4E93-4C06-8A98-FBD313D5C52D}"/>
              </a:ext>
            </a:extLst>
          </p:cNvPr>
          <p:cNvSpPr>
            <a:spLocks xmlns:a="http://schemas.openxmlformats.org/drawingml/2006/main" noGrp="1"/>
          </p:cNvSpPr>
          <p:nvPr/>
        </p:nvSpPr>
        <p:spPr>
          <a:xfrm xmlns:a="http://schemas.openxmlformats.org/drawingml/2006/main">
            <a:off x="2057400" y="4857750"/>
            <a:ext cx="809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1">
                <a:solidFill>
                  <a:srgbClr val="0F172A"/>
                </a:solidFill>
              </a:defRPr>
            </a:pPr>
            <a:r>
              <a:rPr sz="1950" b="1">
                <a:solidFill>
                  <a:srgbClr val="0F172A"/>
                </a:solidFill>
              </a:rPr>
              <a:t>A single judge prompt treated all six as the same problem.</a:t>
            </a:r>
          </a:p>
        </p:txBody>
      </p:sp>
      <p:sp>
        <p:nvSpPr>
          <p:cNvPr id="26" name="">
            <a:extLst xmlns:a="http://schemas.openxmlformats.org/drawingml/2006/main">
              <a:ext uri="{FF2B5EF4-FFF2-40B4-BE49-F238E27FC236}">
                <a16:creationId xmlns:a16="http://schemas.microsoft.com/office/drawing/2014/main" id="{9DF3D9CE-E66B-44F0-8150-CE930655CB27}"/>
              </a:ext>
            </a:extLst>
          </p:cNvPr>
          <p:cNvSpPr>
            <a:spLocks xmlns:a="http://schemas.openxmlformats.org/drawingml/2006/main" noGrp="1"/>
          </p:cNvSpPr>
          <p:nvPr/>
        </p:nvSpPr>
        <p:spPr>
          <a:xfrm xmlns:a="http://schemas.openxmlformats.org/drawingml/2006/main">
            <a:off x="2057400" y="5257800"/>
            <a:ext cx="809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That worked as a baseline, but it was prompt-sensitive and weak on culturally specific relations.</a:t>
            </a:r>
          </a:p>
        </p:txBody>
      </p:sp>
      <p:sp>
        <p:nvSpPr>
          <p:cNvPr id="27" name="">
            <a:extLst xmlns:a="http://schemas.openxmlformats.org/drawingml/2006/main">
              <a:ext uri="{FF2B5EF4-FFF2-40B4-BE49-F238E27FC236}">
                <a16:creationId xmlns:a16="http://schemas.microsoft.com/office/drawing/2014/main" id="{546542FB-D776-4403-9FA7-BED4E537CA50}"/>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8" name="source-2">
            <a:extLst xmlns:a="http://schemas.openxmlformats.org/drawingml/2006/main">
              <a:ext uri="{FF2B5EF4-FFF2-40B4-BE49-F238E27FC236}">
                <a16:creationId xmlns:a16="http://schemas.microsoft.com/office/drawing/2014/main" id="{7602F65B-37EA-4909-B394-CA31E75BBD08}"/>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[1] Competition task definition  [3] BenHalluEval task taxonomy  [4] Bengali idiom benchmark</a:t>
            </a:r>
          </a:p>
        </p:txBody>
      </p:sp>
      <p:sp>
        <p:nvSpPr>
          <p:cNvPr id="29" name="page-2">
            <a:extLst xmlns:a="http://schemas.openxmlformats.org/drawingml/2006/main">
              <a:ext uri="{FF2B5EF4-FFF2-40B4-BE49-F238E27FC236}">
                <a16:creationId xmlns:a16="http://schemas.microsoft.com/office/drawing/2014/main" id="{E7975AE5-5ABE-4A55-8462-4A812A7A47E8}"/>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02</a:t>
            </a:r>
          </a:p>
        </p:txBody>
      </p:sp>
    </p:spTree>
    <p:extLst>
      <p:ext uri="{BB962C8B-B14F-4D97-AF65-F5344CB8AC3E}">
        <p14:creationId xmlns:p14="http://schemas.microsoft.com/office/powerpoint/2010/main" val="293704456"/>
      </p:ext>
    </p:extLst>
  </p:cSld>
</p:sld>
</file>

<file path=ppt/slides/slide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3">
            <a:extLst xmlns:a="http://schemas.openxmlformats.org/drawingml/2006/main">
              <a:ext uri="{FF2B5EF4-FFF2-40B4-BE49-F238E27FC236}">
                <a16:creationId xmlns:a16="http://schemas.microsoft.com/office/drawing/2014/main" id="{149CB62E-7129-4078-87D4-16F707F7975D}"/>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3">
            <a:extLst xmlns:a="http://schemas.openxmlformats.org/drawingml/2006/main">
              <a:ext uri="{FF2B5EF4-FFF2-40B4-BE49-F238E27FC236}">
                <a16:creationId xmlns:a16="http://schemas.microsoft.com/office/drawing/2014/main" id="{423747C6-1A48-49CE-9461-A250CD6D0CFD}"/>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The working hypothesis became a selective cascade</a:t>
            </a:r>
          </a:p>
        </p:txBody>
      </p:sp>
      <p:sp>
        <p:nvSpPr>
          <p:cNvPr id="3" name="">
            <a:extLst xmlns:a="http://schemas.openxmlformats.org/drawingml/2006/main">
              <a:ext uri="{FF2B5EF4-FFF2-40B4-BE49-F238E27FC236}">
                <a16:creationId xmlns:a16="http://schemas.microsoft.com/office/drawing/2014/main" id="{CE53ADB0-34C3-4197-879D-420B27C8DEDD}"/>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6659C292-9634-4C3B-A87A-1288FD63E2BA}"/>
              </a:ext>
            </a:extLst>
          </p:cNvPr>
          <p:cNvSpPr>
            <a:spLocks xmlns:a="http://schemas.openxmlformats.org/drawingml/2006/main" noGrp="1"/>
          </p:cNvSpPr>
          <p:nvPr/>
        </p:nvSpPr>
        <p:spPr>
          <a:xfrm xmlns:a="http://schemas.openxmlformats.org/drawingml/2006/main">
            <a:off x="685800" y="1381125"/>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Every stage could answer, or abstain. Abstention was a normal outcome, not a failure.</a:t>
            </a:r>
          </a:p>
        </p:txBody>
      </p:sp>
      <p:sp>
        <p:nvSpPr>
          <p:cNvPr id="5" name="">
            <a:extLst xmlns:a="http://schemas.openxmlformats.org/drawingml/2006/main">
              <a:ext uri="{FF2B5EF4-FFF2-40B4-BE49-F238E27FC236}">
                <a16:creationId xmlns:a16="http://schemas.microsoft.com/office/drawing/2014/main" id="{222A0CE9-52FC-49BA-A2F8-15CC99B83EA6}"/>
              </a:ext>
            </a:extLst>
          </p:cNvPr>
          <p:cNvSpPr>
            <a:spLocks xmlns:a="http://schemas.openxmlformats.org/drawingml/2006/main" noGrp="1"/>
          </p:cNvSpPr>
          <p:nvPr/>
        </p:nvSpPr>
        <p:spPr>
          <a:xfrm xmlns:a="http://schemas.openxmlformats.org/drawingml/2006/main">
            <a:off x="23622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89359F7D-30A9-46D9-B1CE-D7821178DA43}"/>
              </a:ext>
            </a:extLst>
          </p:cNvPr>
          <p:cNvSpPr>
            <a:spLocks xmlns:a="http://schemas.openxmlformats.org/drawingml/2006/main" noGrp="1"/>
          </p:cNvSpPr>
          <p:nvPr/>
        </p:nvSpPr>
        <p:spPr>
          <a:xfrm xmlns:a="http://schemas.openxmlformats.org/drawingml/2006/main">
            <a:off x="47625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1529528-BB06-456E-AF17-FC7D033DCCF1}"/>
              </a:ext>
            </a:extLst>
          </p:cNvPr>
          <p:cNvSpPr>
            <a:spLocks xmlns:a="http://schemas.openxmlformats.org/drawingml/2006/main" noGrp="1"/>
          </p:cNvSpPr>
          <p:nvPr/>
        </p:nvSpPr>
        <p:spPr>
          <a:xfrm xmlns:a="http://schemas.openxmlformats.org/drawingml/2006/main">
            <a:off x="71628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E87D87CC-B41D-42B0-9DAF-C14F1703D6E7}"/>
              </a:ext>
            </a:extLst>
          </p:cNvPr>
          <p:cNvSpPr>
            <a:spLocks xmlns:a="http://schemas.openxmlformats.org/drawingml/2006/main" noGrp="1"/>
          </p:cNvSpPr>
          <p:nvPr/>
        </p:nvSpPr>
        <p:spPr>
          <a:xfrm xmlns:a="http://schemas.openxmlformats.org/drawingml/2006/main">
            <a:off x="95631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pipeline-0">
            <a:extLst xmlns:a="http://schemas.openxmlformats.org/drawingml/2006/main">
              <a:ext uri="{FF2B5EF4-FFF2-40B4-BE49-F238E27FC236}">
                <a16:creationId xmlns:a16="http://schemas.microsoft.com/office/drawing/2014/main" id="{90E6850B-5EA6-4CC3-973F-2010319A4F9E}"/>
              </a:ext>
            </a:extLst>
          </p:cNvPr>
          <p:cNvSpPr>
            <a:spLocks xmlns:a="http://schemas.openxmlformats.org/drawingml/2006/main" noGrp="1"/>
          </p:cNvSpPr>
          <p:nvPr/>
        </p:nvSpPr>
        <p:spPr>
          <a:xfrm xmlns:a="http://schemas.openxmlformats.org/drawingml/2006/main">
            <a:off x="76200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0F8E8EAB-18D8-4230-9C51-4A658FB2DD96}"/>
              </a:ext>
            </a:extLst>
          </p:cNvPr>
          <p:cNvSpPr>
            <a:spLocks xmlns:a="http://schemas.openxmlformats.org/drawingml/2006/main" noGrp="1"/>
          </p:cNvSpPr>
          <p:nvPr/>
        </p:nvSpPr>
        <p:spPr>
          <a:xfrm xmlns:a="http://schemas.openxmlformats.org/drawingml/2006/main">
            <a:off x="93345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1F5A7A"/>
                </a:solidFill>
              </a:defRPr>
            </a:pPr>
            <a:r>
              <a:rPr sz="1575" b="1">
                <a:solidFill>
                  <a:srgbClr val="1F5A7A"/>
                </a:solidFill>
              </a:rPr>
              <a:t>Normalize</a:t>
            </a:r>
          </a:p>
        </p:txBody>
      </p:sp>
      <p:sp>
        <p:nvSpPr>
          <p:cNvPr id="11" name="">
            <a:extLst xmlns:a="http://schemas.openxmlformats.org/drawingml/2006/main">
              <a:ext uri="{FF2B5EF4-FFF2-40B4-BE49-F238E27FC236}">
                <a16:creationId xmlns:a16="http://schemas.microsoft.com/office/drawing/2014/main" id="{25AE086E-A405-4D92-98D3-35A8CEFB7D7E}"/>
              </a:ext>
            </a:extLst>
          </p:cNvPr>
          <p:cNvSpPr>
            <a:spLocks xmlns:a="http://schemas.openxmlformats.org/drawingml/2006/main" noGrp="1"/>
          </p:cNvSpPr>
          <p:nvPr/>
        </p:nvSpPr>
        <p:spPr>
          <a:xfrm xmlns:a="http://schemas.openxmlformats.org/drawingml/2006/main">
            <a:off x="93345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digits, options,</a:t>
            </a:r>
          </a:p>
          <a:p xmlns:a="http://schemas.openxmlformats.org/drawingml/2006/main">
            <a:pPr algn="ctr">
              <a:defRPr sz="1275" b="0">
                <a:solidFill>
                  <a:srgbClr val="526174"/>
                </a:solidFill>
              </a:defRPr>
            </a:pPr>
            <a:r>
              <a:rPr sz="1275" b="0">
                <a:solidFill>
                  <a:srgbClr val="526174"/>
                </a:solidFill>
              </a:rPr>
              <a:t>aliases</a:t>
            </a:r>
          </a:p>
        </p:txBody>
      </p:sp>
      <p:sp>
        <p:nvSpPr>
          <p:cNvPr id="12" name="pipeline-1">
            <a:extLst xmlns:a="http://schemas.openxmlformats.org/drawingml/2006/main">
              <a:ext uri="{FF2B5EF4-FFF2-40B4-BE49-F238E27FC236}">
                <a16:creationId xmlns:a16="http://schemas.microsoft.com/office/drawing/2014/main" id="{8F7B2866-C7E6-45EB-8976-F117E622DCAC}"/>
              </a:ext>
            </a:extLst>
          </p:cNvPr>
          <p:cNvSpPr>
            <a:spLocks xmlns:a="http://schemas.openxmlformats.org/drawingml/2006/main" noGrp="1"/>
          </p:cNvSpPr>
          <p:nvPr/>
        </p:nvSpPr>
        <p:spPr>
          <a:xfrm xmlns:a="http://schemas.openxmlformats.org/drawingml/2006/main">
            <a:off x="314325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51972382-FFE3-4BC9-AADE-7F3A7FE89F3F}"/>
              </a:ext>
            </a:extLst>
          </p:cNvPr>
          <p:cNvSpPr>
            <a:spLocks xmlns:a="http://schemas.openxmlformats.org/drawingml/2006/main" noGrp="1"/>
          </p:cNvSpPr>
          <p:nvPr/>
        </p:nvSpPr>
        <p:spPr>
          <a:xfrm xmlns:a="http://schemas.openxmlformats.org/drawingml/2006/main">
            <a:off x="33147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Route</a:t>
            </a:r>
          </a:p>
        </p:txBody>
      </p:sp>
      <p:sp>
        <p:nvSpPr>
          <p:cNvPr id="14" name="">
            <a:extLst xmlns:a="http://schemas.openxmlformats.org/drawingml/2006/main">
              <a:ext uri="{FF2B5EF4-FFF2-40B4-BE49-F238E27FC236}">
                <a16:creationId xmlns:a16="http://schemas.microsoft.com/office/drawing/2014/main" id="{65406B78-BB43-4955-9EC6-C9707787FDE2}"/>
              </a:ext>
            </a:extLst>
          </p:cNvPr>
          <p:cNvSpPr>
            <a:spLocks xmlns:a="http://schemas.openxmlformats.org/drawingml/2006/main" noGrp="1"/>
          </p:cNvSpPr>
          <p:nvPr/>
        </p:nvSpPr>
        <p:spPr>
          <a:xfrm xmlns:a="http://schemas.openxmlformats.org/drawingml/2006/main">
            <a:off x="33147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context, numeric,</a:t>
            </a:r>
          </a:p>
          <a:p xmlns:a="http://schemas.openxmlformats.org/drawingml/2006/main">
            <a:pPr algn="ctr">
              <a:defRPr sz="1275" b="0">
                <a:solidFill>
                  <a:srgbClr val="526174"/>
                </a:solidFill>
              </a:defRPr>
            </a:pPr>
            <a:r>
              <a:rPr sz="1275" b="0">
                <a:solidFill>
                  <a:srgbClr val="526174"/>
                </a:solidFill>
              </a:rPr>
              <a:t>lexical, factual</a:t>
            </a:r>
          </a:p>
        </p:txBody>
      </p:sp>
      <p:sp>
        <p:nvSpPr>
          <p:cNvPr id="15" name="pipeline-2">
            <a:extLst xmlns:a="http://schemas.openxmlformats.org/drawingml/2006/main">
              <a:ext uri="{FF2B5EF4-FFF2-40B4-BE49-F238E27FC236}">
                <a16:creationId xmlns:a16="http://schemas.microsoft.com/office/drawing/2014/main" id="{B97413BA-1B5B-41DE-9131-657A88D27359}"/>
              </a:ext>
            </a:extLst>
          </p:cNvPr>
          <p:cNvSpPr>
            <a:spLocks xmlns:a="http://schemas.openxmlformats.org/drawingml/2006/main" noGrp="1"/>
          </p:cNvSpPr>
          <p:nvPr/>
        </p:nvSpPr>
        <p:spPr>
          <a:xfrm xmlns:a="http://schemas.openxmlformats.org/drawingml/2006/main">
            <a:off x="554355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93698CA0-F355-4915-B739-ACA61190A707}"/>
              </a:ext>
            </a:extLst>
          </p:cNvPr>
          <p:cNvSpPr>
            <a:spLocks xmlns:a="http://schemas.openxmlformats.org/drawingml/2006/main" noGrp="1"/>
          </p:cNvSpPr>
          <p:nvPr/>
        </p:nvSpPr>
        <p:spPr>
          <a:xfrm xmlns:a="http://schemas.openxmlformats.org/drawingml/2006/main">
            <a:off x="57150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Verify</a:t>
            </a:r>
          </a:p>
        </p:txBody>
      </p:sp>
      <p:sp>
        <p:nvSpPr>
          <p:cNvPr id="17" name="">
            <a:extLst xmlns:a="http://schemas.openxmlformats.org/drawingml/2006/main">
              <a:ext uri="{FF2B5EF4-FFF2-40B4-BE49-F238E27FC236}">
                <a16:creationId xmlns:a16="http://schemas.microsoft.com/office/drawing/2014/main" id="{9E587DE4-F8DA-4A14-A04B-18EFB127F2F9}"/>
              </a:ext>
            </a:extLst>
          </p:cNvPr>
          <p:cNvSpPr>
            <a:spLocks xmlns:a="http://schemas.openxmlformats.org/drawingml/2006/main" noGrp="1"/>
          </p:cNvSpPr>
          <p:nvPr/>
        </p:nvSpPr>
        <p:spPr>
          <a:xfrm xmlns:a="http://schemas.openxmlformats.org/drawingml/2006/main">
            <a:off x="57150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exact lineage and</a:t>
            </a:r>
          </a:p>
          <a:p xmlns:a="http://schemas.openxmlformats.org/drawingml/2006/main">
            <a:pPr algn="ctr">
              <a:defRPr sz="1275" b="0">
                <a:solidFill>
                  <a:srgbClr val="526174"/>
                </a:solidFill>
              </a:defRPr>
            </a:pPr>
            <a:r>
              <a:rPr sz="1275" b="0">
                <a:solidFill>
                  <a:srgbClr val="526174"/>
                </a:solidFill>
              </a:rPr>
              <a:t>typed evidence</a:t>
            </a:r>
          </a:p>
        </p:txBody>
      </p:sp>
      <p:sp>
        <p:nvSpPr>
          <p:cNvPr id="18" name="pipeline-3">
            <a:extLst xmlns:a="http://schemas.openxmlformats.org/drawingml/2006/main">
              <a:ext uri="{FF2B5EF4-FFF2-40B4-BE49-F238E27FC236}">
                <a16:creationId xmlns:a16="http://schemas.microsoft.com/office/drawing/2014/main" id="{1DE5A328-F74D-4949-AFB4-3DCD10E73F6B}"/>
              </a:ext>
            </a:extLst>
          </p:cNvPr>
          <p:cNvSpPr>
            <a:spLocks xmlns:a="http://schemas.openxmlformats.org/drawingml/2006/main" noGrp="1"/>
          </p:cNvSpPr>
          <p:nvPr/>
        </p:nvSpPr>
        <p:spPr>
          <a:xfrm xmlns:a="http://schemas.openxmlformats.org/drawingml/2006/main">
            <a:off x="7943850" y="2324100"/>
            <a:ext cx="1619250" cy="1600200"/>
          </a:xfrm>
          <a:prstGeom xmlns:a="http://schemas.openxmlformats.org/drawingml/2006/main" prst="roundRect">
            <a:avLst>
              <a:gd name="adj" fmla="val 10714"/>
            </a:avLst>
          </a:prstGeom>
          <a:solidFill xmlns:a="http://schemas.openxmlformats.org/drawingml/2006/main">
            <a:srgbClr val="E7EEF4"/>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B9BA53BA-760C-40F2-87F2-C94B4CF2BD4E}"/>
              </a:ext>
            </a:extLst>
          </p:cNvPr>
          <p:cNvSpPr>
            <a:spLocks xmlns:a="http://schemas.openxmlformats.org/drawingml/2006/main" noGrp="1"/>
          </p:cNvSpPr>
          <p:nvPr/>
        </p:nvSpPr>
        <p:spPr>
          <a:xfrm xmlns:a="http://schemas.openxmlformats.org/drawingml/2006/main">
            <a:off x="81153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Abstain?</a:t>
            </a:r>
          </a:p>
        </p:txBody>
      </p:sp>
      <p:sp>
        <p:nvSpPr>
          <p:cNvPr id="20" name="">
            <a:extLst xmlns:a="http://schemas.openxmlformats.org/drawingml/2006/main">
              <a:ext uri="{FF2B5EF4-FFF2-40B4-BE49-F238E27FC236}">
                <a16:creationId xmlns:a16="http://schemas.microsoft.com/office/drawing/2014/main" id="{B81B0678-8E71-4C9B-9F8E-561ADE5ABB24}"/>
              </a:ext>
            </a:extLst>
          </p:cNvPr>
          <p:cNvSpPr>
            <a:spLocks xmlns:a="http://schemas.openxmlformats.org/drawingml/2006/main" noGrp="1"/>
          </p:cNvSpPr>
          <p:nvPr/>
        </p:nvSpPr>
        <p:spPr>
          <a:xfrm xmlns:a="http://schemas.openxmlformats.org/drawingml/2006/main">
            <a:off x="81153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resolved label or</a:t>
            </a:r>
          </a:p>
          <a:p xmlns:a="http://schemas.openxmlformats.org/drawingml/2006/main">
            <a:pPr algn="ctr">
              <a:defRPr sz="1275" b="0">
                <a:solidFill>
                  <a:srgbClr val="526174"/>
                </a:solidFill>
              </a:defRPr>
            </a:pPr>
            <a:r>
              <a:rPr sz="1275" b="0">
                <a:solidFill>
                  <a:srgbClr val="526174"/>
                </a:solidFill>
              </a:rPr>
              <a:t>uncertain tail</a:t>
            </a:r>
          </a:p>
        </p:txBody>
      </p:sp>
      <p:sp>
        <p:nvSpPr>
          <p:cNvPr id="21" name="pipeline-4">
            <a:extLst xmlns:a="http://schemas.openxmlformats.org/drawingml/2006/main">
              <a:ext uri="{FF2B5EF4-FFF2-40B4-BE49-F238E27FC236}">
                <a16:creationId xmlns:a16="http://schemas.microsoft.com/office/drawing/2014/main" id="{6927552C-6F19-404A-8463-AB18009E2EB1}"/>
              </a:ext>
            </a:extLst>
          </p:cNvPr>
          <p:cNvSpPr>
            <a:spLocks xmlns:a="http://schemas.openxmlformats.org/drawingml/2006/main" noGrp="1"/>
          </p:cNvSpPr>
          <p:nvPr/>
        </p:nvSpPr>
        <p:spPr>
          <a:xfrm xmlns:a="http://schemas.openxmlformats.org/drawingml/2006/main">
            <a:off x="10344150" y="2324100"/>
            <a:ext cx="1619250" cy="1600200"/>
          </a:xfrm>
          <a:prstGeom xmlns:a="http://schemas.openxmlformats.org/drawingml/2006/main" prst="roundRect">
            <a:avLst>
              <a:gd name="adj" fmla="val 10714"/>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3DFF7400-55FE-4291-AA97-949AF7F3F830}"/>
              </a:ext>
            </a:extLst>
          </p:cNvPr>
          <p:cNvSpPr>
            <a:spLocks xmlns:a="http://schemas.openxmlformats.org/drawingml/2006/main" noGrp="1"/>
          </p:cNvSpPr>
          <p:nvPr/>
        </p:nvSpPr>
        <p:spPr>
          <a:xfrm xmlns:a="http://schemas.openxmlformats.org/drawingml/2006/main">
            <a:off x="105156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D59B32"/>
                </a:solidFill>
              </a:defRPr>
            </a:pPr>
            <a:r>
              <a:rPr sz="1800" b="1">
                <a:solidFill>
                  <a:srgbClr val="D59B32"/>
                </a:solidFill>
              </a:rPr>
              <a:t>Judge</a:t>
            </a:r>
          </a:p>
        </p:txBody>
      </p:sp>
      <p:sp>
        <p:nvSpPr>
          <p:cNvPr id="23" name="">
            <a:extLst xmlns:a="http://schemas.openxmlformats.org/drawingml/2006/main">
              <a:ext uri="{FF2B5EF4-FFF2-40B4-BE49-F238E27FC236}">
                <a16:creationId xmlns:a16="http://schemas.microsoft.com/office/drawing/2014/main" id="{01DBCC52-5B2F-48F2-82EB-634240A5D920}"/>
              </a:ext>
            </a:extLst>
          </p:cNvPr>
          <p:cNvSpPr>
            <a:spLocks xmlns:a="http://schemas.openxmlformats.org/drawingml/2006/main" noGrp="1"/>
          </p:cNvSpPr>
          <p:nvPr/>
        </p:nvSpPr>
        <p:spPr>
          <a:xfrm xmlns:a="http://schemas.openxmlformats.org/drawingml/2006/main">
            <a:off x="105156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Qwen binary</a:t>
            </a:r>
          </a:p>
          <a:p xmlns:a="http://schemas.openxmlformats.org/drawingml/2006/main">
            <a:pPr algn="ctr">
              <a:defRPr sz="1275" b="0">
                <a:solidFill>
                  <a:srgbClr val="526174"/>
                </a:solidFill>
              </a:defRPr>
            </a:pPr>
            <a:r>
              <a:rPr sz="1275" b="0">
                <a:solidFill>
                  <a:srgbClr val="526174"/>
                </a:solidFill>
              </a:rPr>
              <a:t>decision</a:t>
            </a:r>
          </a:p>
        </p:txBody>
      </p:sp>
      <p:sp>
        <p:nvSpPr>
          <p:cNvPr id="24" name="">
            <a:extLst xmlns:a="http://schemas.openxmlformats.org/drawingml/2006/main">
              <a:ext uri="{FF2B5EF4-FFF2-40B4-BE49-F238E27FC236}">
                <a16:creationId xmlns:a16="http://schemas.microsoft.com/office/drawing/2014/main" id="{68629915-052F-4C6F-9E8B-5B1130DFC36B}"/>
              </a:ext>
            </a:extLst>
          </p:cNvPr>
          <p:cNvSpPr>
            <a:spLocks xmlns:a="http://schemas.openxmlformats.org/drawingml/2006/main" noGrp="1"/>
          </p:cNvSpPr>
          <p:nvPr/>
        </p:nvSpPr>
        <p:spPr>
          <a:xfrm xmlns:a="http://schemas.openxmlformats.org/drawingml/2006/main">
            <a:off x="1428750" y="4476750"/>
            <a:ext cx="933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0F172A"/>
                </a:solidFill>
              </a:defRPr>
            </a:pPr>
            <a:r>
              <a:rPr sz="1800" b="1">
                <a:solidFill>
                  <a:srgbClr val="0F172A"/>
                </a:solidFill>
              </a:rPr>
              <a:t>Deterministic stages record the source family and relation behind each decision.</a:t>
            </a:r>
          </a:p>
        </p:txBody>
      </p:sp>
      <p:sp>
        <p:nvSpPr>
          <p:cNvPr id="25" name="">
            <a:extLst xmlns:a="http://schemas.openxmlformats.org/drawingml/2006/main">
              <a:ext uri="{FF2B5EF4-FFF2-40B4-BE49-F238E27FC236}">
                <a16:creationId xmlns:a16="http://schemas.microsoft.com/office/drawing/2014/main" id="{CEB4BBAD-DE4D-4D58-AE20-BD2F146745AB}"/>
              </a:ext>
            </a:extLst>
          </p:cNvPr>
          <p:cNvSpPr>
            <a:spLocks xmlns:a="http://schemas.openxmlformats.org/drawingml/2006/main" noGrp="1"/>
          </p:cNvSpPr>
          <p:nvPr/>
        </p:nvSpPr>
        <p:spPr>
          <a:xfrm xmlns:a="http://schemas.openxmlformats.org/drawingml/2006/main">
            <a:off x="2095500" y="4953000"/>
            <a:ext cx="800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a:solidFill>
                  <a:srgbClr val="526174"/>
                </a:solidFill>
              </a:defRPr>
            </a:pPr>
            <a:r>
              <a:rPr sz="1500" b="0">
                <a:solidFill>
                  <a:srgbClr val="526174"/>
                </a:solidFill>
              </a:rPr>
              <a:t>If those fields are not defensible, the row moves forward unchanged.</a:t>
            </a:r>
          </a:p>
        </p:txBody>
      </p:sp>
      <p:sp>
        <p:nvSpPr>
          <p:cNvPr id="26" name="">
            <a:extLst xmlns:a="http://schemas.openxmlformats.org/drawingml/2006/main">
              <a:ext uri="{FF2B5EF4-FFF2-40B4-BE49-F238E27FC236}">
                <a16:creationId xmlns:a16="http://schemas.microsoft.com/office/drawing/2014/main" id="{F7C5AF71-66ED-4523-A2E0-BDB29EBCBA5D}"/>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3">
            <a:extLst xmlns:a="http://schemas.openxmlformats.org/drawingml/2006/main">
              <a:ext uri="{FF2B5EF4-FFF2-40B4-BE49-F238E27FC236}">
                <a16:creationId xmlns:a16="http://schemas.microsoft.com/office/drawing/2014/main" id="{CAB7B782-A1A7-4940-BAEE-91B79E8F489D}"/>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[3] BenHalluEval  [4] Bengali idiom benchmark  [7] Frozen v91 architecture</a:t>
            </a:r>
          </a:p>
        </p:txBody>
      </p:sp>
      <p:sp>
        <p:nvSpPr>
          <p:cNvPr id="28" name="page-3">
            <a:extLst xmlns:a="http://schemas.openxmlformats.org/drawingml/2006/main">
              <a:ext uri="{FF2B5EF4-FFF2-40B4-BE49-F238E27FC236}">
                <a16:creationId xmlns:a16="http://schemas.microsoft.com/office/drawing/2014/main" id="{184BFB37-E004-4769-91BD-4FF5C7635E38}"/>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03</a:t>
            </a:r>
          </a:p>
        </p:txBody>
      </p:sp>
    </p:spTree>
    <p:extLst>
      <p:ext uri="{BB962C8B-B14F-4D97-AF65-F5344CB8AC3E}">
        <p14:creationId xmlns:p14="http://schemas.microsoft.com/office/powerpoint/2010/main" val="1534549032"/>
      </p:ext>
    </p:extLst>
  </p:cSld>
</p:sld>
</file>

<file path=ppt/slides/slide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9" name="kicker-4">
            <a:extLst xmlns:a="http://schemas.openxmlformats.org/drawingml/2006/main">
              <a:ext uri="{FF2B5EF4-FFF2-40B4-BE49-F238E27FC236}">
                <a16:creationId xmlns:a16="http://schemas.microsoft.com/office/drawing/2014/main" id="{EEA26ABC-4DDE-4D32-9B8A-8138A9AFD781}"/>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4">
            <a:extLst xmlns:a="http://schemas.openxmlformats.org/drawingml/2006/main">
              <a:ext uri="{FF2B5EF4-FFF2-40B4-BE49-F238E27FC236}">
                <a16:creationId xmlns:a16="http://schemas.microsoft.com/office/drawing/2014/main" id="{840044BE-EF8C-472B-B624-34B3C5C900C9}"/>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Routing made abstention an explicit state</a:t>
            </a:r>
          </a:p>
        </p:txBody>
      </p:sp>
      <p:sp>
        <p:nvSpPr>
          <p:cNvPr id="3" name="">
            <a:extLst xmlns:a="http://schemas.openxmlformats.org/drawingml/2006/main">
              <a:ext uri="{FF2B5EF4-FFF2-40B4-BE49-F238E27FC236}">
                <a16:creationId xmlns:a16="http://schemas.microsoft.com/office/drawing/2014/main" id="{0104DCA3-371D-431F-95BE-8A1CCF2087C4}"/>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ADB9D797-5F59-43F2-8D2D-0509E2B18F70}"/>
              </a:ext>
            </a:extLst>
          </p:cNvPr>
          <p:cNvSpPr>
            <a:spLocks xmlns:a="http://schemas.openxmlformats.org/drawingml/2006/main" noGrp="1"/>
          </p:cNvSpPr>
          <p:nvPr/>
        </p:nvSpPr>
        <p:spPr>
          <a:xfrm xmlns:a="http://schemas.openxmlformats.org/drawingml/2006/main">
            <a:off x="685800" y="1381125"/>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A branch could return 0, 1, or abstain. Only abstentions moved to the next branch.</a:t>
            </a:r>
          </a:p>
        </p:txBody>
      </p:sp>
      <p:sp>
        <p:nvSpPr>
          <p:cNvPr id="5" name="">
            <a:extLst xmlns:a="http://schemas.openxmlformats.org/drawingml/2006/main">
              <a:ext uri="{FF2B5EF4-FFF2-40B4-BE49-F238E27FC236}">
                <a16:creationId xmlns:a16="http://schemas.microsoft.com/office/drawing/2014/main" id="{A372A325-8460-4E4C-99E8-0ABF6B850988}"/>
              </a:ext>
            </a:extLst>
          </p:cNvPr>
          <p:cNvSpPr>
            <a:spLocks xmlns:a="http://schemas.openxmlformats.org/drawingml/2006/main" noGrp="1"/>
          </p:cNvSpPr>
          <p:nvPr/>
        </p:nvSpPr>
        <p:spPr>
          <a:xfrm xmlns:a="http://schemas.openxmlformats.org/drawingml/2006/main">
            <a:off x="18478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CC9AB3D8-7B9C-41DB-B5E2-0806249E4766}"/>
              </a:ext>
            </a:extLst>
          </p:cNvPr>
          <p:cNvSpPr>
            <a:spLocks xmlns:a="http://schemas.openxmlformats.org/drawingml/2006/main" noGrp="1"/>
          </p:cNvSpPr>
          <p:nvPr/>
        </p:nvSpPr>
        <p:spPr>
          <a:xfrm xmlns:a="http://schemas.openxmlformats.org/drawingml/2006/main">
            <a:off x="35433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D514B679-995A-4E6F-A992-5E7301F725EB}"/>
              </a:ext>
            </a:extLst>
          </p:cNvPr>
          <p:cNvSpPr>
            <a:spLocks xmlns:a="http://schemas.openxmlformats.org/drawingml/2006/main" noGrp="1"/>
          </p:cNvSpPr>
          <p:nvPr/>
        </p:nvSpPr>
        <p:spPr>
          <a:xfrm xmlns:a="http://schemas.openxmlformats.org/drawingml/2006/main">
            <a:off x="54673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CE500FA2-1212-4FAB-B7B6-03E60842ED41}"/>
              </a:ext>
            </a:extLst>
          </p:cNvPr>
          <p:cNvSpPr>
            <a:spLocks xmlns:a="http://schemas.openxmlformats.org/drawingml/2006/main" noGrp="1"/>
          </p:cNvSpPr>
          <p:nvPr/>
        </p:nvSpPr>
        <p:spPr>
          <a:xfrm xmlns:a="http://schemas.openxmlformats.org/drawingml/2006/main">
            <a:off x="73914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19FEC51A-E234-404E-B036-5307AC37A108}"/>
              </a:ext>
            </a:extLst>
          </p:cNvPr>
          <p:cNvSpPr>
            <a:spLocks xmlns:a="http://schemas.openxmlformats.org/drawingml/2006/main" noGrp="1"/>
          </p:cNvSpPr>
          <p:nvPr/>
        </p:nvSpPr>
        <p:spPr>
          <a:xfrm xmlns:a="http://schemas.openxmlformats.org/drawingml/2006/main">
            <a:off x="91821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0" name="">
            <a:extLst xmlns:a="http://schemas.openxmlformats.org/drawingml/2006/main">
              <a:ext uri="{FF2B5EF4-FFF2-40B4-BE49-F238E27FC236}">
                <a16:creationId xmlns:a16="http://schemas.microsoft.com/office/drawing/2014/main" id="{D720A769-8C07-43B1-85C4-B0EFAE2EB318}"/>
              </a:ext>
            </a:extLst>
          </p:cNvPr>
          <p:cNvSpPr>
            <a:spLocks xmlns:a="http://schemas.openxmlformats.org/drawingml/2006/main" noGrp="1"/>
          </p:cNvSpPr>
          <p:nvPr/>
        </p:nvSpPr>
        <p:spPr>
          <a:xfrm xmlns:a="http://schemas.openxmlformats.org/drawingml/2006/main">
            <a:off x="26955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1" name="">
            <a:extLst xmlns:a="http://schemas.openxmlformats.org/drawingml/2006/main">
              <a:ext uri="{FF2B5EF4-FFF2-40B4-BE49-F238E27FC236}">
                <a16:creationId xmlns:a16="http://schemas.microsoft.com/office/drawing/2014/main" id="{3BC1CBE0-5CCE-4325-A89E-F76977E06148}"/>
              </a:ext>
            </a:extLst>
          </p:cNvPr>
          <p:cNvSpPr>
            <a:spLocks xmlns:a="http://schemas.openxmlformats.org/drawingml/2006/main" noGrp="1"/>
          </p:cNvSpPr>
          <p:nvPr/>
        </p:nvSpPr>
        <p:spPr>
          <a:xfrm xmlns:a="http://schemas.openxmlformats.org/drawingml/2006/main">
            <a:off x="461962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2" name="">
            <a:extLst xmlns:a="http://schemas.openxmlformats.org/drawingml/2006/main">
              <a:ext uri="{FF2B5EF4-FFF2-40B4-BE49-F238E27FC236}">
                <a16:creationId xmlns:a16="http://schemas.microsoft.com/office/drawing/2014/main" id="{5A7E1B95-1BF8-477A-ACF8-F5F7E592F6AF}"/>
              </a:ext>
            </a:extLst>
          </p:cNvPr>
          <p:cNvSpPr>
            <a:spLocks xmlns:a="http://schemas.openxmlformats.org/drawingml/2006/main" noGrp="1"/>
          </p:cNvSpPr>
          <p:nvPr/>
        </p:nvSpPr>
        <p:spPr>
          <a:xfrm xmlns:a="http://schemas.openxmlformats.org/drawingml/2006/main">
            <a:off x="65436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3" name="">
            <a:extLst xmlns:a="http://schemas.openxmlformats.org/drawingml/2006/main">
              <a:ext uri="{FF2B5EF4-FFF2-40B4-BE49-F238E27FC236}">
                <a16:creationId xmlns:a16="http://schemas.microsoft.com/office/drawing/2014/main" id="{17B6013C-A235-43B1-9932-9E0B67F96F14}"/>
              </a:ext>
            </a:extLst>
          </p:cNvPr>
          <p:cNvSpPr>
            <a:spLocks xmlns:a="http://schemas.openxmlformats.org/drawingml/2006/main" noGrp="1"/>
          </p:cNvSpPr>
          <p:nvPr/>
        </p:nvSpPr>
        <p:spPr>
          <a:xfrm xmlns:a="http://schemas.openxmlformats.org/drawingml/2006/main">
            <a:off x="742950" y="2209800"/>
            <a:ext cx="11049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B172E289-3EB1-4CD0-9717-958A64B80928}"/>
              </a:ext>
            </a:extLst>
          </p:cNvPr>
          <p:cNvSpPr>
            <a:spLocks xmlns:a="http://schemas.openxmlformats.org/drawingml/2006/main" noGrp="1"/>
          </p:cNvSpPr>
          <p:nvPr/>
        </p:nvSpPr>
        <p:spPr>
          <a:xfrm xmlns:a="http://schemas.openxmlformats.org/drawingml/2006/main">
            <a:off x="933450" y="2400300"/>
            <a:ext cx="72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Row</a:t>
            </a:r>
          </a:p>
        </p:txBody>
      </p:sp>
      <p:sp>
        <p:nvSpPr>
          <p:cNvPr id="15" name="">
            <a:extLst xmlns:a="http://schemas.openxmlformats.org/drawingml/2006/main">
              <a:ext uri="{FF2B5EF4-FFF2-40B4-BE49-F238E27FC236}">
                <a16:creationId xmlns:a16="http://schemas.microsoft.com/office/drawing/2014/main" id="{5FA8BEC0-92C7-41FB-9553-9B22781C78A0}"/>
              </a:ext>
            </a:extLst>
          </p:cNvPr>
          <p:cNvSpPr>
            <a:spLocks xmlns:a="http://schemas.openxmlformats.org/drawingml/2006/main" noGrp="1"/>
          </p:cNvSpPr>
          <p:nvPr/>
        </p:nvSpPr>
        <p:spPr>
          <a:xfrm xmlns:a="http://schemas.openxmlformats.org/drawingml/2006/main">
            <a:off x="933450" y="2686050"/>
            <a:ext cx="723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input</a:t>
            </a:r>
          </a:p>
        </p:txBody>
      </p:sp>
      <p:sp>
        <p:nvSpPr>
          <p:cNvPr id="16" name="">
            <a:extLst xmlns:a="http://schemas.openxmlformats.org/drawingml/2006/main">
              <a:ext uri="{FF2B5EF4-FFF2-40B4-BE49-F238E27FC236}">
                <a16:creationId xmlns:a16="http://schemas.microsoft.com/office/drawing/2014/main" id="{62F3FF52-73A0-4AFD-A1BD-FED654AC28A5}"/>
              </a:ext>
            </a:extLst>
          </p:cNvPr>
          <p:cNvSpPr>
            <a:spLocks xmlns:a="http://schemas.openxmlformats.org/drawingml/2006/main" noGrp="1"/>
          </p:cNvSpPr>
          <p:nvPr/>
        </p:nvSpPr>
        <p:spPr>
          <a:xfrm xmlns:a="http://schemas.openxmlformats.org/drawingml/2006/main">
            <a:off x="22669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7" name="">
            <a:extLst xmlns:a="http://schemas.openxmlformats.org/drawingml/2006/main">
              <a:ext uri="{FF2B5EF4-FFF2-40B4-BE49-F238E27FC236}">
                <a16:creationId xmlns:a16="http://schemas.microsoft.com/office/drawing/2014/main" id="{6B92B6C2-85A8-4C1E-B6F7-76357FAFA148}"/>
              </a:ext>
            </a:extLst>
          </p:cNvPr>
          <p:cNvSpPr>
            <a:spLocks xmlns:a="http://schemas.openxmlformats.org/drawingml/2006/main" noGrp="1"/>
          </p:cNvSpPr>
          <p:nvPr/>
        </p:nvSpPr>
        <p:spPr>
          <a:xfrm xmlns:a="http://schemas.openxmlformats.org/drawingml/2006/main">
            <a:off x="23717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0F172A"/>
                </a:solidFill>
              </a:defRPr>
            </a:pPr>
            <a:r>
              <a:rPr sz="1200" b="1">
                <a:solidFill>
                  <a:srgbClr val="0F172A"/>
                </a:solidFill>
              </a:rPr>
              <a:t>Context</a:t>
            </a:r>
          </a:p>
          <a:p xmlns:a="http://schemas.openxmlformats.org/drawingml/2006/main">
            <a:pPr algn="ctr">
              <a:defRPr sz="1200" b="1">
                <a:solidFill>
                  <a:srgbClr val="0F172A"/>
                </a:solidFill>
              </a:defRPr>
            </a:pPr>
            <a:r>
              <a:rPr sz="1200" b="1">
                <a:solidFill>
                  <a:srgbClr val="0F172A"/>
                </a:solidFill>
              </a:rPr>
              <a:t>present?</a:t>
            </a:r>
          </a:p>
        </p:txBody>
      </p:sp>
      <p:sp>
        <p:nvSpPr>
          <p:cNvPr id="18" name="">
            <a:extLst xmlns:a="http://schemas.openxmlformats.org/drawingml/2006/main">
              <a:ext uri="{FF2B5EF4-FFF2-40B4-BE49-F238E27FC236}">
                <a16:creationId xmlns:a16="http://schemas.microsoft.com/office/drawing/2014/main" id="{56C44641-4D74-4DE8-AC64-9E1A7F2B2BFA}"/>
              </a:ext>
            </a:extLst>
          </p:cNvPr>
          <p:cNvSpPr>
            <a:spLocks xmlns:a="http://schemas.openxmlformats.org/drawingml/2006/main" noGrp="1"/>
          </p:cNvSpPr>
          <p:nvPr/>
        </p:nvSpPr>
        <p:spPr>
          <a:xfrm xmlns:a="http://schemas.openxmlformats.org/drawingml/2006/main">
            <a:off x="396240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9" name="">
            <a:extLst xmlns:a="http://schemas.openxmlformats.org/drawingml/2006/main">
              <a:ext uri="{FF2B5EF4-FFF2-40B4-BE49-F238E27FC236}">
                <a16:creationId xmlns:a16="http://schemas.microsoft.com/office/drawing/2014/main" id="{DE66F663-7660-429B-B2D6-902C236EBD91}"/>
              </a:ext>
            </a:extLst>
          </p:cNvPr>
          <p:cNvSpPr>
            <a:spLocks xmlns:a="http://schemas.openxmlformats.org/drawingml/2006/main" noGrp="1"/>
          </p:cNvSpPr>
          <p:nvPr/>
        </p:nvSpPr>
        <p:spPr>
          <a:xfrm xmlns:a="http://schemas.openxmlformats.org/drawingml/2006/main">
            <a:off x="406717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0F172A"/>
                </a:solidFill>
              </a:defRPr>
            </a:pPr>
            <a:r>
              <a:rPr sz="1200" b="1">
                <a:solidFill>
                  <a:srgbClr val="0F172A"/>
                </a:solidFill>
              </a:rPr>
              <a:t>Structured</a:t>
            </a:r>
          </a:p>
          <a:p xmlns:a="http://schemas.openxmlformats.org/drawingml/2006/main">
            <a:pPr algn="ctr">
              <a:defRPr sz="1200" b="1">
                <a:solidFill>
                  <a:srgbClr val="0F172A"/>
                </a:solidFill>
              </a:defRPr>
            </a:pPr>
            <a:r>
              <a:rPr sz="1200" b="1">
                <a:solidFill>
                  <a:srgbClr val="0F172A"/>
                </a:solidFill>
              </a:rPr>
              <a:t>task?</a:t>
            </a:r>
          </a:p>
        </p:txBody>
      </p:sp>
      <p:sp>
        <p:nvSpPr>
          <p:cNvPr id="20" name="">
            <a:extLst xmlns:a="http://schemas.openxmlformats.org/drawingml/2006/main">
              <a:ext uri="{FF2B5EF4-FFF2-40B4-BE49-F238E27FC236}">
                <a16:creationId xmlns:a16="http://schemas.microsoft.com/office/drawing/2014/main" id="{90D15550-92FB-48EB-9B11-18D2F867E8FD}"/>
              </a:ext>
            </a:extLst>
          </p:cNvPr>
          <p:cNvSpPr>
            <a:spLocks xmlns:a="http://schemas.openxmlformats.org/drawingml/2006/main" noGrp="1"/>
          </p:cNvSpPr>
          <p:nvPr/>
        </p:nvSpPr>
        <p:spPr>
          <a:xfrm xmlns:a="http://schemas.openxmlformats.org/drawingml/2006/main">
            <a:off x="58864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21" name="">
            <a:extLst xmlns:a="http://schemas.openxmlformats.org/drawingml/2006/main">
              <a:ext uri="{FF2B5EF4-FFF2-40B4-BE49-F238E27FC236}">
                <a16:creationId xmlns:a16="http://schemas.microsoft.com/office/drawing/2014/main" id="{105B0032-8B6C-4BA9-81D6-78A4C14685BA}"/>
              </a:ext>
            </a:extLst>
          </p:cNvPr>
          <p:cNvSpPr>
            <a:spLocks xmlns:a="http://schemas.openxmlformats.org/drawingml/2006/main" noGrp="1"/>
          </p:cNvSpPr>
          <p:nvPr/>
        </p:nvSpPr>
        <p:spPr>
          <a:xfrm xmlns:a="http://schemas.openxmlformats.org/drawingml/2006/main">
            <a:off x="59912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0F172A"/>
                </a:solidFill>
              </a:defRPr>
            </a:pPr>
            <a:r>
              <a:rPr sz="1200" b="1">
                <a:solidFill>
                  <a:srgbClr val="0F172A"/>
                </a:solidFill>
              </a:rPr>
              <a:t>Exact source</a:t>
            </a:r>
          </a:p>
          <a:p xmlns:a="http://schemas.openxmlformats.org/drawingml/2006/main">
            <a:pPr algn="ctr">
              <a:defRPr sz="1200" b="1">
                <a:solidFill>
                  <a:srgbClr val="0F172A"/>
                </a:solidFill>
              </a:defRPr>
            </a:pPr>
            <a:r>
              <a:rPr sz="1200" b="1">
                <a:solidFill>
                  <a:srgbClr val="0F172A"/>
                </a:solidFill>
              </a:rPr>
              <a:t>lineage?</a:t>
            </a:r>
          </a:p>
        </p:txBody>
      </p:sp>
      <p:sp>
        <p:nvSpPr>
          <p:cNvPr id="22" name="">
            <a:extLst xmlns:a="http://schemas.openxmlformats.org/drawingml/2006/main">
              <a:ext uri="{FF2B5EF4-FFF2-40B4-BE49-F238E27FC236}">
                <a16:creationId xmlns:a16="http://schemas.microsoft.com/office/drawing/2014/main" id="{13C0FF05-5AD9-40ED-8533-E63CD5841F6A}"/>
              </a:ext>
            </a:extLst>
          </p:cNvPr>
          <p:cNvSpPr>
            <a:spLocks xmlns:a="http://schemas.openxmlformats.org/drawingml/2006/main" noGrp="1"/>
          </p:cNvSpPr>
          <p:nvPr/>
        </p:nvSpPr>
        <p:spPr>
          <a:xfrm xmlns:a="http://schemas.openxmlformats.org/drawingml/2006/main">
            <a:off x="35623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174"/>
                </a:solidFill>
              </a:defRPr>
            </a:pPr>
            <a:r>
              <a:rPr sz="1050" b="1">
                <a:solidFill>
                  <a:srgbClr val="526174"/>
                </a:solidFill>
              </a:rPr>
              <a:t>no</a:t>
            </a:r>
          </a:p>
        </p:txBody>
      </p:sp>
      <p:sp>
        <p:nvSpPr>
          <p:cNvPr id="23" name="">
            <a:extLst xmlns:a="http://schemas.openxmlformats.org/drawingml/2006/main">
              <a:ext uri="{FF2B5EF4-FFF2-40B4-BE49-F238E27FC236}">
                <a16:creationId xmlns:a16="http://schemas.microsoft.com/office/drawing/2014/main" id="{3FDD1E85-FBDE-457C-B6F1-6B776865EC0E}"/>
              </a:ext>
            </a:extLst>
          </p:cNvPr>
          <p:cNvSpPr>
            <a:spLocks xmlns:a="http://schemas.openxmlformats.org/drawingml/2006/main" noGrp="1"/>
          </p:cNvSpPr>
          <p:nvPr/>
        </p:nvSpPr>
        <p:spPr>
          <a:xfrm xmlns:a="http://schemas.openxmlformats.org/drawingml/2006/main">
            <a:off x="548640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174"/>
                </a:solidFill>
              </a:defRPr>
            </a:pPr>
            <a:r>
              <a:rPr sz="1050" b="1">
                <a:solidFill>
                  <a:srgbClr val="526174"/>
                </a:solidFill>
              </a:rPr>
              <a:t>no</a:t>
            </a:r>
          </a:p>
        </p:txBody>
      </p:sp>
      <p:sp>
        <p:nvSpPr>
          <p:cNvPr id="24" name="">
            <a:extLst xmlns:a="http://schemas.openxmlformats.org/drawingml/2006/main">
              <a:ext uri="{FF2B5EF4-FFF2-40B4-BE49-F238E27FC236}">
                <a16:creationId xmlns:a16="http://schemas.microsoft.com/office/drawing/2014/main" id="{1382C31C-BFA8-4F0F-92CF-C73E9C13D72E}"/>
              </a:ext>
            </a:extLst>
          </p:cNvPr>
          <p:cNvSpPr>
            <a:spLocks xmlns:a="http://schemas.openxmlformats.org/drawingml/2006/main" noGrp="1"/>
          </p:cNvSpPr>
          <p:nvPr/>
        </p:nvSpPr>
        <p:spPr>
          <a:xfrm xmlns:a="http://schemas.openxmlformats.org/drawingml/2006/main">
            <a:off x="74104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174"/>
                </a:solidFill>
              </a:defRPr>
            </a:pPr>
            <a:r>
              <a:rPr sz="1050" b="1">
                <a:solidFill>
                  <a:srgbClr val="526174"/>
                </a:solidFill>
              </a:rPr>
              <a:t>no</a:t>
            </a:r>
          </a:p>
        </p:txBody>
      </p:sp>
      <p:sp>
        <p:nvSpPr>
          <p:cNvPr id="25" name="">
            <a:extLst xmlns:a="http://schemas.openxmlformats.org/drawingml/2006/main">
              <a:ext uri="{FF2B5EF4-FFF2-40B4-BE49-F238E27FC236}">
                <a16:creationId xmlns:a16="http://schemas.microsoft.com/office/drawing/2014/main" id="{1F6BB66D-0D3C-46B1-BDB8-F951B3B8048E}"/>
              </a:ext>
            </a:extLst>
          </p:cNvPr>
          <p:cNvSpPr>
            <a:spLocks xmlns:a="http://schemas.openxmlformats.org/drawingml/2006/main" noGrp="1"/>
          </p:cNvSpPr>
          <p:nvPr/>
        </p:nvSpPr>
        <p:spPr>
          <a:xfrm xmlns:a="http://schemas.openxmlformats.org/drawingml/2006/main">
            <a:off x="28289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2A8C82"/>
                </a:solidFill>
              </a:defRPr>
            </a:pPr>
            <a:r>
              <a:rPr sz="1050" b="1">
                <a:solidFill>
                  <a:srgbClr val="2A8C82"/>
                </a:solidFill>
              </a:rPr>
              <a:t>yes</a:t>
            </a:r>
          </a:p>
        </p:txBody>
      </p:sp>
      <p:sp>
        <p:nvSpPr>
          <p:cNvPr id="26" name="">
            <a:extLst xmlns:a="http://schemas.openxmlformats.org/drawingml/2006/main">
              <a:ext uri="{FF2B5EF4-FFF2-40B4-BE49-F238E27FC236}">
                <a16:creationId xmlns:a16="http://schemas.microsoft.com/office/drawing/2014/main" id="{621DD55A-DDD3-4BFB-BE9F-1CB7F445E838}"/>
              </a:ext>
            </a:extLst>
          </p:cNvPr>
          <p:cNvSpPr>
            <a:spLocks xmlns:a="http://schemas.openxmlformats.org/drawingml/2006/main" noGrp="1"/>
          </p:cNvSpPr>
          <p:nvPr/>
        </p:nvSpPr>
        <p:spPr>
          <a:xfrm xmlns:a="http://schemas.openxmlformats.org/drawingml/2006/main">
            <a:off x="475297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2A8C82"/>
                </a:solidFill>
              </a:defRPr>
            </a:pPr>
            <a:r>
              <a:rPr sz="1050" b="1">
                <a:solidFill>
                  <a:srgbClr val="2A8C82"/>
                </a:solidFill>
              </a:rPr>
              <a:t>yes</a:t>
            </a:r>
          </a:p>
        </p:txBody>
      </p:sp>
      <p:sp>
        <p:nvSpPr>
          <p:cNvPr id="27" name="">
            <a:extLst xmlns:a="http://schemas.openxmlformats.org/drawingml/2006/main">
              <a:ext uri="{FF2B5EF4-FFF2-40B4-BE49-F238E27FC236}">
                <a16:creationId xmlns:a16="http://schemas.microsoft.com/office/drawing/2014/main" id="{4EF5576D-8393-4672-AD30-951C6E1B6612}"/>
              </a:ext>
            </a:extLst>
          </p:cNvPr>
          <p:cNvSpPr>
            <a:spLocks xmlns:a="http://schemas.openxmlformats.org/drawingml/2006/main" noGrp="1"/>
          </p:cNvSpPr>
          <p:nvPr/>
        </p:nvSpPr>
        <p:spPr>
          <a:xfrm xmlns:a="http://schemas.openxmlformats.org/drawingml/2006/main">
            <a:off x="66770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2A8C82"/>
                </a:solidFill>
              </a:defRPr>
            </a:pPr>
            <a:r>
              <a:rPr sz="1050" b="1">
                <a:solidFill>
                  <a:srgbClr val="2A8C82"/>
                </a:solidFill>
              </a:rPr>
              <a:t>yes</a:t>
            </a:r>
          </a:p>
        </p:txBody>
      </p:sp>
      <p:sp>
        <p:nvSpPr>
          <p:cNvPr id="28" name="">
            <a:extLst xmlns:a="http://schemas.openxmlformats.org/drawingml/2006/main">
              <a:ext uri="{FF2B5EF4-FFF2-40B4-BE49-F238E27FC236}">
                <a16:creationId xmlns:a16="http://schemas.microsoft.com/office/drawing/2014/main" id="{6809E94B-D065-40E7-8856-437D2F4EDFD0}"/>
              </a:ext>
            </a:extLst>
          </p:cNvPr>
          <p:cNvSpPr>
            <a:spLocks xmlns:a="http://schemas.openxmlformats.org/drawingml/2006/main" noGrp="1"/>
          </p:cNvSpPr>
          <p:nvPr/>
        </p:nvSpPr>
        <p:spPr>
          <a:xfrm xmlns:a="http://schemas.openxmlformats.org/drawingml/2006/main">
            <a:off x="203835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29" name="">
            <a:extLst xmlns:a="http://schemas.openxmlformats.org/drawingml/2006/main">
              <a:ext uri="{FF2B5EF4-FFF2-40B4-BE49-F238E27FC236}">
                <a16:creationId xmlns:a16="http://schemas.microsoft.com/office/drawing/2014/main" id="{375CD964-FD1A-4C44-8F0E-69328803C962}"/>
              </a:ext>
            </a:extLst>
          </p:cNvPr>
          <p:cNvSpPr>
            <a:spLocks xmlns:a="http://schemas.openxmlformats.org/drawingml/2006/main" noGrp="1"/>
          </p:cNvSpPr>
          <p:nvPr/>
        </p:nvSpPr>
        <p:spPr>
          <a:xfrm xmlns:a="http://schemas.openxmlformats.org/drawingml/2006/main">
            <a:off x="21717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0F172A"/>
                </a:solidFill>
              </a:defRPr>
            </a:pPr>
            <a:r>
              <a:rPr sz="1350" b="1">
                <a:solidFill>
                  <a:srgbClr val="0F172A"/>
                </a:solidFill>
              </a:rPr>
              <a:t>Context</a:t>
            </a:r>
          </a:p>
          <a:p xmlns:a="http://schemas.openxmlformats.org/drawingml/2006/main">
            <a:pPr algn="ctr">
              <a:defRPr sz="1350" b="1">
                <a:solidFill>
                  <a:srgbClr val="0F172A"/>
                </a:solidFill>
              </a:defRPr>
            </a:pPr>
            <a:r>
              <a:rPr sz="1350" b="1">
                <a:solidFill>
                  <a:srgbClr val="0F172A"/>
                </a:solidFill>
              </a:rPr>
              <a:t>verifier</a:t>
            </a:r>
          </a:p>
        </p:txBody>
      </p:sp>
      <p:sp>
        <p:nvSpPr>
          <p:cNvPr id="30" name="">
            <a:extLst xmlns:a="http://schemas.openxmlformats.org/drawingml/2006/main">
              <a:ext uri="{FF2B5EF4-FFF2-40B4-BE49-F238E27FC236}">
                <a16:creationId xmlns:a16="http://schemas.microsoft.com/office/drawing/2014/main" id="{B462505D-5F55-4299-8B44-D6E4C9CF89AD}"/>
              </a:ext>
            </a:extLst>
          </p:cNvPr>
          <p:cNvSpPr>
            <a:spLocks xmlns:a="http://schemas.openxmlformats.org/drawingml/2006/main" noGrp="1"/>
          </p:cNvSpPr>
          <p:nvPr/>
        </p:nvSpPr>
        <p:spPr>
          <a:xfrm xmlns:a="http://schemas.openxmlformats.org/drawingml/2006/main">
            <a:off x="21717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support or contradict</a:t>
            </a:r>
          </a:p>
          <a:p xmlns:a="http://schemas.openxmlformats.org/drawingml/2006/main">
            <a:pPr algn="ctr">
              <a:defRPr sz="1200" b="0">
                <a:solidFill>
                  <a:srgbClr val="526174"/>
                </a:solidFill>
              </a:defRPr>
            </a:pPr>
            <a:r>
              <a:rPr sz="1200" b="0">
                <a:solidFill>
                  <a:srgbClr val="526174"/>
                </a:solidFill>
              </a:rPr>
              <a:t>extra-claim check</a:t>
            </a:r>
          </a:p>
        </p:txBody>
      </p:sp>
      <p:sp>
        <p:nvSpPr>
          <p:cNvPr id="31" name="">
            <a:extLst xmlns:a="http://schemas.openxmlformats.org/drawingml/2006/main">
              <a:ext uri="{FF2B5EF4-FFF2-40B4-BE49-F238E27FC236}">
                <a16:creationId xmlns:a16="http://schemas.microsoft.com/office/drawing/2014/main" id="{0627C7A7-7E6B-49AD-AB18-CC8046052ADA}"/>
              </a:ext>
            </a:extLst>
          </p:cNvPr>
          <p:cNvSpPr>
            <a:spLocks xmlns:a="http://schemas.openxmlformats.org/drawingml/2006/main" noGrp="1"/>
          </p:cNvSpPr>
          <p:nvPr/>
        </p:nvSpPr>
        <p:spPr>
          <a:xfrm xmlns:a="http://schemas.openxmlformats.org/drawingml/2006/main">
            <a:off x="396240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32" name="">
            <a:extLst xmlns:a="http://schemas.openxmlformats.org/drawingml/2006/main">
              <a:ext uri="{FF2B5EF4-FFF2-40B4-BE49-F238E27FC236}">
                <a16:creationId xmlns:a16="http://schemas.microsoft.com/office/drawing/2014/main" id="{9B3690C3-94D3-4B7A-B0EF-7AD59563C39C}"/>
              </a:ext>
            </a:extLst>
          </p:cNvPr>
          <p:cNvSpPr>
            <a:spLocks xmlns:a="http://schemas.openxmlformats.org/drawingml/2006/main" noGrp="1"/>
          </p:cNvSpPr>
          <p:nvPr/>
        </p:nvSpPr>
        <p:spPr>
          <a:xfrm xmlns:a="http://schemas.openxmlformats.org/drawingml/2006/main">
            <a:off x="409575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0F172A"/>
                </a:solidFill>
              </a:defRPr>
            </a:pPr>
            <a:r>
              <a:rPr sz="1350" b="1">
                <a:solidFill>
                  <a:srgbClr val="0F172A"/>
                </a:solidFill>
              </a:rPr>
              <a:t>Structured</a:t>
            </a:r>
          </a:p>
          <a:p xmlns:a="http://schemas.openxmlformats.org/drawingml/2006/main">
            <a:pPr algn="ctr">
              <a:defRPr sz="1350" b="1">
                <a:solidFill>
                  <a:srgbClr val="0F172A"/>
                </a:solidFill>
              </a:defRPr>
            </a:pPr>
            <a:r>
              <a:rPr sz="1350" b="1">
                <a:solidFill>
                  <a:srgbClr val="0F172A"/>
                </a:solidFill>
              </a:rPr>
              <a:t>solver</a:t>
            </a:r>
          </a:p>
        </p:txBody>
      </p:sp>
      <p:sp>
        <p:nvSpPr>
          <p:cNvPr id="33" name="">
            <a:extLst xmlns:a="http://schemas.openxmlformats.org/drawingml/2006/main">
              <a:ext uri="{FF2B5EF4-FFF2-40B4-BE49-F238E27FC236}">
                <a16:creationId xmlns:a16="http://schemas.microsoft.com/office/drawing/2014/main" id="{11D396E4-6948-4AA5-9522-1488A8C2B5F1}"/>
              </a:ext>
            </a:extLst>
          </p:cNvPr>
          <p:cNvSpPr>
            <a:spLocks xmlns:a="http://schemas.openxmlformats.org/drawingml/2006/main" noGrp="1"/>
          </p:cNvSpPr>
          <p:nvPr/>
        </p:nvSpPr>
        <p:spPr>
          <a:xfrm xmlns:a="http://schemas.openxmlformats.org/drawingml/2006/main">
            <a:off x="409575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numeric / MCQ</a:t>
            </a:r>
          </a:p>
          <a:p xmlns:a="http://schemas.openxmlformats.org/drawingml/2006/main">
            <a:pPr algn="ctr">
              <a:defRPr sz="1200" b="0">
                <a:solidFill>
                  <a:srgbClr val="526174"/>
                </a:solidFill>
              </a:defRPr>
            </a:pPr>
            <a:r>
              <a:rPr sz="1200" b="0">
                <a:solidFill>
                  <a:srgbClr val="526174"/>
                </a:solidFill>
              </a:rPr>
              <a:t>morphology</a:t>
            </a:r>
          </a:p>
        </p:txBody>
      </p:sp>
      <p:sp>
        <p:nvSpPr>
          <p:cNvPr id="34" name="">
            <a:extLst xmlns:a="http://schemas.openxmlformats.org/drawingml/2006/main">
              <a:ext uri="{FF2B5EF4-FFF2-40B4-BE49-F238E27FC236}">
                <a16:creationId xmlns:a16="http://schemas.microsoft.com/office/drawing/2014/main" id="{56717FF6-02BB-4322-97A1-C73AB1993A6E}"/>
              </a:ext>
            </a:extLst>
          </p:cNvPr>
          <p:cNvSpPr>
            <a:spLocks xmlns:a="http://schemas.openxmlformats.org/drawingml/2006/main" noGrp="1"/>
          </p:cNvSpPr>
          <p:nvPr/>
        </p:nvSpPr>
        <p:spPr>
          <a:xfrm xmlns:a="http://schemas.openxmlformats.org/drawingml/2006/main">
            <a:off x="5886450" y="3733800"/>
            <a:ext cx="1676400" cy="1428750"/>
          </a:xfrm>
          <a:prstGeom xmlns:a="http://schemas.openxmlformats.org/drawingml/2006/main" prst="roundRect">
            <a:avLst>
              <a:gd name="adj" fmla="val 9333"/>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40386537-AF7A-4FD6-8920-A5485A52937E}"/>
              </a:ext>
            </a:extLst>
          </p:cNvPr>
          <p:cNvSpPr>
            <a:spLocks xmlns:a="http://schemas.openxmlformats.org/drawingml/2006/main" noGrp="1"/>
          </p:cNvSpPr>
          <p:nvPr/>
        </p:nvSpPr>
        <p:spPr>
          <a:xfrm xmlns:a="http://schemas.openxmlformats.org/drawingml/2006/main">
            <a:off x="60198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0F172A"/>
                </a:solidFill>
              </a:defRPr>
            </a:pPr>
            <a:r>
              <a:rPr sz="1350" b="1">
                <a:solidFill>
                  <a:srgbClr val="0F172A"/>
                </a:solidFill>
              </a:rPr>
              <a:t>Typed</a:t>
            </a:r>
          </a:p>
          <a:p xmlns:a="http://schemas.openxmlformats.org/drawingml/2006/main">
            <a:pPr algn="ctr">
              <a:defRPr sz="1350" b="1">
                <a:solidFill>
                  <a:srgbClr val="0F172A"/>
                </a:solidFill>
              </a:defRPr>
            </a:pPr>
            <a:r>
              <a:rPr sz="1350" b="1">
                <a:solidFill>
                  <a:srgbClr val="0F172A"/>
                </a:solidFill>
              </a:rPr>
              <a:t>evidence</a:t>
            </a:r>
          </a:p>
        </p:txBody>
      </p:sp>
      <p:sp>
        <p:nvSpPr>
          <p:cNvPr id="36" name="">
            <a:extLst xmlns:a="http://schemas.openxmlformats.org/drawingml/2006/main">
              <a:ext uri="{FF2B5EF4-FFF2-40B4-BE49-F238E27FC236}">
                <a16:creationId xmlns:a16="http://schemas.microsoft.com/office/drawing/2014/main" id="{ADE2588D-42A5-4EB8-A816-0A91A203C763}"/>
              </a:ext>
            </a:extLst>
          </p:cNvPr>
          <p:cNvSpPr>
            <a:spLocks xmlns:a="http://schemas.openxmlformats.org/drawingml/2006/main" noGrp="1"/>
          </p:cNvSpPr>
          <p:nvPr/>
        </p:nvSpPr>
        <p:spPr>
          <a:xfrm xmlns:a="http://schemas.openxmlformats.org/drawingml/2006/main">
            <a:off x="60198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entity + predicate</a:t>
            </a:r>
          </a:p>
          <a:p xmlns:a="http://schemas.openxmlformats.org/drawingml/2006/main">
            <a:pPr algn="ctr">
              <a:defRPr sz="1200" b="0">
                <a:solidFill>
                  <a:srgbClr val="526174"/>
                </a:solidFill>
              </a:defRPr>
            </a:pPr>
            <a:r>
              <a:rPr sz="1200" b="0">
                <a:solidFill>
                  <a:srgbClr val="526174"/>
                </a:solidFill>
              </a:rPr>
              <a:t>value + provenance</a:t>
            </a:r>
          </a:p>
        </p:txBody>
      </p:sp>
      <p:sp>
        <p:nvSpPr>
          <p:cNvPr id="37" name="">
            <a:extLst xmlns:a="http://schemas.openxmlformats.org/drawingml/2006/main">
              <a:ext uri="{FF2B5EF4-FFF2-40B4-BE49-F238E27FC236}">
                <a16:creationId xmlns:a16="http://schemas.microsoft.com/office/drawing/2014/main" id="{CB4396FA-69BE-4165-BFF1-D76DECA1773B}"/>
              </a:ext>
            </a:extLst>
          </p:cNvPr>
          <p:cNvSpPr>
            <a:spLocks xmlns:a="http://schemas.openxmlformats.org/drawingml/2006/main" noGrp="1"/>
          </p:cNvSpPr>
          <p:nvPr/>
        </p:nvSpPr>
        <p:spPr>
          <a:xfrm xmlns:a="http://schemas.openxmlformats.org/drawingml/2006/main">
            <a:off x="7810500" y="2209800"/>
            <a:ext cx="13716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8" name="">
            <a:extLst xmlns:a="http://schemas.openxmlformats.org/drawingml/2006/main">
              <a:ext uri="{FF2B5EF4-FFF2-40B4-BE49-F238E27FC236}">
                <a16:creationId xmlns:a16="http://schemas.microsoft.com/office/drawing/2014/main" id="{2C0549F3-A8EB-4D8E-95B6-584195AC5057}"/>
              </a:ext>
            </a:extLst>
          </p:cNvPr>
          <p:cNvSpPr>
            <a:spLocks xmlns:a="http://schemas.openxmlformats.org/drawingml/2006/main" noGrp="1"/>
          </p:cNvSpPr>
          <p:nvPr/>
        </p:nvSpPr>
        <p:spPr>
          <a:xfrm xmlns:a="http://schemas.openxmlformats.org/drawingml/2006/main">
            <a:off x="7924800" y="2343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D59B32"/>
                </a:solidFill>
              </a:defRPr>
            </a:pPr>
            <a:r>
              <a:rPr sz="1350" b="1">
                <a:solidFill>
                  <a:srgbClr val="D59B32"/>
                </a:solidFill>
              </a:rPr>
              <a:t>Fallback</a:t>
            </a:r>
          </a:p>
        </p:txBody>
      </p:sp>
      <p:sp>
        <p:nvSpPr>
          <p:cNvPr id="39" name="">
            <a:extLst xmlns:a="http://schemas.openxmlformats.org/drawingml/2006/main">
              <a:ext uri="{FF2B5EF4-FFF2-40B4-BE49-F238E27FC236}">
                <a16:creationId xmlns:a16="http://schemas.microsoft.com/office/drawing/2014/main" id="{1220B36B-3CF6-49CA-BC0A-7021512378AC}"/>
              </a:ext>
            </a:extLst>
          </p:cNvPr>
          <p:cNvSpPr>
            <a:spLocks xmlns:a="http://schemas.openxmlformats.org/drawingml/2006/main" noGrp="1"/>
          </p:cNvSpPr>
          <p:nvPr/>
        </p:nvSpPr>
        <p:spPr>
          <a:xfrm xmlns:a="http://schemas.openxmlformats.org/drawingml/2006/main">
            <a:off x="7924800" y="2657475"/>
            <a:ext cx="114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975" b="0">
                <a:solidFill>
                  <a:srgbClr val="526174"/>
                </a:solidFill>
              </a:defRPr>
            </a:pPr>
            <a:r>
              <a:rPr sz="975" b="0">
                <a:solidFill>
                  <a:srgbClr val="526174"/>
                </a:solidFill>
              </a:rPr>
              <a:t>no rule or conflict</a:t>
            </a:r>
          </a:p>
        </p:txBody>
      </p:sp>
      <p:sp>
        <p:nvSpPr>
          <p:cNvPr id="40" name="">
            <a:extLst xmlns:a="http://schemas.openxmlformats.org/drawingml/2006/main">
              <a:ext uri="{FF2B5EF4-FFF2-40B4-BE49-F238E27FC236}">
                <a16:creationId xmlns:a16="http://schemas.microsoft.com/office/drawing/2014/main" id="{D8DA7EBF-7B8E-490A-9701-A127CD26C3DA}"/>
              </a:ext>
            </a:extLst>
          </p:cNvPr>
          <p:cNvSpPr>
            <a:spLocks xmlns:a="http://schemas.openxmlformats.org/drawingml/2006/main" noGrp="1"/>
          </p:cNvSpPr>
          <p:nvPr/>
        </p:nvSpPr>
        <p:spPr>
          <a:xfrm xmlns:a="http://schemas.openxmlformats.org/drawingml/2006/main">
            <a:off x="9601200" y="2076450"/>
            <a:ext cx="1676400" cy="1104900"/>
          </a:xfrm>
          <a:prstGeom xmlns:a="http://schemas.openxmlformats.org/drawingml/2006/main" prst="roundRect">
            <a:avLst>
              <a:gd name="adj" fmla="val 13793"/>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1" name="">
            <a:extLst xmlns:a="http://schemas.openxmlformats.org/drawingml/2006/main">
              <a:ext uri="{FF2B5EF4-FFF2-40B4-BE49-F238E27FC236}">
                <a16:creationId xmlns:a16="http://schemas.microsoft.com/office/drawing/2014/main" id="{BF333D8F-266D-447D-B1C8-21B9D919365E}"/>
              </a:ext>
            </a:extLst>
          </p:cNvPr>
          <p:cNvSpPr>
            <a:spLocks xmlns:a="http://schemas.openxmlformats.org/drawingml/2006/main" noGrp="1"/>
          </p:cNvSpPr>
          <p:nvPr/>
        </p:nvSpPr>
        <p:spPr>
          <a:xfrm xmlns:a="http://schemas.openxmlformats.org/drawingml/2006/main">
            <a:off x="9772650" y="23145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D59B32"/>
                </a:solidFill>
              </a:defRPr>
            </a:pPr>
            <a:r>
              <a:rPr sz="1500" b="1">
                <a:solidFill>
                  <a:srgbClr val="D59B32"/>
                </a:solidFill>
              </a:rPr>
              <a:t>LLM judge</a:t>
            </a:r>
          </a:p>
        </p:txBody>
      </p:sp>
      <p:sp>
        <p:nvSpPr>
          <p:cNvPr id="42" name="">
            <a:extLst xmlns:a="http://schemas.openxmlformats.org/drawingml/2006/main">
              <a:ext uri="{FF2B5EF4-FFF2-40B4-BE49-F238E27FC236}">
                <a16:creationId xmlns:a16="http://schemas.microsoft.com/office/drawing/2014/main" id="{D9A99948-8EF4-4ACC-97EE-D8F859D1C616}"/>
              </a:ext>
            </a:extLst>
          </p:cNvPr>
          <p:cNvSpPr>
            <a:spLocks xmlns:a="http://schemas.openxmlformats.org/drawingml/2006/main" noGrp="1"/>
          </p:cNvSpPr>
          <p:nvPr/>
        </p:nvSpPr>
        <p:spPr>
          <a:xfrm xmlns:a="http://schemas.openxmlformats.org/drawingml/2006/main">
            <a:off x="9791700" y="268605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unresolved tail</a:t>
            </a:r>
          </a:p>
          <a:p xmlns:a="http://schemas.openxmlformats.org/drawingml/2006/main">
            <a:pPr algn="ctr">
              <a:defRPr sz="1125" b="0">
                <a:solidFill>
                  <a:srgbClr val="526174"/>
                </a:solidFill>
              </a:defRPr>
            </a:pPr>
            <a:r>
              <a:rPr sz="1125" b="0">
                <a:solidFill>
                  <a:srgbClr val="526174"/>
                </a:solidFill>
              </a:rPr>
              <a:t>only</a:t>
            </a:r>
          </a:p>
        </p:txBody>
      </p:sp>
      <p:sp>
        <p:nvSpPr>
          <p:cNvPr id="43" name="">
            <a:extLst xmlns:a="http://schemas.openxmlformats.org/drawingml/2006/main">
              <a:ext uri="{FF2B5EF4-FFF2-40B4-BE49-F238E27FC236}">
                <a16:creationId xmlns:a16="http://schemas.microsoft.com/office/drawing/2014/main" id="{3E4654EB-7366-4F69-A1FB-03B4ED98405A}"/>
              </a:ext>
            </a:extLst>
          </p:cNvPr>
          <p:cNvSpPr>
            <a:spLocks xmlns:a="http://schemas.openxmlformats.org/drawingml/2006/main" noGrp="1"/>
          </p:cNvSpPr>
          <p:nvPr/>
        </p:nvSpPr>
        <p:spPr>
          <a:xfrm xmlns:a="http://schemas.openxmlformats.org/drawingml/2006/main">
            <a:off x="1562100" y="5391150"/>
            <a:ext cx="9067800" cy="590550"/>
          </a:xfrm>
          <a:prstGeom xmlns:a="http://schemas.openxmlformats.org/drawingml/2006/main" prst="roundRect">
            <a:avLst>
              <a:gd name="adj" fmla="val 22581"/>
            </a:avLst>
          </a:prstGeom>
          <a:solidFill xmlns:a="http://schemas.openxmlformats.org/drawingml/2006/main">
            <a:srgbClr val="FFFFFF"/>
          </a:solidFill>
          <a:ln xmlns:a="http://schemas.openxmlformats.org/drawingml/2006/main" w="9525">
            <a:solidFill>
              <a:srgbClr val="D8E0EA"/>
            </a:solidFill>
            <a:prstDash val="solid"/>
          </a:ln>
        </p:spPr>
      </p:sp>
      <p:sp>
        <p:nvSpPr>
          <p:cNvPr id="44" name="">
            <a:extLst xmlns:a="http://schemas.openxmlformats.org/drawingml/2006/main">
              <a:ext uri="{FF2B5EF4-FFF2-40B4-BE49-F238E27FC236}">
                <a16:creationId xmlns:a16="http://schemas.microsoft.com/office/drawing/2014/main" id="{4C1C49DB-8719-4702-A2AF-935E3C2F8D63}"/>
              </a:ext>
            </a:extLst>
          </p:cNvPr>
          <p:cNvSpPr>
            <a:spLocks xmlns:a="http://schemas.openxmlformats.org/drawingml/2006/main" noGrp="1"/>
          </p:cNvSpPr>
          <p:nvPr/>
        </p:nvSpPr>
        <p:spPr>
          <a:xfrm xmlns:a="http://schemas.openxmlformats.org/drawingml/2006/main">
            <a:off x="1790700" y="5553075"/>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Decision contract</a:t>
            </a:r>
          </a:p>
        </p:txBody>
      </p:sp>
      <p:sp>
        <p:nvSpPr>
          <p:cNvPr id="45" name="">
            <a:extLst xmlns:a="http://schemas.openxmlformats.org/drawingml/2006/main">
              <a:ext uri="{FF2B5EF4-FFF2-40B4-BE49-F238E27FC236}">
                <a16:creationId xmlns:a16="http://schemas.microsoft.com/office/drawing/2014/main" id="{BAF3BE9E-C18F-4A57-B278-21341D9312DB}"/>
              </a:ext>
            </a:extLst>
          </p:cNvPr>
          <p:cNvSpPr>
            <a:spLocks xmlns:a="http://schemas.openxmlformats.org/drawingml/2006/main" noGrp="1"/>
          </p:cNvSpPr>
          <p:nvPr/>
        </p:nvSpPr>
        <p:spPr>
          <a:xfrm xmlns:a="http://schemas.openxmlformats.org/drawingml/2006/main">
            <a:off x="3562350" y="5553075"/>
            <a:ext cx="6743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0F172A"/>
                </a:solidFill>
              </a:defRPr>
            </a:pPr>
            <a:r>
              <a:rPr sz="1350" b="0">
                <a:solidFill>
                  <a:srgbClr val="0F172A"/>
                </a:solidFill>
              </a:rPr>
              <a:t>branch(row) -&gt; {0, 1, null};  null means abstain, never a guessed label</a:t>
            </a:r>
          </a:p>
        </p:txBody>
      </p:sp>
      <p:sp>
        <p:nvSpPr>
          <p:cNvPr id="46" name="">
            <a:extLst xmlns:a="http://schemas.openxmlformats.org/drawingml/2006/main">
              <a:ext uri="{FF2B5EF4-FFF2-40B4-BE49-F238E27FC236}">
                <a16:creationId xmlns:a16="http://schemas.microsoft.com/office/drawing/2014/main" id="{6C3A787B-FEA5-424E-B8A9-02CB892DE0B4}"/>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7" name="source-4">
            <a:extLst xmlns:a="http://schemas.openxmlformats.org/drawingml/2006/main">
              <a:ext uri="{FF2B5EF4-FFF2-40B4-BE49-F238E27FC236}">
                <a16:creationId xmlns:a16="http://schemas.microsoft.com/office/drawing/2014/main" id="{28F74B62-7337-4C27-91BB-F900FB2E9AC8}"/>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[3] Task decomposition  [7] v91 router implementation and trace schema</a:t>
            </a:r>
          </a:p>
        </p:txBody>
      </p:sp>
      <p:sp>
        <p:nvSpPr>
          <p:cNvPr id="48" name="page-4">
            <a:extLst xmlns:a="http://schemas.openxmlformats.org/drawingml/2006/main">
              <a:ext uri="{FF2B5EF4-FFF2-40B4-BE49-F238E27FC236}">
                <a16:creationId xmlns:a16="http://schemas.microsoft.com/office/drawing/2014/main" id="{872F1666-BF55-441B-B385-41DAD6FCF7EE}"/>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04</a:t>
            </a:r>
          </a:p>
        </p:txBody>
      </p:sp>
    </p:spTree>
    <p:extLst>
      <p:ext uri="{BB962C8B-B14F-4D97-AF65-F5344CB8AC3E}">
        <p14:creationId xmlns:p14="http://schemas.microsoft.com/office/powerpoint/2010/main" val="1574614631"/>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3" name="kicker-5">
            <a:extLst xmlns:a="http://schemas.openxmlformats.org/drawingml/2006/main">
              <a:ext uri="{FF2B5EF4-FFF2-40B4-BE49-F238E27FC236}">
                <a16:creationId xmlns:a16="http://schemas.microsoft.com/office/drawing/2014/main" id="{F8FF1E25-2178-448A-9202-EF035DB75841}"/>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5">
            <a:extLst xmlns:a="http://schemas.openxmlformats.org/drawingml/2006/main">
              <a:ext uri="{FF2B5EF4-FFF2-40B4-BE49-F238E27FC236}">
                <a16:creationId xmlns:a16="http://schemas.microsoft.com/office/drawing/2014/main" id="{8F0E0246-C29C-4EC7-8F5A-9B6381487441}"/>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Structured solvers shared one decision contract</a:t>
            </a:r>
          </a:p>
        </p:txBody>
      </p:sp>
      <p:sp>
        <p:nvSpPr>
          <p:cNvPr id="3" name="">
            <a:extLst xmlns:a="http://schemas.openxmlformats.org/drawingml/2006/main">
              <a:ext uri="{FF2B5EF4-FFF2-40B4-BE49-F238E27FC236}">
                <a16:creationId xmlns:a16="http://schemas.microsoft.com/office/drawing/2014/main" id="{FD134B1C-6D1B-4EF4-B8B2-23F1E9F85B4D}"/>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C840DEE-9D9E-48DF-9637-2C66D13C8620}"/>
              </a:ext>
            </a:extLst>
          </p:cNvPr>
          <p:cNvSpPr>
            <a:spLocks xmlns:a="http://schemas.openxmlformats.org/drawingml/2006/main" noGrp="1"/>
          </p:cNvSpPr>
          <p:nvPr/>
        </p:nvSpPr>
        <p:spPr>
          <a:xfrm xmlns:a="http://schemas.openxmlformats.org/drawingml/2006/main">
            <a:off x="685800" y="1381125"/>
            <a:ext cx="10287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Each solver parsed a task-specific representation, verified the requested relation, then answered or abstained.</a:t>
            </a:r>
          </a:p>
        </p:txBody>
      </p:sp>
      <p:sp>
        <p:nvSpPr>
          <p:cNvPr id="5" name="">
            <a:extLst xmlns:a="http://schemas.openxmlformats.org/drawingml/2006/main">
              <a:ext uri="{FF2B5EF4-FFF2-40B4-BE49-F238E27FC236}">
                <a16:creationId xmlns:a16="http://schemas.microsoft.com/office/drawing/2014/main" id="{C1C12F6D-1B25-4797-A35F-8B078037B5DB}"/>
              </a:ext>
            </a:extLst>
          </p:cNvPr>
          <p:cNvSpPr>
            <a:spLocks xmlns:a="http://schemas.openxmlformats.org/drawingml/2006/main" noGrp="1"/>
          </p:cNvSpPr>
          <p:nvPr/>
        </p:nvSpPr>
        <p:spPr>
          <a:xfrm xmlns:a="http://schemas.openxmlformats.org/drawingml/2006/main">
            <a:off x="8382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AAF9E7BC-DFD1-4A6C-89EF-57AA68D5B603}"/>
              </a:ext>
            </a:extLst>
          </p:cNvPr>
          <p:cNvSpPr>
            <a:spLocks xmlns:a="http://schemas.openxmlformats.org/drawingml/2006/main" noGrp="1"/>
          </p:cNvSpPr>
          <p:nvPr/>
        </p:nvSpPr>
        <p:spPr>
          <a:xfrm xmlns:a="http://schemas.openxmlformats.org/drawingml/2006/main">
            <a:off x="10287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Numbers</a:t>
            </a:r>
          </a:p>
        </p:txBody>
      </p:sp>
      <p:sp>
        <p:nvSpPr>
          <p:cNvPr id="7" name="">
            <a:extLst xmlns:a="http://schemas.openxmlformats.org/drawingml/2006/main">
              <a:ext uri="{FF2B5EF4-FFF2-40B4-BE49-F238E27FC236}">
                <a16:creationId xmlns:a16="http://schemas.microsoft.com/office/drawing/2014/main" id="{CF9515E7-2C83-4915-8E4D-BAC342F7C744}"/>
              </a:ext>
            </a:extLst>
          </p:cNvPr>
          <p:cNvSpPr>
            <a:spLocks xmlns:a="http://schemas.openxmlformats.org/drawingml/2006/main" noGrp="1"/>
          </p:cNvSpPr>
          <p:nvPr/>
        </p:nvSpPr>
        <p:spPr>
          <a:xfrm xmlns:a="http://schemas.openxmlformats.org/drawingml/2006/main">
            <a:off x="10287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BB3E52E4-B256-412C-A66F-56A3AECA50FF}"/>
              </a:ext>
            </a:extLst>
          </p:cNvPr>
          <p:cNvSpPr>
            <a:spLocks xmlns:a="http://schemas.openxmlformats.org/drawingml/2006/main" noGrp="1"/>
          </p:cNvSpPr>
          <p:nvPr/>
        </p:nvSpPr>
        <p:spPr>
          <a:xfrm xmlns:a="http://schemas.openxmlformats.org/drawingml/2006/main">
            <a:off x="11239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normalize Bengali digits</a:t>
            </a:r>
          </a:p>
        </p:txBody>
      </p:sp>
      <p:sp>
        <p:nvSpPr>
          <p:cNvPr id="9" name="">
            <a:extLst xmlns:a="http://schemas.openxmlformats.org/drawingml/2006/main">
              <a:ext uri="{FF2B5EF4-FFF2-40B4-BE49-F238E27FC236}">
                <a16:creationId xmlns:a16="http://schemas.microsoft.com/office/drawing/2014/main" id="{2E4C8E73-304E-4CC9-8F62-2DE845D979B3}"/>
              </a:ext>
            </a:extLst>
          </p:cNvPr>
          <p:cNvSpPr>
            <a:spLocks xmlns:a="http://schemas.openxmlformats.org/drawingml/2006/main" noGrp="1"/>
          </p:cNvSpPr>
          <p:nvPr/>
        </p:nvSpPr>
        <p:spPr>
          <a:xfrm xmlns:a="http://schemas.openxmlformats.org/drawingml/2006/main">
            <a:off x="10287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0" name="">
            <a:extLst xmlns:a="http://schemas.openxmlformats.org/drawingml/2006/main">
              <a:ext uri="{FF2B5EF4-FFF2-40B4-BE49-F238E27FC236}">
                <a16:creationId xmlns:a16="http://schemas.microsoft.com/office/drawing/2014/main" id="{B279AF08-5415-4A63-8F2B-45BD514CF7BE}"/>
              </a:ext>
            </a:extLst>
          </p:cNvPr>
          <p:cNvSpPr>
            <a:spLocks xmlns:a="http://schemas.openxmlformats.org/drawingml/2006/main" noGrp="1"/>
          </p:cNvSpPr>
          <p:nvPr/>
        </p:nvSpPr>
        <p:spPr>
          <a:xfrm xmlns:a="http://schemas.openxmlformats.org/drawingml/2006/main">
            <a:off x="11239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units / dates / ranges</a:t>
            </a:r>
          </a:p>
        </p:txBody>
      </p:sp>
      <p:sp>
        <p:nvSpPr>
          <p:cNvPr id="11" name="">
            <a:extLst xmlns:a="http://schemas.openxmlformats.org/drawingml/2006/main">
              <a:ext uri="{FF2B5EF4-FFF2-40B4-BE49-F238E27FC236}">
                <a16:creationId xmlns:a16="http://schemas.microsoft.com/office/drawing/2014/main" id="{E8098D6D-8229-45ED-9041-3C22808A3FDD}"/>
              </a:ext>
            </a:extLst>
          </p:cNvPr>
          <p:cNvSpPr>
            <a:spLocks xmlns:a="http://schemas.openxmlformats.org/drawingml/2006/main" noGrp="1"/>
          </p:cNvSpPr>
          <p:nvPr/>
        </p:nvSpPr>
        <p:spPr>
          <a:xfrm xmlns:a="http://schemas.openxmlformats.org/drawingml/2006/main">
            <a:off x="10287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12" name="">
            <a:extLst xmlns:a="http://schemas.openxmlformats.org/drawingml/2006/main">
              <a:ext uri="{FF2B5EF4-FFF2-40B4-BE49-F238E27FC236}">
                <a16:creationId xmlns:a16="http://schemas.microsoft.com/office/drawing/2014/main" id="{6CA37010-9935-46D5-B675-5DA202C0CBB9}"/>
              </a:ext>
            </a:extLst>
          </p:cNvPr>
          <p:cNvSpPr>
            <a:spLocks xmlns:a="http://schemas.openxmlformats.org/drawingml/2006/main" noGrp="1"/>
          </p:cNvSpPr>
          <p:nvPr/>
        </p:nvSpPr>
        <p:spPr>
          <a:xfrm xmlns:a="http://schemas.openxmlformats.org/drawingml/2006/main">
            <a:off x="11239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0F172A"/>
                </a:solidFill>
              </a:defRPr>
            </a:pPr>
            <a:r>
              <a:rPr sz="1125" b="1">
                <a:solidFill>
                  <a:srgbClr val="0F172A"/>
                </a:solidFill>
              </a:rPr>
              <a:t>compare requested relation</a:t>
            </a:r>
          </a:p>
        </p:txBody>
      </p:sp>
      <p:sp>
        <p:nvSpPr>
          <p:cNvPr id="13" name="">
            <a:extLst xmlns:a="http://schemas.openxmlformats.org/drawingml/2006/main">
              <a:ext uri="{FF2B5EF4-FFF2-40B4-BE49-F238E27FC236}">
                <a16:creationId xmlns:a16="http://schemas.microsoft.com/office/drawing/2014/main" id="{EE6D23A3-50CF-454F-B4FF-A72AD9DA3929}"/>
              </a:ext>
            </a:extLst>
          </p:cNvPr>
          <p:cNvSpPr>
            <a:spLocks xmlns:a="http://schemas.openxmlformats.org/drawingml/2006/main" noGrp="1"/>
          </p:cNvSpPr>
          <p:nvPr/>
        </p:nvSpPr>
        <p:spPr>
          <a:xfrm xmlns:a="http://schemas.openxmlformats.org/drawingml/2006/main">
            <a:off x="36766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551FDE58-F189-4B4B-B0AC-36289692F05F}"/>
              </a:ext>
            </a:extLst>
          </p:cNvPr>
          <p:cNvSpPr>
            <a:spLocks xmlns:a="http://schemas.openxmlformats.org/drawingml/2006/main" noGrp="1"/>
          </p:cNvSpPr>
          <p:nvPr/>
        </p:nvSpPr>
        <p:spPr>
          <a:xfrm xmlns:a="http://schemas.openxmlformats.org/drawingml/2006/main">
            <a:off x="38671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2A8C82"/>
                </a:solidFill>
              </a:defRPr>
            </a:pPr>
            <a:r>
              <a:rPr sz="1650" b="1">
                <a:solidFill>
                  <a:srgbClr val="2A8C82"/>
                </a:solidFill>
              </a:rPr>
              <a:t>MCQ</a:t>
            </a:r>
          </a:p>
        </p:txBody>
      </p:sp>
      <p:sp>
        <p:nvSpPr>
          <p:cNvPr id="15" name="">
            <a:extLst xmlns:a="http://schemas.openxmlformats.org/drawingml/2006/main">
              <a:ext uri="{FF2B5EF4-FFF2-40B4-BE49-F238E27FC236}">
                <a16:creationId xmlns:a16="http://schemas.microsoft.com/office/drawing/2014/main" id="{7D3B70B7-A087-43DF-A863-6794DDDB3BBE}"/>
              </a:ext>
            </a:extLst>
          </p:cNvPr>
          <p:cNvSpPr>
            <a:spLocks xmlns:a="http://schemas.openxmlformats.org/drawingml/2006/main" noGrp="1"/>
          </p:cNvSpPr>
          <p:nvPr/>
        </p:nvSpPr>
        <p:spPr>
          <a:xfrm xmlns:a="http://schemas.openxmlformats.org/drawingml/2006/main">
            <a:off x="38671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6" name="">
            <a:extLst xmlns:a="http://schemas.openxmlformats.org/drawingml/2006/main">
              <a:ext uri="{FF2B5EF4-FFF2-40B4-BE49-F238E27FC236}">
                <a16:creationId xmlns:a16="http://schemas.microsoft.com/office/drawing/2014/main" id="{B61ECC7D-BE91-4457-840A-A6486F66465F}"/>
              </a:ext>
            </a:extLst>
          </p:cNvPr>
          <p:cNvSpPr>
            <a:spLocks xmlns:a="http://schemas.openxmlformats.org/drawingml/2006/main" noGrp="1"/>
          </p:cNvSpPr>
          <p:nvPr/>
        </p:nvSpPr>
        <p:spPr>
          <a:xfrm xmlns:a="http://schemas.openxmlformats.org/drawingml/2006/main">
            <a:off x="39624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extract option set</a:t>
            </a:r>
          </a:p>
        </p:txBody>
      </p:sp>
      <p:sp>
        <p:nvSpPr>
          <p:cNvPr id="17" name="">
            <a:extLst xmlns:a="http://schemas.openxmlformats.org/drawingml/2006/main">
              <a:ext uri="{FF2B5EF4-FFF2-40B4-BE49-F238E27FC236}">
                <a16:creationId xmlns:a16="http://schemas.microsoft.com/office/drawing/2014/main" id="{06AFBB58-1579-4AC5-AB4D-C87FDFBEBA2C}"/>
              </a:ext>
            </a:extLst>
          </p:cNvPr>
          <p:cNvSpPr>
            <a:spLocks xmlns:a="http://schemas.openxmlformats.org/drawingml/2006/main" noGrp="1"/>
          </p:cNvSpPr>
          <p:nvPr/>
        </p:nvSpPr>
        <p:spPr>
          <a:xfrm xmlns:a="http://schemas.openxmlformats.org/drawingml/2006/main">
            <a:off x="38671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8" name="">
            <a:extLst xmlns:a="http://schemas.openxmlformats.org/drawingml/2006/main">
              <a:ext uri="{FF2B5EF4-FFF2-40B4-BE49-F238E27FC236}">
                <a16:creationId xmlns:a16="http://schemas.microsoft.com/office/drawing/2014/main" id="{77C09E94-B428-4B1F-94F1-6EB712B084FE}"/>
              </a:ext>
            </a:extLst>
          </p:cNvPr>
          <p:cNvSpPr>
            <a:spLocks xmlns:a="http://schemas.openxmlformats.org/drawingml/2006/main" noGrp="1"/>
          </p:cNvSpPr>
          <p:nvPr/>
        </p:nvSpPr>
        <p:spPr>
          <a:xfrm xmlns:a="http://schemas.openxmlformats.org/drawingml/2006/main">
            <a:off x="39624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map aliases to options</a:t>
            </a:r>
          </a:p>
        </p:txBody>
      </p:sp>
      <p:sp>
        <p:nvSpPr>
          <p:cNvPr id="19" name="">
            <a:extLst xmlns:a="http://schemas.openxmlformats.org/drawingml/2006/main">
              <a:ext uri="{FF2B5EF4-FFF2-40B4-BE49-F238E27FC236}">
                <a16:creationId xmlns:a16="http://schemas.microsoft.com/office/drawing/2014/main" id="{1C3C4B84-23EE-4CE6-8782-88BBCA2DF122}"/>
              </a:ext>
            </a:extLst>
          </p:cNvPr>
          <p:cNvSpPr>
            <a:spLocks xmlns:a="http://schemas.openxmlformats.org/drawingml/2006/main" noGrp="1"/>
          </p:cNvSpPr>
          <p:nvPr/>
        </p:nvSpPr>
        <p:spPr>
          <a:xfrm xmlns:a="http://schemas.openxmlformats.org/drawingml/2006/main">
            <a:off x="38671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0" name="">
            <a:extLst xmlns:a="http://schemas.openxmlformats.org/drawingml/2006/main">
              <a:ext uri="{FF2B5EF4-FFF2-40B4-BE49-F238E27FC236}">
                <a16:creationId xmlns:a16="http://schemas.microsoft.com/office/drawing/2014/main" id="{BB1E9E56-762B-44AB-9E91-37D045D29CCB}"/>
              </a:ext>
            </a:extLst>
          </p:cNvPr>
          <p:cNvSpPr>
            <a:spLocks xmlns:a="http://schemas.openxmlformats.org/drawingml/2006/main" noGrp="1"/>
          </p:cNvSpPr>
          <p:nvPr/>
        </p:nvSpPr>
        <p:spPr>
          <a:xfrm xmlns:a="http://schemas.openxmlformats.org/drawingml/2006/main">
            <a:off x="39624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0F172A"/>
                </a:solidFill>
              </a:defRPr>
            </a:pPr>
            <a:r>
              <a:rPr sz="1125" b="1">
                <a:solidFill>
                  <a:srgbClr val="0F172A"/>
                </a:solidFill>
              </a:rPr>
              <a:t>validate selected option</a:t>
            </a:r>
          </a:p>
        </p:txBody>
      </p:sp>
      <p:sp>
        <p:nvSpPr>
          <p:cNvPr id="21" name="">
            <a:extLst xmlns:a="http://schemas.openxmlformats.org/drawingml/2006/main">
              <a:ext uri="{FF2B5EF4-FFF2-40B4-BE49-F238E27FC236}">
                <a16:creationId xmlns:a16="http://schemas.microsoft.com/office/drawing/2014/main" id="{FCDA961D-4D4D-4B37-B66D-43BB82973601}"/>
              </a:ext>
            </a:extLst>
          </p:cNvPr>
          <p:cNvSpPr>
            <a:spLocks xmlns:a="http://schemas.openxmlformats.org/drawingml/2006/main" noGrp="1"/>
          </p:cNvSpPr>
          <p:nvPr/>
        </p:nvSpPr>
        <p:spPr>
          <a:xfrm xmlns:a="http://schemas.openxmlformats.org/drawingml/2006/main">
            <a:off x="65151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C8571F26-3A12-43BE-9329-695CB505A6AF}"/>
              </a:ext>
            </a:extLst>
          </p:cNvPr>
          <p:cNvSpPr>
            <a:spLocks xmlns:a="http://schemas.openxmlformats.org/drawingml/2006/main" noGrp="1"/>
          </p:cNvSpPr>
          <p:nvPr/>
        </p:nvSpPr>
        <p:spPr>
          <a:xfrm xmlns:a="http://schemas.openxmlformats.org/drawingml/2006/main">
            <a:off x="67056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D59B32"/>
                </a:solidFill>
              </a:defRPr>
            </a:pPr>
            <a:r>
              <a:rPr sz="1650" b="1">
                <a:solidFill>
                  <a:srgbClr val="D59B32"/>
                </a:solidFill>
              </a:rPr>
              <a:t>Morphology</a:t>
            </a:r>
          </a:p>
        </p:txBody>
      </p:sp>
      <p:sp>
        <p:nvSpPr>
          <p:cNvPr id="23" name="">
            <a:extLst xmlns:a="http://schemas.openxmlformats.org/drawingml/2006/main">
              <a:ext uri="{FF2B5EF4-FFF2-40B4-BE49-F238E27FC236}">
                <a16:creationId xmlns:a16="http://schemas.microsoft.com/office/drawing/2014/main" id="{027186A3-7665-4B9A-9B54-13549B40D534}"/>
              </a:ext>
            </a:extLst>
          </p:cNvPr>
          <p:cNvSpPr>
            <a:spLocks xmlns:a="http://schemas.openxmlformats.org/drawingml/2006/main" noGrp="1"/>
          </p:cNvSpPr>
          <p:nvPr/>
        </p:nvSpPr>
        <p:spPr>
          <a:xfrm xmlns:a="http://schemas.openxmlformats.org/drawingml/2006/main">
            <a:off x="67056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4" name="">
            <a:extLst xmlns:a="http://schemas.openxmlformats.org/drawingml/2006/main">
              <a:ext uri="{FF2B5EF4-FFF2-40B4-BE49-F238E27FC236}">
                <a16:creationId xmlns:a16="http://schemas.microsoft.com/office/drawing/2014/main" id="{5AD20CDB-6C73-46E0-AB81-EE1459BDA508}"/>
              </a:ext>
            </a:extLst>
          </p:cNvPr>
          <p:cNvSpPr>
            <a:spLocks xmlns:a="http://schemas.openxmlformats.org/drawingml/2006/main" noGrp="1"/>
          </p:cNvSpPr>
          <p:nvPr/>
        </p:nvSpPr>
        <p:spPr>
          <a:xfrm xmlns:a="http://schemas.openxmlformats.org/drawingml/2006/main">
            <a:off x="68008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identify requested form</a:t>
            </a:r>
          </a:p>
        </p:txBody>
      </p:sp>
      <p:sp>
        <p:nvSpPr>
          <p:cNvPr id="25" name="">
            <a:extLst xmlns:a="http://schemas.openxmlformats.org/drawingml/2006/main">
              <a:ext uri="{FF2B5EF4-FFF2-40B4-BE49-F238E27FC236}">
                <a16:creationId xmlns:a16="http://schemas.microsoft.com/office/drawing/2014/main" id="{9755C83D-A961-4FD0-8443-285125EB5744}"/>
              </a:ext>
            </a:extLst>
          </p:cNvPr>
          <p:cNvSpPr>
            <a:spLocks xmlns:a="http://schemas.openxmlformats.org/drawingml/2006/main" noGrp="1"/>
          </p:cNvSpPr>
          <p:nvPr/>
        </p:nvSpPr>
        <p:spPr>
          <a:xfrm xmlns:a="http://schemas.openxmlformats.org/drawingml/2006/main">
            <a:off x="67056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ED58E9C2-77B0-43C4-B1DD-B94ED92E7679}"/>
              </a:ext>
            </a:extLst>
          </p:cNvPr>
          <p:cNvSpPr>
            <a:spLocks xmlns:a="http://schemas.openxmlformats.org/drawingml/2006/main" noGrp="1"/>
          </p:cNvSpPr>
          <p:nvPr/>
        </p:nvSpPr>
        <p:spPr>
          <a:xfrm xmlns:a="http://schemas.openxmlformats.org/drawingml/2006/main">
            <a:off x="68008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parse root / suffix / class</a:t>
            </a:r>
          </a:p>
        </p:txBody>
      </p:sp>
      <p:sp>
        <p:nvSpPr>
          <p:cNvPr id="27" name="">
            <a:extLst xmlns:a="http://schemas.openxmlformats.org/drawingml/2006/main">
              <a:ext uri="{FF2B5EF4-FFF2-40B4-BE49-F238E27FC236}">
                <a16:creationId xmlns:a16="http://schemas.microsoft.com/office/drawing/2014/main" id="{5F3A56D1-0943-42C7-8695-B7C1DC1442AD}"/>
              </a:ext>
            </a:extLst>
          </p:cNvPr>
          <p:cNvSpPr>
            <a:spLocks xmlns:a="http://schemas.openxmlformats.org/drawingml/2006/main" noGrp="1"/>
          </p:cNvSpPr>
          <p:nvPr/>
        </p:nvSpPr>
        <p:spPr>
          <a:xfrm xmlns:a="http://schemas.openxmlformats.org/drawingml/2006/main">
            <a:off x="67056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8" name="">
            <a:extLst xmlns:a="http://schemas.openxmlformats.org/drawingml/2006/main">
              <a:ext uri="{FF2B5EF4-FFF2-40B4-BE49-F238E27FC236}">
                <a16:creationId xmlns:a16="http://schemas.microsoft.com/office/drawing/2014/main" id="{CD71874C-BA57-43BB-A0C4-81FDAF425377}"/>
              </a:ext>
            </a:extLst>
          </p:cNvPr>
          <p:cNvSpPr>
            <a:spLocks xmlns:a="http://schemas.openxmlformats.org/drawingml/2006/main" noGrp="1"/>
          </p:cNvSpPr>
          <p:nvPr/>
        </p:nvSpPr>
        <p:spPr>
          <a:xfrm xmlns:a="http://schemas.openxmlformats.org/drawingml/2006/main">
            <a:off x="68008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0F172A"/>
                </a:solidFill>
              </a:defRPr>
            </a:pPr>
            <a:r>
              <a:rPr sz="1125" b="1">
                <a:solidFill>
                  <a:srgbClr val="0F172A"/>
                </a:solidFill>
              </a:rPr>
              <a:t>compare analysis</a:t>
            </a:r>
          </a:p>
        </p:txBody>
      </p:sp>
      <p:sp>
        <p:nvSpPr>
          <p:cNvPr id="29" name="">
            <a:extLst xmlns:a="http://schemas.openxmlformats.org/drawingml/2006/main">
              <a:ext uri="{FF2B5EF4-FFF2-40B4-BE49-F238E27FC236}">
                <a16:creationId xmlns:a16="http://schemas.microsoft.com/office/drawing/2014/main" id="{9DA4F7F5-5033-4FB7-83AA-E1EE246B9FFA}"/>
              </a:ext>
            </a:extLst>
          </p:cNvPr>
          <p:cNvSpPr>
            <a:spLocks xmlns:a="http://schemas.openxmlformats.org/drawingml/2006/main" noGrp="1"/>
          </p:cNvSpPr>
          <p:nvPr/>
        </p:nvSpPr>
        <p:spPr>
          <a:xfrm xmlns:a="http://schemas.openxmlformats.org/drawingml/2006/main">
            <a:off x="93535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0" name="">
            <a:extLst xmlns:a="http://schemas.openxmlformats.org/drawingml/2006/main">
              <a:ext uri="{FF2B5EF4-FFF2-40B4-BE49-F238E27FC236}">
                <a16:creationId xmlns:a16="http://schemas.microsoft.com/office/drawing/2014/main" id="{33C4FA95-95E8-488F-8781-C2F197A0F254}"/>
              </a:ext>
            </a:extLst>
          </p:cNvPr>
          <p:cNvSpPr>
            <a:spLocks xmlns:a="http://schemas.openxmlformats.org/drawingml/2006/main" noGrp="1"/>
          </p:cNvSpPr>
          <p:nvPr/>
        </p:nvSpPr>
        <p:spPr>
          <a:xfrm xmlns:a="http://schemas.openxmlformats.org/drawingml/2006/main">
            <a:off x="95440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B5483A"/>
                </a:solidFill>
              </a:defRPr>
            </a:pPr>
            <a:r>
              <a:rPr sz="1650" b="1">
                <a:solidFill>
                  <a:srgbClr val="B5483A"/>
                </a:solidFill>
              </a:rPr>
              <a:t>Idiom &amp; lexical</a:t>
            </a:r>
          </a:p>
        </p:txBody>
      </p:sp>
      <p:sp>
        <p:nvSpPr>
          <p:cNvPr id="31" name="">
            <a:extLst xmlns:a="http://schemas.openxmlformats.org/drawingml/2006/main">
              <a:ext uri="{FF2B5EF4-FFF2-40B4-BE49-F238E27FC236}">
                <a16:creationId xmlns:a16="http://schemas.microsoft.com/office/drawing/2014/main" id="{BD60530C-1345-4D87-A3BD-A186EDD40C34}"/>
              </a:ext>
            </a:extLst>
          </p:cNvPr>
          <p:cNvSpPr>
            <a:spLocks xmlns:a="http://schemas.openxmlformats.org/drawingml/2006/main" noGrp="1"/>
          </p:cNvSpPr>
          <p:nvPr/>
        </p:nvSpPr>
        <p:spPr>
          <a:xfrm xmlns:a="http://schemas.openxmlformats.org/drawingml/2006/main">
            <a:off x="95440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2" name="">
            <a:extLst xmlns:a="http://schemas.openxmlformats.org/drawingml/2006/main">
              <a:ext uri="{FF2B5EF4-FFF2-40B4-BE49-F238E27FC236}">
                <a16:creationId xmlns:a16="http://schemas.microsoft.com/office/drawing/2014/main" id="{F50266F0-F734-4293-837A-E562839ED5D8}"/>
              </a:ext>
            </a:extLst>
          </p:cNvPr>
          <p:cNvSpPr>
            <a:spLocks xmlns:a="http://schemas.openxmlformats.org/drawingml/2006/main" noGrp="1"/>
          </p:cNvSpPr>
          <p:nvPr/>
        </p:nvSpPr>
        <p:spPr>
          <a:xfrm xmlns:a="http://schemas.openxmlformats.org/drawingml/2006/main">
            <a:off x="96393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select literal or figurative</a:t>
            </a:r>
          </a:p>
        </p:txBody>
      </p:sp>
      <p:sp>
        <p:nvSpPr>
          <p:cNvPr id="33" name="">
            <a:extLst xmlns:a="http://schemas.openxmlformats.org/drawingml/2006/main">
              <a:ext uri="{FF2B5EF4-FFF2-40B4-BE49-F238E27FC236}">
                <a16:creationId xmlns:a16="http://schemas.microsoft.com/office/drawing/2014/main" id="{7BB8BAF5-CA46-4E82-B9C4-8813605C938F}"/>
              </a:ext>
            </a:extLst>
          </p:cNvPr>
          <p:cNvSpPr>
            <a:spLocks xmlns:a="http://schemas.openxmlformats.org/drawingml/2006/main" noGrp="1"/>
          </p:cNvSpPr>
          <p:nvPr/>
        </p:nvSpPr>
        <p:spPr>
          <a:xfrm xmlns:a="http://schemas.openxmlformats.org/drawingml/2006/main">
            <a:off x="95440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C2ED947D-56AD-4E78-9D5B-1A3249BA2F6B}"/>
              </a:ext>
            </a:extLst>
          </p:cNvPr>
          <p:cNvSpPr>
            <a:spLocks xmlns:a="http://schemas.openxmlformats.org/drawingml/2006/main" noGrp="1"/>
          </p:cNvSpPr>
          <p:nvPr/>
        </p:nvSpPr>
        <p:spPr>
          <a:xfrm xmlns:a="http://schemas.openxmlformats.org/drawingml/2006/main">
            <a:off x="96393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retrieve exact sense</a:t>
            </a:r>
          </a:p>
        </p:txBody>
      </p:sp>
      <p:sp>
        <p:nvSpPr>
          <p:cNvPr id="35" name="">
            <a:extLst xmlns:a="http://schemas.openxmlformats.org/drawingml/2006/main">
              <a:ext uri="{FF2B5EF4-FFF2-40B4-BE49-F238E27FC236}">
                <a16:creationId xmlns:a16="http://schemas.microsoft.com/office/drawing/2014/main" id="{DE206D6B-24BA-4A59-B782-798D9DA34810}"/>
              </a:ext>
            </a:extLst>
          </p:cNvPr>
          <p:cNvSpPr>
            <a:spLocks xmlns:a="http://schemas.openxmlformats.org/drawingml/2006/main" noGrp="1"/>
          </p:cNvSpPr>
          <p:nvPr/>
        </p:nvSpPr>
        <p:spPr>
          <a:xfrm xmlns:a="http://schemas.openxmlformats.org/drawingml/2006/main">
            <a:off x="95440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36" name="">
            <a:extLst xmlns:a="http://schemas.openxmlformats.org/drawingml/2006/main">
              <a:ext uri="{FF2B5EF4-FFF2-40B4-BE49-F238E27FC236}">
                <a16:creationId xmlns:a16="http://schemas.microsoft.com/office/drawing/2014/main" id="{96D3620D-21BA-4D95-BF9A-7118E03183F2}"/>
              </a:ext>
            </a:extLst>
          </p:cNvPr>
          <p:cNvSpPr>
            <a:spLocks xmlns:a="http://schemas.openxmlformats.org/drawingml/2006/main" noGrp="1"/>
          </p:cNvSpPr>
          <p:nvPr/>
        </p:nvSpPr>
        <p:spPr>
          <a:xfrm xmlns:a="http://schemas.openxmlformats.org/drawingml/2006/main">
            <a:off x="96393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0F172A"/>
                </a:solidFill>
              </a:defRPr>
            </a:pPr>
            <a:r>
              <a:rPr sz="1125" b="1">
                <a:solidFill>
                  <a:srgbClr val="0F172A"/>
                </a:solidFill>
              </a:rPr>
              <a:t>compare requested meaning</a:t>
            </a:r>
          </a:p>
        </p:txBody>
      </p:sp>
      <p:sp>
        <p:nvSpPr>
          <p:cNvPr id="37" name="">
            <a:extLst xmlns:a="http://schemas.openxmlformats.org/drawingml/2006/main">
              <a:ext uri="{FF2B5EF4-FFF2-40B4-BE49-F238E27FC236}">
                <a16:creationId xmlns:a16="http://schemas.microsoft.com/office/drawing/2014/main" id="{8547267E-BAA3-4912-96FF-49BBC1FE5095}"/>
              </a:ext>
            </a:extLst>
          </p:cNvPr>
          <p:cNvSpPr>
            <a:spLocks xmlns:a="http://schemas.openxmlformats.org/drawingml/2006/main" noGrp="1"/>
          </p:cNvSpPr>
          <p:nvPr/>
        </p:nvSpPr>
        <p:spPr>
          <a:xfrm xmlns:a="http://schemas.openxmlformats.org/drawingml/2006/main">
            <a:off x="1714500" y="5295900"/>
            <a:ext cx="8763000" cy="685800"/>
          </a:xfrm>
          <a:prstGeom xmlns:a="http://schemas.openxmlformats.org/drawingml/2006/main" prst="roundRect">
            <a:avLst>
              <a:gd name="adj" fmla="val 19444"/>
            </a:avLst>
          </a:prstGeom>
          <a:solidFill xmlns:a="http://schemas.openxmlformats.org/drawingml/2006/main">
            <a:srgbClr val="E7EEF4"/>
          </a:solidFill>
          <a:ln xmlns:a="http://schemas.openxmlformats.org/drawingml/2006/main" w="9525">
            <a:solidFill>
              <a:srgbClr val="1F5A7A"/>
            </a:solidFill>
            <a:prstDash val="solid"/>
          </a:ln>
        </p:spPr>
      </p:sp>
      <p:sp>
        <p:nvSpPr>
          <p:cNvPr id="38" name="">
            <a:extLst xmlns:a="http://schemas.openxmlformats.org/drawingml/2006/main">
              <a:ext uri="{FF2B5EF4-FFF2-40B4-BE49-F238E27FC236}">
                <a16:creationId xmlns:a16="http://schemas.microsoft.com/office/drawing/2014/main" id="{FD80591C-C629-47FF-9861-706DA81EB3DA}"/>
              </a:ext>
            </a:extLst>
          </p:cNvPr>
          <p:cNvSpPr>
            <a:spLocks xmlns:a="http://schemas.openxmlformats.org/drawingml/2006/main" noGrp="1"/>
          </p:cNvSpPr>
          <p:nvPr/>
        </p:nvSpPr>
        <p:spPr>
          <a:xfrm xmlns:a="http://schemas.openxmlformats.org/drawingml/2006/main">
            <a:off x="1981200" y="54864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Common output</a:t>
            </a:r>
          </a:p>
        </p:txBody>
      </p:sp>
      <p:sp>
        <p:nvSpPr>
          <p:cNvPr id="39" name="">
            <a:extLst xmlns:a="http://schemas.openxmlformats.org/drawingml/2006/main">
              <a:ext uri="{FF2B5EF4-FFF2-40B4-BE49-F238E27FC236}">
                <a16:creationId xmlns:a16="http://schemas.microsoft.com/office/drawing/2014/main" id="{FAF24D1A-C5E0-46AD-BEF0-DF82691B445C}"/>
              </a:ext>
            </a:extLst>
          </p:cNvPr>
          <p:cNvSpPr>
            <a:spLocks xmlns:a="http://schemas.openxmlformats.org/drawingml/2006/main" noGrp="1"/>
          </p:cNvSpPr>
          <p:nvPr/>
        </p:nvSpPr>
        <p:spPr>
          <a:xfrm xmlns:a="http://schemas.openxmlformats.org/drawingml/2006/main">
            <a:off x="3600450" y="5467350"/>
            <a:ext cx="657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0F172A"/>
                </a:solidFill>
              </a:defRPr>
            </a:pPr>
            <a:r>
              <a:rPr sz="1275" b="0">
                <a:solidFill>
                  <a:srgbClr val="0F172A"/>
                </a:solidFill>
              </a:rPr>
              <a:t>{entity, predicate, parsed value, source, verdict}  —  incomplete or conflicting fields return null</a:t>
            </a:r>
          </a:p>
        </p:txBody>
      </p:sp>
      <p:sp>
        <p:nvSpPr>
          <p:cNvPr id="40" name="">
            <a:extLst xmlns:a="http://schemas.openxmlformats.org/drawingml/2006/main">
              <a:ext uri="{FF2B5EF4-FFF2-40B4-BE49-F238E27FC236}">
                <a16:creationId xmlns:a16="http://schemas.microsoft.com/office/drawing/2014/main" id="{40B65139-B7DC-467B-A68F-E48CAB1FE5BB}"/>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1" name="source-5">
            <a:extLst xmlns:a="http://schemas.openxmlformats.org/drawingml/2006/main">
              <a:ext uri="{FF2B5EF4-FFF2-40B4-BE49-F238E27FC236}">
                <a16:creationId xmlns:a16="http://schemas.microsoft.com/office/drawing/2014/main" id="{0FC3120E-1AD4-4381-9D23-8E1AD2C487A0}"/>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v91 structured solvers, relation schema, and regression cases</a:t>
            </a:r>
          </a:p>
        </p:txBody>
      </p:sp>
      <p:sp>
        <p:nvSpPr>
          <p:cNvPr id="42" name="page-5">
            <a:extLst xmlns:a="http://schemas.openxmlformats.org/drawingml/2006/main">
              <a:ext uri="{FF2B5EF4-FFF2-40B4-BE49-F238E27FC236}">
                <a16:creationId xmlns:a16="http://schemas.microsoft.com/office/drawing/2014/main" id="{1C6F8E49-4462-47B6-AC5B-8F9E6602FB02}"/>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05</a:t>
            </a:r>
          </a:p>
        </p:txBody>
      </p:sp>
    </p:spTree>
    <p:extLst>
      <p:ext uri="{BB962C8B-B14F-4D97-AF65-F5344CB8AC3E}">
        <p14:creationId xmlns:p14="http://schemas.microsoft.com/office/powerpoint/2010/main" val="856713630"/>
      </p:ext>
    </p:extLst>
  </p:cSld>
</p:sld>
</file>

<file path=ppt/slides/slide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6">
            <a:extLst xmlns:a="http://schemas.openxmlformats.org/drawingml/2006/main">
              <a:ext uri="{FF2B5EF4-FFF2-40B4-BE49-F238E27FC236}">
                <a16:creationId xmlns:a16="http://schemas.microsoft.com/office/drawing/2014/main" id="{9E9D6F30-2CB1-4684-8FB7-164B9EB1E746}"/>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6">
            <a:extLst xmlns:a="http://schemas.openxmlformats.org/drawingml/2006/main">
              <a:ext uri="{FF2B5EF4-FFF2-40B4-BE49-F238E27FC236}">
                <a16:creationId xmlns:a16="http://schemas.microsoft.com/office/drawing/2014/main" id="{861C7854-4B04-4F01-A158-F4DBB335B2C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Evidence could decide only when the relation matched</a:t>
            </a:r>
          </a:p>
        </p:txBody>
      </p:sp>
      <p:sp>
        <p:nvSpPr>
          <p:cNvPr id="3" name="">
            <a:extLst xmlns:a="http://schemas.openxmlformats.org/drawingml/2006/main">
              <a:ext uri="{FF2B5EF4-FFF2-40B4-BE49-F238E27FC236}">
                <a16:creationId xmlns:a16="http://schemas.microsoft.com/office/drawing/2014/main" id="{08CFBDE4-3CB7-457C-BC0F-DA30EEBC1BC4}"/>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1BE8D659-0F65-4C59-A91F-4A2CE3F22847}"/>
              </a:ext>
            </a:extLst>
          </p:cNvPr>
          <p:cNvSpPr>
            <a:spLocks xmlns:a="http://schemas.openxmlformats.org/drawingml/2006/main" noGrp="1"/>
          </p:cNvSpPr>
          <p:nvPr/>
        </p:nvSpPr>
        <p:spPr>
          <a:xfrm xmlns:a="http://schemas.openxmlformats.org/drawingml/2006/main">
            <a:off x="685800" y="139065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Similarity proposed candidates. It never overruled stronger evidence.</a:t>
            </a:r>
          </a:p>
        </p:txBody>
      </p:sp>
      <p:sp>
        <p:nvSpPr>
          <p:cNvPr id="5" name="">
            <a:extLst xmlns:a="http://schemas.openxmlformats.org/drawingml/2006/main">
              <a:ext uri="{FF2B5EF4-FFF2-40B4-BE49-F238E27FC236}">
                <a16:creationId xmlns:a16="http://schemas.microsoft.com/office/drawing/2014/main" id="{149DD6F4-BCD2-4151-B12D-BB2669E28DC7}"/>
              </a:ext>
            </a:extLst>
          </p:cNvPr>
          <p:cNvSpPr>
            <a:spLocks xmlns:a="http://schemas.openxmlformats.org/drawingml/2006/main" noGrp="1"/>
          </p:cNvSpPr>
          <p:nvPr/>
        </p:nvSpPr>
        <p:spPr>
          <a:xfrm xmlns:a="http://schemas.openxmlformats.org/drawingml/2006/main">
            <a:off x="1104900" y="264795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6" name="">
            <a:extLst xmlns:a="http://schemas.openxmlformats.org/drawingml/2006/main">
              <a:ext uri="{FF2B5EF4-FFF2-40B4-BE49-F238E27FC236}">
                <a16:creationId xmlns:a16="http://schemas.microsoft.com/office/drawing/2014/main" id="{6D2EC7D0-62B9-4E31-A7DA-C7C852C772EE}"/>
              </a:ext>
            </a:extLst>
          </p:cNvPr>
          <p:cNvSpPr>
            <a:spLocks xmlns:a="http://schemas.openxmlformats.org/drawingml/2006/main" noGrp="1"/>
          </p:cNvSpPr>
          <p:nvPr/>
        </p:nvSpPr>
        <p:spPr>
          <a:xfrm xmlns:a="http://schemas.openxmlformats.org/drawingml/2006/main">
            <a:off x="1104900" y="213360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B5483A"/>
                </a:solidFill>
              </a:defRPr>
            </a:pPr>
            <a:r>
              <a:rPr sz="1500" b="1">
                <a:solidFill>
                  <a:srgbClr val="B5483A"/>
                </a:solidFill>
              </a:rPr>
              <a:t>1</a:t>
            </a:r>
          </a:p>
        </p:txBody>
      </p:sp>
      <p:sp>
        <p:nvSpPr>
          <p:cNvPr id="7" name="">
            <a:extLst xmlns:a="http://schemas.openxmlformats.org/drawingml/2006/main">
              <a:ext uri="{FF2B5EF4-FFF2-40B4-BE49-F238E27FC236}">
                <a16:creationId xmlns:a16="http://schemas.microsoft.com/office/drawing/2014/main" id="{8A55E3D8-3DEA-43D5-B1F9-3A94A00E98DC}"/>
              </a:ext>
            </a:extLst>
          </p:cNvPr>
          <p:cNvSpPr>
            <a:spLocks xmlns:a="http://schemas.openxmlformats.org/drawingml/2006/main" noGrp="1"/>
          </p:cNvSpPr>
          <p:nvPr/>
        </p:nvSpPr>
        <p:spPr>
          <a:xfrm xmlns:a="http://schemas.openxmlformats.org/drawingml/2006/main">
            <a:off x="1676400" y="210502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Context contradiction</a:t>
            </a:r>
          </a:p>
        </p:txBody>
      </p:sp>
      <p:sp>
        <p:nvSpPr>
          <p:cNvPr id="8" name="">
            <a:extLst xmlns:a="http://schemas.openxmlformats.org/drawingml/2006/main">
              <a:ext uri="{FF2B5EF4-FFF2-40B4-BE49-F238E27FC236}">
                <a16:creationId xmlns:a16="http://schemas.microsoft.com/office/drawing/2014/main" id="{C8238018-5EF5-448E-BC82-68D950CDFE72}"/>
              </a:ext>
            </a:extLst>
          </p:cNvPr>
          <p:cNvSpPr>
            <a:spLocks xmlns:a="http://schemas.openxmlformats.org/drawingml/2006/main" noGrp="1"/>
          </p:cNvSpPr>
          <p:nvPr/>
        </p:nvSpPr>
        <p:spPr>
          <a:xfrm xmlns:a="http://schemas.openxmlformats.org/drawingml/2006/main">
            <a:off x="4762500" y="211455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same clause, prompt anchors, no competing claim</a:t>
            </a:r>
          </a:p>
        </p:txBody>
      </p:sp>
      <p:sp>
        <p:nvSpPr>
          <p:cNvPr id="9" name="">
            <a:extLst xmlns:a="http://schemas.openxmlformats.org/drawingml/2006/main">
              <a:ext uri="{FF2B5EF4-FFF2-40B4-BE49-F238E27FC236}">
                <a16:creationId xmlns:a16="http://schemas.microsoft.com/office/drawing/2014/main" id="{AA548B5B-F280-4ACF-AC23-CFC27C67C4A3}"/>
              </a:ext>
            </a:extLst>
          </p:cNvPr>
          <p:cNvSpPr>
            <a:spLocks xmlns:a="http://schemas.openxmlformats.org/drawingml/2006/main" noGrp="1"/>
          </p:cNvSpPr>
          <p:nvPr/>
        </p:nvSpPr>
        <p:spPr>
          <a:xfrm xmlns:a="http://schemas.openxmlformats.org/drawingml/2006/main">
            <a:off x="1104900" y="339090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0" name="">
            <a:extLst xmlns:a="http://schemas.openxmlformats.org/drawingml/2006/main">
              <a:ext uri="{FF2B5EF4-FFF2-40B4-BE49-F238E27FC236}">
                <a16:creationId xmlns:a16="http://schemas.microsoft.com/office/drawing/2014/main" id="{81441D11-12FA-4B9D-9B61-1B8D1D626F95}"/>
              </a:ext>
            </a:extLst>
          </p:cNvPr>
          <p:cNvSpPr>
            <a:spLocks xmlns:a="http://schemas.openxmlformats.org/drawingml/2006/main" noGrp="1"/>
          </p:cNvSpPr>
          <p:nvPr/>
        </p:nvSpPr>
        <p:spPr>
          <a:xfrm xmlns:a="http://schemas.openxmlformats.org/drawingml/2006/main">
            <a:off x="1104900" y="287655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F5A7A"/>
                </a:solidFill>
              </a:defRPr>
            </a:pPr>
            <a:r>
              <a:rPr sz="1500" b="1">
                <a:solidFill>
                  <a:srgbClr val="1F5A7A"/>
                </a:solidFill>
              </a:rPr>
              <a:t>2</a:t>
            </a:r>
          </a:p>
        </p:txBody>
      </p:sp>
      <p:sp>
        <p:nvSpPr>
          <p:cNvPr id="11" name="">
            <a:extLst xmlns:a="http://schemas.openxmlformats.org/drawingml/2006/main">
              <a:ext uri="{FF2B5EF4-FFF2-40B4-BE49-F238E27FC236}">
                <a16:creationId xmlns:a16="http://schemas.microsoft.com/office/drawing/2014/main" id="{CEB3D333-514F-42F1-A35D-BB085AB02E55}"/>
              </a:ext>
            </a:extLst>
          </p:cNvPr>
          <p:cNvSpPr>
            <a:spLocks xmlns:a="http://schemas.openxmlformats.org/drawingml/2006/main" noGrp="1"/>
          </p:cNvSpPr>
          <p:nvPr/>
        </p:nvSpPr>
        <p:spPr>
          <a:xfrm xmlns:a="http://schemas.openxmlformats.org/drawingml/2006/main">
            <a:off x="1676400" y="284797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Exact source lineage</a:t>
            </a:r>
          </a:p>
        </p:txBody>
      </p:sp>
      <p:sp>
        <p:nvSpPr>
          <p:cNvPr id="12" name="">
            <a:extLst xmlns:a="http://schemas.openxmlformats.org/drawingml/2006/main">
              <a:ext uri="{FF2B5EF4-FFF2-40B4-BE49-F238E27FC236}">
                <a16:creationId xmlns:a16="http://schemas.microsoft.com/office/drawing/2014/main" id="{8D07FAF2-1251-439A-80FD-16A9B0D64D1E}"/>
              </a:ext>
            </a:extLst>
          </p:cNvPr>
          <p:cNvSpPr>
            <a:spLocks xmlns:a="http://schemas.openxmlformats.org/drawingml/2006/main" noGrp="1"/>
          </p:cNvSpPr>
          <p:nvPr/>
        </p:nvSpPr>
        <p:spPr>
          <a:xfrm xmlns:a="http://schemas.openxmlformats.org/drawingml/2006/main">
            <a:off x="4762500" y="285750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prompt, response, and applicable context agree</a:t>
            </a:r>
          </a:p>
        </p:txBody>
      </p:sp>
      <p:sp>
        <p:nvSpPr>
          <p:cNvPr id="13" name="">
            <a:extLst xmlns:a="http://schemas.openxmlformats.org/drawingml/2006/main">
              <a:ext uri="{FF2B5EF4-FFF2-40B4-BE49-F238E27FC236}">
                <a16:creationId xmlns:a16="http://schemas.microsoft.com/office/drawing/2014/main" id="{F5C05688-C7D8-496B-9A68-FCB8DA86D4A2}"/>
              </a:ext>
            </a:extLst>
          </p:cNvPr>
          <p:cNvSpPr>
            <a:spLocks xmlns:a="http://schemas.openxmlformats.org/drawingml/2006/main" noGrp="1"/>
          </p:cNvSpPr>
          <p:nvPr/>
        </p:nvSpPr>
        <p:spPr>
          <a:xfrm xmlns:a="http://schemas.openxmlformats.org/drawingml/2006/main">
            <a:off x="1104900" y="413385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2A01818C-9356-4621-8BE5-69E3919A080E}"/>
              </a:ext>
            </a:extLst>
          </p:cNvPr>
          <p:cNvSpPr>
            <a:spLocks xmlns:a="http://schemas.openxmlformats.org/drawingml/2006/main" noGrp="1"/>
          </p:cNvSpPr>
          <p:nvPr/>
        </p:nvSpPr>
        <p:spPr>
          <a:xfrm xmlns:a="http://schemas.openxmlformats.org/drawingml/2006/main">
            <a:off x="1104900" y="361950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2A8C82"/>
                </a:solidFill>
              </a:defRPr>
            </a:pPr>
            <a:r>
              <a:rPr sz="1500" b="1">
                <a:solidFill>
                  <a:srgbClr val="2A8C82"/>
                </a:solidFill>
              </a:rPr>
              <a:t>3</a:t>
            </a:r>
          </a:p>
        </p:txBody>
      </p:sp>
      <p:sp>
        <p:nvSpPr>
          <p:cNvPr id="15" name="">
            <a:extLst xmlns:a="http://schemas.openxmlformats.org/drawingml/2006/main">
              <a:ext uri="{FF2B5EF4-FFF2-40B4-BE49-F238E27FC236}">
                <a16:creationId xmlns:a16="http://schemas.microsoft.com/office/drawing/2014/main" id="{795FF76D-0893-42EE-9BA2-B7A2EA102CF0}"/>
              </a:ext>
            </a:extLst>
          </p:cNvPr>
          <p:cNvSpPr>
            <a:spLocks xmlns:a="http://schemas.openxmlformats.org/drawingml/2006/main" noGrp="1"/>
          </p:cNvSpPr>
          <p:nvPr/>
        </p:nvSpPr>
        <p:spPr>
          <a:xfrm xmlns:a="http://schemas.openxmlformats.org/drawingml/2006/main">
            <a:off x="1676400" y="359092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Structured solver</a:t>
            </a:r>
          </a:p>
        </p:txBody>
      </p:sp>
      <p:sp>
        <p:nvSpPr>
          <p:cNvPr id="16" name="">
            <a:extLst xmlns:a="http://schemas.openxmlformats.org/drawingml/2006/main">
              <a:ext uri="{FF2B5EF4-FFF2-40B4-BE49-F238E27FC236}">
                <a16:creationId xmlns:a16="http://schemas.microsoft.com/office/drawing/2014/main" id="{B94BE237-F543-4A93-B676-8863F49DE4D5}"/>
              </a:ext>
            </a:extLst>
          </p:cNvPr>
          <p:cNvSpPr>
            <a:spLocks xmlns:a="http://schemas.openxmlformats.org/drawingml/2006/main" noGrp="1"/>
          </p:cNvSpPr>
          <p:nvPr/>
        </p:nvSpPr>
        <p:spPr>
          <a:xfrm xmlns:a="http://schemas.openxmlformats.org/drawingml/2006/main">
            <a:off x="4762500" y="360045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parsed value, entity, and predicate align</a:t>
            </a:r>
          </a:p>
        </p:txBody>
      </p:sp>
      <p:sp>
        <p:nvSpPr>
          <p:cNvPr id="17" name="">
            <a:extLst xmlns:a="http://schemas.openxmlformats.org/drawingml/2006/main">
              <a:ext uri="{FF2B5EF4-FFF2-40B4-BE49-F238E27FC236}">
                <a16:creationId xmlns:a16="http://schemas.microsoft.com/office/drawing/2014/main" id="{545F08B1-DDF4-4445-98B6-B1233E53A2CA}"/>
              </a:ext>
            </a:extLst>
          </p:cNvPr>
          <p:cNvSpPr>
            <a:spLocks xmlns:a="http://schemas.openxmlformats.org/drawingml/2006/main" noGrp="1"/>
          </p:cNvSpPr>
          <p:nvPr/>
        </p:nvSpPr>
        <p:spPr>
          <a:xfrm xmlns:a="http://schemas.openxmlformats.org/drawingml/2006/main">
            <a:off x="1104900" y="487680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
            <a:extLst xmlns:a="http://schemas.openxmlformats.org/drawingml/2006/main">
              <a:ext uri="{FF2B5EF4-FFF2-40B4-BE49-F238E27FC236}">
                <a16:creationId xmlns:a16="http://schemas.microsoft.com/office/drawing/2014/main" id="{B214D0DD-98C0-4E0A-B45E-E6D1B0160ED7}"/>
              </a:ext>
            </a:extLst>
          </p:cNvPr>
          <p:cNvSpPr>
            <a:spLocks xmlns:a="http://schemas.openxmlformats.org/drawingml/2006/main" noGrp="1"/>
          </p:cNvSpPr>
          <p:nvPr/>
        </p:nvSpPr>
        <p:spPr>
          <a:xfrm xmlns:a="http://schemas.openxmlformats.org/drawingml/2006/main">
            <a:off x="1104900" y="436245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D59B32"/>
                </a:solidFill>
              </a:defRPr>
            </a:pPr>
            <a:r>
              <a:rPr sz="1500" b="1">
                <a:solidFill>
                  <a:srgbClr val="D59B32"/>
                </a:solidFill>
              </a:rPr>
              <a:t>4</a:t>
            </a:r>
          </a:p>
        </p:txBody>
      </p:sp>
      <p:sp>
        <p:nvSpPr>
          <p:cNvPr id="19" name="">
            <a:extLst xmlns:a="http://schemas.openxmlformats.org/drawingml/2006/main">
              <a:ext uri="{FF2B5EF4-FFF2-40B4-BE49-F238E27FC236}">
                <a16:creationId xmlns:a16="http://schemas.microsoft.com/office/drawing/2014/main" id="{CD09B0FB-1C81-485E-95A4-03C79574218E}"/>
              </a:ext>
            </a:extLst>
          </p:cNvPr>
          <p:cNvSpPr>
            <a:spLocks xmlns:a="http://schemas.openxmlformats.org/drawingml/2006/main" noGrp="1"/>
          </p:cNvSpPr>
          <p:nvPr/>
        </p:nvSpPr>
        <p:spPr>
          <a:xfrm xmlns:a="http://schemas.openxmlformats.org/drawingml/2006/main">
            <a:off x="1676400" y="433387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Typed evidence</a:t>
            </a:r>
          </a:p>
        </p:txBody>
      </p:sp>
      <p:sp>
        <p:nvSpPr>
          <p:cNvPr id="20" name="">
            <a:extLst xmlns:a="http://schemas.openxmlformats.org/drawingml/2006/main">
              <a:ext uri="{FF2B5EF4-FFF2-40B4-BE49-F238E27FC236}">
                <a16:creationId xmlns:a16="http://schemas.microsoft.com/office/drawing/2014/main" id="{CDF48D01-9FCE-44F2-9686-392795754D30}"/>
              </a:ext>
            </a:extLst>
          </p:cNvPr>
          <p:cNvSpPr>
            <a:spLocks xmlns:a="http://schemas.openxmlformats.org/drawingml/2006/main" noGrp="1"/>
          </p:cNvSpPr>
          <p:nvPr/>
        </p:nvSpPr>
        <p:spPr>
          <a:xfrm xmlns:a="http://schemas.openxmlformats.org/drawingml/2006/main">
            <a:off x="4762500" y="434340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exact idiom sense, law section, or two-source fact</a:t>
            </a:r>
          </a:p>
        </p:txBody>
      </p:sp>
      <p:sp>
        <p:nvSpPr>
          <p:cNvPr id="21" name="">
            <a:extLst xmlns:a="http://schemas.openxmlformats.org/drawingml/2006/main">
              <a:ext uri="{FF2B5EF4-FFF2-40B4-BE49-F238E27FC236}">
                <a16:creationId xmlns:a16="http://schemas.microsoft.com/office/drawing/2014/main" id="{CC625386-8013-412F-9782-4B2FD9BF61D1}"/>
              </a:ext>
            </a:extLst>
          </p:cNvPr>
          <p:cNvSpPr>
            <a:spLocks xmlns:a="http://schemas.openxmlformats.org/drawingml/2006/main" noGrp="1"/>
          </p:cNvSpPr>
          <p:nvPr/>
        </p:nvSpPr>
        <p:spPr>
          <a:xfrm xmlns:a="http://schemas.openxmlformats.org/drawingml/2006/main">
            <a:off x="1104900" y="561975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2" name="">
            <a:extLst xmlns:a="http://schemas.openxmlformats.org/drawingml/2006/main">
              <a:ext uri="{FF2B5EF4-FFF2-40B4-BE49-F238E27FC236}">
                <a16:creationId xmlns:a16="http://schemas.microsoft.com/office/drawing/2014/main" id="{28FCC4BE-4A84-43EA-9AE6-C6DA91BDC850}"/>
              </a:ext>
            </a:extLst>
          </p:cNvPr>
          <p:cNvSpPr>
            <a:spLocks xmlns:a="http://schemas.openxmlformats.org/drawingml/2006/main" noGrp="1"/>
          </p:cNvSpPr>
          <p:nvPr/>
        </p:nvSpPr>
        <p:spPr>
          <a:xfrm xmlns:a="http://schemas.openxmlformats.org/drawingml/2006/main">
            <a:off x="1104900" y="510540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94A3B8"/>
                </a:solidFill>
              </a:defRPr>
            </a:pPr>
            <a:r>
              <a:rPr sz="1500" b="1">
                <a:solidFill>
                  <a:srgbClr val="94A3B8"/>
                </a:solidFill>
              </a:rPr>
              <a:t>5</a:t>
            </a:r>
          </a:p>
        </p:txBody>
      </p:sp>
      <p:sp>
        <p:nvSpPr>
          <p:cNvPr id="23" name="">
            <a:extLst xmlns:a="http://schemas.openxmlformats.org/drawingml/2006/main">
              <a:ext uri="{FF2B5EF4-FFF2-40B4-BE49-F238E27FC236}">
                <a16:creationId xmlns:a16="http://schemas.microsoft.com/office/drawing/2014/main" id="{B17018DD-6A95-40B8-89EF-676F4A5C1822}"/>
              </a:ext>
            </a:extLst>
          </p:cNvPr>
          <p:cNvSpPr>
            <a:spLocks xmlns:a="http://schemas.openxmlformats.org/drawingml/2006/main" noGrp="1"/>
          </p:cNvSpPr>
          <p:nvPr/>
        </p:nvSpPr>
        <p:spPr>
          <a:xfrm xmlns:a="http://schemas.openxmlformats.org/drawingml/2006/main">
            <a:off x="1676400" y="507682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Fuzzy retrieval</a:t>
            </a:r>
          </a:p>
        </p:txBody>
      </p:sp>
      <p:sp>
        <p:nvSpPr>
          <p:cNvPr id="24" name="">
            <a:extLst xmlns:a="http://schemas.openxmlformats.org/drawingml/2006/main">
              <a:ext uri="{FF2B5EF4-FFF2-40B4-BE49-F238E27FC236}">
                <a16:creationId xmlns:a16="http://schemas.microsoft.com/office/drawing/2014/main" id="{ECAD9EEE-FC2C-48E4-8813-080064D39591}"/>
              </a:ext>
            </a:extLst>
          </p:cNvPr>
          <p:cNvSpPr>
            <a:spLocks xmlns:a="http://schemas.openxmlformats.org/drawingml/2006/main" noGrp="1"/>
          </p:cNvSpPr>
          <p:nvPr/>
        </p:nvSpPr>
        <p:spPr>
          <a:xfrm xmlns:a="http://schemas.openxmlformats.org/drawingml/2006/main">
            <a:off x="4762500" y="508635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candidate only; otherwise abstain</a:t>
            </a:r>
          </a:p>
        </p:txBody>
      </p:sp>
      <p:sp>
        <p:nvSpPr>
          <p:cNvPr id="25" name="">
            <a:extLst xmlns:a="http://schemas.openxmlformats.org/drawingml/2006/main">
              <a:ext uri="{FF2B5EF4-FFF2-40B4-BE49-F238E27FC236}">
                <a16:creationId xmlns:a16="http://schemas.microsoft.com/office/drawing/2014/main" id="{4E19AB2C-0307-493C-8292-D22B7ADF9310}"/>
              </a:ext>
            </a:extLst>
          </p:cNvPr>
          <p:cNvSpPr>
            <a:spLocks xmlns:a="http://schemas.openxmlformats.org/drawingml/2006/main" noGrp="1"/>
          </p:cNvSpPr>
          <p:nvPr/>
        </p:nvSpPr>
        <p:spPr>
          <a:xfrm xmlns:a="http://schemas.openxmlformats.org/drawingml/2006/main">
            <a:off x="1676400" y="59055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1F5A7A"/>
                </a:solidFill>
              </a:defRPr>
            </a:pPr>
            <a:r>
              <a:rPr sz="1500" b="1">
                <a:solidFill>
                  <a:srgbClr val="1F5A7A"/>
                </a:solidFill>
              </a:rPr>
              <a:t>Conflict between equal-strength sources also produced abstention.</a:t>
            </a:r>
          </a:p>
        </p:txBody>
      </p:sp>
      <p:sp>
        <p:nvSpPr>
          <p:cNvPr id="26" name="">
            <a:extLst xmlns:a="http://schemas.openxmlformats.org/drawingml/2006/main">
              <a:ext uri="{FF2B5EF4-FFF2-40B4-BE49-F238E27FC236}">
                <a16:creationId xmlns:a16="http://schemas.microsoft.com/office/drawing/2014/main" id="{A8616531-92E3-4F0B-8B54-571FFFA26CA7}"/>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6">
            <a:extLst xmlns:a="http://schemas.openxmlformats.org/drawingml/2006/main">
              <a:ext uri="{FF2B5EF4-FFF2-40B4-BE49-F238E27FC236}">
                <a16:creationId xmlns:a16="http://schemas.microsoft.com/office/drawing/2014/main" id="{CA24D0B8-A520-4BCD-A3DA-15240F1670DD}"/>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[3] BenHalluEval  [4] Bengali idiom benchmark  [7] v91 evidence policy</a:t>
            </a:r>
          </a:p>
        </p:txBody>
      </p:sp>
      <p:sp>
        <p:nvSpPr>
          <p:cNvPr id="28" name="page-6">
            <a:extLst xmlns:a="http://schemas.openxmlformats.org/drawingml/2006/main">
              <a:ext uri="{FF2B5EF4-FFF2-40B4-BE49-F238E27FC236}">
                <a16:creationId xmlns:a16="http://schemas.microsoft.com/office/drawing/2014/main" id="{A8BBB73F-12B5-465B-A87C-CCD5CD2BCE36}"/>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06</a:t>
            </a:r>
          </a:p>
        </p:txBody>
      </p:sp>
    </p:spTree>
    <p:extLst>
      <p:ext uri="{BB962C8B-B14F-4D97-AF65-F5344CB8AC3E}">
        <p14:creationId xmlns:p14="http://schemas.microsoft.com/office/powerpoint/2010/main" val="515648656"/>
      </p:ext>
    </p:extLst>
  </p:cSld>
</p:sld>
</file>

<file path=ppt/slides/slide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0" name="kicker-7">
            <a:extLst xmlns:a="http://schemas.openxmlformats.org/drawingml/2006/main">
              <a:ext uri="{FF2B5EF4-FFF2-40B4-BE49-F238E27FC236}">
                <a16:creationId xmlns:a16="http://schemas.microsoft.com/office/drawing/2014/main" id="{01772880-4530-4E1C-BB5C-654E585FE9ED}"/>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7">
            <a:extLst xmlns:a="http://schemas.openxmlformats.org/drawingml/2006/main">
              <a:ext uri="{FF2B5EF4-FFF2-40B4-BE49-F238E27FC236}">
                <a16:creationId xmlns:a16="http://schemas.microsoft.com/office/drawing/2014/main" id="{8B5787E1-85FE-4E5B-91AE-DAF0F9A7AAE9}"/>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Context rows were reduced to claim-level entailment tests</a:t>
            </a:r>
          </a:p>
        </p:txBody>
      </p:sp>
      <p:sp>
        <p:nvSpPr>
          <p:cNvPr id="3" name="">
            <a:extLst xmlns:a="http://schemas.openxmlformats.org/drawingml/2006/main">
              <a:ext uri="{FF2B5EF4-FFF2-40B4-BE49-F238E27FC236}">
                <a16:creationId xmlns:a16="http://schemas.microsoft.com/office/drawing/2014/main" id="{03FCFD45-1447-485E-8E00-3902E417B1A8}"/>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44D45DB6-00A5-4F8C-862D-B751E112C287}"/>
              </a:ext>
            </a:extLst>
          </p:cNvPr>
          <p:cNvSpPr>
            <a:spLocks xmlns:a="http://schemas.openxmlformats.org/drawingml/2006/main" noGrp="1"/>
          </p:cNvSpPr>
          <p:nvPr/>
        </p:nvSpPr>
        <p:spPr>
          <a:xfrm xmlns:a="http://schemas.openxmlformats.org/drawingml/2006/main">
            <a:off x="685800" y="13811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The verifier compared atomic response claims against the relevant context clause, not against global word overlap.</a:t>
            </a:r>
          </a:p>
        </p:txBody>
      </p:sp>
      <p:sp>
        <p:nvSpPr>
          <p:cNvPr id="5" name="">
            <a:extLst xmlns:a="http://schemas.openxmlformats.org/drawingml/2006/main">
              <a:ext uri="{FF2B5EF4-FFF2-40B4-BE49-F238E27FC236}">
                <a16:creationId xmlns:a16="http://schemas.microsoft.com/office/drawing/2014/main" id="{A40383BA-4CB9-4797-B8CF-EFDCD2DAFC17}"/>
              </a:ext>
            </a:extLst>
          </p:cNvPr>
          <p:cNvSpPr>
            <a:spLocks xmlns:a="http://schemas.openxmlformats.org/drawingml/2006/main" noGrp="1"/>
          </p:cNvSpPr>
          <p:nvPr/>
        </p:nvSpPr>
        <p:spPr>
          <a:xfrm xmlns:a="http://schemas.openxmlformats.org/drawingml/2006/main">
            <a:off x="232410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1DBF4821-46A1-4CDA-89F2-7335E267EF72}"/>
              </a:ext>
            </a:extLst>
          </p:cNvPr>
          <p:cNvSpPr>
            <a:spLocks xmlns:a="http://schemas.openxmlformats.org/drawingml/2006/main" noGrp="1"/>
          </p:cNvSpPr>
          <p:nvPr/>
        </p:nvSpPr>
        <p:spPr>
          <a:xfrm xmlns:a="http://schemas.openxmlformats.org/drawingml/2006/main">
            <a:off x="455295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6265AFE7-D69D-42D8-9168-38BE3F2E60E7}"/>
              </a:ext>
            </a:extLst>
          </p:cNvPr>
          <p:cNvSpPr>
            <a:spLocks xmlns:a="http://schemas.openxmlformats.org/drawingml/2006/main" noGrp="1"/>
          </p:cNvSpPr>
          <p:nvPr/>
        </p:nvSpPr>
        <p:spPr>
          <a:xfrm xmlns:a="http://schemas.openxmlformats.org/drawingml/2006/main">
            <a:off x="678180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D27B047C-DF42-46D3-8390-5EFFE412C5B4}"/>
              </a:ext>
            </a:extLst>
          </p:cNvPr>
          <p:cNvSpPr>
            <a:spLocks xmlns:a="http://schemas.openxmlformats.org/drawingml/2006/main" noGrp="1"/>
          </p:cNvSpPr>
          <p:nvPr/>
        </p:nvSpPr>
        <p:spPr>
          <a:xfrm xmlns:a="http://schemas.openxmlformats.org/drawingml/2006/main">
            <a:off x="901065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44E1D405-FE4E-49F4-BBB8-F7816ED85D8B}"/>
              </a:ext>
            </a:extLst>
          </p:cNvPr>
          <p:cNvSpPr>
            <a:spLocks xmlns:a="http://schemas.openxmlformats.org/drawingml/2006/main" noGrp="1"/>
          </p:cNvSpPr>
          <p:nvPr/>
        </p:nvSpPr>
        <p:spPr>
          <a:xfrm xmlns:a="http://schemas.openxmlformats.org/drawingml/2006/main">
            <a:off x="72390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0" name="">
            <a:extLst xmlns:a="http://schemas.openxmlformats.org/drawingml/2006/main">
              <a:ext uri="{FF2B5EF4-FFF2-40B4-BE49-F238E27FC236}">
                <a16:creationId xmlns:a16="http://schemas.microsoft.com/office/drawing/2014/main" id="{9F708037-9619-495A-8AB5-403DE9E87080}"/>
              </a:ext>
            </a:extLst>
          </p:cNvPr>
          <p:cNvSpPr>
            <a:spLocks xmlns:a="http://schemas.openxmlformats.org/drawingml/2006/main" noGrp="1"/>
          </p:cNvSpPr>
          <p:nvPr/>
        </p:nvSpPr>
        <p:spPr>
          <a:xfrm xmlns:a="http://schemas.openxmlformats.org/drawingml/2006/main">
            <a:off x="8953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Context</a:t>
            </a:r>
          </a:p>
        </p:txBody>
      </p:sp>
      <p:sp>
        <p:nvSpPr>
          <p:cNvPr id="11" name="">
            <a:extLst xmlns:a="http://schemas.openxmlformats.org/drawingml/2006/main">
              <a:ext uri="{FF2B5EF4-FFF2-40B4-BE49-F238E27FC236}">
                <a16:creationId xmlns:a16="http://schemas.microsoft.com/office/drawing/2014/main" id="{C42DCBCA-C916-4A89-B4C4-EF6293E23EC8}"/>
              </a:ext>
            </a:extLst>
          </p:cNvPr>
          <p:cNvSpPr>
            <a:spLocks xmlns:a="http://schemas.openxmlformats.org/drawingml/2006/main" noGrp="1"/>
          </p:cNvSpPr>
          <p:nvPr/>
        </p:nvSpPr>
        <p:spPr>
          <a:xfrm xmlns:a="http://schemas.openxmlformats.org/drawingml/2006/main">
            <a:off x="8953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segment into</a:t>
            </a:r>
          </a:p>
          <a:p xmlns:a="http://schemas.openxmlformats.org/drawingml/2006/main">
            <a:pPr algn="ctr">
              <a:defRPr sz="1200" b="0">
                <a:solidFill>
                  <a:srgbClr val="526174"/>
                </a:solidFill>
              </a:defRPr>
            </a:pPr>
            <a:r>
              <a:rPr sz="1200" b="0">
                <a:solidFill>
                  <a:srgbClr val="526174"/>
                </a:solidFill>
              </a:rPr>
              <a:t>clauses</a:t>
            </a:r>
          </a:p>
        </p:txBody>
      </p:sp>
      <p:sp>
        <p:nvSpPr>
          <p:cNvPr id="12" name="">
            <a:extLst xmlns:a="http://schemas.openxmlformats.org/drawingml/2006/main">
              <a:ext uri="{FF2B5EF4-FFF2-40B4-BE49-F238E27FC236}">
                <a16:creationId xmlns:a16="http://schemas.microsoft.com/office/drawing/2014/main" id="{14D88BB0-FCB0-4C33-A49B-85E3AA5576F3}"/>
              </a:ext>
            </a:extLst>
          </p:cNvPr>
          <p:cNvSpPr>
            <a:spLocks xmlns:a="http://schemas.openxmlformats.org/drawingml/2006/main" noGrp="1"/>
          </p:cNvSpPr>
          <p:nvPr/>
        </p:nvSpPr>
        <p:spPr>
          <a:xfrm xmlns:a="http://schemas.openxmlformats.org/drawingml/2006/main">
            <a:off x="295275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3" name="">
            <a:extLst xmlns:a="http://schemas.openxmlformats.org/drawingml/2006/main">
              <a:ext uri="{FF2B5EF4-FFF2-40B4-BE49-F238E27FC236}">
                <a16:creationId xmlns:a16="http://schemas.microsoft.com/office/drawing/2014/main" id="{1AE7AF38-629F-4A6E-A3D3-3101A23027EC}"/>
              </a:ext>
            </a:extLst>
          </p:cNvPr>
          <p:cNvSpPr>
            <a:spLocks xmlns:a="http://schemas.openxmlformats.org/drawingml/2006/main" noGrp="1"/>
          </p:cNvSpPr>
          <p:nvPr/>
        </p:nvSpPr>
        <p:spPr>
          <a:xfrm xmlns:a="http://schemas.openxmlformats.org/drawingml/2006/main">
            <a:off x="312420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Response</a:t>
            </a:r>
          </a:p>
        </p:txBody>
      </p:sp>
      <p:sp>
        <p:nvSpPr>
          <p:cNvPr id="14" name="">
            <a:extLst xmlns:a="http://schemas.openxmlformats.org/drawingml/2006/main">
              <a:ext uri="{FF2B5EF4-FFF2-40B4-BE49-F238E27FC236}">
                <a16:creationId xmlns:a16="http://schemas.microsoft.com/office/drawing/2014/main" id="{5A057EC6-A9FB-494C-9421-52C4F685773C}"/>
              </a:ext>
            </a:extLst>
          </p:cNvPr>
          <p:cNvSpPr>
            <a:spLocks xmlns:a="http://schemas.openxmlformats.org/drawingml/2006/main" noGrp="1"/>
          </p:cNvSpPr>
          <p:nvPr/>
        </p:nvSpPr>
        <p:spPr>
          <a:xfrm xmlns:a="http://schemas.openxmlformats.org/drawingml/2006/main">
            <a:off x="312420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extract atomic</a:t>
            </a:r>
          </a:p>
          <a:p xmlns:a="http://schemas.openxmlformats.org/drawingml/2006/main">
            <a:pPr algn="ctr">
              <a:defRPr sz="1200" b="0">
                <a:solidFill>
                  <a:srgbClr val="526174"/>
                </a:solidFill>
              </a:defRPr>
            </a:pPr>
            <a:r>
              <a:rPr sz="1200" b="0">
                <a:solidFill>
                  <a:srgbClr val="526174"/>
                </a:solidFill>
              </a:rPr>
              <a:t>claims</a:t>
            </a:r>
          </a:p>
        </p:txBody>
      </p:sp>
      <p:sp>
        <p:nvSpPr>
          <p:cNvPr id="15" name="">
            <a:extLst xmlns:a="http://schemas.openxmlformats.org/drawingml/2006/main">
              <a:ext uri="{FF2B5EF4-FFF2-40B4-BE49-F238E27FC236}">
                <a16:creationId xmlns:a16="http://schemas.microsoft.com/office/drawing/2014/main" id="{6D141B21-ABF5-4DC7-BC63-24AB820C210D}"/>
              </a:ext>
            </a:extLst>
          </p:cNvPr>
          <p:cNvSpPr>
            <a:spLocks xmlns:a="http://schemas.openxmlformats.org/drawingml/2006/main" noGrp="1"/>
          </p:cNvSpPr>
          <p:nvPr/>
        </p:nvSpPr>
        <p:spPr>
          <a:xfrm xmlns:a="http://schemas.openxmlformats.org/drawingml/2006/main">
            <a:off x="518160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6" name="">
            <a:extLst xmlns:a="http://schemas.openxmlformats.org/drawingml/2006/main">
              <a:ext uri="{FF2B5EF4-FFF2-40B4-BE49-F238E27FC236}">
                <a16:creationId xmlns:a16="http://schemas.microsoft.com/office/drawing/2014/main" id="{3CDC6B84-6F53-41E3-9768-3244B171D886}"/>
              </a:ext>
            </a:extLst>
          </p:cNvPr>
          <p:cNvSpPr>
            <a:spLocks xmlns:a="http://schemas.openxmlformats.org/drawingml/2006/main" noGrp="1"/>
          </p:cNvSpPr>
          <p:nvPr/>
        </p:nvSpPr>
        <p:spPr>
          <a:xfrm xmlns:a="http://schemas.openxmlformats.org/drawingml/2006/main">
            <a:off x="53530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Anchor</a:t>
            </a:r>
          </a:p>
        </p:txBody>
      </p:sp>
      <p:sp>
        <p:nvSpPr>
          <p:cNvPr id="17" name="">
            <a:extLst xmlns:a="http://schemas.openxmlformats.org/drawingml/2006/main">
              <a:ext uri="{FF2B5EF4-FFF2-40B4-BE49-F238E27FC236}">
                <a16:creationId xmlns:a16="http://schemas.microsoft.com/office/drawing/2014/main" id="{B53D4538-6D2B-498E-B605-3DC98EFB7297}"/>
              </a:ext>
            </a:extLst>
          </p:cNvPr>
          <p:cNvSpPr>
            <a:spLocks xmlns:a="http://schemas.openxmlformats.org/drawingml/2006/main" noGrp="1"/>
          </p:cNvSpPr>
          <p:nvPr/>
        </p:nvSpPr>
        <p:spPr>
          <a:xfrm xmlns:a="http://schemas.openxmlformats.org/drawingml/2006/main">
            <a:off x="53530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entity, number,</a:t>
            </a:r>
          </a:p>
          <a:p xmlns:a="http://schemas.openxmlformats.org/drawingml/2006/main">
            <a:pPr algn="ctr">
              <a:defRPr sz="1200" b="0">
                <a:solidFill>
                  <a:srgbClr val="526174"/>
                </a:solidFill>
              </a:defRPr>
            </a:pPr>
            <a:r>
              <a:rPr sz="1200" b="0">
                <a:solidFill>
                  <a:srgbClr val="526174"/>
                </a:solidFill>
              </a:rPr>
              <a:t>negation, relation</a:t>
            </a:r>
          </a:p>
        </p:txBody>
      </p:sp>
      <p:sp>
        <p:nvSpPr>
          <p:cNvPr id="18" name="">
            <a:extLst xmlns:a="http://schemas.openxmlformats.org/drawingml/2006/main">
              <a:ext uri="{FF2B5EF4-FFF2-40B4-BE49-F238E27FC236}">
                <a16:creationId xmlns:a16="http://schemas.microsoft.com/office/drawing/2014/main" id="{AE68AF65-5C1E-4CEE-A6BD-F70D4FCB0F2F}"/>
              </a:ext>
            </a:extLst>
          </p:cNvPr>
          <p:cNvSpPr>
            <a:spLocks xmlns:a="http://schemas.openxmlformats.org/drawingml/2006/main" noGrp="1"/>
          </p:cNvSpPr>
          <p:nvPr/>
        </p:nvSpPr>
        <p:spPr>
          <a:xfrm xmlns:a="http://schemas.openxmlformats.org/drawingml/2006/main">
            <a:off x="741045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9" name="">
            <a:extLst xmlns:a="http://schemas.openxmlformats.org/drawingml/2006/main">
              <a:ext uri="{FF2B5EF4-FFF2-40B4-BE49-F238E27FC236}">
                <a16:creationId xmlns:a16="http://schemas.microsoft.com/office/drawing/2014/main" id="{311A136F-2F12-405E-A2FE-069CA9C4A4AC}"/>
              </a:ext>
            </a:extLst>
          </p:cNvPr>
          <p:cNvSpPr>
            <a:spLocks xmlns:a="http://schemas.openxmlformats.org/drawingml/2006/main" noGrp="1"/>
          </p:cNvSpPr>
          <p:nvPr/>
        </p:nvSpPr>
        <p:spPr>
          <a:xfrm xmlns:a="http://schemas.openxmlformats.org/drawingml/2006/main">
            <a:off x="758190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Alignment</a:t>
            </a:r>
          </a:p>
        </p:txBody>
      </p:sp>
      <p:sp>
        <p:nvSpPr>
          <p:cNvPr id="20" name="">
            <a:extLst xmlns:a="http://schemas.openxmlformats.org/drawingml/2006/main">
              <a:ext uri="{FF2B5EF4-FFF2-40B4-BE49-F238E27FC236}">
                <a16:creationId xmlns:a16="http://schemas.microsoft.com/office/drawing/2014/main" id="{6240F159-DB0B-4C36-A44F-0BDBFBDCD32B}"/>
              </a:ext>
            </a:extLst>
          </p:cNvPr>
          <p:cNvSpPr>
            <a:spLocks xmlns:a="http://schemas.openxmlformats.org/drawingml/2006/main" noGrp="1"/>
          </p:cNvSpPr>
          <p:nvPr/>
        </p:nvSpPr>
        <p:spPr>
          <a:xfrm xmlns:a="http://schemas.openxmlformats.org/drawingml/2006/main">
            <a:off x="758190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best applicable</a:t>
            </a:r>
          </a:p>
          <a:p xmlns:a="http://schemas.openxmlformats.org/drawingml/2006/main">
            <a:pPr algn="ctr">
              <a:defRPr sz="1200" b="0">
                <a:solidFill>
                  <a:srgbClr val="526174"/>
                </a:solidFill>
              </a:defRPr>
            </a:pPr>
            <a:r>
              <a:rPr sz="1200" b="0">
                <a:solidFill>
                  <a:srgbClr val="526174"/>
                </a:solidFill>
              </a:rPr>
              <a:t>clause only</a:t>
            </a:r>
          </a:p>
        </p:txBody>
      </p:sp>
      <p:sp>
        <p:nvSpPr>
          <p:cNvPr id="21" name="">
            <a:extLst xmlns:a="http://schemas.openxmlformats.org/drawingml/2006/main">
              <a:ext uri="{FF2B5EF4-FFF2-40B4-BE49-F238E27FC236}">
                <a16:creationId xmlns:a16="http://schemas.microsoft.com/office/drawing/2014/main" id="{63252277-635E-4704-9BE4-BCC887E1BD1C}"/>
              </a:ext>
            </a:extLst>
          </p:cNvPr>
          <p:cNvSpPr>
            <a:spLocks xmlns:a="http://schemas.openxmlformats.org/drawingml/2006/main" noGrp="1"/>
          </p:cNvSpPr>
          <p:nvPr/>
        </p:nvSpPr>
        <p:spPr>
          <a:xfrm xmlns:a="http://schemas.openxmlformats.org/drawingml/2006/main">
            <a:off x="9639300" y="2057400"/>
            <a:ext cx="1600200" cy="1295400"/>
          </a:xfrm>
          <a:prstGeom xmlns:a="http://schemas.openxmlformats.org/drawingml/2006/main" prst="roundRect">
            <a:avLst>
              <a:gd name="adj" fmla="val 11029"/>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656F169C-5D3B-43AE-91FC-E829E90D21F8}"/>
              </a:ext>
            </a:extLst>
          </p:cNvPr>
          <p:cNvSpPr>
            <a:spLocks xmlns:a="http://schemas.openxmlformats.org/drawingml/2006/main" noGrp="1"/>
          </p:cNvSpPr>
          <p:nvPr/>
        </p:nvSpPr>
        <p:spPr>
          <a:xfrm xmlns:a="http://schemas.openxmlformats.org/drawingml/2006/main">
            <a:off x="98107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D59B32"/>
                </a:solidFill>
              </a:defRPr>
            </a:pPr>
            <a:r>
              <a:rPr sz="1650" b="1">
                <a:solidFill>
                  <a:srgbClr val="D59B32"/>
                </a:solidFill>
              </a:rPr>
              <a:t>State</a:t>
            </a:r>
          </a:p>
        </p:txBody>
      </p:sp>
      <p:sp>
        <p:nvSpPr>
          <p:cNvPr id="23" name="">
            <a:extLst xmlns:a="http://schemas.openxmlformats.org/drawingml/2006/main">
              <a:ext uri="{FF2B5EF4-FFF2-40B4-BE49-F238E27FC236}">
                <a16:creationId xmlns:a16="http://schemas.microsoft.com/office/drawing/2014/main" id="{19257DA8-C2D2-48FC-B40A-28431DDF5035}"/>
              </a:ext>
            </a:extLst>
          </p:cNvPr>
          <p:cNvSpPr>
            <a:spLocks xmlns:a="http://schemas.openxmlformats.org/drawingml/2006/main" noGrp="1"/>
          </p:cNvSpPr>
          <p:nvPr/>
        </p:nvSpPr>
        <p:spPr>
          <a:xfrm xmlns:a="http://schemas.openxmlformats.org/drawingml/2006/main">
            <a:off x="98107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S support / C contradict</a:t>
            </a:r>
          </a:p>
          <a:p xmlns:a="http://schemas.openxmlformats.org/drawingml/2006/main">
            <a:pPr algn="ctr">
              <a:defRPr sz="1200" b="0">
                <a:solidFill>
                  <a:srgbClr val="526174"/>
                </a:solidFill>
              </a:defRPr>
            </a:pPr>
            <a:r>
              <a:rPr sz="1200" b="0">
                <a:solidFill>
                  <a:srgbClr val="526174"/>
                </a:solidFill>
              </a:rPr>
              <a:t>/ U unknown</a:t>
            </a:r>
          </a:p>
        </p:txBody>
      </p:sp>
      <p:sp>
        <p:nvSpPr>
          <p:cNvPr id="24" name="">
            <a:extLst xmlns:a="http://schemas.openxmlformats.org/drawingml/2006/main">
              <a:ext uri="{FF2B5EF4-FFF2-40B4-BE49-F238E27FC236}">
                <a16:creationId xmlns:a16="http://schemas.microsoft.com/office/drawing/2014/main" id="{74A9B410-9C9E-494D-BCEB-4E2E6E548336}"/>
              </a:ext>
            </a:extLst>
          </p:cNvPr>
          <p:cNvSpPr>
            <a:spLocks xmlns:a="http://schemas.openxmlformats.org/drawingml/2006/main" noGrp="1"/>
          </p:cNvSpPr>
          <p:nvPr/>
        </p:nvSpPr>
        <p:spPr>
          <a:xfrm xmlns:a="http://schemas.openxmlformats.org/drawingml/2006/main">
            <a:off x="895350" y="3781425"/>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0F172A"/>
                </a:solidFill>
              </a:defRPr>
            </a:pPr>
            <a:r>
              <a:rPr sz="1725" b="1">
                <a:solidFill>
                  <a:srgbClr val="0F172A"/>
                </a:solidFill>
              </a:rPr>
              <a:t>Decision rule over response claims c1 ... cn</a:t>
            </a:r>
          </a:p>
        </p:txBody>
      </p:sp>
      <p:sp>
        <p:nvSpPr>
          <p:cNvPr id="25" name="">
            <a:extLst xmlns:a="http://schemas.openxmlformats.org/drawingml/2006/main">
              <a:ext uri="{FF2B5EF4-FFF2-40B4-BE49-F238E27FC236}">
                <a16:creationId xmlns:a16="http://schemas.microsoft.com/office/drawing/2014/main" id="{48DEFCBF-E71C-4ED9-A1AA-F878E46F0A2A}"/>
              </a:ext>
            </a:extLst>
          </p:cNvPr>
          <p:cNvSpPr>
            <a:spLocks xmlns:a="http://schemas.openxmlformats.org/drawingml/2006/main" noGrp="1"/>
          </p:cNvSpPr>
          <p:nvPr/>
        </p:nvSpPr>
        <p:spPr>
          <a:xfrm xmlns:a="http://schemas.openxmlformats.org/drawingml/2006/main">
            <a:off x="895350" y="4238625"/>
            <a:ext cx="10401300" cy="1352550"/>
          </a:xfrm>
          <a:prstGeom xmlns:a="http://schemas.openxmlformats.org/drawingml/2006/main" prst="roundRect">
            <a:avLst>
              <a:gd name="adj" fmla="val 9859"/>
            </a:avLst>
          </a:prstGeom>
          <a:solidFill xmlns:a="http://schemas.openxmlformats.org/drawingml/2006/main">
            <a:srgbClr val="FFFFFF"/>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1BCBAFB4-037E-45B8-8F9F-95CE29709B71}"/>
              </a:ext>
            </a:extLst>
          </p:cNvPr>
          <p:cNvSpPr>
            <a:spLocks xmlns:a="http://schemas.openxmlformats.org/drawingml/2006/main" noGrp="1"/>
          </p:cNvSpPr>
          <p:nvPr/>
        </p:nvSpPr>
        <p:spPr>
          <a:xfrm xmlns:a="http://schemas.openxmlformats.org/drawingml/2006/main">
            <a:off x="1143000" y="44005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B5483A"/>
                </a:solidFill>
              </a:defRPr>
            </a:pPr>
            <a:r>
              <a:rPr sz="1350" b="1">
                <a:solidFill>
                  <a:srgbClr val="B5483A"/>
                </a:solidFill>
              </a:rPr>
              <a:t>Any contradiction</a:t>
            </a:r>
          </a:p>
        </p:txBody>
      </p:sp>
      <p:sp>
        <p:nvSpPr>
          <p:cNvPr id="27" name="">
            <a:extLst xmlns:a="http://schemas.openxmlformats.org/drawingml/2006/main">
              <a:ext uri="{FF2B5EF4-FFF2-40B4-BE49-F238E27FC236}">
                <a16:creationId xmlns:a16="http://schemas.microsoft.com/office/drawing/2014/main" id="{EB5C4F10-E23C-495D-B506-12B6B5FFC01D}"/>
              </a:ext>
            </a:extLst>
          </p:cNvPr>
          <p:cNvSpPr>
            <a:spLocks xmlns:a="http://schemas.openxmlformats.org/drawingml/2006/main" noGrp="1"/>
          </p:cNvSpPr>
          <p:nvPr/>
        </p:nvSpPr>
        <p:spPr>
          <a:xfrm xmlns:a="http://schemas.openxmlformats.org/drawingml/2006/main">
            <a:off x="3524250" y="44005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exists i: state(ci) = C</a:t>
            </a:r>
          </a:p>
        </p:txBody>
      </p:sp>
      <p:sp>
        <p:nvSpPr>
          <p:cNvPr id="28" name="">
            <a:extLst xmlns:a="http://schemas.openxmlformats.org/drawingml/2006/main">
              <a:ext uri="{FF2B5EF4-FFF2-40B4-BE49-F238E27FC236}">
                <a16:creationId xmlns:a16="http://schemas.microsoft.com/office/drawing/2014/main" id="{7572C33C-646C-4C17-887D-1D093DFD0A41}"/>
              </a:ext>
            </a:extLst>
          </p:cNvPr>
          <p:cNvSpPr>
            <a:spLocks xmlns:a="http://schemas.openxmlformats.org/drawingml/2006/main" noGrp="1"/>
          </p:cNvSpPr>
          <p:nvPr/>
        </p:nvSpPr>
        <p:spPr>
          <a:xfrm xmlns:a="http://schemas.openxmlformats.org/drawingml/2006/main">
            <a:off x="9525000" y="44005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B5483A"/>
                </a:solidFill>
              </a:defRPr>
            </a:pPr>
            <a:r>
              <a:rPr sz="1350" b="1">
                <a:solidFill>
                  <a:srgbClr val="B5483A"/>
                </a:solidFill>
              </a:rPr>
              <a:t>label 0</a:t>
            </a:r>
          </a:p>
        </p:txBody>
      </p:sp>
      <p:sp>
        <p:nvSpPr>
          <p:cNvPr id="29" name="">
            <a:extLst xmlns:a="http://schemas.openxmlformats.org/drawingml/2006/main">
              <a:ext uri="{FF2B5EF4-FFF2-40B4-BE49-F238E27FC236}">
                <a16:creationId xmlns:a16="http://schemas.microsoft.com/office/drawing/2014/main" id="{CE4CB502-DECD-44D1-A56E-12383CD558B1}"/>
              </a:ext>
            </a:extLst>
          </p:cNvPr>
          <p:cNvSpPr>
            <a:spLocks xmlns:a="http://schemas.openxmlformats.org/drawingml/2006/main" noGrp="1"/>
          </p:cNvSpPr>
          <p:nvPr/>
        </p:nvSpPr>
        <p:spPr>
          <a:xfrm xmlns:a="http://schemas.openxmlformats.org/drawingml/2006/main">
            <a:off x="1066800" y="4705350"/>
            <a:ext cx="10058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39507756-A50D-418C-A718-CB69FBCE8EFC}"/>
              </a:ext>
            </a:extLst>
          </p:cNvPr>
          <p:cNvSpPr>
            <a:spLocks xmlns:a="http://schemas.openxmlformats.org/drawingml/2006/main" noGrp="1"/>
          </p:cNvSpPr>
          <p:nvPr/>
        </p:nvSpPr>
        <p:spPr>
          <a:xfrm xmlns:a="http://schemas.openxmlformats.org/drawingml/2006/main">
            <a:off x="1143000" y="47625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Complete support</a:t>
            </a:r>
          </a:p>
        </p:txBody>
      </p:sp>
      <p:sp>
        <p:nvSpPr>
          <p:cNvPr id="31" name="">
            <a:extLst xmlns:a="http://schemas.openxmlformats.org/drawingml/2006/main">
              <a:ext uri="{FF2B5EF4-FFF2-40B4-BE49-F238E27FC236}">
                <a16:creationId xmlns:a16="http://schemas.microsoft.com/office/drawing/2014/main" id="{41CAE3AB-1CD0-4204-B968-9B58CE1D0971}"/>
              </a:ext>
            </a:extLst>
          </p:cNvPr>
          <p:cNvSpPr>
            <a:spLocks xmlns:a="http://schemas.openxmlformats.org/drawingml/2006/main" noGrp="1"/>
          </p:cNvSpPr>
          <p:nvPr/>
        </p:nvSpPr>
        <p:spPr>
          <a:xfrm xmlns:a="http://schemas.openxmlformats.org/drawingml/2006/main">
            <a:off x="3524250" y="476250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for all i: state(ci) = S; no extra factual claim</a:t>
            </a:r>
          </a:p>
        </p:txBody>
      </p:sp>
      <p:sp>
        <p:nvSpPr>
          <p:cNvPr id="32" name="">
            <a:extLst xmlns:a="http://schemas.openxmlformats.org/drawingml/2006/main">
              <a:ext uri="{FF2B5EF4-FFF2-40B4-BE49-F238E27FC236}">
                <a16:creationId xmlns:a16="http://schemas.microsoft.com/office/drawing/2014/main" id="{972D00FB-F6E1-4CB1-BBEC-045C2441EC45}"/>
              </a:ext>
            </a:extLst>
          </p:cNvPr>
          <p:cNvSpPr>
            <a:spLocks xmlns:a="http://schemas.openxmlformats.org/drawingml/2006/main" noGrp="1"/>
          </p:cNvSpPr>
          <p:nvPr/>
        </p:nvSpPr>
        <p:spPr>
          <a:xfrm xmlns:a="http://schemas.openxmlformats.org/drawingml/2006/main">
            <a:off x="9525000" y="476250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2A8C82"/>
                </a:solidFill>
              </a:defRPr>
            </a:pPr>
            <a:r>
              <a:rPr sz="1350" b="1">
                <a:solidFill>
                  <a:srgbClr val="2A8C82"/>
                </a:solidFill>
              </a:rPr>
              <a:t>label 1</a:t>
            </a:r>
          </a:p>
        </p:txBody>
      </p:sp>
      <p:sp>
        <p:nvSpPr>
          <p:cNvPr id="33" name="">
            <a:extLst xmlns:a="http://schemas.openxmlformats.org/drawingml/2006/main">
              <a:ext uri="{FF2B5EF4-FFF2-40B4-BE49-F238E27FC236}">
                <a16:creationId xmlns:a16="http://schemas.microsoft.com/office/drawing/2014/main" id="{5E13C481-AAA3-4C68-9C71-BDA29B586042}"/>
              </a:ext>
            </a:extLst>
          </p:cNvPr>
          <p:cNvSpPr>
            <a:spLocks xmlns:a="http://schemas.openxmlformats.org/drawingml/2006/main" noGrp="1"/>
          </p:cNvSpPr>
          <p:nvPr/>
        </p:nvSpPr>
        <p:spPr>
          <a:xfrm xmlns:a="http://schemas.openxmlformats.org/drawingml/2006/main">
            <a:off x="1066800" y="5067300"/>
            <a:ext cx="10058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F73AF534-2F5B-485F-A7D7-14F3046F9B66}"/>
              </a:ext>
            </a:extLst>
          </p:cNvPr>
          <p:cNvSpPr>
            <a:spLocks xmlns:a="http://schemas.openxmlformats.org/drawingml/2006/main" noGrp="1"/>
          </p:cNvSpPr>
          <p:nvPr/>
        </p:nvSpPr>
        <p:spPr>
          <a:xfrm xmlns:a="http://schemas.openxmlformats.org/drawingml/2006/main">
            <a:off x="1143000" y="51244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D59B32"/>
                </a:solidFill>
              </a:defRPr>
            </a:pPr>
            <a:r>
              <a:rPr sz="1350" b="1">
                <a:solidFill>
                  <a:srgbClr val="D59B32"/>
                </a:solidFill>
              </a:rPr>
              <a:t>Incomplete alignment</a:t>
            </a:r>
          </a:p>
        </p:txBody>
      </p:sp>
      <p:sp>
        <p:nvSpPr>
          <p:cNvPr id="35" name="">
            <a:extLst xmlns:a="http://schemas.openxmlformats.org/drawingml/2006/main">
              <a:ext uri="{FF2B5EF4-FFF2-40B4-BE49-F238E27FC236}">
                <a16:creationId xmlns:a16="http://schemas.microsoft.com/office/drawing/2014/main" id="{BB40F332-2B7E-49E9-A5D8-881F31DFF9BD}"/>
              </a:ext>
            </a:extLst>
          </p:cNvPr>
          <p:cNvSpPr>
            <a:spLocks xmlns:a="http://schemas.openxmlformats.org/drawingml/2006/main" noGrp="1"/>
          </p:cNvSpPr>
          <p:nvPr/>
        </p:nvSpPr>
        <p:spPr>
          <a:xfrm xmlns:a="http://schemas.openxmlformats.org/drawingml/2006/main">
            <a:off x="3524250" y="51244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otherwise</a:t>
            </a:r>
          </a:p>
        </p:txBody>
      </p:sp>
      <p:sp>
        <p:nvSpPr>
          <p:cNvPr id="36" name="">
            <a:extLst xmlns:a="http://schemas.openxmlformats.org/drawingml/2006/main">
              <a:ext uri="{FF2B5EF4-FFF2-40B4-BE49-F238E27FC236}">
                <a16:creationId xmlns:a16="http://schemas.microsoft.com/office/drawing/2014/main" id="{79333D69-BCCB-4FEB-88C5-C9441A99BC7E}"/>
              </a:ext>
            </a:extLst>
          </p:cNvPr>
          <p:cNvSpPr>
            <a:spLocks xmlns:a="http://schemas.openxmlformats.org/drawingml/2006/main" noGrp="1"/>
          </p:cNvSpPr>
          <p:nvPr/>
        </p:nvSpPr>
        <p:spPr>
          <a:xfrm xmlns:a="http://schemas.openxmlformats.org/drawingml/2006/main">
            <a:off x="9525000" y="51244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D59B32"/>
                </a:solidFill>
              </a:defRPr>
            </a:pPr>
            <a:r>
              <a:rPr sz="1350" b="1">
                <a:solidFill>
                  <a:srgbClr val="D59B32"/>
                </a:solidFill>
              </a:rPr>
              <a:t>abstain</a:t>
            </a:r>
          </a:p>
        </p:txBody>
      </p:sp>
      <p:sp>
        <p:nvSpPr>
          <p:cNvPr id="37" name="">
            <a:extLst xmlns:a="http://schemas.openxmlformats.org/drawingml/2006/main">
              <a:ext uri="{FF2B5EF4-FFF2-40B4-BE49-F238E27FC236}">
                <a16:creationId xmlns:a16="http://schemas.microsoft.com/office/drawing/2014/main" id="{78A43A7B-457A-44A1-9841-7F3AD6332F6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8" name="source-7">
            <a:extLst xmlns:a="http://schemas.openxmlformats.org/drawingml/2006/main">
              <a:ext uri="{FF2B5EF4-FFF2-40B4-BE49-F238E27FC236}">
                <a16:creationId xmlns:a16="http://schemas.microsoft.com/office/drawing/2014/main" id="{00AF63F6-0F40-4059-B77A-AB38DA2DF405}"/>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Report Fig. 2a  |  [3] Context-faithfulness design  [7] v91 clause and claim verifier</a:t>
            </a:r>
          </a:p>
        </p:txBody>
      </p:sp>
      <p:sp>
        <p:nvSpPr>
          <p:cNvPr id="39" name="page-7">
            <a:extLst xmlns:a="http://schemas.openxmlformats.org/drawingml/2006/main">
              <a:ext uri="{FF2B5EF4-FFF2-40B4-BE49-F238E27FC236}">
                <a16:creationId xmlns:a16="http://schemas.microsoft.com/office/drawing/2014/main" id="{4E8D4855-39AF-4891-B48F-29CC2DECAEB0}"/>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07</a:t>
            </a:r>
          </a:p>
        </p:txBody>
      </p:sp>
    </p:spTree>
    <p:extLst>
      <p:ext uri="{BB962C8B-B14F-4D97-AF65-F5344CB8AC3E}">
        <p14:creationId xmlns:p14="http://schemas.microsoft.com/office/powerpoint/2010/main" val="1161098434"/>
      </p:ext>
    </p:extLst>
  </p:cSld>
</p:sld>
</file>

<file path=ppt/slides/slide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0" name="kicker-8">
            <a:extLst xmlns:a="http://schemas.openxmlformats.org/drawingml/2006/main">
              <a:ext uri="{FF2B5EF4-FFF2-40B4-BE49-F238E27FC236}">
                <a16:creationId xmlns:a16="http://schemas.microsoft.com/office/drawing/2014/main" id="{357EE582-102B-4726-BD93-690AC1F26329}"/>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8">
            <a:extLst xmlns:a="http://schemas.openxmlformats.org/drawingml/2006/main">
              <a:ext uri="{FF2B5EF4-FFF2-40B4-BE49-F238E27FC236}">
                <a16:creationId xmlns:a16="http://schemas.microsoft.com/office/drawing/2014/main" id="{5BA37C50-A1C7-4451-AEF1-67EC987348A9}"/>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Qwen judged 158 rows, not the whole test set</a:t>
            </a:r>
          </a:p>
        </p:txBody>
      </p:sp>
      <p:sp>
        <p:nvSpPr>
          <p:cNvPr id="3" name="">
            <a:extLst xmlns:a="http://schemas.openxmlformats.org/drawingml/2006/main">
              <a:ext uri="{FF2B5EF4-FFF2-40B4-BE49-F238E27FC236}">
                <a16:creationId xmlns:a16="http://schemas.microsoft.com/office/drawing/2014/main" id="{3E4A880F-7D1B-461A-BC03-17C66ADB114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1F98FB0D-0149-46F6-93F0-3B3D5140BF88}"/>
              </a:ext>
            </a:extLst>
          </p:cNvPr>
          <p:cNvSpPr>
            <a:spLocks xmlns:a="http://schemas.openxmlformats.org/drawingml/2006/main" noGrp="1"/>
          </p:cNvSpPr>
          <p:nvPr/>
        </p:nvSpPr>
        <p:spPr>
          <a:xfrm xmlns:a="http://schemas.openxmlformats.org/drawingml/2006/main">
            <a:off x="685800" y="1390650"/>
            <a:ext cx="923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The fallback was short, deterministic, and biased toward catching hallucinations.</a:t>
            </a:r>
          </a:p>
        </p:txBody>
      </p:sp>
      <p:sp>
        <p:nvSpPr>
          <p:cNvPr id="5" name="">
            <a:extLst xmlns:a="http://schemas.openxmlformats.org/drawingml/2006/main">
              <a:ext uri="{FF2B5EF4-FFF2-40B4-BE49-F238E27FC236}">
                <a16:creationId xmlns:a16="http://schemas.microsoft.com/office/drawing/2014/main" id="{D99D3352-48F9-4CDB-BB6F-5C375F259A0F}"/>
              </a:ext>
            </a:extLst>
          </p:cNvPr>
          <p:cNvSpPr>
            <a:spLocks xmlns:a="http://schemas.openxmlformats.org/drawingml/2006/main" noGrp="1"/>
          </p:cNvSpPr>
          <p:nvPr/>
        </p:nvSpPr>
        <p:spPr>
          <a:xfrm xmlns:a="http://schemas.openxmlformats.org/drawingml/2006/main">
            <a:off x="914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8E86E3D1-C2E2-455B-B7FE-8B308FE717C4}"/>
              </a:ext>
            </a:extLst>
          </p:cNvPr>
          <p:cNvSpPr>
            <a:spLocks xmlns:a="http://schemas.openxmlformats.org/drawingml/2006/main" noGrp="1"/>
          </p:cNvSpPr>
          <p:nvPr/>
        </p:nvSpPr>
        <p:spPr>
          <a:xfrm xmlns:a="http://schemas.openxmlformats.org/drawingml/2006/main">
            <a:off x="1257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2A8C82"/>
                </a:solidFill>
              </a:defRPr>
            </a:pPr>
            <a:r>
              <a:rPr sz="2025" b="1">
                <a:solidFill>
                  <a:srgbClr val="2A8C82"/>
                </a:solidFill>
              </a:rPr>
              <a:t>Context row</a:t>
            </a:r>
          </a:p>
        </p:txBody>
      </p:sp>
      <p:sp>
        <p:nvSpPr>
          <p:cNvPr id="7" name="">
            <a:extLst xmlns:a="http://schemas.openxmlformats.org/drawingml/2006/main">
              <a:ext uri="{FF2B5EF4-FFF2-40B4-BE49-F238E27FC236}">
                <a16:creationId xmlns:a16="http://schemas.microsoft.com/office/drawing/2014/main" id="{0E35DBE4-97B1-4FB2-A64D-C26970C04056}"/>
              </a:ext>
            </a:extLst>
          </p:cNvPr>
          <p:cNvSpPr>
            <a:spLocks xmlns:a="http://schemas.openxmlformats.org/drawingml/2006/main" noGrp="1"/>
          </p:cNvSpPr>
          <p:nvPr/>
        </p:nvSpPr>
        <p:spPr>
          <a:xfrm xmlns:a="http://schemas.openxmlformats.org/drawingml/2006/main">
            <a:off x="1257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1">
                <a:solidFill>
                  <a:srgbClr val="0F172A"/>
                </a:solidFill>
              </a:defRPr>
            </a:pPr>
            <a:r>
              <a:rPr sz="2550" b="1">
                <a:solidFill>
                  <a:srgbClr val="0F172A"/>
                </a:solidFill>
              </a:rPr>
              <a:t>1 entailment view</a:t>
            </a:r>
          </a:p>
        </p:txBody>
      </p:sp>
      <p:sp>
        <p:nvSpPr>
          <p:cNvPr id="8" name="">
            <a:extLst xmlns:a="http://schemas.openxmlformats.org/drawingml/2006/main">
              <a:ext uri="{FF2B5EF4-FFF2-40B4-BE49-F238E27FC236}">
                <a16:creationId xmlns:a16="http://schemas.microsoft.com/office/drawing/2014/main" id="{68311AFD-E037-4BA9-A092-FD2882275D0E}"/>
              </a:ext>
            </a:extLst>
          </p:cNvPr>
          <p:cNvSpPr>
            <a:spLocks xmlns:a="http://schemas.openxmlformats.org/drawingml/2006/main" noGrp="1"/>
          </p:cNvSpPr>
          <p:nvPr/>
        </p:nvSpPr>
        <p:spPr>
          <a:xfrm xmlns:a="http://schemas.openxmlformats.org/drawingml/2006/main">
            <a:off x="1257300" y="3562350"/>
            <a:ext cx="361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Compare the response against the supplied passage.</a:t>
            </a:r>
          </a:p>
        </p:txBody>
      </p:sp>
      <p:sp>
        <p:nvSpPr>
          <p:cNvPr id="9" name="">
            <a:extLst xmlns:a="http://schemas.openxmlformats.org/drawingml/2006/main">
              <a:ext uri="{FF2B5EF4-FFF2-40B4-BE49-F238E27FC236}">
                <a16:creationId xmlns:a16="http://schemas.microsoft.com/office/drawing/2014/main" id="{BFCEBA5F-04C3-40A9-B4B1-D5A260CD7BD2}"/>
              </a:ext>
            </a:extLst>
          </p:cNvPr>
          <p:cNvSpPr>
            <a:spLocks xmlns:a="http://schemas.openxmlformats.org/drawingml/2006/main" noGrp="1"/>
          </p:cNvSpPr>
          <p:nvPr/>
        </p:nvSpPr>
        <p:spPr>
          <a:xfrm xmlns:a="http://schemas.openxmlformats.org/drawingml/2006/main">
            <a:off x="1257300" y="432435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B5483A"/>
                </a:solidFill>
              </a:defRPr>
            </a:pPr>
            <a:r>
              <a:rPr sz="1350" b="1">
                <a:solidFill>
                  <a:srgbClr val="B5483A"/>
                </a:solidFill>
              </a:rPr>
              <a:t>Any contradiction returns 0.</a:t>
            </a:r>
          </a:p>
        </p:txBody>
      </p:sp>
      <p:sp>
        <p:nvSpPr>
          <p:cNvPr id="10" name="">
            <a:extLst xmlns:a="http://schemas.openxmlformats.org/drawingml/2006/main">
              <a:ext uri="{FF2B5EF4-FFF2-40B4-BE49-F238E27FC236}">
                <a16:creationId xmlns:a16="http://schemas.microsoft.com/office/drawing/2014/main" id="{34E933C2-B039-4E89-BB19-5E29F1CCC2A8}"/>
              </a:ext>
            </a:extLst>
          </p:cNvPr>
          <p:cNvSpPr>
            <a:spLocks xmlns:a="http://schemas.openxmlformats.org/drawingml/2006/main" noGrp="1"/>
          </p:cNvSpPr>
          <p:nvPr/>
        </p:nvSpPr>
        <p:spPr>
          <a:xfrm xmlns:a="http://schemas.openxmlformats.org/drawingml/2006/main">
            <a:off x="6629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F88F2B7A-3FB5-42D3-86C2-62BF1B77D869}"/>
              </a:ext>
            </a:extLst>
          </p:cNvPr>
          <p:cNvSpPr>
            <a:spLocks xmlns:a="http://schemas.openxmlformats.org/drawingml/2006/main" noGrp="1"/>
          </p:cNvSpPr>
          <p:nvPr/>
        </p:nvSpPr>
        <p:spPr>
          <a:xfrm xmlns:a="http://schemas.openxmlformats.org/drawingml/2006/main">
            <a:off x="6972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D59B32"/>
                </a:solidFill>
              </a:defRPr>
            </a:pPr>
            <a:r>
              <a:rPr sz="2025" b="1">
                <a:solidFill>
                  <a:srgbClr val="D59B32"/>
                </a:solidFill>
              </a:rPr>
              <a:t>No-context row</a:t>
            </a:r>
          </a:p>
        </p:txBody>
      </p:sp>
      <p:sp>
        <p:nvSpPr>
          <p:cNvPr id="12" name="">
            <a:extLst xmlns:a="http://schemas.openxmlformats.org/drawingml/2006/main">
              <a:ext uri="{FF2B5EF4-FFF2-40B4-BE49-F238E27FC236}">
                <a16:creationId xmlns:a16="http://schemas.microsoft.com/office/drawing/2014/main" id="{C23B3953-73E6-49C3-BCFD-56BFE044A61C}"/>
              </a:ext>
            </a:extLst>
          </p:cNvPr>
          <p:cNvSpPr>
            <a:spLocks xmlns:a="http://schemas.openxmlformats.org/drawingml/2006/main" noGrp="1"/>
          </p:cNvSpPr>
          <p:nvPr/>
        </p:nvSpPr>
        <p:spPr>
          <a:xfrm xmlns:a="http://schemas.openxmlformats.org/drawingml/2006/main">
            <a:off x="6972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1">
                <a:solidFill>
                  <a:srgbClr val="0F172A"/>
                </a:solidFill>
              </a:defRPr>
            </a:pPr>
            <a:r>
              <a:rPr sz="2550" b="1">
                <a:solidFill>
                  <a:srgbClr val="0F172A"/>
                </a:solidFill>
              </a:rPr>
              <a:t>Up to 3 short views</a:t>
            </a:r>
          </a:p>
        </p:txBody>
      </p:sp>
      <p:sp>
        <p:nvSpPr>
          <p:cNvPr id="13" name="">
            <a:extLst xmlns:a="http://schemas.openxmlformats.org/drawingml/2006/main">
              <a:ext uri="{FF2B5EF4-FFF2-40B4-BE49-F238E27FC236}">
                <a16:creationId xmlns:a16="http://schemas.microsoft.com/office/drawing/2014/main" id="{43C2CA70-5715-4A93-A8FE-B25EE5A0604B}"/>
              </a:ext>
            </a:extLst>
          </p:cNvPr>
          <p:cNvSpPr>
            <a:spLocks xmlns:a="http://schemas.openxmlformats.org/drawingml/2006/main" noGrp="1"/>
          </p:cNvSpPr>
          <p:nvPr/>
        </p:nvSpPr>
        <p:spPr>
          <a:xfrm xmlns:a="http://schemas.openxmlformats.org/drawingml/2006/main">
            <a:off x="6972300" y="3562350"/>
            <a:ext cx="3905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Fact check  |  exam grading  |  zero-bias check</a:t>
            </a:r>
          </a:p>
        </p:txBody>
      </p:sp>
      <p:sp>
        <p:nvSpPr>
          <p:cNvPr id="14" name="">
            <a:extLst xmlns:a="http://schemas.openxmlformats.org/drawingml/2006/main">
              <a:ext uri="{FF2B5EF4-FFF2-40B4-BE49-F238E27FC236}">
                <a16:creationId xmlns:a16="http://schemas.microsoft.com/office/drawing/2014/main" id="{310D4246-0ABA-45DA-8F98-B86E5C6C1B75}"/>
              </a:ext>
            </a:extLst>
          </p:cNvPr>
          <p:cNvSpPr>
            <a:spLocks xmlns:a="http://schemas.openxmlformats.org/drawingml/2006/main" noGrp="1"/>
          </p:cNvSpPr>
          <p:nvPr/>
        </p:nvSpPr>
        <p:spPr>
          <a:xfrm xmlns:a="http://schemas.openxmlformats.org/drawingml/2006/main">
            <a:off x="6972300" y="43243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B5483A"/>
                </a:solidFill>
              </a:defRPr>
            </a:pPr>
            <a:r>
              <a:rPr sz="1350" b="1">
                <a:solidFill>
                  <a:srgbClr val="B5483A"/>
                </a:solidFill>
              </a:rPr>
              <a:t>Label 1 requires unanimous positive votes.</a:t>
            </a:r>
          </a:p>
        </p:txBody>
      </p:sp>
      <p:sp>
        <p:nvSpPr>
          <p:cNvPr id="15" name="">
            <a:extLst xmlns:a="http://schemas.openxmlformats.org/drawingml/2006/main">
              <a:ext uri="{FF2B5EF4-FFF2-40B4-BE49-F238E27FC236}">
                <a16:creationId xmlns:a16="http://schemas.microsoft.com/office/drawing/2014/main" id="{0449E9E3-9E69-4581-B678-ED43A682DCE5}"/>
              </a:ext>
            </a:extLst>
          </p:cNvPr>
          <p:cNvSpPr>
            <a:spLocks xmlns:a="http://schemas.openxmlformats.org/drawingml/2006/main" noGrp="1"/>
          </p:cNvSpPr>
          <p:nvPr/>
        </p:nvSpPr>
        <p:spPr>
          <a:xfrm xmlns:a="http://schemas.openxmlformats.org/drawingml/2006/main">
            <a:off x="2381250" y="5391150"/>
            <a:ext cx="7429500" cy="590550"/>
          </a:xfrm>
          <a:prstGeom xmlns:a="http://schemas.openxmlformats.org/drawingml/2006/main" prst="roundRect">
            <a:avLst>
              <a:gd name="adj" fmla="val 22581"/>
            </a:avLst>
          </a:prstGeom>
          <a:solidFill xmlns:a="http://schemas.openxmlformats.org/drawingml/2006/main">
            <a:srgbClr val="E7EEF4"/>
          </a:solidFill>
          <a:ln xmlns:a="http://schemas.openxmlformats.org/drawingml/2006/main" w="9525">
            <a:solidFill>
              <a:srgbClr val="1F5A7A"/>
            </a:solidFill>
            <a:prstDash val="solid"/>
          </a:ln>
        </p:spPr>
      </p:sp>
      <p:sp>
        <p:nvSpPr>
          <p:cNvPr id="16" name="">
            <a:extLst xmlns:a="http://schemas.openxmlformats.org/drawingml/2006/main">
              <a:ext uri="{FF2B5EF4-FFF2-40B4-BE49-F238E27FC236}">
                <a16:creationId xmlns:a16="http://schemas.microsoft.com/office/drawing/2014/main" id="{20D2E5B5-2B0D-4D28-A6EA-D31BEFBF349F}"/>
              </a:ext>
            </a:extLst>
          </p:cNvPr>
          <p:cNvSpPr>
            <a:spLocks xmlns:a="http://schemas.openxmlformats.org/drawingml/2006/main" noGrp="1"/>
          </p:cNvSpPr>
          <p:nvPr/>
        </p:nvSpPr>
        <p:spPr>
          <a:xfrm xmlns:a="http://schemas.openxmlformats.org/drawingml/2006/main">
            <a:off x="2667000" y="55530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1F5A7A"/>
                </a:solidFill>
              </a:defRPr>
            </a:pPr>
            <a:r>
              <a:rPr sz="1275" b="1">
                <a:solidFill>
                  <a:srgbClr val="1F5A7A"/>
                </a:solidFill>
              </a:rPr>
              <a:t>Qwen3.6-27B Q4_K_P  |  one-token grammar  |  fixed seeds and batches</a:t>
            </a:r>
          </a:p>
        </p:txBody>
      </p:sp>
      <p:sp>
        <p:nvSpPr>
          <p:cNvPr id="17" name="">
            <a:extLst xmlns:a="http://schemas.openxmlformats.org/drawingml/2006/main">
              <a:ext uri="{FF2B5EF4-FFF2-40B4-BE49-F238E27FC236}">
                <a16:creationId xmlns:a16="http://schemas.microsoft.com/office/drawing/2014/main" id="{F6D94704-B023-46FF-AFAD-F481DF5BC67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source-8">
            <a:extLst xmlns:a="http://schemas.openxmlformats.org/drawingml/2006/main">
              <a:ext uri="{FF2B5EF4-FFF2-40B4-BE49-F238E27FC236}">
                <a16:creationId xmlns:a16="http://schemas.microsoft.com/office/drawing/2014/main" id="{A9FBDFA7-E522-4E73-B9DE-8F1A34F6C02D}"/>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[5] Qwen3.6 model card  [6] llama.cpp b9637  [7] Frozen judge configuration</a:t>
            </a:r>
          </a:p>
        </p:txBody>
      </p:sp>
      <p:sp>
        <p:nvSpPr>
          <p:cNvPr id="19" name="page-8">
            <a:extLst xmlns:a="http://schemas.openxmlformats.org/drawingml/2006/main">
              <a:ext uri="{FF2B5EF4-FFF2-40B4-BE49-F238E27FC236}">
                <a16:creationId xmlns:a16="http://schemas.microsoft.com/office/drawing/2014/main" id="{6C6E730D-6A18-48B8-97F8-5F6343F37E19}"/>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08</a:t>
            </a:r>
          </a:p>
        </p:txBody>
      </p:sp>
    </p:spTree>
    <p:extLst>
      <p:ext uri="{BB962C8B-B14F-4D97-AF65-F5344CB8AC3E}">
        <p14:creationId xmlns:p14="http://schemas.microsoft.com/office/powerpoint/2010/main" val="331821385"/>
      </p:ext>
    </p:extLst>
  </p:cSld>
</p:sld>
</file>

<file path=ppt/slides/slide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3" name="kicker-9">
            <a:extLst xmlns:a="http://schemas.openxmlformats.org/drawingml/2006/main">
              <a:ext uri="{FF2B5EF4-FFF2-40B4-BE49-F238E27FC236}">
                <a16:creationId xmlns:a16="http://schemas.microsoft.com/office/drawing/2014/main" id="{8AD3F104-83CB-43B2-9AFD-F0132AE43D3C}"/>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9">
            <a:extLst xmlns:a="http://schemas.openxmlformats.org/drawingml/2006/main">
              <a:ext uri="{FF2B5EF4-FFF2-40B4-BE49-F238E27FC236}">
                <a16:creationId xmlns:a16="http://schemas.microsoft.com/office/drawing/2014/main" id="{7D8A7457-1AD7-4CD7-BAB1-C670117E1EFA}"/>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A source record was accepted only after four fields aligned</a:t>
            </a:r>
          </a:p>
        </p:txBody>
      </p:sp>
      <p:sp>
        <p:nvSpPr>
          <p:cNvPr id="3" name="">
            <a:extLst xmlns:a="http://schemas.openxmlformats.org/drawingml/2006/main">
              <a:ext uri="{FF2B5EF4-FFF2-40B4-BE49-F238E27FC236}">
                <a16:creationId xmlns:a16="http://schemas.microsoft.com/office/drawing/2014/main" id="{A58220DC-BA2B-44A7-A925-D78C9BAC5EAA}"/>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8FC137F4-B5C0-4568-A02A-F48A9AC2CD40}"/>
              </a:ext>
            </a:extLst>
          </p:cNvPr>
          <p:cNvSpPr>
            <a:spLocks xmlns:a="http://schemas.openxmlformats.org/drawingml/2006/main" noGrp="1"/>
          </p:cNvSpPr>
          <p:nvPr/>
        </p:nvSpPr>
        <p:spPr>
          <a:xfrm xmlns:a="http://schemas.openxmlformats.org/drawingml/2006/main">
            <a:off x="685800" y="13811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The trace records why a row was resolved, its source, and the relation that was tested.</a:t>
            </a:r>
          </a:p>
        </p:txBody>
      </p:sp>
      <p:sp>
        <p:nvSpPr>
          <p:cNvPr id="5" name="">
            <a:extLst xmlns:a="http://schemas.openxmlformats.org/drawingml/2006/main">
              <a:ext uri="{FF2B5EF4-FFF2-40B4-BE49-F238E27FC236}">
                <a16:creationId xmlns:a16="http://schemas.microsoft.com/office/drawing/2014/main" id="{AA52126B-F14C-449A-AD59-DC9B9544CC4F}"/>
              </a:ext>
            </a:extLst>
          </p:cNvPr>
          <p:cNvSpPr>
            <a:spLocks xmlns:a="http://schemas.openxmlformats.org/drawingml/2006/main" noGrp="1"/>
          </p:cNvSpPr>
          <p:nvPr/>
        </p:nvSpPr>
        <p:spPr>
          <a:xfrm xmlns:a="http://schemas.openxmlformats.org/drawingml/2006/main">
            <a:off x="32766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86C11473-003D-48DF-84F7-1B76454E5AD5}"/>
              </a:ext>
            </a:extLst>
          </p:cNvPr>
          <p:cNvSpPr>
            <a:spLocks xmlns:a="http://schemas.openxmlformats.org/drawingml/2006/main" noGrp="1"/>
          </p:cNvSpPr>
          <p:nvPr/>
        </p:nvSpPr>
        <p:spPr>
          <a:xfrm xmlns:a="http://schemas.openxmlformats.org/drawingml/2006/main">
            <a:off x="78105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B225E947-BDAD-4AA2-A47D-4D3AF19A5C5C}"/>
              </a:ext>
            </a:extLst>
          </p:cNvPr>
          <p:cNvSpPr>
            <a:spLocks xmlns:a="http://schemas.openxmlformats.org/drawingml/2006/main" noGrp="1"/>
          </p:cNvSpPr>
          <p:nvPr/>
        </p:nvSpPr>
        <p:spPr>
          <a:xfrm xmlns:a="http://schemas.openxmlformats.org/drawingml/2006/main">
            <a:off x="781050" y="2076450"/>
            <a:ext cx="2590800" cy="31051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DEB94FBE-3B17-4D12-BAFB-6A0889D984AE}"/>
              </a:ext>
            </a:extLst>
          </p:cNvPr>
          <p:cNvSpPr>
            <a:spLocks xmlns:a="http://schemas.openxmlformats.org/drawingml/2006/main" noGrp="1"/>
          </p:cNvSpPr>
          <p:nvPr/>
        </p:nvSpPr>
        <p:spPr>
          <a:xfrm xmlns:a="http://schemas.openxmlformats.org/drawingml/2006/main">
            <a:off x="1066800" y="2247900"/>
            <a:ext cx="2019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1F5A7A"/>
                </a:solidFill>
              </a:defRPr>
            </a:pPr>
            <a:r>
              <a:rPr sz="1575" b="1">
                <a:solidFill>
                  <a:srgbClr val="1F5A7A"/>
                </a:solidFill>
              </a:rPr>
              <a:t>Typed evidence</a:t>
            </a:r>
          </a:p>
          <a:p xmlns:a="http://schemas.openxmlformats.org/drawingml/2006/main">
            <a:pPr algn="ctr">
              <a:defRPr sz="1575" b="1">
                <a:solidFill>
                  <a:srgbClr val="1F5A7A"/>
                </a:solidFill>
              </a:defRPr>
            </a:pPr>
            <a:r>
              <a:rPr sz="1575" b="1">
                <a:solidFill>
                  <a:srgbClr val="1F5A7A"/>
                </a:solidFill>
              </a:rPr>
              <a:t>record</a:t>
            </a:r>
          </a:p>
        </p:txBody>
      </p:sp>
      <p:sp>
        <p:nvSpPr>
          <p:cNvPr id="9" name="">
            <a:extLst xmlns:a="http://schemas.openxmlformats.org/drawingml/2006/main">
              <a:ext uri="{FF2B5EF4-FFF2-40B4-BE49-F238E27FC236}">
                <a16:creationId xmlns:a16="http://schemas.microsoft.com/office/drawing/2014/main" id="{141EEAA1-3510-4556-89E6-940E894E108F}"/>
              </a:ext>
            </a:extLst>
          </p:cNvPr>
          <p:cNvSpPr>
            <a:spLocks xmlns:a="http://schemas.openxmlformats.org/drawingml/2006/main" noGrp="1"/>
          </p:cNvSpPr>
          <p:nvPr/>
        </p:nvSpPr>
        <p:spPr>
          <a:xfrm xmlns:a="http://schemas.openxmlformats.org/drawingml/2006/main">
            <a:off x="1028700" y="278130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source_id</a:t>
            </a:r>
          </a:p>
        </p:txBody>
      </p:sp>
      <p:sp>
        <p:nvSpPr>
          <p:cNvPr id="10" name="">
            <a:extLst xmlns:a="http://schemas.openxmlformats.org/drawingml/2006/main">
              <a:ext uri="{FF2B5EF4-FFF2-40B4-BE49-F238E27FC236}">
                <a16:creationId xmlns:a16="http://schemas.microsoft.com/office/drawing/2014/main" id="{B8E3E0A1-9C36-4340-8F97-6E459C01232A}"/>
              </a:ext>
            </a:extLst>
          </p:cNvPr>
          <p:cNvSpPr>
            <a:spLocks xmlns:a="http://schemas.openxmlformats.org/drawingml/2006/main" noGrp="1"/>
          </p:cNvSpPr>
          <p:nvPr/>
        </p:nvSpPr>
        <p:spPr>
          <a:xfrm xmlns:a="http://schemas.openxmlformats.org/drawingml/2006/main">
            <a:off x="2133600" y="278130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stable row or URL</a:t>
            </a:r>
          </a:p>
        </p:txBody>
      </p:sp>
      <p:sp>
        <p:nvSpPr>
          <p:cNvPr id="11" name="">
            <a:extLst xmlns:a="http://schemas.openxmlformats.org/drawingml/2006/main">
              <a:ext uri="{FF2B5EF4-FFF2-40B4-BE49-F238E27FC236}">
                <a16:creationId xmlns:a16="http://schemas.microsoft.com/office/drawing/2014/main" id="{0883E38E-C23B-4A35-815E-B8F5B267EEDD}"/>
              </a:ext>
            </a:extLst>
          </p:cNvPr>
          <p:cNvSpPr>
            <a:spLocks xmlns:a="http://schemas.openxmlformats.org/drawingml/2006/main" noGrp="1"/>
          </p:cNvSpPr>
          <p:nvPr/>
        </p:nvSpPr>
        <p:spPr>
          <a:xfrm xmlns:a="http://schemas.openxmlformats.org/drawingml/2006/main">
            <a:off x="1028700" y="314325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family</a:t>
            </a:r>
          </a:p>
        </p:txBody>
      </p:sp>
      <p:sp>
        <p:nvSpPr>
          <p:cNvPr id="12" name="">
            <a:extLst xmlns:a="http://schemas.openxmlformats.org/drawingml/2006/main">
              <a:ext uri="{FF2B5EF4-FFF2-40B4-BE49-F238E27FC236}">
                <a16:creationId xmlns:a16="http://schemas.microsoft.com/office/drawing/2014/main" id="{907EC476-C80A-49B0-B639-4CD9F4E52141}"/>
              </a:ext>
            </a:extLst>
          </p:cNvPr>
          <p:cNvSpPr>
            <a:spLocks xmlns:a="http://schemas.openxmlformats.org/drawingml/2006/main" noGrp="1"/>
          </p:cNvSpPr>
          <p:nvPr/>
        </p:nvSpPr>
        <p:spPr>
          <a:xfrm xmlns:a="http://schemas.openxmlformats.org/drawingml/2006/main">
            <a:off x="2133600" y="314325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law / idiom / QA / fact</a:t>
            </a:r>
          </a:p>
        </p:txBody>
      </p:sp>
      <p:sp>
        <p:nvSpPr>
          <p:cNvPr id="13" name="">
            <a:extLst xmlns:a="http://schemas.openxmlformats.org/drawingml/2006/main">
              <a:ext uri="{FF2B5EF4-FFF2-40B4-BE49-F238E27FC236}">
                <a16:creationId xmlns:a16="http://schemas.microsoft.com/office/drawing/2014/main" id="{FDB27A90-A4AD-4694-9E79-E9A9CEFEE5BF}"/>
              </a:ext>
            </a:extLst>
          </p:cNvPr>
          <p:cNvSpPr>
            <a:spLocks xmlns:a="http://schemas.openxmlformats.org/drawingml/2006/main" noGrp="1"/>
          </p:cNvSpPr>
          <p:nvPr/>
        </p:nvSpPr>
        <p:spPr>
          <a:xfrm xmlns:a="http://schemas.openxmlformats.org/drawingml/2006/main">
            <a:off x="1028700" y="350520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entity</a:t>
            </a:r>
          </a:p>
        </p:txBody>
      </p:sp>
      <p:sp>
        <p:nvSpPr>
          <p:cNvPr id="14" name="">
            <a:extLst xmlns:a="http://schemas.openxmlformats.org/drawingml/2006/main">
              <a:ext uri="{FF2B5EF4-FFF2-40B4-BE49-F238E27FC236}">
                <a16:creationId xmlns:a16="http://schemas.microsoft.com/office/drawing/2014/main" id="{18A77B24-16BC-45AA-824D-1BE0BDC9580A}"/>
              </a:ext>
            </a:extLst>
          </p:cNvPr>
          <p:cNvSpPr>
            <a:spLocks xmlns:a="http://schemas.openxmlformats.org/drawingml/2006/main" noGrp="1"/>
          </p:cNvSpPr>
          <p:nvPr/>
        </p:nvSpPr>
        <p:spPr>
          <a:xfrm xmlns:a="http://schemas.openxmlformats.org/drawingml/2006/main">
            <a:off x="2133600" y="350520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normalized subject</a:t>
            </a:r>
          </a:p>
        </p:txBody>
      </p:sp>
      <p:sp>
        <p:nvSpPr>
          <p:cNvPr id="15" name="">
            <a:extLst xmlns:a="http://schemas.openxmlformats.org/drawingml/2006/main">
              <a:ext uri="{FF2B5EF4-FFF2-40B4-BE49-F238E27FC236}">
                <a16:creationId xmlns:a16="http://schemas.microsoft.com/office/drawing/2014/main" id="{C13CDDDB-FDC0-47B5-BFCB-9885DDCDBC05}"/>
              </a:ext>
            </a:extLst>
          </p:cNvPr>
          <p:cNvSpPr>
            <a:spLocks xmlns:a="http://schemas.openxmlformats.org/drawingml/2006/main" noGrp="1"/>
          </p:cNvSpPr>
          <p:nvPr/>
        </p:nvSpPr>
        <p:spPr>
          <a:xfrm xmlns:a="http://schemas.openxmlformats.org/drawingml/2006/main">
            <a:off x="1028700" y="386715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predicate</a:t>
            </a:r>
          </a:p>
        </p:txBody>
      </p:sp>
      <p:sp>
        <p:nvSpPr>
          <p:cNvPr id="16" name="">
            <a:extLst xmlns:a="http://schemas.openxmlformats.org/drawingml/2006/main">
              <a:ext uri="{FF2B5EF4-FFF2-40B4-BE49-F238E27FC236}">
                <a16:creationId xmlns:a16="http://schemas.microsoft.com/office/drawing/2014/main" id="{27B82AC4-4C95-43A0-87C3-A76DFAA867B6}"/>
              </a:ext>
            </a:extLst>
          </p:cNvPr>
          <p:cNvSpPr>
            <a:spLocks xmlns:a="http://schemas.openxmlformats.org/drawingml/2006/main" noGrp="1"/>
          </p:cNvSpPr>
          <p:nvPr/>
        </p:nvSpPr>
        <p:spPr>
          <a:xfrm xmlns:a="http://schemas.openxmlformats.org/drawingml/2006/main">
            <a:off x="2133600" y="386715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requested relation</a:t>
            </a:r>
          </a:p>
        </p:txBody>
      </p:sp>
      <p:sp>
        <p:nvSpPr>
          <p:cNvPr id="17" name="">
            <a:extLst xmlns:a="http://schemas.openxmlformats.org/drawingml/2006/main">
              <a:ext uri="{FF2B5EF4-FFF2-40B4-BE49-F238E27FC236}">
                <a16:creationId xmlns:a16="http://schemas.microsoft.com/office/drawing/2014/main" id="{D94CB622-31D1-42E4-BA5D-ADE7FA358C83}"/>
              </a:ext>
            </a:extLst>
          </p:cNvPr>
          <p:cNvSpPr>
            <a:spLocks xmlns:a="http://schemas.openxmlformats.org/drawingml/2006/main" noGrp="1"/>
          </p:cNvSpPr>
          <p:nvPr/>
        </p:nvSpPr>
        <p:spPr>
          <a:xfrm xmlns:a="http://schemas.openxmlformats.org/drawingml/2006/main">
            <a:off x="1028700" y="422910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value</a:t>
            </a:r>
          </a:p>
        </p:txBody>
      </p:sp>
      <p:sp>
        <p:nvSpPr>
          <p:cNvPr id="18" name="">
            <a:extLst xmlns:a="http://schemas.openxmlformats.org/drawingml/2006/main">
              <a:ext uri="{FF2B5EF4-FFF2-40B4-BE49-F238E27FC236}">
                <a16:creationId xmlns:a16="http://schemas.microsoft.com/office/drawing/2014/main" id="{55636F9F-C231-4562-93A8-8ECFB647EF3C}"/>
              </a:ext>
            </a:extLst>
          </p:cNvPr>
          <p:cNvSpPr>
            <a:spLocks xmlns:a="http://schemas.openxmlformats.org/drawingml/2006/main" noGrp="1"/>
          </p:cNvSpPr>
          <p:nvPr/>
        </p:nvSpPr>
        <p:spPr>
          <a:xfrm xmlns:a="http://schemas.openxmlformats.org/drawingml/2006/main">
            <a:off x="2133600" y="422910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answer or claim</a:t>
            </a:r>
          </a:p>
        </p:txBody>
      </p:sp>
      <p:sp>
        <p:nvSpPr>
          <p:cNvPr id="19" name="">
            <a:extLst xmlns:a="http://schemas.openxmlformats.org/drawingml/2006/main">
              <a:ext uri="{FF2B5EF4-FFF2-40B4-BE49-F238E27FC236}">
                <a16:creationId xmlns:a16="http://schemas.microsoft.com/office/drawing/2014/main" id="{F6324A3A-EE7D-4A0F-82A1-A85A7E2501B1}"/>
              </a:ext>
            </a:extLst>
          </p:cNvPr>
          <p:cNvSpPr>
            <a:spLocks xmlns:a="http://schemas.openxmlformats.org/drawingml/2006/main" noGrp="1"/>
          </p:cNvSpPr>
          <p:nvPr/>
        </p:nvSpPr>
        <p:spPr>
          <a:xfrm xmlns:a="http://schemas.openxmlformats.org/drawingml/2006/main">
            <a:off x="1028700" y="459105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A8C82"/>
                </a:solidFill>
              </a:defRPr>
            </a:pPr>
            <a:r>
              <a:rPr sz="975" b="1">
                <a:solidFill>
                  <a:srgbClr val="2A8C82"/>
                </a:solidFill>
              </a:rPr>
              <a:t>provenance</a:t>
            </a:r>
          </a:p>
        </p:txBody>
      </p:sp>
      <p:sp>
        <p:nvSpPr>
          <p:cNvPr id="20" name="">
            <a:extLst xmlns:a="http://schemas.openxmlformats.org/drawingml/2006/main">
              <a:ext uri="{FF2B5EF4-FFF2-40B4-BE49-F238E27FC236}">
                <a16:creationId xmlns:a16="http://schemas.microsoft.com/office/drawing/2014/main" id="{AC7A6007-DCFD-4EDE-8D96-A371B287F29C}"/>
              </a:ext>
            </a:extLst>
          </p:cNvPr>
          <p:cNvSpPr>
            <a:spLocks xmlns:a="http://schemas.openxmlformats.org/drawingml/2006/main" noGrp="1"/>
          </p:cNvSpPr>
          <p:nvPr/>
        </p:nvSpPr>
        <p:spPr>
          <a:xfrm xmlns:a="http://schemas.openxmlformats.org/drawingml/2006/main">
            <a:off x="2133600" y="459105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dataset + citation</a:t>
            </a:r>
          </a:p>
        </p:txBody>
      </p:sp>
      <p:sp>
        <p:nvSpPr>
          <p:cNvPr id="21" name="">
            <a:extLst xmlns:a="http://schemas.openxmlformats.org/drawingml/2006/main">
              <a:ext uri="{FF2B5EF4-FFF2-40B4-BE49-F238E27FC236}">
                <a16:creationId xmlns:a16="http://schemas.microsoft.com/office/drawing/2014/main" id="{EC8BDB3C-ECF3-4E84-BCFD-2E8950881E37}"/>
              </a:ext>
            </a:extLst>
          </p:cNvPr>
          <p:cNvSpPr>
            <a:spLocks xmlns:a="http://schemas.openxmlformats.org/drawingml/2006/main" noGrp="1"/>
          </p:cNvSpPr>
          <p:nvPr/>
        </p:nvSpPr>
        <p:spPr>
          <a:xfrm xmlns:a="http://schemas.openxmlformats.org/drawingml/2006/main">
            <a:off x="4229100" y="209550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0F172A"/>
                </a:solidFill>
              </a:defRPr>
            </a:pPr>
            <a:r>
              <a:rPr sz="1725" b="1">
                <a:solidFill>
                  <a:srgbClr val="0F172A"/>
                </a:solidFill>
              </a:rPr>
              <a:t>Admission gate</a:t>
            </a:r>
          </a:p>
        </p:txBody>
      </p:sp>
      <p:sp>
        <p:nvSpPr>
          <p:cNvPr id="22" name="">
            <a:extLst xmlns:a="http://schemas.openxmlformats.org/drawingml/2006/main">
              <a:ext uri="{FF2B5EF4-FFF2-40B4-BE49-F238E27FC236}">
                <a16:creationId xmlns:a16="http://schemas.microsoft.com/office/drawing/2014/main" id="{94F05C96-BFF5-4260-8E60-EE821D792970}"/>
              </a:ext>
            </a:extLst>
          </p:cNvPr>
          <p:cNvSpPr>
            <a:spLocks xmlns:a="http://schemas.openxmlformats.org/drawingml/2006/main" noGrp="1"/>
          </p:cNvSpPr>
          <p:nvPr/>
        </p:nvSpPr>
        <p:spPr>
          <a:xfrm xmlns:a="http://schemas.openxmlformats.org/drawingml/2006/main">
            <a:off x="39814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3" name="">
            <a:extLst xmlns:a="http://schemas.openxmlformats.org/drawingml/2006/main">
              <a:ext uri="{FF2B5EF4-FFF2-40B4-BE49-F238E27FC236}">
                <a16:creationId xmlns:a16="http://schemas.microsoft.com/office/drawing/2014/main" id="{BFEAC778-43D0-49F1-B21B-96FAFEA7F4C8}"/>
              </a:ext>
            </a:extLst>
          </p:cNvPr>
          <p:cNvSpPr>
            <a:spLocks xmlns:a="http://schemas.openxmlformats.org/drawingml/2006/main" noGrp="1"/>
          </p:cNvSpPr>
          <p:nvPr/>
        </p:nvSpPr>
        <p:spPr>
          <a:xfrm xmlns:a="http://schemas.openxmlformats.org/drawingml/2006/main">
            <a:off x="41148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1</a:t>
            </a:r>
          </a:p>
        </p:txBody>
      </p:sp>
      <p:sp>
        <p:nvSpPr>
          <p:cNvPr id="24" name="">
            <a:extLst xmlns:a="http://schemas.openxmlformats.org/drawingml/2006/main">
              <a:ext uri="{FF2B5EF4-FFF2-40B4-BE49-F238E27FC236}">
                <a16:creationId xmlns:a16="http://schemas.microsoft.com/office/drawing/2014/main" id="{C700943D-C615-47AE-973F-B7AB89976A02}"/>
              </a:ext>
            </a:extLst>
          </p:cNvPr>
          <p:cNvSpPr>
            <a:spLocks xmlns:a="http://schemas.openxmlformats.org/drawingml/2006/main" noGrp="1"/>
          </p:cNvSpPr>
          <p:nvPr/>
        </p:nvSpPr>
        <p:spPr>
          <a:xfrm xmlns:a="http://schemas.openxmlformats.org/drawingml/2006/main">
            <a:off x="44196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Entity</a:t>
            </a:r>
          </a:p>
        </p:txBody>
      </p:sp>
      <p:sp>
        <p:nvSpPr>
          <p:cNvPr id="25" name="">
            <a:extLst xmlns:a="http://schemas.openxmlformats.org/drawingml/2006/main">
              <a:ext uri="{FF2B5EF4-FFF2-40B4-BE49-F238E27FC236}">
                <a16:creationId xmlns:a16="http://schemas.microsoft.com/office/drawing/2014/main" id="{22EDB344-1B04-458C-866B-631A787AE18D}"/>
              </a:ext>
            </a:extLst>
          </p:cNvPr>
          <p:cNvSpPr>
            <a:spLocks xmlns:a="http://schemas.openxmlformats.org/drawingml/2006/main" noGrp="1"/>
          </p:cNvSpPr>
          <p:nvPr/>
        </p:nvSpPr>
        <p:spPr>
          <a:xfrm xmlns:a="http://schemas.openxmlformats.org/drawingml/2006/main">
            <a:off x="41529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same normalized subject</a:t>
            </a:r>
          </a:p>
        </p:txBody>
      </p:sp>
      <p:sp>
        <p:nvSpPr>
          <p:cNvPr id="26" name="">
            <a:extLst xmlns:a="http://schemas.openxmlformats.org/drawingml/2006/main">
              <a:ext uri="{FF2B5EF4-FFF2-40B4-BE49-F238E27FC236}">
                <a16:creationId xmlns:a16="http://schemas.microsoft.com/office/drawing/2014/main" id="{668016B2-8509-44AF-90D1-674C09D34CC6}"/>
              </a:ext>
            </a:extLst>
          </p:cNvPr>
          <p:cNvSpPr>
            <a:spLocks xmlns:a="http://schemas.openxmlformats.org/drawingml/2006/main" noGrp="1"/>
          </p:cNvSpPr>
          <p:nvPr/>
        </p:nvSpPr>
        <p:spPr>
          <a:xfrm xmlns:a="http://schemas.openxmlformats.org/drawingml/2006/main">
            <a:off x="59626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7" name="">
            <a:extLst xmlns:a="http://schemas.openxmlformats.org/drawingml/2006/main">
              <a:ext uri="{FF2B5EF4-FFF2-40B4-BE49-F238E27FC236}">
                <a16:creationId xmlns:a16="http://schemas.microsoft.com/office/drawing/2014/main" id="{A2E8142F-9C3D-4BD0-8847-4B1BF930272D}"/>
              </a:ext>
            </a:extLst>
          </p:cNvPr>
          <p:cNvSpPr>
            <a:spLocks xmlns:a="http://schemas.openxmlformats.org/drawingml/2006/main" noGrp="1"/>
          </p:cNvSpPr>
          <p:nvPr/>
        </p:nvSpPr>
        <p:spPr>
          <a:xfrm xmlns:a="http://schemas.openxmlformats.org/drawingml/2006/main">
            <a:off x="60960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2</a:t>
            </a:r>
          </a:p>
        </p:txBody>
      </p:sp>
      <p:sp>
        <p:nvSpPr>
          <p:cNvPr id="28" name="">
            <a:extLst xmlns:a="http://schemas.openxmlformats.org/drawingml/2006/main">
              <a:ext uri="{FF2B5EF4-FFF2-40B4-BE49-F238E27FC236}">
                <a16:creationId xmlns:a16="http://schemas.microsoft.com/office/drawing/2014/main" id="{0F7989DE-9F34-4BF3-A301-8F28D4C68012}"/>
              </a:ext>
            </a:extLst>
          </p:cNvPr>
          <p:cNvSpPr>
            <a:spLocks xmlns:a="http://schemas.openxmlformats.org/drawingml/2006/main" noGrp="1"/>
          </p:cNvSpPr>
          <p:nvPr/>
        </p:nvSpPr>
        <p:spPr>
          <a:xfrm xmlns:a="http://schemas.openxmlformats.org/drawingml/2006/main">
            <a:off x="64008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Predicate</a:t>
            </a:r>
          </a:p>
        </p:txBody>
      </p:sp>
      <p:sp>
        <p:nvSpPr>
          <p:cNvPr id="29" name="">
            <a:extLst xmlns:a="http://schemas.openxmlformats.org/drawingml/2006/main">
              <a:ext uri="{FF2B5EF4-FFF2-40B4-BE49-F238E27FC236}">
                <a16:creationId xmlns:a16="http://schemas.microsoft.com/office/drawing/2014/main" id="{724662D6-C208-4163-8458-70ABCDF0BD88}"/>
              </a:ext>
            </a:extLst>
          </p:cNvPr>
          <p:cNvSpPr>
            <a:spLocks xmlns:a="http://schemas.openxmlformats.org/drawingml/2006/main" noGrp="1"/>
          </p:cNvSpPr>
          <p:nvPr/>
        </p:nvSpPr>
        <p:spPr>
          <a:xfrm xmlns:a="http://schemas.openxmlformats.org/drawingml/2006/main">
            <a:off x="61341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same requested relation</a:t>
            </a:r>
          </a:p>
        </p:txBody>
      </p:sp>
      <p:sp>
        <p:nvSpPr>
          <p:cNvPr id="30" name="">
            <a:extLst xmlns:a="http://schemas.openxmlformats.org/drawingml/2006/main">
              <a:ext uri="{FF2B5EF4-FFF2-40B4-BE49-F238E27FC236}">
                <a16:creationId xmlns:a16="http://schemas.microsoft.com/office/drawing/2014/main" id="{23176FBD-DDC2-41BD-8341-F5EDA1BC4499}"/>
              </a:ext>
            </a:extLst>
          </p:cNvPr>
          <p:cNvSpPr>
            <a:spLocks xmlns:a="http://schemas.openxmlformats.org/drawingml/2006/main" noGrp="1"/>
          </p:cNvSpPr>
          <p:nvPr/>
        </p:nvSpPr>
        <p:spPr>
          <a:xfrm xmlns:a="http://schemas.openxmlformats.org/drawingml/2006/main">
            <a:off x="3981450" y="384810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31" name="">
            <a:extLst xmlns:a="http://schemas.openxmlformats.org/drawingml/2006/main">
              <a:ext uri="{FF2B5EF4-FFF2-40B4-BE49-F238E27FC236}">
                <a16:creationId xmlns:a16="http://schemas.microsoft.com/office/drawing/2014/main" id="{8FD1A307-8213-4F96-91AB-F063223FADAD}"/>
              </a:ext>
            </a:extLst>
          </p:cNvPr>
          <p:cNvSpPr>
            <a:spLocks xmlns:a="http://schemas.openxmlformats.org/drawingml/2006/main" noGrp="1"/>
          </p:cNvSpPr>
          <p:nvPr/>
        </p:nvSpPr>
        <p:spPr>
          <a:xfrm xmlns:a="http://schemas.openxmlformats.org/drawingml/2006/main">
            <a:off x="41148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3</a:t>
            </a:r>
          </a:p>
        </p:txBody>
      </p:sp>
      <p:sp>
        <p:nvSpPr>
          <p:cNvPr id="32" name="">
            <a:extLst xmlns:a="http://schemas.openxmlformats.org/drawingml/2006/main">
              <a:ext uri="{FF2B5EF4-FFF2-40B4-BE49-F238E27FC236}">
                <a16:creationId xmlns:a16="http://schemas.microsoft.com/office/drawing/2014/main" id="{A1C8188A-8D03-4BB9-ABCD-F6F8BB1D7AE0}"/>
              </a:ext>
            </a:extLst>
          </p:cNvPr>
          <p:cNvSpPr>
            <a:spLocks xmlns:a="http://schemas.openxmlformats.org/drawingml/2006/main" noGrp="1"/>
          </p:cNvSpPr>
          <p:nvPr/>
        </p:nvSpPr>
        <p:spPr>
          <a:xfrm xmlns:a="http://schemas.openxmlformats.org/drawingml/2006/main">
            <a:off x="44196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Value</a:t>
            </a:r>
          </a:p>
        </p:txBody>
      </p:sp>
      <p:sp>
        <p:nvSpPr>
          <p:cNvPr id="33" name="">
            <a:extLst xmlns:a="http://schemas.openxmlformats.org/drawingml/2006/main">
              <a:ext uri="{FF2B5EF4-FFF2-40B4-BE49-F238E27FC236}">
                <a16:creationId xmlns:a16="http://schemas.microsoft.com/office/drawing/2014/main" id="{14867A1F-D2CF-441B-BDD1-9B4920E40BA6}"/>
              </a:ext>
            </a:extLst>
          </p:cNvPr>
          <p:cNvSpPr>
            <a:spLocks xmlns:a="http://schemas.openxmlformats.org/drawingml/2006/main" noGrp="1"/>
          </p:cNvSpPr>
          <p:nvPr/>
        </p:nvSpPr>
        <p:spPr>
          <a:xfrm xmlns:a="http://schemas.openxmlformats.org/drawingml/2006/main">
            <a:off x="41529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exact or typed equivalence</a:t>
            </a:r>
          </a:p>
        </p:txBody>
      </p:sp>
      <p:sp>
        <p:nvSpPr>
          <p:cNvPr id="34" name="">
            <a:extLst xmlns:a="http://schemas.openxmlformats.org/drawingml/2006/main">
              <a:ext uri="{FF2B5EF4-FFF2-40B4-BE49-F238E27FC236}">
                <a16:creationId xmlns:a16="http://schemas.microsoft.com/office/drawing/2014/main" id="{257BFE8A-A035-4760-AE1B-CB5A9CBCCDD1}"/>
              </a:ext>
            </a:extLst>
          </p:cNvPr>
          <p:cNvSpPr>
            <a:spLocks xmlns:a="http://schemas.openxmlformats.org/drawingml/2006/main" noGrp="1"/>
          </p:cNvSpPr>
          <p:nvPr/>
        </p:nvSpPr>
        <p:spPr>
          <a:xfrm xmlns:a="http://schemas.openxmlformats.org/drawingml/2006/main">
            <a:off x="5962650" y="3848100"/>
            <a:ext cx="1752600" cy="990600"/>
          </a:xfrm>
          <a:prstGeom xmlns:a="http://schemas.openxmlformats.org/drawingml/2006/main" prst="roundRect">
            <a:avLst>
              <a:gd name="adj" fmla="val 13462"/>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30DFF3C6-7AB3-47FF-9B78-A8BDAB5D6B30}"/>
              </a:ext>
            </a:extLst>
          </p:cNvPr>
          <p:cNvSpPr>
            <a:spLocks xmlns:a="http://schemas.openxmlformats.org/drawingml/2006/main" noGrp="1"/>
          </p:cNvSpPr>
          <p:nvPr/>
        </p:nvSpPr>
        <p:spPr>
          <a:xfrm xmlns:a="http://schemas.openxmlformats.org/drawingml/2006/main">
            <a:off x="60960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D59B32"/>
                </a:solidFill>
              </a:defRPr>
            </a:pPr>
            <a:r>
              <a:rPr sz="1200" b="1">
                <a:solidFill>
                  <a:srgbClr val="D59B32"/>
                </a:solidFill>
              </a:rPr>
              <a:t>4</a:t>
            </a:r>
          </a:p>
        </p:txBody>
      </p:sp>
      <p:sp>
        <p:nvSpPr>
          <p:cNvPr id="36" name="">
            <a:extLst xmlns:a="http://schemas.openxmlformats.org/drawingml/2006/main">
              <a:ext uri="{FF2B5EF4-FFF2-40B4-BE49-F238E27FC236}">
                <a16:creationId xmlns:a16="http://schemas.microsoft.com/office/drawing/2014/main" id="{6C76F90B-3C6B-4F19-A6D6-694F4826AD42}"/>
              </a:ext>
            </a:extLst>
          </p:cNvPr>
          <p:cNvSpPr>
            <a:spLocks xmlns:a="http://schemas.openxmlformats.org/drawingml/2006/main" noGrp="1"/>
          </p:cNvSpPr>
          <p:nvPr/>
        </p:nvSpPr>
        <p:spPr>
          <a:xfrm xmlns:a="http://schemas.openxmlformats.org/drawingml/2006/main">
            <a:off x="64008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Conflict</a:t>
            </a:r>
          </a:p>
        </p:txBody>
      </p:sp>
      <p:sp>
        <p:nvSpPr>
          <p:cNvPr id="37" name="">
            <a:extLst xmlns:a="http://schemas.openxmlformats.org/drawingml/2006/main">
              <a:ext uri="{FF2B5EF4-FFF2-40B4-BE49-F238E27FC236}">
                <a16:creationId xmlns:a16="http://schemas.microsoft.com/office/drawing/2014/main" id="{4695F2C1-9B05-4866-A659-382D0D3CAC5F}"/>
              </a:ext>
            </a:extLst>
          </p:cNvPr>
          <p:cNvSpPr>
            <a:spLocks xmlns:a="http://schemas.openxmlformats.org/drawingml/2006/main" noGrp="1"/>
          </p:cNvSpPr>
          <p:nvPr/>
        </p:nvSpPr>
        <p:spPr>
          <a:xfrm xmlns:a="http://schemas.openxmlformats.org/drawingml/2006/main">
            <a:off x="61341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no equal-trust contradiction</a:t>
            </a:r>
          </a:p>
        </p:txBody>
      </p:sp>
      <p:sp>
        <p:nvSpPr>
          <p:cNvPr id="38" name="">
            <a:extLst xmlns:a="http://schemas.openxmlformats.org/drawingml/2006/main">
              <a:ext uri="{FF2B5EF4-FFF2-40B4-BE49-F238E27FC236}">
                <a16:creationId xmlns:a16="http://schemas.microsoft.com/office/drawing/2014/main" id="{D437C131-8400-4BF6-875E-49C23321052B}"/>
              </a:ext>
            </a:extLst>
          </p:cNvPr>
          <p:cNvSpPr>
            <a:spLocks xmlns:a="http://schemas.openxmlformats.org/drawingml/2006/main" noGrp="1"/>
          </p:cNvSpPr>
          <p:nvPr/>
        </p:nvSpPr>
        <p:spPr>
          <a:xfrm xmlns:a="http://schemas.openxmlformats.org/drawingml/2006/main">
            <a:off x="4000500" y="5105400"/>
            <a:ext cx="3676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1F5A7A"/>
                </a:solidFill>
              </a:defRPr>
            </a:pPr>
            <a:r>
              <a:rPr sz="1275" b="1">
                <a:solidFill>
                  <a:srgbClr val="1F5A7A"/>
                </a:solidFill>
              </a:rPr>
              <a:t>accept = entity AND predicate AND value AND no_conflict</a:t>
            </a:r>
          </a:p>
        </p:txBody>
      </p:sp>
      <p:sp>
        <p:nvSpPr>
          <p:cNvPr id="39" name="">
            <a:extLst xmlns:a="http://schemas.openxmlformats.org/drawingml/2006/main">
              <a:ext uri="{FF2B5EF4-FFF2-40B4-BE49-F238E27FC236}">
                <a16:creationId xmlns:a16="http://schemas.microsoft.com/office/drawing/2014/main" id="{62D268B5-2C0A-4E59-A30E-6C4A6742BD37}"/>
              </a:ext>
            </a:extLst>
          </p:cNvPr>
          <p:cNvSpPr>
            <a:spLocks xmlns:a="http://schemas.openxmlformats.org/drawingml/2006/main" noGrp="1"/>
          </p:cNvSpPr>
          <p:nvPr/>
        </p:nvSpPr>
        <p:spPr>
          <a:xfrm xmlns:a="http://schemas.openxmlformats.org/drawingml/2006/main">
            <a:off x="8401050" y="2076450"/>
            <a:ext cx="3009900" cy="3105150"/>
          </a:xfrm>
          <a:prstGeom xmlns:a="http://schemas.openxmlformats.org/drawingml/2006/main" prst="roundRect">
            <a:avLst>
              <a:gd name="adj" fmla="val 506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0" name="">
            <a:extLst xmlns:a="http://schemas.openxmlformats.org/drawingml/2006/main">
              <a:ext uri="{FF2B5EF4-FFF2-40B4-BE49-F238E27FC236}">
                <a16:creationId xmlns:a16="http://schemas.microsoft.com/office/drawing/2014/main" id="{715CE841-5858-4FF1-8CEF-23FBC6AD9506}"/>
              </a:ext>
            </a:extLst>
          </p:cNvPr>
          <p:cNvSpPr>
            <a:spLocks xmlns:a="http://schemas.openxmlformats.org/drawingml/2006/main" noGrp="1"/>
          </p:cNvSpPr>
          <p:nvPr/>
        </p:nvSpPr>
        <p:spPr>
          <a:xfrm xmlns:a="http://schemas.openxmlformats.org/drawingml/2006/main">
            <a:off x="8705850" y="2286000"/>
            <a:ext cx="240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D59B32"/>
                </a:solidFill>
              </a:defRPr>
            </a:pPr>
            <a:r>
              <a:rPr sz="1725" b="1">
                <a:solidFill>
                  <a:srgbClr val="D59B32"/>
                </a:solidFill>
              </a:rPr>
              <a:t>Decision trace</a:t>
            </a:r>
          </a:p>
        </p:txBody>
      </p:sp>
      <p:sp>
        <p:nvSpPr>
          <p:cNvPr id="41" name="">
            <a:extLst xmlns:a="http://schemas.openxmlformats.org/drawingml/2006/main">
              <a:ext uri="{FF2B5EF4-FFF2-40B4-BE49-F238E27FC236}">
                <a16:creationId xmlns:a16="http://schemas.microsoft.com/office/drawing/2014/main" id="{EA3C2D63-06E4-44C5-875B-0CDFF9785B63}"/>
              </a:ext>
            </a:extLst>
          </p:cNvPr>
          <p:cNvSpPr>
            <a:spLocks xmlns:a="http://schemas.openxmlformats.org/drawingml/2006/main" noGrp="1"/>
          </p:cNvSpPr>
          <p:nvPr/>
        </p:nvSpPr>
        <p:spPr>
          <a:xfrm xmlns:a="http://schemas.openxmlformats.org/drawingml/2006/main">
            <a:off x="8705850" y="28194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route</a:t>
            </a:r>
          </a:p>
        </p:txBody>
      </p:sp>
      <p:sp>
        <p:nvSpPr>
          <p:cNvPr id="42" name="">
            <a:extLst xmlns:a="http://schemas.openxmlformats.org/drawingml/2006/main">
              <a:ext uri="{FF2B5EF4-FFF2-40B4-BE49-F238E27FC236}">
                <a16:creationId xmlns:a16="http://schemas.microsoft.com/office/drawing/2014/main" id="{B1468A85-E125-42A7-A31A-E7BA620CAA30}"/>
              </a:ext>
            </a:extLst>
          </p:cNvPr>
          <p:cNvSpPr>
            <a:spLocks xmlns:a="http://schemas.openxmlformats.org/drawingml/2006/main" noGrp="1"/>
          </p:cNvSpPr>
          <p:nvPr/>
        </p:nvSpPr>
        <p:spPr>
          <a:xfrm xmlns:a="http://schemas.openxmlformats.org/drawingml/2006/main">
            <a:off x="9620250" y="2819400"/>
            <a:ext cx="1562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typed_evidence</a:t>
            </a:r>
          </a:p>
        </p:txBody>
      </p:sp>
      <p:sp>
        <p:nvSpPr>
          <p:cNvPr id="43" name="">
            <a:extLst xmlns:a="http://schemas.openxmlformats.org/drawingml/2006/main">
              <a:ext uri="{FF2B5EF4-FFF2-40B4-BE49-F238E27FC236}">
                <a16:creationId xmlns:a16="http://schemas.microsoft.com/office/drawing/2014/main" id="{A12C57EF-A6A1-4957-ABD6-D6A64A692120}"/>
              </a:ext>
            </a:extLst>
          </p:cNvPr>
          <p:cNvSpPr>
            <a:spLocks xmlns:a="http://schemas.openxmlformats.org/drawingml/2006/main" noGrp="1"/>
          </p:cNvSpPr>
          <p:nvPr/>
        </p:nvSpPr>
        <p:spPr>
          <a:xfrm xmlns:a="http://schemas.openxmlformats.org/drawingml/2006/main">
            <a:off x="8705850" y="318135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source</a:t>
            </a:r>
          </a:p>
        </p:txBody>
      </p:sp>
      <p:sp>
        <p:nvSpPr>
          <p:cNvPr id="44" name="">
            <a:extLst xmlns:a="http://schemas.openxmlformats.org/drawingml/2006/main">
              <a:ext uri="{FF2B5EF4-FFF2-40B4-BE49-F238E27FC236}">
                <a16:creationId xmlns:a16="http://schemas.microsoft.com/office/drawing/2014/main" id="{7BFAB026-DFAF-44F1-85F0-85D47F13057F}"/>
              </a:ext>
            </a:extLst>
          </p:cNvPr>
          <p:cNvSpPr>
            <a:spLocks xmlns:a="http://schemas.openxmlformats.org/drawingml/2006/main" noGrp="1"/>
          </p:cNvSpPr>
          <p:nvPr/>
        </p:nvSpPr>
        <p:spPr>
          <a:xfrm xmlns:a="http://schemas.openxmlformats.org/drawingml/2006/main">
            <a:off x="9620250" y="3181350"/>
            <a:ext cx="1562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law_section_42</a:t>
            </a:r>
          </a:p>
        </p:txBody>
      </p:sp>
      <p:sp>
        <p:nvSpPr>
          <p:cNvPr id="45" name="">
            <a:extLst xmlns:a="http://schemas.openxmlformats.org/drawingml/2006/main">
              <a:ext uri="{FF2B5EF4-FFF2-40B4-BE49-F238E27FC236}">
                <a16:creationId xmlns:a16="http://schemas.microsoft.com/office/drawing/2014/main" id="{6BEE5CED-0F1D-4509-84C3-124D2334119E}"/>
              </a:ext>
            </a:extLst>
          </p:cNvPr>
          <p:cNvSpPr>
            <a:spLocks xmlns:a="http://schemas.openxmlformats.org/drawingml/2006/main" noGrp="1"/>
          </p:cNvSpPr>
          <p:nvPr/>
        </p:nvSpPr>
        <p:spPr>
          <a:xfrm xmlns:a="http://schemas.openxmlformats.org/drawingml/2006/main">
            <a:off x="8705850" y="35433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predicate</a:t>
            </a:r>
          </a:p>
        </p:txBody>
      </p:sp>
      <p:sp>
        <p:nvSpPr>
          <p:cNvPr id="46" name="">
            <a:extLst xmlns:a="http://schemas.openxmlformats.org/drawingml/2006/main">
              <a:ext uri="{FF2B5EF4-FFF2-40B4-BE49-F238E27FC236}">
                <a16:creationId xmlns:a16="http://schemas.microsoft.com/office/drawing/2014/main" id="{C8802C1B-A25D-4FF4-B9F7-7425C77FCD4D}"/>
              </a:ext>
            </a:extLst>
          </p:cNvPr>
          <p:cNvSpPr>
            <a:spLocks xmlns:a="http://schemas.openxmlformats.org/drawingml/2006/main" noGrp="1"/>
          </p:cNvSpPr>
          <p:nvPr/>
        </p:nvSpPr>
        <p:spPr>
          <a:xfrm xmlns:a="http://schemas.openxmlformats.org/drawingml/2006/main">
            <a:off x="9620250" y="35433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0F172A"/>
                </a:solidFill>
              </a:defRPr>
            </a:pPr>
            <a:r>
              <a:rPr sz="1050" b="0">
                <a:solidFill>
                  <a:srgbClr val="0F172A"/>
                </a:solidFill>
              </a:rPr>
              <a:t>commencement_date</a:t>
            </a:r>
          </a:p>
        </p:txBody>
      </p:sp>
      <p:sp>
        <p:nvSpPr>
          <p:cNvPr id="47" name="">
            <a:extLst xmlns:a="http://schemas.openxmlformats.org/drawingml/2006/main">
              <a:ext uri="{FF2B5EF4-FFF2-40B4-BE49-F238E27FC236}">
                <a16:creationId xmlns:a16="http://schemas.microsoft.com/office/drawing/2014/main" id="{EB2455B2-1295-4EDE-86C1-FD41FC0279B2}"/>
              </a:ext>
            </a:extLst>
          </p:cNvPr>
          <p:cNvSpPr>
            <a:spLocks xmlns:a="http://schemas.openxmlformats.org/drawingml/2006/main" noGrp="1"/>
          </p:cNvSpPr>
          <p:nvPr/>
        </p:nvSpPr>
        <p:spPr>
          <a:xfrm xmlns:a="http://schemas.openxmlformats.org/drawingml/2006/main">
            <a:off x="8705850" y="390525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verdict</a:t>
            </a:r>
          </a:p>
        </p:txBody>
      </p:sp>
      <p:sp>
        <p:nvSpPr>
          <p:cNvPr id="48" name="">
            <a:extLst xmlns:a="http://schemas.openxmlformats.org/drawingml/2006/main">
              <a:ext uri="{FF2B5EF4-FFF2-40B4-BE49-F238E27FC236}">
                <a16:creationId xmlns:a16="http://schemas.microsoft.com/office/drawing/2014/main" id="{AB7C7665-0E3D-4F2D-89E3-3A551488E0B7}"/>
              </a:ext>
            </a:extLst>
          </p:cNvPr>
          <p:cNvSpPr>
            <a:spLocks xmlns:a="http://schemas.openxmlformats.org/drawingml/2006/main" noGrp="1"/>
          </p:cNvSpPr>
          <p:nvPr/>
        </p:nvSpPr>
        <p:spPr>
          <a:xfrm xmlns:a="http://schemas.openxmlformats.org/drawingml/2006/main">
            <a:off x="9620250" y="3905250"/>
            <a:ext cx="1562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1</a:t>
            </a:r>
          </a:p>
        </p:txBody>
      </p:sp>
      <p:sp>
        <p:nvSpPr>
          <p:cNvPr id="49" name="">
            <a:extLst xmlns:a="http://schemas.openxmlformats.org/drawingml/2006/main">
              <a:ext uri="{FF2B5EF4-FFF2-40B4-BE49-F238E27FC236}">
                <a16:creationId xmlns:a16="http://schemas.microsoft.com/office/drawing/2014/main" id="{344CE914-A061-4D4D-8461-E20DD1BE4481}"/>
              </a:ext>
            </a:extLst>
          </p:cNvPr>
          <p:cNvSpPr>
            <a:spLocks xmlns:a="http://schemas.openxmlformats.org/drawingml/2006/main" noGrp="1"/>
          </p:cNvSpPr>
          <p:nvPr/>
        </p:nvSpPr>
        <p:spPr>
          <a:xfrm xmlns:a="http://schemas.openxmlformats.org/drawingml/2006/main">
            <a:off x="8515350" y="455295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B5483A"/>
                </a:solidFill>
              </a:defRPr>
            </a:pPr>
            <a:r>
              <a:rPr sz="1125" b="1">
                <a:solidFill>
                  <a:srgbClr val="B5483A"/>
                </a:solidFill>
              </a:rPr>
              <a:t>If any gate fails: abstain (verdict = null)</a:t>
            </a:r>
          </a:p>
        </p:txBody>
      </p:sp>
      <p:sp>
        <p:nvSpPr>
          <p:cNvPr id="50" name="">
            <a:extLst xmlns:a="http://schemas.openxmlformats.org/drawingml/2006/main">
              <a:ext uri="{FF2B5EF4-FFF2-40B4-BE49-F238E27FC236}">
                <a16:creationId xmlns:a16="http://schemas.microsoft.com/office/drawing/2014/main" id="{21DD76FA-6D99-4340-9F1C-54E02A2719E2}"/>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51" name="source-9">
            <a:extLst xmlns:a="http://schemas.openxmlformats.org/drawingml/2006/main">
              <a:ext uri="{FF2B5EF4-FFF2-40B4-BE49-F238E27FC236}">
                <a16:creationId xmlns:a16="http://schemas.microsoft.com/office/drawing/2014/main" id="{007FA0AB-A5D1-4C98-9D9F-1B993EEDAA2A}"/>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Report Fig. 2b  |  [7] v91 evidence schema, provenance ledger and decision trace</a:t>
            </a:r>
          </a:p>
        </p:txBody>
      </p:sp>
      <p:sp>
        <p:nvSpPr>
          <p:cNvPr id="52" name="page-9">
            <a:extLst xmlns:a="http://schemas.openxmlformats.org/drawingml/2006/main">
              <a:ext uri="{FF2B5EF4-FFF2-40B4-BE49-F238E27FC236}">
                <a16:creationId xmlns:a16="http://schemas.microsoft.com/office/drawing/2014/main" id="{7EECDA61-7623-44C7-9EF9-8EA40F248751}"/>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09</a:t>
            </a:r>
          </a:p>
        </p:txBody>
      </p:sp>
    </p:spTree>
    <p:extLst>
      <p:ext uri="{BB962C8B-B14F-4D97-AF65-F5344CB8AC3E}">
        <p14:creationId xmlns:p14="http://schemas.microsoft.com/office/powerpoint/2010/main" val="679945275"/>
      </p:ext>
    </p:extLst>
  </p:cSld>
</p:sld>
</file>

<file path=ppt/slides/slide10.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0" name="kicker-10">
            <a:extLst xmlns:a="http://schemas.openxmlformats.org/drawingml/2006/main">
              <a:ext uri="{FF2B5EF4-FFF2-40B4-BE49-F238E27FC236}">
                <a16:creationId xmlns:a16="http://schemas.microsoft.com/office/drawing/2014/main" id="{2CA3F696-72FD-4BAC-8FAD-F637F5947AFD}"/>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10">
            <a:extLst xmlns:a="http://schemas.openxmlformats.org/drawingml/2006/main">
              <a:ext uri="{FF2B5EF4-FFF2-40B4-BE49-F238E27FC236}">
                <a16:creationId xmlns:a16="http://schemas.microsoft.com/office/drawing/2014/main" id="{DEAB9FF2-4F4A-4C8D-8D36-0DE2F837A86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Score progression tracked changes in method</a:t>
            </a:r>
          </a:p>
        </p:txBody>
      </p:sp>
      <p:sp>
        <p:nvSpPr>
          <p:cNvPr id="3" name="">
            <a:extLst xmlns:a="http://schemas.openxmlformats.org/drawingml/2006/main">
              <a:ext uri="{FF2B5EF4-FFF2-40B4-BE49-F238E27FC236}">
                <a16:creationId xmlns:a16="http://schemas.microsoft.com/office/drawing/2014/main" id="{3ECEEDC4-19C1-4DD4-A20C-FD6128565382}"/>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B86DC8D7-8B74-4C4A-B19E-06970DE2D148}"/>
              </a:ext>
            </a:extLst>
          </p:cNvPr>
          <p:cNvSpPr>
            <a:spLocks xmlns:a="http://schemas.openxmlformats.org/drawingml/2006/main" noGrp="1"/>
          </p:cNvSpPr>
          <p:nvPr/>
        </p:nvSpPr>
        <p:spPr>
          <a:xfrm xmlns:a="http://schemas.openxmlformats.org/drawingml/2006/main">
            <a:off x="685800" y="1381125"/>
            <a:ext cx="885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Pivots, regressions, and reversions mattered more than a monotonic climb.</a:t>
            </a:r>
          </a:p>
        </p:txBody>
      </p:sp>
      <p:graphicFrame>
        <p:nvGraphicFramePr>
          <p:cNvPr id="24" name="Chart"/>
          <p:cNvGraphicFramePr/>
          <p:nvPr/>
        </p:nvGraphicFramePr>
        <p:xfrm>
          <a:off xmlns:a="http://schemas.openxmlformats.org/drawingml/2006/main" x="876300" y="2019300"/>
          <a:ext xmlns:a="http://schemas.openxmlformats.org/drawingml/2006/main" cx="8953500" cy="3467100"/>
        </p:xfrm>
        <a:graphic xmlns:a="http://schemas.openxmlformats.org/drawingml/2006/main">
          <a:graphicData uri="http://schemas.openxmlformats.org/drawingml/2006/chart">
            <c:chart xmlns:r="http://schemas.openxmlformats.org/officeDocument/2006/relationships" xmlns:c="http://schemas.openxmlformats.org/drawingml/2006/chart" r:id="R9987da4d35dc4173"/>
          </a:graphicData>
        </a:graphic>
      </p:graphicFrame>
      <p:sp>
        <p:nvSpPr>
          <p:cNvPr id="6" name="">
            <a:extLst xmlns:a="http://schemas.openxmlformats.org/drawingml/2006/main">
              <a:ext uri="{FF2B5EF4-FFF2-40B4-BE49-F238E27FC236}">
                <a16:creationId xmlns:a16="http://schemas.microsoft.com/office/drawing/2014/main" id="{046BD20E-4042-435F-AA3A-3376DCB3B104}"/>
              </a:ext>
            </a:extLst>
          </p:cNvPr>
          <p:cNvSpPr>
            <a:spLocks xmlns:a="http://schemas.openxmlformats.org/drawingml/2006/main" noGrp="1"/>
          </p:cNvSpPr>
          <p:nvPr/>
        </p:nvSpPr>
        <p:spPr>
          <a:xfrm xmlns:a="http://schemas.openxmlformats.org/drawingml/2006/main">
            <a:off x="9982200" y="2400300"/>
            <a:ext cx="1485900" cy="1295400"/>
          </a:xfrm>
          <a:prstGeom xmlns:a="http://schemas.openxmlformats.org/drawingml/2006/main" prst="roundRect">
            <a:avLst>
              <a:gd name="adj" fmla="val 11765"/>
            </a:avLst>
          </a:prstGeom>
          <a:solidFill xmlns:a="http://schemas.openxmlformats.org/drawingml/2006/main">
            <a:srgbClr val="DDF2EE"/>
          </a:solidFill>
          <a:ln xmlns:a="http://schemas.openxmlformats.org/drawingml/2006/main" w="9525">
            <a:solidFill>
              <a:srgbClr val="2A8C82"/>
            </a:solidFill>
            <a:prstDash val="solid"/>
          </a:ln>
        </p:spPr>
      </p:sp>
      <p:sp>
        <p:nvSpPr>
          <p:cNvPr id="7" name="">
            <a:extLst xmlns:a="http://schemas.openxmlformats.org/drawingml/2006/main">
              <a:ext uri="{FF2B5EF4-FFF2-40B4-BE49-F238E27FC236}">
                <a16:creationId xmlns:a16="http://schemas.microsoft.com/office/drawing/2014/main" id="{464B5EA6-FC81-4A3F-B6F1-910AB37902F7}"/>
              </a:ext>
            </a:extLst>
          </p:cNvPr>
          <p:cNvSpPr>
            <a:spLocks xmlns:a="http://schemas.openxmlformats.org/drawingml/2006/main" noGrp="1"/>
          </p:cNvSpPr>
          <p:nvPr/>
        </p:nvSpPr>
        <p:spPr>
          <a:xfrm xmlns:a="http://schemas.openxmlformats.org/drawingml/2006/main">
            <a:off x="10191750" y="2571750"/>
            <a:ext cx="1066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2A8C82"/>
                </a:solidFill>
              </a:defRPr>
            </a:pPr>
            <a:r>
              <a:rPr sz="1350" b="1">
                <a:solidFill>
                  <a:srgbClr val="2A8C82"/>
                </a:solidFill>
              </a:rPr>
              <a:t>v6</a:t>
            </a:r>
          </a:p>
        </p:txBody>
      </p:sp>
      <p:sp>
        <p:nvSpPr>
          <p:cNvPr id="8" name="">
            <a:extLst xmlns:a="http://schemas.openxmlformats.org/drawingml/2006/main">
              <a:ext uri="{FF2B5EF4-FFF2-40B4-BE49-F238E27FC236}">
                <a16:creationId xmlns:a16="http://schemas.microsoft.com/office/drawing/2014/main" id="{073A1651-547A-4606-A969-2ADD3FABDCB9}"/>
              </a:ext>
            </a:extLst>
          </p:cNvPr>
          <p:cNvSpPr>
            <a:spLocks xmlns:a="http://schemas.openxmlformats.org/drawingml/2006/main" noGrp="1"/>
          </p:cNvSpPr>
          <p:nvPr/>
        </p:nvSpPr>
        <p:spPr>
          <a:xfrm xmlns:a="http://schemas.openxmlformats.org/drawingml/2006/main">
            <a:off x="10153650" y="295275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0F172A"/>
                </a:solidFill>
              </a:defRPr>
            </a:pPr>
            <a:r>
              <a:rPr sz="2400" b="1">
                <a:solidFill>
                  <a:srgbClr val="0F172A"/>
                </a:solidFill>
              </a:rPr>
              <a:t>+0.106</a:t>
            </a:r>
          </a:p>
        </p:txBody>
      </p:sp>
      <p:sp>
        <p:nvSpPr>
          <p:cNvPr id="9" name="">
            <a:extLst xmlns:a="http://schemas.openxmlformats.org/drawingml/2006/main">
              <a:ext uri="{FF2B5EF4-FFF2-40B4-BE49-F238E27FC236}">
                <a16:creationId xmlns:a16="http://schemas.microsoft.com/office/drawing/2014/main" id="{019648AB-2810-4B34-9685-F40738AE050A}"/>
              </a:ext>
            </a:extLst>
          </p:cNvPr>
          <p:cNvSpPr>
            <a:spLocks xmlns:a="http://schemas.openxmlformats.org/drawingml/2006/main" noGrp="1"/>
          </p:cNvSpPr>
          <p:nvPr/>
        </p:nvSpPr>
        <p:spPr>
          <a:xfrm xmlns:a="http://schemas.openxmlformats.org/drawingml/2006/main">
            <a:off x="10134600" y="3381375"/>
            <a:ext cx="1181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routing pivot</a:t>
            </a:r>
          </a:p>
        </p:txBody>
      </p:sp>
      <p:sp>
        <p:nvSpPr>
          <p:cNvPr id="10" name="">
            <a:extLst xmlns:a="http://schemas.openxmlformats.org/drawingml/2006/main">
              <a:ext uri="{FF2B5EF4-FFF2-40B4-BE49-F238E27FC236}">
                <a16:creationId xmlns:a16="http://schemas.microsoft.com/office/drawing/2014/main" id="{561896D2-28AA-4175-A655-D1F28E81DE7D}"/>
              </a:ext>
            </a:extLst>
          </p:cNvPr>
          <p:cNvSpPr>
            <a:spLocks xmlns:a="http://schemas.openxmlformats.org/drawingml/2006/main" noGrp="1"/>
          </p:cNvSpPr>
          <p:nvPr/>
        </p:nvSpPr>
        <p:spPr>
          <a:xfrm xmlns:a="http://schemas.openxmlformats.org/drawingml/2006/main">
            <a:off x="9982200" y="3943350"/>
            <a:ext cx="1485900" cy="1295400"/>
          </a:xfrm>
          <a:prstGeom xmlns:a="http://schemas.openxmlformats.org/drawingml/2006/main" prst="roundRect">
            <a:avLst>
              <a:gd name="adj" fmla="val 11765"/>
            </a:avLst>
          </a:prstGeom>
          <a:solidFill xmlns:a="http://schemas.openxmlformats.org/drawingml/2006/main">
            <a:srgbClr val="FBF0D8"/>
          </a:solidFill>
          <a:ln xmlns:a="http://schemas.openxmlformats.org/drawingml/2006/main" w="9525">
            <a:solidFill>
              <a:srgbClr val="D59B32"/>
            </a:solidFill>
            <a:prstDash val="solid"/>
          </a:ln>
        </p:spPr>
      </p:sp>
      <p:sp>
        <p:nvSpPr>
          <p:cNvPr id="11" name="">
            <a:extLst xmlns:a="http://schemas.openxmlformats.org/drawingml/2006/main">
              <a:ext uri="{FF2B5EF4-FFF2-40B4-BE49-F238E27FC236}">
                <a16:creationId xmlns:a16="http://schemas.microsoft.com/office/drawing/2014/main" id="{2C2FC7B6-1840-4DC0-8532-149FA4ECB2BD}"/>
              </a:ext>
            </a:extLst>
          </p:cNvPr>
          <p:cNvSpPr>
            <a:spLocks xmlns:a="http://schemas.openxmlformats.org/drawingml/2006/main" noGrp="1"/>
          </p:cNvSpPr>
          <p:nvPr/>
        </p:nvSpPr>
        <p:spPr>
          <a:xfrm xmlns:a="http://schemas.openxmlformats.org/drawingml/2006/main">
            <a:off x="10191750" y="4114800"/>
            <a:ext cx="1066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D59B32"/>
                </a:solidFill>
              </a:defRPr>
            </a:pPr>
            <a:r>
              <a:rPr sz="1350" b="1">
                <a:solidFill>
                  <a:srgbClr val="D59B32"/>
                </a:solidFill>
              </a:rPr>
              <a:t>v91</a:t>
            </a:r>
          </a:p>
        </p:txBody>
      </p:sp>
      <p:sp>
        <p:nvSpPr>
          <p:cNvPr id="12" name="">
            <a:extLst xmlns:a="http://schemas.openxmlformats.org/drawingml/2006/main">
              <a:ext uri="{FF2B5EF4-FFF2-40B4-BE49-F238E27FC236}">
                <a16:creationId xmlns:a16="http://schemas.microsoft.com/office/drawing/2014/main" id="{966CB9F8-9EF7-44E6-B882-0972C646BED3}"/>
              </a:ext>
            </a:extLst>
          </p:cNvPr>
          <p:cNvSpPr>
            <a:spLocks xmlns:a="http://schemas.openxmlformats.org/drawingml/2006/main" noGrp="1"/>
          </p:cNvSpPr>
          <p:nvPr/>
        </p:nvSpPr>
        <p:spPr>
          <a:xfrm xmlns:a="http://schemas.openxmlformats.org/drawingml/2006/main">
            <a:off x="10153650" y="449580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0F172A"/>
                </a:solidFill>
              </a:defRPr>
            </a:pPr>
            <a:r>
              <a:rPr sz="2400" b="1">
                <a:solidFill>
                  <a:srgbClr val="0F172A"/>
                </a:solidFill>
              </a:rPr>
              <a:t>0.967</a:t>
            </a:r>
          </a:p>
        </p:txBody>
      </p:sp>
      <p:sp>
        <p:nvSpPr>
          <p:cNvPr id="13" name="">
            <a:extLst xmlns:a="http://schemas.openxmlformats.org/drawingml/2006/main">
              <a:ext uri="{FF2B5EF4-FFF2-40B4-BE49-F238E27FC236}">
                <a16:creationId xmlns:a16="http://schemas.microsoft.com/office/drawing/2014/main" id="{B3653432-B39A-4840-AA4C-D8C435B79444}"/>
              </a:ext>
            </a:extLst>
          </p:cNvPr>
          <p:cNvSpPr>
            <a:spLocks xmlns:a="http://schemas.openxmlformats.org/drawingml/2006/main" noGrp="1"/>
          </p:cNvSpPr>
          <p:nvPr/>
        </p:nvSpPr>
        <p:spPr>
          <a:xfrm xmlns:a="http://schemas.openxmlformats.org/drawingml/2006/main">
            <a:off x="10134600" y="4924425"/>
            <a:ext cx="1181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typed relations</a:t>
            </a:r>
          </a:p>
        </p:txBody>
      </p:sp>
      <p:sp>
        <p:nvSpPr>
          <p:cNvPr id="14" name="">
            <a:extLst xmlns:a="http://schemas.openxmlformats.org/drawingml/2006/main">
              <a:ext uri="{FF2B5EF4-FFF2-40B4-BE49-F238E27FC236}">
                <a16:creationId xmlns:a16="http://schemas.microsoft.com/office/drawing/2014/main" id="{6DDFA4E3-A441-40AC-A17D-F7AE628CA502}"/>
              </a:ext>
            </a:extLst>
          </p:cNvPr>
          <p:cNvSpPr>
            <a:spLocks xmlns:a="http://schemas.openxmlformats.org/drawingml/2006/main" noGrp="1"/>
          </p:cNvSpPr>
          <p:nvPr/>
        </p:nvSpPr>
        <p:spPr>
          <a:xfrm xmlns:a="http://schemas.openxmlformats.org/drawingml/2006/main">
            <a:off x="2019300" y="56578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1F5A7A"/>
                </a:solidFill>
              </a:defRPr>
            </a:pPr>
            <a:r>
              <a:rPr sz="1050" b="1">
                <a:solidFill>
                  <a:srgbClr val="1F5A7A"/>
                </a:solidFill>
              </a:rPr>
              <a:t>v37: provenance gate</a:t>
            </a:r>
          </a:p>
        </p:txBody>
      </p:sp>
      <p:sp>
        <p:nvSpPr>
          <p:cNvPr id="15" name="">
            <a:extLst xmlns:a="http://schemas.openxmlformats.org/drawingml/2006/main">
              <a:ext uri="{FF2B5EF4-FFF2-40B4-BE49-F238E27FC236}">
                <a16:creationId xmlns:a16="http://schemas.microsoft.com/office/drawing/2014/main" id="{0C10E8CE-9794-4E12-A9D6-F1E2F98E7D0B}"/>
              </a:ext>
            </a:extLst>
          </p:cNvPr>
          <p:cNvSpPr>
            <a:spLocks xmlns:a="http://schemas.openxmlformats.org/drawingml/2006/main" noGrp="1"/>
          </p:cNvSpPr>
          <p:nvPr/>
        </p:nvSpPr>
        <p:spPr>
          <a:xfrm xmlns:a="http://schemas.openxmlformats.org/drawingml/2006/main">
            <a:off x="4953000" y="5657850"/>
            <a:ext cx="238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B5483A"/>
                </a:solidFill>
              </a:defRPr>
            </a:pPr>
            <a:r>
              <a:rPr sz="1050" b="1">
                <a:solidFill>
                  <a:srgbClr val="B5483A"/>
                </a:solidFill>
              </a:rPr>
              <a:t>v87: regression -&gt; revert</a:t>
            </a:r>
          </a:p>
        </p:txBody>
      </p:sp>
      <p:sp>
        <p:nvSpPr>
          <p:cNvPr id="16" name="">
            <a:extLst xmlns:a="http://schemas.openxmlformats.org/drawingml/2006/main">
              <a:ext uri="{FF2B5EF4-FFF2-40B4-BE49-F238E27FC236}">
                <a16:creationId xmlns:a16="http://schemas.microsoft.com/office/drawing/2014/main" id="{861FF3B3-49B8-4C7B-A309-B6F697451AEC}"/>
              </a:ext>
            </a:extLst>
          </p:cNvPr>
          <p:cNvSpPr>
            <a:spLocks xmlns:a="http://schemas.openxmlformats.org/drawingml/2006/main" noGrp="1"/>
          </p:cNvSpPr>
          <p:nvPr/>
        </p:nvSpPr>
        <p:spPr>
          <a:xfrm xmlns:a="http://schemas.openxmlformats.org/drawingml/2006/main">
            <a:off x="7829550" y="5657850"/>
            <a:ext cx="238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D59B32"/>
                </a:solidFill>
              </a:defRPr>
            </a:pPr>
            <a:r>
              <a:rPr sz="1050" b="1">
                <a:solidFill>
                  <a:srgbClr val="D59B32"/>
                </a:solidFill>
              </a:rPr>
              <a:t>v91: relation-typed evidence</a:t>
            </a:r>
          </a:p>
        </p:txBody>
      </p:sp>
      <p:sp>
        <p:nvSpPr>
          <p:cNvPr id="17" name="">
            <a:extLst xmlns:a="http://schemas.openxmlformats.org/drawingml/2006/main">
              <a:ext uri="{FF2B5EF4-FFF2-40B4-BE49-F238E27FC236}">
                <a16:creationId xmlns:a16="http://schemas.microsoft.com/office/drawing/2014/main" id="{15B43BA7-C2FB-4687-9147-2CF8F0C62A3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source-10">
            <a:extLst xmlns:a="http://schemas.openxmlformats.org/drawingml/2006/main">
              <a:ext uri="{FF2B5EF4-FFF2-40B4-BE49-F238E27FC236}">
                <a16:creationId xmlns:a16="http://schemas.microsoft.com/office/drawing/2014/main" id="{9B5BF208-DAEC-4961-9D96-77F9D19B1868}"/>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Scored Phase 1 experiment ledger and Kaggle public leaderboard</a:t>
            </a:r>
          </a:p>
        </p:txBody>
      </p:sp>
      <p:sp>
        <p:nvSpPr>
          <p:cNvPr id="19" name="page-10">
            <a:extLst xmlns:a="http://schemas.openxmlformats.org/drawingml/2006/main">
              <a:ext uri="{FF2B5EF4-FFF2-40B4-BE49-F238E27FC236}">
                <a16:creationId xmlns:a16="http://schemas.microsoft.com/office/drawing/2014/main" id="{FD62EF52-4423-4601-BE94-003728F65874}"/>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10</a:t>
            </a:r>
          </a:p>
        </p:txBody>
      </p:sp>
    </p:spTree>
    <p:extLst>
      <p:ext uri="{BB962C8B-B14F-4D97-AF65-F5344CB8AC3E}">
        <p14:creationId xmlns:p14="http://schemas.microsoft.com/office/powerpoint/2010/main" val="1213699094"/>
      </p:ext>
    </p:extLst>
  </p:cSld>
</p:sld>
</file>

<file path=ppt/slides/slide1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11">
            <a:extLst xmlns:a="http://schemas.openxmlformats.org/drawingml/2006/main">
              <a:ext uri="{FF2B5EF4-FFF2-40B4-BE49-F238E27FC236}">
                <a16:creationId xmlns:a16="http://schemas.microsoft.com/office/drawing/2014/main" id="{F3DBFDA9-BA7F-4D04-898E-3826BBB705E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11">
            <a:extLst xmlns:a="http://schemas.openxmlformats.org/drawingml/2006/main">
              <a:ext uri="{FF2B5EF4-FFF2-40B4-BE49-F238E27FC236}">
                <a16:creationId xmlns:a16="http://schemas.microsoft.com/office/drawing/2014/main" id="{F470E77B-A5D5-484D-A575-9AACD1181DB8}"/>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Decision logs turned failed runs into routing rules</a:t>
            </a:r>
          </a:p>
        </p:txBody>
      </p:sp>
      <p:sp>
        <p:nvSpPr>
          <p:cNvPr id="3" name="">
            <a:extLst xmlns:a="http://schemas.openxmlformats.org/drawingml/2006/main">
              <a:ext uri="{FF2B5EF4-FFF2-40B4-BE49-F238E27FC236}">
                <a16:creationId xmlns:a16="http://schemas.microsoft.com/office/drawing/2014/main" id="{97FFCB1D-63A8-4CD5-8B59-453EA5CE3A84}"/>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35F503D0-3137-41EF-B3CC-3BBE7ACB20D0}"/>
              </a:ext>
            </a:extLst>
          </p:cNvPr>
          <p:cNvSpPr>
            <a:spLocks xmlns:a="http://schemas.openxmlformats.org/drawingml/2006/main" noGrp="1"/>
          </p:cNvSpPr>
          <p:nvPr/>
        </p:nvSpPr>
        <p:spPr>
          <a:xfrm xmlns:a="http://schemas.openxmlformats.org/drawingml/2006/main">
            <a:off x="685800" y="1390650"/>
            <a:ext cx="904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Each negative result changed what later versions were allowed to decide.</a:t>
            </a:r>
          </a:p>
        </p:txBody>
      </p:sp>
      <p:sp>
        <p:nvSpPr>
          <p:cNvPr id="5" name="">
            <a:extLst xmlns:a="http://schemas.openxmlformats.org/drawingml/2006/main">
              <a:ext uri="{FF2B5EF4-FFF2-40B4-BE49-F238E27FC236}">
                <a16:creationId xmlns:a16="http://schemas.microsoft.com/office/drawing/2014/main" id="{77E824C1-0A20-4229-9A1F-6B9464A87CE4}"/>
              </a:ext>
            </a:extLst>
          </p:cNvPr>
          <p:cNvSpPr>
            <a:spLocks xmlns:a="http://schemas.openxmlformats.org/drawingml/2006/main" noGrp="1"/>
          </p:cNvSpPr>
          <p:nvPr/>
        </p:nvSpPr>
        <p:spPr>
          <a:xfrm xmlns:a="http://schemas.openxmlformats.org/drawingml/2006/main">
            <a:off x="876300" y="20764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Experiment</a:t>
            </a:r>
          </a:p>
        </p:txBody>
      </p:sp>
      <p:sp>
        <p:nvSpPr>
          <p:cNvPr id="6" name="">
            <a:extLst xmlns:a="http://schemas.openxmlformats.org/drawingml/2006/main">
              <a:ext uri="{FF2B5EF4-FFF2-40B4-BE49-F238E27FC236}">
                <a16:creationId xmlns:a16="http://schemas.microsoft.com/office/drawing/2014/main" id="{B46F8802-D2A8-4A62-8909-A5DFC38F8160}"/>
              </a:ext>
            </a:extLst>
          </p:cNvPr>
          <p:cNvSpPr>
            <a:spLocks xmlns:a="http://schemas.openxmlformats.org/drawingml/2006/main" noGrp="1"/>
          </p:cNvSpPr>
          <p:nvPr/>
        </p:nvSpPr>
        <p:spPr>
          <a:xfrm xmlns:a="http://schemas.openxmlformats.org/drawingml/2006/main">
            <a:off x="3733800" y="20764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Observed result</a:t>
            </a:r>
          </a:p>
        </p:txBody>
      </p:sp>
      <p:sp>
        <p:nvSpPr>
          <p:cNvPr id="7" name="">
            <a:extLst xmlns:a="http://schemas.openxmlformats.org/drawingml/2006/main">
              <a:ext uri="{FF2B5EF4-FFF2-40B4-BE49-F238E27FC236}">
                <a16:creationId xmlns:a16="http://schemas.microsoft.com/office/drawing/2014/main" id="{DA0E359B-EE1C-4181-8ACD-EEE5C9CD35CA}"/>
              </a:ext>
            </a:extLst>
          </p:cNvPr>
          <p:cNvSpPr>
            <a:spLocks xmlns:a="http://schemas.openxmlformats.org/drawingml/2006/main" noGrp="1"/>
          </p:cNvSpPr>
          <p:nvPr/>
        </p:nvSpPr>
        <p:spPr>
          <a:xfrm xmlns:a="http://schemas.openxmlformats.org/drawingml/2006/main">
            <a:off x="7086600" y="20764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Decision recorded</a:t>
            </a:r>
          </a:p>
        </p:txBody>
      </p:sp>
      <p:sp>
        <p:nvSpPr>
          <p:cNvPr id="8" name="">
            <a:extLst xmlns:a="http://schemas.openxmlformats.org/drawingml/2006/main">
              <a:ext uri="{FF2B5EF4-FFF2-40B4-BE49-F238E27FC236}">
                <a16:creationId xmlns:a16="http://schemas.microsoft.com/office/drawing/2014/main" id="{23473C24-2D3B-42B7-9AE5-6117D6B692FE}"/>
              </a:ext>
            </a:extLst>
          </p:cNvPr>
          <p:cNvSpPr>
            <a:spLocks xmlns:a="http://schemas.openxmlformats.org/drawingml/2006/main" noGrp="1"/>
          </p:cNvSpPr>
          <p:nvPr/>
        </p:nvSpPr>
        <p:spPr>
          <a:xfrm xmlns:a="http://schemas.openxmlformats.org/drawingml/2006/main">
            <a:off x="876300" y="2419350"/>
            <a:ext cx="104013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9" name="">
            <a:extLst xmlns:a="http://schemas.openxmlformats.org/drawingml/2006/main">
              <a:ext uri="{FF2B5EF4-FFF2-40B4-BE49-F238E27FC236}">
                <a16:creationId xmlns:a16="http://schemas.microsoft.com/office/drawing/2014/main" id="{E9812DC9-7936-4F8C-ABC5-29D35116D285}"/>
              </a:ext>
            </a:extLst>
          </p:cNvPr>
          <p:cNvSpPr>
            <a:spLocks xmlns:a="http://schemas.openxmlformats.org/drawingml/2006/main" noGrp="1"/>
          </p:cNvSpPr>
          <p:nvPr/>
        </p:nvSpPr>
        <p:spPr>
          <a:xfrm xmlns:a="http://schemas.openxmlformats.org/drawingml/2006/main">
            <a:off x="876300" y="25717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Prompt voting</a:t>
            </a:r>
          </a:p>
        </p:txBody>
      </p:sp>
      <p:sp>
        <p:nvSpPr>
          <p:cNvPr id="10" name="">
            <a:extLst xmlns:a="http://schemas.openxmlformats.org/drawingml/2006/main">
              <a:ext uri="{FF2B5EF4-FFF2-40B4-BE49-F238E27FC236}">
                <a16:creationId xmlns:a16="http://schemas.microsoft.com/office/drawing/2014/main" id="{E73E9CDD-11AD-4AD7-8C81-0CC7B6BF3ACB}"/>
              </a:ext>
            </a:extLst>
          </p:cNvPr>
          <p:cNvSpPr>
            <a:spLocks xmlns:a="http://schemas.openxmlformats.org/drawingml/2006/main" noGrp="1"/>
          </p:cNvSpPr>
          <p:nvPr/>
        </p:nvSpPr>
        <p:spPr>
          <a:xfrm xmlns:a="http://schemas.openxmlformats.org/drawingml/2006/main">
            <a:off x="3733800" y="25717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0.851 local, 0.783 public</a:t>
            </a:r>
          </a:p>
        </p:txBody>
      </p:sp>
      <p:sp>
        <p:nvSpPr>
          <p:cNvPr id="11" name="">
            <a:extLst xmlns:a="http://schemas.openxmlformats.org/drawingml/2006/main">
              <a:ext uri="{FF2B5EF4-FFF2-40B4-BE49-F238E27FC236}">
                <a16:creationId xmlns:a16="http://schemas.microsoft.com/office/drawing/2014/main" id="{9FEFC2B3-20FB-4D3D-A707-8D05DA3835A7}"/>
              </a:ext>
            </a:extLst>
          </p:cNvPr>
          <p:cNvSpPr>
            <a:spLocks xmlns:a="http://schemas.openxmlformats.org/drawingml/2006/main" noGrp="1"/>
          </p:cNvSpPr>
          <p:nvPr/>
        </p:nvSpPr>
        <p:spPr>
          <a:xfrm xmlns:a="http://schemas.openxmlformats.org/drawingml/2006/main">
            <a:off x="7086600" y="25717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Stop prompt churn; require new evidence</a:t>
            </a:r>
          </a:p>
        </p:txBody>
      </p:sp>
      <p:sp>
        <p:nvSpPr>
          <p:cNvPr id="12" name="">
            <a:extLst xmlns:a="http://schemas.openxmlformats.org/drawingml/2006/main">
              <a:ext uri="{FF2B5EF4-FFF2-40B4-BE49-F238E27FC236}">
                <a16:creationId xmlns:a16="http://schemas.microsoft.com/office/drawing/2014/main" id="{D54DFCDC-B420-4B3D-955E-7361D5E9D7D1}"/>
              </a:ext>
            </a:extLst>
          </p:cNvPr>
          <p:cNvSpPr>
            <a:spLocks xmlns:a="http://schemas.openxmlformats.org/drawingml/2006/main" noGrp="1"/>
          </p:cNvSpPr>
          <p:nvPr/>
        </p:nvSpPr>
        <p:spPr>
          <a:xfrm xmlns:a="http://schemas.openxmlformats.org/drawingml/2006/main">
            <a:off x="876300" y="32194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3" name="">
            <a:extLst xmlns:a="http://schemas.openxmlformats.org/drawingml/2006/main">
              <a:ext uri="{FF2B5EF4-FFF2-40B4-BE49-F238E27FC236}">
                <a16:creationId xmlns:a16="http://schemas.microsoft.com/office/drawing/2014/main" id="{AE6E5141-BAC6-4D0D-A707-F9A59AB24B34}"/>
              </a:ext>
            </a:extLst>
          </p:cNvPr>
          <p:cNvSpPr>
            <a:spLocks xmlns:a="http://schemas.openxmlformats.org/drawingml/2006/main" noGrp="1"/>
          </p:cNvSpPr>
          <p:nvPr/>
        </p:nvSpPr>
        <p:spPr>
          <a:xfrm xmlns:a="http://schemas.openxmlformats.org/drawingml/2006/main">
            <a:off x="876300" y="34099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TF-IDF verifier</a:t>
            </a:r>
          </a:p>
        </p:txBody>
      </p:sp>
      <p:sp>
        <p:nvSpPr>
          <p:cNvPr id="14" name="">
            <a:extLst xmlns:a="http://schemas.openxmlformats.org/drawingml/2006/main">
              <a:ext uri="{FF2B5EF4-FFF2-40B4-BE49-F238E27FC236}">
                <a16:creationId xmlns:a16="http://schemas.microsoft.com/office/drawing/2014/main" id="{F413A6E9-A286-4226-A017-21F74968F7A2}"/>
              </a:ext>
            </a:extLst>
          </p:cNvPr>
          <p:cNvSpPr>
            <a:spLocks xmlns:a="http://schemas.openxmlformats.org/drawingml/2006/main" noGrp="1"/>
          </p:cNvSpPr>
          <p:nvPr/>
        </p:nvSpPr>
        <p:spPr>
          <a:xfrm xmlns:a="http://schemas.openxmlformats.org/drawingml/2006/main">
            <a:off x="3733800" y="34099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0.826 out of fold</a:t>
            </a:r>
          </a:p>
        </p:txBody>
      </p:sp>
      <p:sp>
        <p:nvSpPr>
          <p:cNvPr id="15" name="">
            <a:extLst xmlns:a="http://schemas.openxmlformats.org/drawingml/2006/main">
              <a:ext uri="{FF2B5EF4-FFF2-40B4-BE49-F238E27FC236}">
                <a16:creationId xmlns:a16="http://schemas.microsoft.com/office/drawing/2014/main" id="{EEC688B5-A246-4357-A4CA-A06597FEC0D6}"/>
              </a:ext>
            </a:extLst>
          </p:cNvPr>
          <p:cNvSpPr>
            <a:spLocks xmlns:a="http://schemas.openxmlformats.org/drawingml/2006/main" noGrp="1"/>
          </p:cNvSpPr>
          <p:nvPr/>
        </p:nvSpPr>
        <p:spPr>
          <a:xfrm xmlns:a="http://schemas.openxmlformats.org/drawingml/2006/main">
            <a:off x="7086600" y="34099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Keep as a portable fallback, not a scorer</a:t>
            </a:r>
          </a:p>
        </p:txBody>
      </p:sp>
      <p:sp>
        <p:nvSpPr>
          <p:cNvPr id="16" name="">
            <a:extLst xmlns:a="http://schemas.openxmlformats.org/drawingml/2006/main">
              <a:ext uri="{FF2B5EF4-FFF2-40B4-BE49-F238E27FC236}">
                <a16:creationId xmlns:a16="http://schemas.microsoft.com/office/drawing/2014/main" id="{94AF8249-7180-4559-8050-84F9B3E3BAAB}"/>
              </a:ext>
            </a:extLst>
          </p:cNvPr>
          <p:cNvSpPr>
            <a:spLocks xmlns:a="http://schemas.openxmlformats.org/drawingml/2006/main" noGrp="1"/>
          </p:cNvSpPr>
          <p:nvPr/>
        </p:nvSpPr>
        <p:spPr>
          <a:xfrm xmlns:a="http://schemas.openxmlformats.org/drawingml/2006/main">
            <a:off x="876300" y="40576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290E46DA-E04F-4675-B504-44C10289BC05}"/>
              </a:ext>
            </a:extLst>
          </p:cNvPr>
          <p:cNvSpPr>
            <a:spLocks xmlns:a="http://schemas.openxmlformats.org/drawingml/2006/main" noGrp="1"/>
          </p:cNvSpPr>
          <p:nvPr/>
        </p:nvSpPr>
        <p:spPr>
          <a:xfrm xmlns:a="http://schemas.openxmlformats.org/drawingml/2006/main">
            <a:off x="876300" y="42481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Raw QA retrieval</a:t>
            </a:r>
          </a:p>
        </p:txBody>
      </p:sp>
      <p:sp>
        <p:nvSpPr>
          <p:cNvPr id="18" name="">
            <a:extLst xmlns:a="http://schemas.openxmlformats.org/drawingml/2006/main">
              <a:ext uri="{FF2B5EF4-FFF2-40B4-BE49-F238E27FC236}">
                <a16:creationId xmlns:a16="http://schemas.microsoft.com/office/drawing/2014/main" id="{1479F48A-89E0-44F0-88EA-BD77B7513DD6}"/>
              </a:ext>
            </a:extLst>
          </p:cNvPr>
          <p:cNvSpPr>
            <a:spLocks xmlns:a="http://schemas.openxmlformats.org/drawingml/2006/main" noGrp="1"/>
          </p:cNvSpPr>
          <p:nvPr/>
        </p:nvSpPr>
        <p:spPr>
          <a:xfrm xmlns:a="http://schemas.openxmlformats.org/drawingml/2006/main">
            <a:off x="3733800" y="42481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Relevant passage, wrong relation</a:t>
            </a:r>
          </a:p>
        </p:txBody>
      </p:sp>
      <p:sp>
        <p:nvSpPr>
          <p:cNvPr id="19" name="">
            <a:extLst xmlns:a="http://schemas.openxmlformats.org/drawingml/2006/main">
              <a:ext uri="{FF2B5EF4-FFF2-40B4-BE49-F238E27FC236}">
                <a16:creationId xmlns:a16="http://schemas.microsoft.com/office/drawing/2014/main" id="{400EA1C2-539F-400C-AD8F-4A8EDA80F814}"/>
              </a:ext>
            </a:extLst>
          </p:cNvPr>
          <p:cNvSpPr>
            <a:spLocks xmlns:a="http://schemas.openxmlformats.org/drawingml/2006/main" noGrp="1"/>
          </p:cNvSpPr>
          <p:nvPr/>
        </p:nvSpPr>
        <p:spPr>
          <a:xfrm xmlns:a="http://schemas.openxmlformats.org/drawingml/2006/main">
            <a:off x="7086600" y="42481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Retrieval proposes; it never decides</a:t>
            </a:r>
          </a:p>
        </p:txBody>
      </p:sp>
      <p:sp>
        <p:nvSpPr>
          <p:cNvPr id="20" name="">
            <a:extLst xmlns:a="http://schemas.openxmlformats.org/drawingml/2006/main">
              <a:ext uri="{FF2B5EF4-FFF2-40B4-BE49-F238E27FC236}">
                <a16:creationId xmlns:a16="http://schemas.microsoft.com/office/drawing/2014/main" id="{65FD9291-C64C-4A98-9723-52DAC70FF1B6}"/>
              </a:ext>
            </a:extLst>
          </p:cNvPr>
          <p:cNvSpPr>
            <a:spLocks xmlns:a="http://schemas.openxmlformats.org/drawingml/2006/main" noGrp="1"/>
          </p:cNvSpPr>
          <p:nvPr/>
        </p:nvSpPr>
        <p:spPr>
          <a:xfrm xmlns:a="http://schemas.openxmlformats.org/drawingml/2006/main">
            <a:off x="876300" y="48958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CC682344-7258-4D8C-90E5-0A6ADE46521A}"/>
              </a:ext>
            </a:extLst>
          </p:cNvPr>
          <p:cNvSpPr>
            <a:spLocks xmlns:a="http://schemas.openxmlformats.org/drawingml/2006/main" noGrp="1"/>
          </p:cNvSpPr>
          <p:nvPr/>
        </p:nvSpPr>
        <p:spPr>
          <a:xfrm xmlns:a="http://schemas.openxmlformats.org/drawingml/2006/main">
            <a:off x="876300" y="50863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v87 fact edits</a:t>
            </a:r>
          </a:p>
        </p:txBody>
      </p:sp>
      <p:sp>
        <p:nvSpPr>
          <p:cNvPr id="22" name="">
            <a:extLst xmlns:a="http://schemas.openxmlformats.org/drawingml/2006/main">
              <a:ext uri="{FF2B5EF4-FFF2-40B4-BE49-F238E27FC236}">
                <a16:creationId xmlns:a16="http://schemas.microsoft.com/office/drawing/2014/main" id="{19FCE310-D45E-426D-8108-0C7690CA2F97}"/>
              </a:ext>
            </a:extLst>
          </p:cNvPr>
          <p:cNvSpPr>
            <a:spLocks xmlns:a="http://schemas.openxmlformats.org/drawingml/2006/main" noGrp="1"/>
          </p:cNvSpPr>
          <p:nvPr/>
        </p:nvSpPr>
        <p:spPr>
          <a:xfrm xmlns:a="http://schemas.openxmlformats.org/drawingml/2006/main">
            <a:off x="3733800" y="50863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B5483A"/>
                </a:solidFill>
              </a:defRPr>
            </a:pPr>
            <a:r>
              <a:rPr sz="1425" b="1">
                <a:solidFill>
                  <a:srgbClr val="B5483A"/>
                </a:solidFill>
              </a:rPr>
              <a:t>0.966 to 0.965 public</a:t>
            </a:r>
          </a:p>
        </p:txBody>
      </p:sp>
      <p:sp>
        <p:nvSpPr>
          <p:cNvPr id="23" name="">
            <a:extLst xmlns:a="http://schemas.openxmlformats.org/drawingml/2006/main">
              <a:ext uri="{FF2B5EF4-FFF2-40B4-BE49-F238E27FC236}">
                <a16:creationId xmlns:a16="http://schemas.microsoft.com/office/drawing/2014/main" id="{2F7ECC2E-92FF-45D4-9DC5-069604F32255}"/>
              </a:ext>
            </a:extLst>
          </p:cNvPr>
          <p:cNvSpPr>
            <a:spLocks xmlns:a="http://schemas.openxmlformats.org/drawingml/2006/main" noGrp="1"/>
          </p:cNvSpPr>
          <p:nvPr/>
        </p:nvSpPr>
        <p:spPr>
          <a:xfrm xmlns:a="http://schemas.openxmlformats.org/drawingml/2006/main">
            <a:off x="7086600" y="50863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Require source + predicate; revert</a:t>
            </a:r>
          </a:p>
        </p:txBody>
      </p:sp>
      <p:sp>
        <p:nvSpPr>
          <p:cNvPr id="24" name="">
            <a:extLst xmlns:a="http://schemas.openxmlformats.org/drawingml/2006/main">
              <a:ext uri="{FF2B5EF4-FFF2-40B4-BE49-F238E27FC236}">
                <a16:creationId xmlns:a16="http://schemas.microsoft.com/office/drawing/2014/main" id="{DC828BC4-8155-4821-8B0A-80DD2FABA1EC}"/>
              </a:ext>
            </a:extLst>
          </p:cNvPr>
          <p:cNvSpPr>
            <a:spLocks xmlns:a="http://schemas.openxmlformats.org/drawingml/2006/main" noGrp="1"/>
          </p:cNvSpPr>
          <p:nvPr/>
        </p:nvSpPr>
        <p:spPr>
          <a:xfrm xmlns:a="http://schemas.openxmlformats.org/drawingml/2006/main">
            <a:off x="876300" y="57340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6EC760CA-B5F7-4DC8-9A5A-FCB5AAC473F7}"/>
              </a:ext>
            </a:extLst>
          </p:cNvPr>
          <p:cNvSpPr>
            <a:spLocks xmlns:a="http://schemas.openxmlformats.org/drawingml/2006/main" noGrp="1"/>
          </p:cNvSpPr>
          <p:nvPr/>
        </p:nvSpPr>
        <p:spPr>
          <a:xfrm xmlns:a="http://schemas.openxmlformats.org/drawingml/2006/main">
            <a:off x="1295400" y="5886450"/>
            <a:ext cx="9601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B5483A"/>
                </a:solidFill>
              </a:defRPr>
            </a:pPr>
            <a:r>
              <a:rPr sz="1500" b="1">
                <a:solidFill>
                  <a:srgbClr val="B5483A"/>
                </a:solidFill>
              </a:rPr>
              <a:t>Admission rule: a change must add an evidence trace and preserve the regression suite.</a:t>
            </a:r>
          </a:p>
        </p:txBody>
      </p:sp>
      <p:sp>
        <p:nvSpPr>
          <p:cNvPr id="26" name="">
            <a:extLst xmlns:a="http://schemas.openxmlformats.org/drawingml/2006/main">
              <a:ext uri="{FF2B5EF4-FFF2-40B4-BE49-F238E27FC236}">
                <a16:creationId xmlns:a16="http://schemas.microsoft.com/office/drawing/2014/main" id="{7238477F-2F66-4E4B-958D-C39DAF464ADB}"/>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11">
            <a:extLst xmlns:a="http://schemas.openxmlformats.org/drawingml/2006/main">
              <a:ext uri="{FF2B5EF4-FFF2-40B4-BE49-F238E27FC236}">
                <a16:creationId xmlns:a16="http://schemas.microsoft.com/office/drawing/2014/main" id="{39066BF5-584F-4948-9803-17F52E2E10BC}"/>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Rejected and scored experiment records in EXPERIMENT.log</a:t>
            </a:r>
          </a:p>
        </p:txBody>
      </p:sp>
      <p:sp>
        <p:nvSpPr>
          <p:cNvPr id="28" name="page-11">
            <a:extLst xmlns:a="http://schemas.openxmlformats.org/drawingml/2006/main">
              <a:ext uri="{FF2B5EF4-FFF2-40B4-BE49-F238E27FC236}">
                <a16:creationId xmlns:a16="http://schemas.microsoft.com/office/drawing/2014/main" id="{8609A73E-D053-40E8-A88F-F9BC8DF2A171}"/>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11</a:t>
            </a:r>
          </a:p>
        </p:txBody>
      </p:sp>
    </p:spTree>
    <p:extLst>
      <p:ext uri="{BB962C8B-B14F-4D97-AF65-F5344CB8AC3E}">
        <p14:creationId xmlns:p14="http://schemas.microsoft.com/office/powerpoint/2010/main" val="572719868"/>
      </p:ext>
    </p:extLst>
  </p:cSld>
</p:sld>
</file>

<file path=ppt/slides/slide1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6" name="kicker-12">
            <a:extLst xmlns:a="http://schemas.openxmlformats.org/drawingml/2006/main">
              <a:ext uri="{FF2B5EF4-FFF2-40B4-BE49-F238E27FC236}">
                <a16:creationId xmlns:a16="http://schemas.microsoft.com/office/drawing/2014/main" id="{F4CED5DC-4B22-4C6A-B766-616C6992A8F8}"/>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12">
            <a:extLst xmlns:a="http://schemas.openxmlformats.org/drawingml/2006/main">
              <a:ext uri="{FF2B5EF4-FFF2-40B4-BE49-F238E27FC236}">
                <a16:creationId xmlns:a16="http://schemas.microsoft.com/office/drawing/2014/main" id="{4BD22BE0-D388-4520-A8C1-2C8C4C5BE8E1}"/>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Regression gates separated progress from score noise</a:t>
            </a:r>
          </a:p>
        </p:txBody>
      </p:sp>
      <p:sp>
        <p:nvSpPr>
          <p:cNvPr id="3" name="">
            <a:extLst xmlns:a="http://schemas.openxmlformats.org/drawingml/2006/main">
              <a:ext uri="{FF2B5EF4-FFF2-40B4-BE49-F238E27FC236}">
                <a16:creationId xmlns:a16="http://schemas.microsoft.com/office/drawing/2014/main" id="{D22F6FE7-EB63-45E0-B91D-153063084008}"/>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464A1689-EE76-41C6-A480-F0E579FAD5A9}"/>
              </a:ext>
            </a:extLst>
          </p:cNvPr>
          <p:cNvSpPr>
            <a:spLocks xmlns:a="http://schemas.openxmlformats.org/drawingml/2006/main" noGrp="1"/>
          </p:cNvSpPr>
          <p:nvPr/>
        </p:nvSpPr>
        <p:spPr>
          <a:xfrm xmlns:a="http://schemas.openxmlformats.org/drawingml/2006/main">
            <a:off x="685800" y="1390650"/>
            <a:ext cx="990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We kept local correctness, reproducibility, aggregate evaluation, and runtime as separate checks.</a:t>
            </a:r>
          </a:p>
        </p:txBody>
      </p:sp>
      <p:sp>
        <p:nvSpPr>
          <p:cNvPr id="5" name="">
            <a:extLst xmlns:a="http://schemas.openxmlformats.org/drawingml/2006/main">
              <a:ext uri="{FF2B5EF4-FFF2-40B4-BE49-F238E27FC236}">
                <a16:creationId xmlns:a16="http://schemas.microsoft.com/office/drawing/2014/main" id="{01D45AC8-5193-4ADC-AD1D-56FDBEA1F66C}"/>
              </a:ext>
            </a:extLst>
          </p:cNvPr>
          <p:cNvSpPr>
            <a:spLocks xmlns:a="http://schemas.openxmlformats.org/drawingml/2006/main" noGrp="1"/>
          </p:cNvSpPr>
          <p:nvPr/>
        </p:nvSpPr>
        <p:spPr>
          <a:xfrm xmlns:a="http://schemas.openxmlformats.org/drawingml/2006/main">
            <a:off x="914400" y="215265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1F5A7A"/>
                </a:solidFill>
              </a:defRPr>
            </a:pPr>
            <a:r>
              <a:rPr sz="3600" b="1">
                <a:solidFill>
                  <a:srgbClr val="1F5A7A"/>
                </a:solidFill>
              </a:rPr>
              <a:t>249</a:t>
            </a:r>
          </a:p>
        </p:txBody>
      </p:sp>
      <p:sp>
        <p:nvSpPr>
          <p:cNvPr id="6" name="">
            <a:extLst xmlns:a="http://schemas.openxmlformats.org/drawingml/2006/main">
              <a:ext uri="{FF2B5EF4-FFF2-40B4-BE49-F238E27FC236}">
                <a16:creationId xmlns:a16="http://schemas.microsoft.com/office/drawing/2014/main" id="{CF4DB6E1-1239-43B1-869E-A3C37C845A8C}"/>
              </a:ext>
            </a:extLst>
          </p:cNvPr>
          <p:cNvSpPr>
            <a:spLocks xmlns:a="http://schemas.openxmlformats.org/drawingml/2006/main" noGrp="1"/>
          </p:cNvSpPr>
          <p:nvPr/>
        </p:nvSpPr>
        <p:spPr>
          <a:xfrm xmlns:a="http://schemas.openxmlformats.org/drawingml/2006/main">
            <a:off x="914400" y="2838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automated regression tests</a:t>
            </a:r>
          </a:p>
        </p:txBody>
      </p:sp>
      <p:sp>
        <p:nvSpPr>
          <p:cNvPr id="7" name="">
            <a:extLst xmlns:a="http://schemas.openxmlformats.org/drawingml/2006/main">
              <a:ext uri="{FF2B5EF4-FFF2-40B4-BE49-F238E27FC236}">
                <a16:creationId xmlns:a16="http://schemas.microsoft.com/office/drawing/2014/main" id="{28B09C0E-3A4E-4840-B23D-E9F21663DFCA}"/>
              </a:ext>
            </a:extLst>
          </p:cNvPr>
          <p:cNvSpPr>
            <a:spLocks xmlns:a="http://schemas.openxmlformats.org/drawingml/2006/main" noGrp="1"/>
          </p:cNvSpPr>
          <p:nvPr/>
        </p:nvSpPr>
        <p:spPr>
          <a:xfrm xmlns:a="http://schemas.openxmlformats.org/drawingml/2006/main">
            <a:off x="3714750" y="2152650"/>
            <a:ext cx="2476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3</a:t>
            </a:r>
          </a:p>
        </p:txBody>
      </p:sp>
      <p:sp>
        <p:nvSpPr>
          <p:cNvPr id="8" name="">
            <a:extLst xmlns:a="http://schemas.openxmlformats.org/drawingml/2006/main">
              <a:ext uri="{FF2B5EF4-FFF2-40B4-BE49-F238E27FC236}">
                <a16:creationId xmlns:a16="http://schemas.microsoft.com/office/drawing/2014/main" id="{CD46205B-79C5-469C-89CA-A534FE90451E}"/>
              </a:ext>
            </a:extLst>
          </p:cNvPr>
          <p:cNvSpPr>
            <a:spLocks xmlns:a="http://schemas.openxmlformats.org/drawingml/2006/main" noGrp="1"/>
          </p:cNvSpPr>
          <p:nvPr/>
        </p:nvSpPr>
        <p:spPr>
          <a:xfrm xmlns:a="http://schemas.openxmlformats.org/drawingml/2006/main">
            <a:off x="3714750" y="28384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byte-identical inference runs</a:t>
            </a:r>
          </a:p>
        </p:txBody>
      </p:sp>
      <p:sp>
        <p:nvSpPr>
          <p:cNvPr id="9" name="">
            <a:extLst xmlns:a="http://schemas.openxmlformats.org/drawingml/2006/main">
              <a:ext uri="{FF2B5EF4-FFF2-40B4-BE49-F238E27FC236}">
                <a16:creationId xmlns:a16="http://schemas.microsoft.com/office/drawing/2014/main" id="{B75712BD-4DDB-4462-939B-39C70FBC37EA}"/>
              </a:ext>
            </a:extLst>
          </p:cNvPr>
          <p:cNvSpPr>
            <a:spLocks xmlns:a="http://schemas.openxmlformats.org/drawingml/2006/main" noGrp="1"/>
          </p:cNvSpPr>
          <p:nvPr/>
        </p:nvSpPr>
        <p:spPr>
          <a:xfrm xmlns:a="http://schemas.openxmlformats.org/drawingml/2006/main">
            <a:off x="666750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D59B32"/>
                </a:solidFill>
              </a:defRPr>
            </a:pPr>
            <a:r>
              <a:rPr sz="3600" b="1">
                <a:solidFill>
                  <a:srgbClr val="D59B32"/>
                </a:solidFill>
              </a:rPr>
              <a:t>225</a:t>
            </a:r>
          </a:p>
        </p:txBody>
      </p:sp>
      <p:sp>
        <p:nvSpPr>
          <p:cNvPr id="10" name="">
            <a:extLst xmlns:a="http://schemas.openxmlformats.org/drawingml/2006/main">
              <a:ext uri="{FF2B5EF4-FFF2-40B4-BE49-F238E27FC236}">
                <a16:creationId xmlns:a16="http://schemas.microsoft.com/office/drawing/2014/main" id="{133D087E-2352-4223-AE39-056E1E4E4A10}"/>
              </a:ext>
            </a:extLst>
          </p:cNvPr>
          <p:cNvSpPr>
            <a:spLocks xmlns:a="http://schemas.openxmlformats.org/drawingml/2006/main" noGrp="1"/>
          </p:cNvSpPr>
          <p:nvPr/>
        </p:nvSpPr>
        <p:spPr>
          <a:xfrm xmlns:a="http://schemas.openxmlformats.org/drawingml/2006/main">
            <a:off x="666750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deterministic controls</a:t>
            </a:r>
          </a:p>
        </p:txBody>
      </p:sp>
      <p:sp>
        <p:nvSpPr>
          <p:cNvPr id="11" name="">
            <a:extLst xmlns:a="http://schemas.openxmlformats.org/drawingml/2006/main">
              <a:ext uri="{FF2B5EF4-FFF2-40B4-BE49-F238E27FC236}">
                <a16:creationId xmlns:a16="http://schemas.microsoft.com/office/drawing/2014/main" id="{4E512426-D044-419D-A83B-E121F19A12B1}"/>
              </a:ext>
            </a:extLst>
          </p:cNvPr>
          <p:cNvSpPr>
            <a:spLocks xmlns:a="http://schemas.openxmlformats.org/drawingml/2006/main" noGrp="1"/>
          </p:cNvSpPr>
          <p:nvPr/>
        </p:nvSpPr>
        <p:spPr>
          <a:xfrm xmlns:a="http://schemas.openxmlformats.org/drawingml/2006/main">
            <a:off x="927735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0</a:t>
            </a:r>
          </a:p>
        </p:txBody>
      </p:sp>
      <p:sp>
        <p:nvSpPr>
          <p:cNvPr id="12" name="">
            <a:extLst xmlns:a="http://schemas.openxmlformats.org/drawingml/2006/main">
              <a:ext uri="{FF2B5EF4-FFF2-40B4-BE49-F238E27FC236}">
                <a16:creationId xmlns:a16="http://schemas.microsoft.com/office/drawing/2014/main" id="{BCC6EEFD-195B-42C5-8DF4-F13F3007FB17}"/>
              </a:ext>
            </a:extLst>
          </p:cNvPr>
          <p:cNvSpPr>
            <a:spLocks xmlns:a="http://schemas.openxmlformats.org/drawingml/2006/main" noGrp="1"/>
          </p:cNvSpPr>
          <p:nvPr/>
        </p:nvSpPr>
        <p:spPr>
          <a:xfrm xmlns:a="http://schemas.openxmlformats.org/drawingml/2006/main">
            <a:off x="927735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schema or ID-order failures</a:t>
            </a:r>
          </a:p>
        </p:txBody>
      </p:sp>
      <p:sp>
        <p:nvSpPr>
          <p:cNvPr id="13" name="">
            <a:extLst xmlns:a="http://schemas.openxmlformats.org/drawingml/2006/main">
              <a:ext uri="{FF2B5EF4-FFF2-40B4-BE49-F238E27FC236}">
                <a16:creationId xmlns:a16="http://schemas.microsoft.com/office/drawing/2014/main" id="{FA9FD03C-A20A-42AF-A326-F32664AAA65C}"/>
              </a:ext>
            </a:extLst>
          </p:cNvPr>
          <p:cNvSpPr>
            <a:spLocks xmlns:a="http://schemas.openxmlformats.org/drawingml/2006/main" noGrp="1"/>
          </p:cNvSpPr>
          <p:nvPr/>
        </p:nvSpPr>
        <p:spPr>
          <a:xfrm xmlns:a="http://schemas.openxmlformats.org/drawingml/2006/main">
            <a:off x="914400" y="3695700"/>
            <a:ext cx="10363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CE754483-FD9B-4466-A378-85AD382B8839}"/>
              </a:ext>
            </a:extLst>
          </p:cNvPr>
          <p:cNvSpPr>
            <a:spLocks xmlns:a="http://schemas.openxmlformats.org/drawingml/2006/main" noGrp="1"/>
          </p:cNvSpPr>
          <p:nvPr/>
        </p:nvSpPr>
        <p:spPr>
          <a:xfrm xmlns:a="http://schemas.openxmlformats.org/drawingml/2006/main">
            <a:off x="1181100" y="4095750"/>
            <a:ext cx="9829800" cy="1676400"/>
          </a:xfrm>
          <a:prstGeom xmlns:a="http://schemas.openxmlformats.org/drawingml/2006/main" prst="roundRect">
            <a:avLst>
              <a:gd name="adj" fmla="val 9091"/>
            </a:avLst>
          </a:prstGeom>
          <a:solidFill xmlns:a="http://schemas.openxmlformats.org/drawingml/2006/main">
            <a:srgbClr val="FFFFFF"/>
          </a:solidFill>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70FC5675-DB41-4688-A657-C72512400053}"/>
              </a:ext>
            </a:extLst>
          </p:cNvPr>
          <p:cNvSpPr>
            <a:spLocks xmlns:a="http://schemas.openxmlformats.org/drawingml/2006/main" noGrp="1"/>
          </p:cNvSpPr>
          <p:nvPr/>
        </p:nvSpPr>
        <p:spPr>
          <a:xfrm xmlns:a="http://schemas.openxmlformats.org/drawingml/2006/main">
            <a:off x="1524000" y="42862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Released labels</a:t>
            </a:r>
          </a:p>
        </p:txBody>
      </p:sp>
      <p:sp>
        <p:nvSpPr>
          <p:cNvPr id="16" name="">
            <a:extLst xmlns:a="http://schemas.openxmlformats.org/drawingml/2006/main">
              <a:ext uri="{FF2B5EF4-FFF2-40B4-BE49-F238E27FC236}">
                <a16:creationId xmlns:a16="http://schemas.microsoft.com/office/drawing/2014/main" id="{F08C9A20-2120-446F-B164-BDAA782A3FC5}"/>
              </a:ext>
            </a:extLst>
          </p:cNvPr>
          <p:cNvSpPr>
            <a:spLocks xmlns:a="http://schemas.openxmlformats.org/drawingml/2006/main" noGrp="1"/>
          </p:cNvSpPr>
          <p:nvPr/>
        </p:nvSpPr>
        <p:spPr>
          <a:xfrm xmlns:a="http://schemas.openxmlformats.org/drawingml/2006/main">
            <a:off x="3905250" y="428625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0.9933 macro F1 on 299 rows</a:t>
            </a:r>
          </a:p>
        </p:txBody>
      </p:sp>
      <p:sp>
        <p:nvSpPr>
          <p:cNvPr id="17" name="">
            <a:extLst xmlns:a="http://schemas.openxmlformats.org/drawingml/2006/main">
              <a:ext uri="{FF2B5EF4-FFF2-40B4-BE49-F238E27FC236}">
                <a16:creationId xmlns:a16="http://schemas.microsoft.com/office/drawing/2014/main" id="{899CDE58-6DAF-49E7-AC83-9615542740F0}"/>
              </a:ext>
            </a:extLst>
          </p:cNvPr>
          <p:cNvSpPr>
            <a:spLocks xmlns:a="http://schemas.openxmlformats.org/drawingml/2006/main" noGrp="1"/>
          </p:cNvSpPr>
          <p:nvPr/>
        </p:nvSpPr>
        <p:spPr>
          <a:xfrm xmlns:a="http://schemas.openxmlformats.org/drawingml/2006/main">
            <a:off x="1524000" y="46672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Phase 1 aggregate</a:t>
            </a:r>
          </a:p>
        </p:txBody>
      </p:sp>
      <p:sp>
        <p:nvSpPr>
          <p:cNvPr id="18" name="">
            <a:extLst xmlns:a="http://schemas.openxmlformats.org/drawingml/2006/main">
              <a:ext uri="{FF2B5EF4-FFF2-40B4-BE49-F238E27FC236}">
                <a16:creationId xmlns:a16="http://schemas.microsoft.com/office/drawing/2014/main" id="{A57BB2FC-AAA4-428E-B6E8-19756D1C52AE}"/>
              </a:ext>
            </a:extLst>
          </p:cNvPr>
          <p:cNvSpPr>
            <a:spLocks xmlns:a="http://schemas.openxmlformats.org/drawingml/2006/main" noGrp="1"/>
          </p:cNvSpPr>
          <p:nvPr/>
        </p:nvSpPr>
        <p:spPr>
          <a:xfrm xmlns:a="http://schemas.openxmlformats.org/drawingml/2006/main">
            <a:off x="3905250" y="466725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0.967 public; 0.982 private</a:t>
            </a:r>
          </a:p>
        </p:txBody>
      </p:sp>
      <p:sp>
        <p:nvSpPr>
          <p:cNvPr id="19" name="">
            <a:extLst xmlns:a="http://schemas.openxmlformats.org/drawingml/2006/main">
              <a:ext uri="{FF2B5EF4-FFF2-40B4-BE49-F238E27FC236}">
                <a16:creationId xmlns:a16="http://schemas.microsoft.com/office/drawing/2014/main" id="{4E94D751-AD98-4B85-BA2D-DFDDB2E402CB}"/>
              </a:ext>
            </a:extLst>
          </p:cNvPr>
          <p:cNvSpPr>
            <a:spLocks xmlns:a="http://schemas.openxmlformats.org/drawingml/2006/main" noGrp="1"/>
          </p:cNvSpPr>
          <p:nvPr/>
        </p:nvSpPr>
        <p:spPr>
          <a:xfrm xmlns:a="http://schemas.openxmlformats.org/drawingml/2006/main">
            <a:off x="1524000" y="50482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Frozen output</a:t>
            </a:r>
          </a:p>
        </p:txBody>
      </p:sp>
      <p:sp>
        <p:nvSpPr>
          <p:cNvPr id="20" name="">
            <a:extLst xmlns:a="http://schemas.openxmlformats.org/drawingml/2006/main">
              <a:ext uri="{FF2B5EF4-FFF2-40B4-BE49-F238E27FC236}">
                <a16:creationId xmlns:a16="http://schemas.microsoft.com/office/drawing/2014/main" id="{0BA9284A-165F-4851-B8B2-D96032CEBA36}"/>
              </a:ext>
            </a:extLst>
          </p:cNvPr>
          <p:cNvSpPr>
            <a:spLocks xmlns:a="http://schemas.openxmlformats.org/drawingml/2006/main" noGrp="1"/>
          </p:cNvSpPr>
          <p:nvPr/>
        </p:nvSpPr>
        <p:spPr>
          <a:xfrm xmlns:a="http://schemas.openxmlformats.org/drawingml/2006/main">
            <a:off x="3905250" y="50482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SHA-256 matched the scored CSV</a:t>
            </a:r>
          </a:p>
        </p:txBody>
      </p:sp>
      <p:sp>
        <p:nvSpPr>
          <p:cNvPr id="21" name="">
            <a:extLst xmlns:a="http://schemas.openxmlformats.org/drawingml/2006/main">
              <a:ext uri="{FF2B5EF4-FFF2-40B4-BE49-F238E27FC236}">
                <a16:creationId xmlns:a16="http://schemas.microsoft.com/office/drawing/2014/main" id="{519B8BB8-2E0A-4FD0-AF5D-75924AA4814C}"/>
              </a:ext>
            </a:extLst>
          </p:cNvPr>
          <p:cNvSpPr>
            <a:spLocks xmlns:a="http://schemas.openxmlformats.org/drawingml/2006/main" noGrp="1"/>
          </p:cNvSpPr>
          <p:nvPr/>
        </p:nvSpPr>
        <p:spPr>
          <a:xfrm xmlns:a="http://schemas.openxmlformats.org/drawingml/2006/main">
            <a:off x="1524000" y="54292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Phase 2 contract</a:t>
            </a:r>
          </a:p>
        </p:txBody>
      </p:sp>
      <p:sp>
        <p:nvSpPr>
          <p:cNvPr id="22" name="">
            <a:extLst xmlns:a="http://schemas.openxmlformats.org/drawingml/2006/main">
              <a:ext uri="{FF2B5EF4-FFF2-40B4-BE49-F238E27FC236}">
                <a16:creationId xmlns:a16="http://schemas.microsoft.com/office/drawing/2014/main" id="{4CA3DED2-77FA-4ACA-B08D-FC1B853F62F7}"/>
              </a:ext>
            </a:extLst>
          </p:cNvPr>
          <p:cNvSpPr>
            <a:spLocks xmlns:a="http://schemas.openxmlformats.org/drawingml/2006/main" noGrp="1"/>
          </p:cNvSpPr>
          <p:nvPr/>
        </p:nvSpPr>
        <p:spPr>
          <a:xfrm xmlns:a="http://schemas.openxmlformats.org/drawingml/2006/main">
            <a:off x="3905250" y="5429250"/>
            <a:ext cx="4191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5,000 ordered rows validated in 3:52:02</a:t>
            </a:r>
          </a:p>
        </p:txBody>
      </p:sp>
      <p:sp>
        <p:nvSpPr>
          <p:cNvPr id="23" name="">
            <a:extLst xmlns:a="http://schemas.openxmlformats.org/drawingml/2006/main">
              <a:ext uri="{FF2B5EF4-FFF2-40B4-BE49-F238E27FC236}">
                <a16:creationId xmlns:a16="http://schemas.microsoft.com/office/drawing/2014/main" id="{7AFE4188-3D3D-44BB-99A6-1397C57CCCDD}"/>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4" name="source-12">
            <a:extLst xmlns:a="http://schemas.openxmlformats.org/drawingml/2006/main">
              <a:ext uri="{FF2B5EF4-FFF2-40B4-BE49-F238E27FC236}">
                <a16:creationId xmlns:a16="http://schemas.microsoft.com/office/drawing/2014/main" id="{B8F62910-58CF-40A6-A4B7-FA65D0278A00}"/>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Regression suite, freeze manifest, evaluation ledger  [8] Phase 2 runtime evidence</a:t>
            </a:r>
          </a:p>
        </p:txBody>
      </p:sp>
      <p:sp>
        <p:nvSpPr>
          <p:cNvPr id="25" name="page-12">
            <a:extLst xmlns:a="http://schemas.openxmlformats.org/drawingml/2006/main">
              <a:ext uri="{FF2B5EF4-FFF2-40B4-BE49-F238E27FC236}">
                <a16:creationId xmlns:a16="http://schemas.microsoft.com/office/drawing/2014/main" id="{7EC30200-19A2-4891-BD17-137CBA043126}"/>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12</a:t>
            </a:r>
          </a:p>
        </p:txBody>
      </p:sp>
    </p:spTree>
    <p:extLst>
      <p:ext uri="{BB962C8B-B14F-4D97-AF65-F5344CB8AC3E}">
        <p14:creationId xmlns:p14="http://schemas.microsoft.com/office/powerpoint/2010/main" val="1017265844"/>
      </p:ext>
    </p:extLst>
  </p:cSld>
</p:sld>
</file>

<file path=ppt/slides/slide1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6" name="kicker-13">
            <a:extLst xmlns:a="http://schemas.openxmlformats.org/drawingml/2006/main">
              <a:ext uri="{FF2B5EF4-FFF2-40B4-BE49-F238E27FC236}">
                <a16:creationId xmlns:a16="http://schemas.microsoft.com/office/drawing/2014/main" id="{0C466CC3-4EF5-4797-95C8-39C14D76010D}"/>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13">
            <a:extLst xmlns:a="http://schemas.openxmlformats.org/drawingml/2006/main">
              <a:ext uri="{FF2B5EF4-FFF2-40B4-BE49-F238E27FC236}">
                <a16:creationId xmlns:a16="http://schemas.microsoft.com/office/drawing/2014/main" id="{887924BA-A17F-46D0-AFAC-0D932B4D4C16}"/>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Phase 2 completed in 3 h 52 min with 95.9% judged</a:t>
            </a:r>
          </a:p>
        </p:txBody>
      </p:sp>
      <p:sp>
        <p:nvSpPr>
          <p:cNvPr id="3" name="">
            <a:extLst xmlns:a="http://schemas.openxmlformats.org/drawingml/2006/main">
              <a:ext uri="{FF2B5EF4-FFF2-40B4-BE49-F238E27FC236}">
                <a16:creationId xmlns:a16="http://schemas.microsoft.com/office/drawing/2014/main" id="{748D8DEB-B59A-4F79-8F88-8042702C0EAF}"/>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90A9084A-7CD1-4E6B-B143-4360A8C1604F}"/>
              </a:ext>
            </a:extLst>
          </p:cNvPr>
          <p:cNvSpPr>
            <a:spLocks xmlns:a="http://schemas.openxmlformats.org/drawingml/2006/main" noGrp="1"/>
          </p:cNvSpPr>
          <p:nvPr/>
        </p:nvSpPr>
        <p:spPr>
          <a:xfrm xmlns:a="http://schemas.openxmlformats.org/drawingml/2006/main">
            <a:off x="685800" y="1390650"/>
            <a:ext cx="971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Measured organizer-run inference on 5,000 rows using Kaggle Tesla T4 x2.</a:t>
            </a:r>
          </a:p>
        </p:txBody>
      </p:sp>
      <p:sp>
        <p:nvSpPr>
          <p:cNvPr id="5" name="">
            <a:extLst xmlns:a="http://schemas.openxmlformats.org/drawingml/2006/main">
              <a:ext uri="{FF2B5EF4-FFF2-40B4-BE49-F238E27FC236}">
                <a16:creationId xmlns:a16="http://schemas.microsoft.com/office/drawing/2014/main" id="{2D98BD9A-0FB0-431A-9D96-3DF0FF0D8FD2}"/>
              </a:ext>
            </a:extLst>
          </p:cNvPr>
          <p:cNvSpPr>
            <a:spLocks xmlns:a="http://schemas.openxmlformats.org/drawingml/2006/main" noGrp="1"/>
          </p:cNvSpPr>
          <p:nvPr/>
        </p:nvSpPr>
        <p:spPr>
          <a:xfrm xmlns:a="http://schemas.openxmlformats.org/drawingml/2006/main">
            <a:off x="8382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1F5A7A"/>
                </a:solidFill>
              </a:defRPr>
            </a:pPr>
            <a:r>
              <a:rPr sz="3600" b="1">
                <a:solidFill>
                  <a:srgbClr val="1F5A7A"/>
                </a:solidFill>
              </a:rPr>
              <a:t>5,000</a:t>
            </a:r>
          </a:p>
        </p:txBody>
      </p:sp>
      <p:sp>
        <p:nvSpPr>
          <p:cNvPr id="6" name="">
            <a:extLst xmlns:a="http://schemas.openxmlformats.org/drawingml/2006/main">
              <a:ext uri="{FF2B5EF4-FFF2-40B4-BE49-F238E27FC236}">
                <a16:creationId xmlns:a16="http://schemas.microsoft.com/office/drawing/2014/main" id="{E7E2AA45-4B95-4CBE-9C41-72490B633C48}"/>
              </a:ext>
            </a:extLst>
          </p:cNvPr>
          <p:cNvSpPr>
            <a:spLocks xmlns:a="http://schemas.openxmlformats.org/drawingml/2006/main" noGrp="1"/>
          </p:cNvSpPr>
          <p:nvPr/>
        </p:nvSpPr>
        <p:spPr>
          <a:xfrm xmlns:a="http://schemas.openxmlformats.org/drawingml/2006/main">
            <a:off x="8382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held-out rows</a:t>
            </a:r>
          </a:p>
        </p:txBody>
      </p:sp>
      <p:sp>
        <p:nvSpPr>
          <p:cNvPr id="7" name="">
            <a:extLst xmlns:a="http://schemas.openxmlformats.org/drawingml/2006/main">
              <a:ext uri="{FF2B5EF4-FFF2-40B4-BE49-F238E27FC236}">
                <a16:creationId xmlns:a16="http://schemas.microsoft.com/office/drawing/2014/main" id="{727A0EB1-9204-4BF6-837C-7E08C076199E}"/>
              </a:ext>
            </a:extLst>
          </p:cNvPr>
          <p:cNvSpPr>
            <a:spLocks xmlns:a="http://schemas.openxmlformats.org/drawingml/2006/main" noGrp="1"/>
          </p:cNvSpPr>
          <p:nvPr/>
        </p:nvSpPr>
        <p:spPr>
          <a:xfrm xmlns:a="http://schemas.openxmlformats.org/drawingml/2006/main">
            <a:off x="35433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207</a:t>
            </a:r>
          </a:p>
        </p:txBody>
      </p:sp>
      <p:sp>
        <p:nvSpPr>
          <p:cNvPr id="8" name="">
            <a:extLst xmlns:a="http://schemas.openxmlformats.org/drawingml/2006/main">
              <a:ext uri="{FF2B5EF4-FFF2-40B4-BE49-F238E27FC236}">
                <a16:creationId xmlns:a16="http://schemas.microsoft.com/office/drawing/2014/main" id="{F801C81A-2B13-4FFA-B4DE-4419AD689DA0}"/>
              </a:ext>
            </a:extLst>
          </p:cNvPr>
          <p:cNvSpPr>
            <a:spLocks xmlns:a="http://schemas.openxmlformats.org/drawingml/2006/main" noGrp="1"/>
          </p:cNvSpPr>
          <p:nvPr/>
        </p:nvSpPr>
        <p:spPr>
          <a:xfrm xmlns:a="http://schemas.openxmlformats.org/drawingml/2006/main">
            <a:off x="35433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deterministic (4.14%)</a:t>
            </a:r>
          </a:p>
        </p:txBody>
      </p:sp>
      <p:sp>
        <p:nvSpPr>
          <p:cNvPr id="9" name="">
            <a:extLst xmlns:a="http://schemas.openxmlformats.org/drawingml/2006/main">
              <a:ext uri="{FF2B5EF4-FFF2-40B4-BE49-F238E27FC236}">
                <a16:creationId xmlns:a16="http://schemas.microsoft.com/office/drawing/2014/main" id="{DE32986C-7DC8-4305-890C-EA98BC2A9BF0}"/>
              </a:ext>
            </a:extLst>
          </p:cNvPr>
          <p:cNvSpPr>
            <a:spLocks xmlns:a="http://schemas.openxmlformats.org/drawingml/2006/main" noGrp="1"/>
          </p:cNvSpPr>
          <p:nvPr/>
        </p:nvSpPr>
        <p:spPr>
          <a:xfrm xmlns:a="http://schemas.openxmlformats.org/drawingml/2006/main">
            <a:off x="6248400" y="198120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D59B32"/>
                </a:solidFill>
              </a:defRPr>
            </a:pPr>
            <a:r>
              <a:rPr sz="3600" b="1">
                <a:solidFill>
                  <a:srgbClr val="D59B32"/>
                </a:solidFill>
              </a:rPr>
              <a:t>4,793</a:t>
            </a:r>
          </a:p>
        </p:txBody>
      </p:sp>
      <p:sp>
        <p:nvSpPr>
          <p:cNvPr id="10" name="">
            <a:extLst xmlns:a="http://schemas.openxmlformats.org/drawingml/2006/main">
              <a:ext uri="{FF2B5EF4-FFF2-40B4-BE49-F238E27FC236}">
                <a16:creationId xmlns:a16="http://schemas.microsoft.com/office/drawing/2014/main" id="{1E8D35E1-04A5-4C69-AEA3-E6FDA17159DE}"/>
              </a:ext>
            </a:extLst>
          </p:cNvPr>
          <p:cNvSpPr>
            <a:spLocks xmlns:a="http://schemas.openxmlformats.org/drawingml/2006/main" noGrp="1"/>
          </p:cNvSpPr>
          <p:nvPr/>
        </p:nvSpPr>
        <p:spPr>
          <a:xfrm xmlns:a="http://schemas.openxmlformats.org/drawingml/2006/main">
            <a:off x="6248400" y="26670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Qwen judge (95.86%)</a:t>
            </a:r>
          </a:p>
        </p:txBody>
      </p:sp>
      <p:sp>
        <p:nvSpPr>
          <p:cNvPr id="11" name="">
            <a:extLst xmlns:a="http://schemas.openxmlformats.org/drawingml/2006/main">
              <a:ext uri="{FF2B5EF4-FFF2-40B4-BE49-F238E27FC236}">
                <a16:creationId xmlns:a16="http://schemas.microsoft.com/office/drawing/2014/main" id="{C1FAA002-A40F-48B7-9EC0-0327C5154123}"/>
              </a:ext>
            </a:extLst>
          </p:cNvPr>
          <p:cNvSpPr>
            <a:spLocks xmlns:a="http://schemas.openxmlformats.org/drawingml/2006/main" noGrp="1"/>
          </p:cNvSpPr>
          <p:nvPr/>
        </p:nvSpPr>
        <p:spPr>
          <a:xfrm xmlns:a="http://schemas.openxmlformats.org/drawingml/2006/main">
            <a:off x="9201150" y="1981200"/>
            <a:ext cx="228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3:52:02</a:t>
            </a:r>
          </a:p>
        </p:txBody>
      </p:sp>
      <p:sp>
        <p:nvSpPr>
          <p:cNvPr id="12" name="">
            <a:extLst xmlns:a="http://schemas.openxmlformats.org/drawingml/2006/main">
              <a:ext uri="{FF2B5EF4-FFF2-40B4-BE49-F238E27FC236}">
                <a16:creationId xmlns:a16="http://schemas.microsoft.com/office/drawing/2014/main" id="{10090DC0-D12E-4F94-8FA9-4A4CD92052B9}"/>
              </a:ext>
            </a:extLst>
          </p:cNvPr>
          <p:cNvSpPr>
            <a:spLocks xmlns:a="http://schemas.openxmlformats.org/drawingml/2006/main" noGrp="1"/>
          </p:cNvSpPr>
          <p:nvPr/>
        </p:nvSpPr>
        <p:spPr>
          <a:xfrm xmlns:a="http://schemas.openxmlformats.org/drawingml/2006/main">
            <a:off x="9201150" y="266700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validated end to end</a:t>
            </a:r>
          </a:p>
        </p:txBody>
      </p:sp>
      <p:sp>
        <p:nvSpPr>
          <p:cNvPr id="13" name="">
            <a:extLst xmlns:a="http://schemas.openxmlformats.org/drawingml/2006/main">
              <a:ext uri="{FF2B5EF4-FFF2-40B4-BE49-F238E27FC236}">
                <a16:creationId xmlns:a16="http://schemas.microsoft.com/office/drawing/2014/main" id="{F07FA879-CA65-47A1-BB34-64F930A7AA59}"/>
              </a:ext>
            </a:extLst>
          </p:cNvPr>
          <p:cNvSpPr>
            <a:spLocks xmlns:a="http://schemas.openxmlformats.org/drawingml/2006/main" noGrp="1"/>
          </p:cNvSpPr>
          <p:nvPr/>
        </p:nvSpPr>
        <p:spPr>
          <a:xfrm xmlns:a="http://schemas.openxmlformats.org/drawingml/2006/main">
            <a:off x="914400" y="35814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Measured milestones</a:t>
            </a:r>
          </a:p>
        </p:txBody>
      </p:sp>
      <p:sp>
        <p:nvSpPr>
          <p:cNvPr id="14" name="">
            <a:extLst xmlns:a="http://schemas.openxmlformats.org/drawingml/2006/main">
              <a:ext uri="{FF2B5EF4-FFF2-40B4-BE49-F238E27FC236}">
                <a16:creationId xmlns:a16="http://schemas.microsoft.com/office/drawing/2014/main" id="{9D736179-98E2-48D8-B00B-396CB0C7FB3E}"/>
              </a:ext>
            </a:extLst>
          </p:cNvPr>
          <p:cNvSpPr>
            <a:spLocks xmlns:a="http://schemas.openxmlformats.org/drawingml/2006/main" noGrp="1"/>
          </p:cNvSpPr>
          <p:nvPr/>
        </p:nvSpPr>
        <p:spPr>
          <a:xfrm xmlns:a="http://schemas.openxmlformats.org/drawingml/2006/main">
            <a:off x="4210050" y="35814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Elapsed</a:t>
            </a:r>
          </a:p>
        </p:txBody>
      </p:sp>
      <p:sp>
        <p:nvSpPr>
          <p:cNvPr id="15" name="">
            <a:extLst xmlns:a="http://schemas.openxmlformats.org/drawingml/2006/main">
              <a:ext uri="{FF2B5EF4-FFF2-40B4-BE49-F238E27FC236}">
                <a16:creationId xmlns:a16="http://schemas.microsoft.com/office/drawing/2014/main" id="{10B8A889-846B-423C-BF1E-5E853023B0E2}"/>
              </a:ext>
            </a:extLst>
          </p:cNvPr>
          <p:cNvSpPr>
            <a:spLocks xmlns:a="http://schemas.openxmlformats.org/drawingml/2006/main" noGrp="1"/>
          </p:cNvSpPr>
          <p:nvPr/>
        </p:nvSpPr>
        <p:spPr>
          <a:xfrm xmlns:a="http://schemas.openxmlformats.org/drawingml/2006/main">
            <a:off x="6076950" y="358140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Observation</a:t>
            </a:r>
          </a:p>
        </p:txBody>
      </p:sp>
      <p:sp>
        <p:nvSpPr>
          <p:cNvPr id="16" name="">
            <a:extLst xmlns:a="http://schemas.openxmlformats.org/drawingml/2006/main">
              <a:ext uri="{FF2B5EF4-FFF2-40B4-BE49-F238E27FC236}">
                <a16:creationId xmlns:a16="http://schemas.microsoft.com/office/drawing/2014/main" id="{2B024ECE-0C41-4E5A-BBCD-6C5E3B887C9B}"/>
              </a:ext>
            </a:extLst>
          </p:cNvPr>
          <p:cNvSpPr>
            <a:spLocks xmlns:a="http://schemas.openxmlformats.org/drawingml/2006/main" noGrp="1"/>
          </p:cNvSpPr>
          <p:nvPr/>
        </p:nvSpPr>
        <p:spPr>
          <a:xfrm xmlns:a="http://schemas.openxmlformats.org/drawingml/2006/main">
            <a:off x="914400" y="3943350"/>
            <a:ext cx="99822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17" name="">
            <a:extLst xmlns:a="http://schemas.openxmlformats.org/drawingml/2006/main">
              <a:ext uri="{FF2B5EF4-FFF2-40B4-BE49-F238E27FC236}">
                <a16:creationId xmlns:a16="http://schemas.microsoft.com/office/drawing/2014/main" id="{3A1F61E5-FC10-4FCC-8811-1016F97E74B0}"/>
              </a:ext>
            </a:extLst>
          </p:cNvPr>
          <p:cNvSpPr>
            <a:spLocks xmlns:a="http://schemas.openxmlformats.org/drawingml/2006/main" noGrp="1"/>
          </p:cNvSpPr>
          <p:nvPr/>
        </p:nvSpPr>
        <p:spPr>
          <a:xfrm xmlns:a="http://schemas.openxmlformats.org/drawingml/2006/main">
            <a:off x="990600" y="40576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Router complete</a:t>
            </a:r>
          </a:p>
        </p:txBody>
      </p:sp>
      <p:sp>
        <p:nvSpPr>
          <p:cNvPr id="18" name="">
            <a:extLst xmlns:a="http://schemas.openxmlformats.org/drawingml/2006/main">
              <a:ext uri="{FF2B5EF4-FFF2-40B4-BE49-F238E27FC236}">
                <a16:creationId xmlns:a16="http://schemas.microsoft.com/office/drawing/2014/main" id="{97740A33-1BD9-4599-82FF-2E3AFC9AFD7C}"/>
              </a:ext>
            </a:extLst>
          </p:cNvPr>
          <p:cNvSpPr>
            <a:spLocks xmlns:a="http://schemas.openxmlformats.org/drawingml/2006/main" noGrp="1"/>
          </p:cNvSpPr>
          <p:nvPr/>
        </p:nvSpPr>
        <p:spPr>
          <a:xfrm xmlns:a="http://schemas.openxmlformats.org/drawingml/2006/main">
            <a:off x="4210050" y="40576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1:13.18</a:t>
            </a:r>
          </a:p>
        </p:txBody>
      </p:sp>
      <p:sp>
        <p:nvSpPr>
          <p:cNvPr id="19" name="">
            <a:extLst xmlns:a="http://schemas.openxmlformats.org/drawingml/2006/main">
              <a:ext uri="{FF2B5EF4-FFF2-40B4-BE49-F238E27FC236}">
                <a16:creationId xmlns:a16="http://schemas.microsoft.com/office/drawing/2014/main" id="{23D99702-D470-48CF-B482-2D63138D2594}"/>
              </a:ext>
            </a:extLst>
          </p:cNvPr>
          <p:cNvSpPr>
            <a:spLocks xmlns:a="http://schemas.openxmlformats.org/drawingml/2006/main" noGrp="1"/>
          </p:cNvSpPr>
          <p:nvPr/>
        </p:nvSpPr>
        <p:spPr>
          <a:xfrm xmlns:a="http://schemas.openxmlformats.org/drawingml/2006/main">
            <a:off x="6076950" y="40576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207 resolved; 4,793 abstained</a:t>
            </a:r>
          </a:p>
        </p:txBody>
      </p:sp>
      <p:sp>
        <p:nvSpPr>
          <p:cNvPr id="20" name="">
            <a:extLst xmlns:a="http://schemas.openxmlformats.org/drawingml/2006/main">
              <a:ext uri="{FF2B5EF4-FFF2-40B4-BE49-F238E27FC236}">
                <a16:creationId xmlns:a16="http://schemas.microsoft.com/office/drawing/2014/main" id="{C506263C-6F55-407D-BD19-45D6F495E5D3}"/>
              </a:ext>
            </a:extLst>
          </p:cNvPr>
          <p:cNvSpPr>
            <a:spLocks xmlns:a="http://schemas.openxmlformats.org/drawingml/2006/main" noGrp="1"/>
          </p:cNvSpPr>
          <p:nvPr/>
        </p:nvSpPr>
        <p:spPr>
          <a:xfrm xmlns:a="http://schemas.openxmlformats.org/drawingml/2006/main">
            <a:off x="914400" y="44005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E8876211-06A3-4E95-9C3D-BD517953AA88}"/>
              </a:ext>
            </a:extLst>
          </p:cNvPr>
          <p:cNvSpPr>
            <a:spLocks xmlns:a="http://schemas.openxmlformats.org/drawingml/2006/main" noGrp="1"/>
          </p:cNvSpPr>
          <p:nvPr/>
        </p:nvSpPr>
        <p:spPr>
          <a:xfrm xmlns:a="http://schemas.openxmlformats.org/drawingml/2006/main">
            <a:off x="990600" y="45148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Model ready</a:t>
            </a:r>
          </a:p>
        </p:txBody>
      </p:sp>
      <p:sp>
        <p:nvSpPr>
          <p:cNvPr id="22" name="">
            <a:extLst xmlns:a="http://schemas.openxmlformats.org/drawingml/2006/main">
              <a:ext uri="{FF2B5EF4-FFF2-40B4-BE49-F238E27FC236}">
                <a16:creationId xmlns:a16="http://schemas.microsoft.com/office/drawing/2014/main" id="{4C785A94-8BD8-4B48-B91D-F637AAC73A80}"/>
              </a:ext>
            </a:extLst>
          </p:cNvPr>
          <p:cNvSpPr>
            <a:spLocks xmlns:a="http://schemas.openxmlformats.org/drawingml/2006/main" noGrp="1"/>
          </p:cNvSpPr>
          <p:nvPr/>
        </p:nvSpPr>
        <p:spPr>
          <a:xfrm xmlns:a="http://schemas.openxmlformats.org/drawingml/2006/main">
            <a:off x="4210050" y="45148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2:51.25</a:t>
            </a:r>
          </a:p>
        </p:txBody>
      </p:sp>
      <p:sp>
        <p:nvSpPr>
          <p:cNvPr id="23" name="">
            <a:extLst xmlns:a="http://schemas.openxmlformats.org/drawingml/2006/main">
              <a:ext uri="{FF2B5EF4-FFF2-40B4-BE49-F238E27FC236}">
                <a16:creationId xmlns:a16="http://schemas.microsoft.com/office/drawing/2014/main" id="{2B08E3F7-798F-4D63-934C-4DCF18631BF1}"/>
              </a:ext>
            </a:extLst>
          </p:cNvPr>
          <p:cNvSpPr>
            <a:spLocks xmlns:a="http://schemas.openxmlformats.org/drawingml/2006/main" noGrp="1"/>
          </p:cNvSpPr>
          <p:nvPr/>
        </p:nvSpPr>
        <p:spPr>
          <a:xfrm xmlns:a="http://schemas.openxmlformats.org/drawingml/2006/main">
            <a:off x="6076950" y="45148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16.332 GiB Qwen across two T4 GPUs</a:t>
            </a:r>
          </a:p>
        </p:txBody>
      </p:sp>
      <p:sp>
        <p:nvSpPr>
          <p:cNvPr id="24" name="">
            <a:extLst xmlns:a="http://schemas.openxmlformats.org/drawingml/2006/main">
              <a:ext uri="{FF2B5EF4-FFF2-40B4-BE49-F238E27FC236}">
                <a16:creationId xmlns:a16="http://schemas.microsoft.com/office/drawing/2014/main" id="{274F37A5-CE07-4030-AE48-462B2EDA6FEC}"/>
              </a:ext>
            </a:extLst>
          </p:cNvPr>
          <p:cNvSpPr>
            <a:spLocks xmlns:a="http://schemas.openxmlformats.org/drawingml/2006/main" noGrp="1"/>
          </p:cNvSpPr>
          <p:nvPr/>
        </p:nvSpPr>
        <p:spPr>
          <a:xfrm xmlns:a="http://schemas.openxmlformats.org/drawingml/2006/main">
            <a:off x="914400" y="48577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CA7AA93C-B60A-4EF5-9180-F4A51EDA23D6}"/>
              </a:ext>
            </a:extLst>
          </p:cNvPr>
          <p:cNvSpPr>
            <a:spLocks xmlns:a="http://schemas.openxmlformats.org/drawingml/2006/main" noGrp="1"/>
          </p:cNvSpPr>
          <p:nvPr/>
        </p:nvSpPr>
        <p:spPr>
          <a:xfrm xmlns:a="http://schemas.openxmlformats.org/drawingml/2006/main">
            <a:off x="990600" y="49720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Judge complete</a:t>
            </a:r>
          </a:p>
        </p:txBody>
      </p:sp>
      <p:sp>
        <p:nvSpPr>
          <p:cNvPr id="26" name="">
            <a:extLst xmlns:a="http://schemas.openxmlformats.org/drawingml/2006/main">
              <a:ext uri="{FF2B5EF4-FFF2-40B4-BE49-F238E27FC236}">
                <a16:creationId xmlns:a16="http://schemas.microsoft.com/office/drawing/2014/main" id="{83B89B7D-314D-4F19-934C-5230FDD36CEE}"/>
              </a:ext>
            </a:extLst>
          </p:cNvPr>
          <p:cNvSpPr>
            <a:spLocks xmlns:a="http://schemas.openxmlformats.org/drawingml/2006/main" noGrp="1"/>
          </p:cNvSpPr>
          <p:nvPr/>
        </p:nvSpPr>
        <p:spPr>
          <a:xfrm xmlns:a="http://schemas.openxmlformats.org/drawingml/2006/main">
            <a:off x="4210050" y="49720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D59B32"/>
                </a:solidFill>
              </a:defRPr>
            </a:pPr>
            <a:r>
              <a:rPr sz="1350" b="1">
                <a:solidFill>
                  <a:srgbClr val="D59B32"/>
                </a:solidFill>
              </a:rPr>
              <a:t>3:52:01.91</a:t>
            </a:r>
          </a:p>
        </p:txBody>
      </p:sp>
      <p:sp>
        <p:nvSpPr>
          <p:cNvPr id="27" name="">
            <a:extLst xmlns:a="http://schemas.openxmlformats.org/drawingml/2006/main">
              <a:ext uri="{FF2B5EF4-FFF2-40B4-BE49-F238E27FC236}">
                <a16:creationId xmlns:a16="http://schemas.microsoft.com/office/drawing/2014/main" id="{3BC26C90-C3C5-4322-8034-213B2F6F1FA0}"/>
              </a:ext>
            </a:extLst>
          </p:cNvPr>
          <p:cNvSpPr>
            <a:spLocks xmlns:a="http://schemas.openxmlformats.org/drawingml/2006/main" noGrp="1"/>
          </p:cNvSpPr>
          <p:nvPr/>
        </p:nvSpPr>
        <p:spPr>
          <a:xfrm xmlns:a="http://schemas.openxmlformats.org/drawingml/2006/main">
            <a:off x="6076950" y="4972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13,747.50 s; 0.349 rows/s</a:t>
            </a:r>
          </a:p>
        </p:txBody>
      </p:sp>
      <p:sp>
        <p:nvSpPr>
          <p:cNvPr id="28" name="">
            <a:extLst xmlns:a="http://schemas.openxmlformats.org/drawingml/2006/main">
              <a:ext uri="{FF2B5EF4-FFF2-40B4-BE49-F238E27FC236}">
                <a16:creationId xmlns:a16="http://schemas.microsoft.com/office/drawing/2014/main" id="{7EDF4748-962A-4A86-AF1D-6D1B26FB066F}"/>
              </a:ext>
            </a:extLst>
          </p:cNvPr>
          <p:cNvSpPr>
            <a:spLocks xmlns:a="http://schemas.openxmlformats.org/drawingml/2006/main" noGrp="1"/>
          </p:cNvSpPr>
          <p:nvPr/>
        </p:nvSpPr>
        <p:spPr>
          <a:xfrm xmlns:a="http://schemas.openxmlformats.org/drawingml/2006/main">
            <a:off x="914400" y="53149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
            <a:extLst xmlns:a="http://schemas.openxmlformats.org/drawingml/2006/main">
              <a:ext uri="{FF2B5EF4-FFF2-40B4-BE49-F238E27FC236}">
                <a16:creationId xmlns:a16="http://schemas.microsoft.com/office/drawing/2014/main" id="{D5412DAA-23BC-4E0A-A094-368FE215360A}"/>
              </a:ext>
            </a:extLst>
          </p:cNvPr>
          <p:cNvSpPr>
            <a:spLocks xmlns:a="http://schemas.openxmlformats.org/drawingml/2006/main" noGrp="1"/>
          </p:cNvSpPr>
          <p:nvPr/>
        </p:nvSpPr>
        <p:spPr>
          <a:xfrm xmlns:a="http://schemas.openxmlformats.org/drawingml/2006/main">
            <a:off x="1143000" y="5638800"/>
            <a:ext cx="9906000" cy="476250"/>
          </a:xfrm>
          <a:prstGeom xmlns:a="http://schemas.openxmlformats.org/drawingml/2006/main" prst="roundRect">
            <a:avLst>
              <a:gd name="adj" fmla="val 28000"/>
            </a:avLst>
          </a:prstGeom>
          <a:solidFill xmlns:a="http://schemas.openxmlformats.org/drawingml/2006/main">
            <a:srgbClr val="E7EEF4"/>
          </a:solidFill>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4E84315F-27F1-4B01-8D39-828271D8EAA7}"/>
              </a:ext>
            </a:extLst>
          </p:cNvPr>
          <p:cNvSpPr>
            <a:spLocks xmlns:a="http://schemas.openxmlformats.org/drawingml/2006/main" noGrp="1"/>
          </p:cNvSpPr>
          <p:nvPr/>
        </p:nvSpPr>
        <p:spPr>
          <a:xfrm xmlns:a="http://schemas.openxmlformats.org/drawingml/2006/main">
            <a:off x="1143000" y="5638800"/>
            <a:ext cx="4257675" cy="476250"/>
          </a:xfrm>
          <a:prstGeom xmlns:a="http://schemas.openxmlformats.org/drawingml/2006/main" prst="roundRect">
            <a:avLst>
              <a:gd name="adj" fmla="val 28000"/>
            </a:avLst>
          </a:prstGeom>
          <a:solidFill xmlns:a="http://schemas.openxmlformats.org/drawingml/2006/main">
            <a:srgbClr val="2A8C82"/>
          </a:solidFill>
          <a:ln xmlns:a="http://schemas.openxmlformats.org/drawingml/2006/main" w="0">
            <a:solidFill>
              <a:srgbClr val="2A8C82"/>
            </a:solidFill>
            <a:prstDash val="solid"/>
          </a:ln>
        </p:spPr>
      </p:sp>
      <p:sp>
        <p:nvSpPr>
          <p:cNvPr id="31" name="">
            <a:extLst xmlns:a="http://schemas.openxmlformats.org/drawingml/2006/main">
              <a:ext uri="{FF2B5EF4-FFF2-40B4-BE49-F238E27FC236}">
                <a16:creationId xmlns:a16="http://schemas.microsoft.com/office/drawing/2014/main" id="{B94F726D-F0A2-4C1B-905A-84E6E4BDED18}"/>
              </a:ext>
            </a:extLst>
          </p:cNvPr>
          <p:cNvSpPr>
            <a:spLocks xmlns:a="http://schemas.openxmlformats.org/drawingml/2006/main" noGrp="1"/>
          </p:cNvSpPr>
          <p:nvPr/>
        </p:nvSpPr>
        <p:spPr>
          <a:xfrm xmlns:a="http://schemas.openxmlformats.org/drawingml/2006/main">
            <a:off x="1352550" y="5762625"/>
            <a:ext cx="3790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FFFFFF"/>
                </a:solidFill>
              </a:defRPr>
            </a:pPr>
            <a:r>
              <a:rPr sz="1275" b="1">
                <a:solidFill>
                  <a:srgbClr val="FFFFFF"/>
                </a:solidFill>
              </a:rPr>
              <a:t>42.97% of the 9-hour budget used</a:t>
            </a:r>
          </a:p>
        </p:txBody>
      </p:sp>
      <p:sp>
        <p:nvSpPr>
          <p:cNvPr id="32" name="">
            <a:extLst xmlns:a="http://schemas.openxmlformats.org/drawingml/2006/main">
              <a:ext uri="{FF2B5EF4-FFF2-40B4-BE49-F238E27FC236}">
                <a16:creationId xmlns:a16="http://schemas.microsoft.com/office/drawing/2014/main" id="{CDF2B8BA-98AB-47EC-893D-94226D5D9301}"/>
              </a:ext>
            </a:extLst>
          </p:cNvPr>
          <p:cNvSpPr>
            <a:spLocks xmlns:a="http://schemas.openxmlformats.org/drawingml/2006/main" noGrp="1"/>
          </p:cNvSpPr>
          <p:nvPr/>
        </p:nvSpPr>
        <p:spPr>
          <a:xfrm xmlns:a="http://schemas.openxmlformats.org/drawingml/2006/main">
            <a:off x="7010400" y="5762625"/>
            <a:ext cx="3619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1F5A7A"/>
                </a:solidFill>
              </a:defRPr>
            </a:pPr>
            <a:r>
              <a:rPr sz="1275" b="1">
                <a:solidFill>
                  <a:srgbClr val="1F5A7A"/>
                </a:solidFill>
              </a:rPr>
              <a:t>5:07:58 headroom</a:t>
            </a:r>
          </a:p>
        </p:txBody>
      </p:sp>
      <p:sp>
        <p:nvSpPr>
          <p:cNvPr id="33" name="">
            <a:extLst xmlns:a="http://schemas.openxmlformats.org/drawingml/2006/main">
              <a:ext uri="{FF2B5EF4-FFF2-40B4-BE49-F238E27FC236}">
                <a16:creationId xmlns:a16="http://schemas.microsoft.com/office/drawing/2014/main" id="{6E4FA2EB-35C1-4CA9-8F5E-D65AB7E882CA}"/>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source-13">
            <a:extLst xmlns:a="http://schemas.openxmlformats.org/drawingml/2006/main">
              <a:ext uri="{FF2B5EF4-FFF2-40B4-BE49-F238E27FC236}">
                <a16:creationId xmlns:a16="http://schemas.microsoft.com/office/drawing/2014/main" id="{6D0444CC-4F2A-4BF0-9FDF-D0C73F62D3CD}"/>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[8] Organizer-executed Phase 2 notebook and runtime report</a:t>
            </a:r>
          </a:p>
        </p:txBody>
      </p:sp>
      <p:sp>
        <p:nvSpPr>
          <p:cNvPr id="35" name="page-13">
            <a:extLst xmlns:a="http://schemas.openxmlformats.org/drawingml/2006/main">
              <a:ext uri="{FF2B5EF4-FFF2-40B4-BE49-F238E27FC236}">
                <a16:creationId xmlns:a16="http://schemas.microsoft.com/office/drawing/2014/main" id="{ACA95DE3-E39C-4AE2-91C6-F15BB5E3294E}"/>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13</a:t>
            </a:r>
          </a:p>
        </p:txBody>
      </p:sp>
    </p:spTree>
    <p:extLst>
      <p:ext uri="{BB962C8B-B14F-4D97-AF65-F5344CB8AC3E}">
        <p14:creationId xmlns:p14="http://schemas.microsoft.com/office/powerpoint/2010/main" val="742856922"/>
      </p:ext>
    </p:extLst>
  </p:cSld>
</p:sld>
</file>

<file path=ppt/slides/slide1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1" name="kicker-14">
            <a:extLst xmlns:a="http://schemas.openxmlformats.org/drawingml/2006/main">
              <a:ext uri="{FF2B5EF4-FFF2-40B4-BE49-F238E27FC236}">
                <a16:creationId xmlns:a16="http://schemas.microsoft.com/office/drawing/2014/main" id="{778E196D-2725-4F92-858B-AF0A4D4004F3}"/>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14">
            <a:extLst xmlns:a="http://schemas.openxmlformats.org/drawingml/2006/main">
              <a:ext uri="{FF2B5EF4-FFF2-40B4-BE49-F238E27FC236}">
                <a16:creationId xmlns:a16="http://schemas.microsoft.com/office/drawing/2014/main" id="{36D90E81-5867-4FC9-AACC-DC19CACFE779}"/>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Phase 2 source shift collapsed deterministic coverage</a:t>
            </a:r>
          </a:p>
        </p:txBody>
      </p:sp>
      <p:sp>
        <p:nvSpPr>
          <p:cNvPr id="3" name="">
            <a:extLst xmlns:a="http://schemas.openxmlformats.org/drawingml/2006/main">
              <a:ext uri="{FF2B5EF4-FFF2-40B4-BE49-F238E27FC236}">
                <a16:creationId xmlns:a16="http://schemas.microsoft.com/office/drawing/2014/main" id="{AB556682-DB6F-4C52-ACBD-A0336EA8CADC}"/>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BE2A6903-5116-46AD-899C-284AF1F24CBD}"/>
              </a:ext>
            </a:extLst>
          </p:cNvPr>
          <p:cNvSpPr>
            <a:spLocks xmlns:a="http://schemas.openxmlformats.org/drawingml/2006/main" noGrp="1"/>
          </p:cNvSpPr>
          <p:nvPr/>
        </p:nvSpPr>
        <p:spPr>
          <a:xfrm xmlns:a="http://schemas.openxmlformats.org/drawingml/2006/main">
            <a:off x="685800" y="1390650"/>
            <a:ext cx="1000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Exact Phase 1 lineage will cover less. The fallback must remain safe when coverage drops.</a:t>
            </a:r>
          </a:p>
        </p:txBody>
      </p:sp>
      <p:sp>
        <p:nvSpPr>
          <p:cNvPr id="5" name="">
            <a:extLst xmlns:a="http://schemas.openxmlformats.org/drawingml/2006/main">
              <a:ext uri="{FF2B5EF4-FFF2-40B4-BE49-F238E27FC236}">
                <a16:creationId xmlns:a16="http://schemas.microsoft.com/office/drawing/2014/main" id="{9518A7EE-BD2F-4D45-94A3-8109359D3644}"/>
              </a:ext>
            </a:extLst>
          </p:cNvPr>
          <p:cNvSpPr>
            <a:spLocks xmlns:a="http://schemas.openxmlformats.org/drawingml/2006/main" noGrp="1"/>
          </p:cNvSpPr>
          <p:nvPr/>
        </p:nvSpPr>
        <p:spPr>
          <a:xfrm xmlns:a="http://schemas.openxmlformats.org/drawingml/2006/main">
            <a:off x="914400" y="21526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Web and news</a:t>
            </a:r>
          </a:p>
        </p:txBody>
      </p:sp>
      <p:sp>
        <p:nvSpPr>
          <p:cNvPr id="6" name="">
            <a:extLst xmlns:a="http://schemas.openxmlformats.org/drawingml/2006/main">
              <a:ext uri="{FF2B5EF4-FFF2-40B4-BE49-F238E27FC236}">
                <a16:creationId xmlns:a16="http://schemas.microsoft.com/office/drawing/2014/main" id="{33CB4680-C0BB-4030-8AB7-C64B9AF732C1}"/>
              </a:ext>
            </a:extLst>
          </p:cNvPr>
          <p:cNvSpPr>
            <a:spLocks xmlns:a="http://schemas.openxmlformats.org/drawingml/2006/main" noGrp="1"/>
          </p:cNvSpPr>
          <p:nvPr/>
        </p:nvSpPr>
        <p:spPr>
          <a:xfrm xmlns:a="http://schemas.openxmlformats.org/drawingml/2006/main">
            <a:off x="914400" y="24765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Common Crawl, recent newspapers</a:t>
            </a:r>
          </a:p>
        </p:txBody>
      </p:sp>
      <p:sp>
        <p:nvSpPr>
          <p:cNvPr id="7" name="">
            <a:extLst xmlns:a="http://schemas.openxmlformats.org/drawingml/2006/main">
              <a:ext uri="{FF2B5EF4-FFF2-40B4-BE49-F238E27FC236}">
                <a16:creationId xmlns:a16="http://schemas.microsoft.com/office/drawing/2014/main" id="{EB6B9885-07B8-4293-A7DA-9BFD4F82A9E6}"/>
              </a:ext>
            </a:extLst>
          </p:cNvPr>
          <p:cNvSpPr>
            <a:spLocks xmlns:a="http://schemas.openxmlformats.org/drawingml/2006/main" noGrp="1"/>
          </p:cNvSpPr>
          <p:nvPr/>
        </p:nvSpPr>
        <p:spPr>
          <a:xfrm xmlns:a="http://schemas.openxmlformats.org/drawingml/2006/main">
            <a:off x="914400" y="28956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C60DF267-96DE-429F-8F17-9440E1976E2A}"/>
              </a:ext>
            </a:extLst>
          </p:cNvPr>
          <p:cNvSpPr>
            <a:spLocks xmlns:a="http://schemas.openxmlformats.org/drawingml/2006/main" noGrp="1"/>
          </p:cNvSpPr>
          <p:nvPr/>
        </p:nvSpPr>
        <p:spPr>
          <a:xfrm xmlns:a="http://schemas.openxmlformats.org/drawingml/2006/main">
            <a:off x="914400" y="30289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Knowledge</a:t>
            </a:r>
          </a:p>
        </p:txBody>
      </p:sp>
      <p:sp>
        <p:nvSpPr>
          <p:cNvPr id="9" name="">
            <a:extLst xmlns:a="http://schemas.openxmlformats.org/drawingml/2006/main">
              <a:ext uri="{FF2B5EF4-FFF2-40B4-BE49-F238E27FC236}">
                <a16:creationId xmlns:a16="http://schemas.microsoft.com/office/drawing/2014/main" id="{42E105E1-B083-40FB-A908-C9CF151A5FB6}"/>
              </a:ext>
            </a:extLst>
          </p:cNvPr>
          <p:cNvSpPr>
            <a:spLocks xmlns:a="http://schemas.openxmlformats.org/drawingml/2006/main" noGrp="1"/>
          </p:cNvSpPr>
          <p:nvPr/>
        </p:nvSpPr>
        <p:spPr>
          <a:xfrm xmlns:a="http://schemas.openxmlformats.org/drawingml/2006/main">
            <a:off x="914400" y="33528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Wikipedia and Banglapedia</a:t>
            </a:r>
          </a:p>
        </p:txBody>
      </p:sp>
      <p:sp>
        <p:nvSpPr>
          <p:cNvPr id="10" name="">
            <a:extLst xmlns:a="http://schemas.openxmlformats.org/drawingml/2006/main">
              <a:ext uri="{FF2B5EF4-FFF2-40B4-BE49-F238E27FC236}">
                <a16:creationId xmlns:a16="http://schemas.microsoft.com/office/drawing/2014/main" id="{0103BA9F-BE3F-4875-B4A5-24DCB8A22BCD}"/>
              </a:ext>
            </a:extLst>
          </p:cNvPr>
          <p:cNvSpPr>
            <a:spLocks xmlns:a="http://schemas.openxmlformats.org/drawingml/2006/main" noGrp="1"/>
          </p:cNvSpPr>
          <p:nvPr/>
        </p:nvSpPr>
        <p:spPr>
          <a:xfrm xmlns:a="http://schemas.openxmlformats.org/drawingml/2006/main">
            <a:off x="914400" y="37719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1" name="">
            <a:extLst xmlns:a="http://schemas.openxmlformats.org/drawingml/2006/main">
              <a:ext uri="{FF2B5EF4-FFF2-40B4-BE49-F238E27FC236}">
                <a16:creationId xmlns:a16="http://schemas.microsoft.com/office/drawing/2014/main" id="{6F9EA1E7-31B0-4C34-B60A-BD2BC5E4D092}"/>
              </a:ext>
            </a:extLst>
          </p:cNvPr>
          <p:cNvSpPr>
            <a:spLocks xmlns:a="http://schemas.openxmlformats.org/drawingml/2006/main" noGrp="1"/>
          </p:cNvSpPr>
          <p:nvPr/>
        </p:nvSpPr>
        <p:spPr>
          <a:xfrm xmlns:a="http://schemas.openxmlformats.org/drawingml/2006/main">
            <a:off x="914400" y="39052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Civic and legal</a:t>
            </a:r>
          </a:p>
        </p:txBody>
      </p:sp>
      <p:sp>
        <p:nvSpPr>
          <p:cNvPr id="12" name="">
            <a:extLst xmlns:a="http://schemas.openxmlformats.org/drawingml/2006/main">
              <a:ext uri="{FF2B5EF4-FFF2-40B4-BE49-F238E27FC236}">
                <a16:creationId xmlns:a16="http://schemas.microsoft.com/office/drawing/2014/main" id="{E0A853A8-6013-4F40-B318-5EE9F3236D96}"/>
              </a:ext>
            </a:extLst>
          </p:cNvPr>
          <p:cNvSpPr>
            <a:spLocks xmlns:a="http://schemas.openxmlformats.org/drawingml/2006/main" noGrp="1"/>
          </p:cNvSpPr>
          <p:nvPr/>
        </p:nvSpPr>
        <p:spPr>
          <a:xfrm xmlns:a="http://schemas.openxmlformats.org/drawingml/2006/main">
            <a:off x="914400" y="42291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government services and bdlaws</a:t>
            </a:r>
          </a:p>
        </p:txBody>
      </p:sp>
      <p:sp>
        <p:nvSpPr>
          <p:cNvPr id="13" name="">
            <a:extLst xmlns:a="http://schemas.openxmlformats.org/drawingml/2006/main">
              <a:ext uri="{FF2B5EF4-FFF2-40B4-BE49-F238E27FC236}">
                <a16:creationId xmlns:a16="http://schemas.microsoft.com/office/drawing/2014/main" id="{BE604AC9-539C-4A3D-965A-3679558E0D57}"/>
              </a:ext>
            </a:extLst>
          </p:cNvPr>
          <p:cNvSpPr>
            <a:spLocks xmlns:a="http://schemas.openxmlformats.org/drawingml/2006/main" noGrp="1"/>
          </p:cNvSpPr>
          <p:nvPr/>
        </p:nvSpPr>
        <p:spPr>
          <a:xfrm xmlns:a="http://schemas.openxmlformats.org/drawingml/2006/main">
            <a:off x="914400" y="46482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B616F080-F6A1-4EAB-865C-E979113DAE07}"/>
              </a:ext>
            </a:extLst>
          </p:cNvPr>
          <p:cNvSpPr>
            <a:spLocks xmlns:a="http://schemas.openxmlformats.org/drawingml/2006/main" noGrp="1"/>
          </p:cNvSpPr>
          <p:nvPr/>
        </p:nvSpPr>
        <p:spPr>
          <a:xfrm xmlns:a="http://schemas.openxmlformats.org/drawingml/2006/main">
            <a:off x="914400" y="47815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Education and culture</a:t>
            </a:r>
          </a:p>
        </p:txBody>
      </p:sp>
      <p:sp>
        <p:nvSpPr>
          <p:cNvPr id="15" name="">
            <a:extLst xmlns:a="http://schemas.openxmlformats.org/drawingml/2006/main">
              <a:ext uri="{FF2B5EF4-FFF2-40B4-BE49-F238E27FC236}">
                <a16:creationId xmlns:a16="http://schemas.microsoft.com/office/drawing/2014/main" id="{47395962-9662-47C8-B8B7-3F283C4C8851}"/>
              </a:ext>
            </a:extLst>
          </p:cNvPr>
          <p:cNvSpPr>
            <a:spLocks xmlns:a="http://schemas.openxmlformats.org/drawingml/2006/main" noGrp="1"/>
          </p:cNvSpPr>
          <p:nvPr/>
        </p:nvSpPr>
        <p:spPr>
          <a:xfrm xmlns:a="http://schemas.openxmlformats.org/drawingml/2006/main">
            <a:off x="9144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NCTB textbooks and literature</a:t>
            </a:r>
          </a:p>
        </p:txBody>
      </p:sp>
      <p:sp>
        <p:nvSpPr>
          <p:cNvPr id="16" name="">
            <a:extLst xmlns:a="http://schemas.openxmlformats.org/drawingml/2006/main">
              <a:ext uri="{FF2B5EF4-FFF2-40B4-BE49-F238E27FC236}">
                <a16:creationId xmlns:a16="http://schemas.microsoft.com/office/drawing/2014/main" id="{FA982134-CBFC-4EC0-93E4-11289BCFC1CA}"/>
              </a:ext>
            </a:extLst>
          </p:cNvPr>
          <p:cNvSpPr>
            <a:spLocks xmlns:a="http://schemas.openxmlformats.org/drawingml/2006/main" noGrp="1"/>
          </p:cNvSpPr>
          <p:nvPr/>
        </p:nvSpPr>
        <p:spPr>
          <a:xfrm xmlns:a="http://schemas.openxmlformats.org/drawingml/2006/main">
            <a:off x="914400" y="55245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0B2535B6-7B89-4D18-99BF-8D2C534ED0B8}"/>
              </a:ext>
            </a:extLst>
          </p:cNvPr>
          <p:cNvSpPr>
            <a:spLocks xmlns:a="http://schemas.openxmlformats.org/drawingml/2006/main" noGrp="1"/>
          </p:cNvSpPr>
          <p:nvPr/>
        </p:nvSpPr>
        <p:spPr>
          <a:xfrm xmlns:a="http://schemas.openxmlformats.org/drawingml/2006/main">
            <a:off x="44005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0F5617B3-FF5D-489F-A98F-5FE049A100FA}"/>
              </a:ext>
            </a:extLst>
          </p:cNvPr>
          <p:cNvSpPr>
            <a:spLocks xmlns:a="http://schemas.openxmlformats.org/drawingml/2006/main" noGrp="1"/>
          </p:cNvSpPr>
          <p:nvPr/>
        </p:nvSpPr>
        <p:spPr>
          <a:xfrm xmlns:a="http://schemas.openxmlformats.org/drawingml/2006/main">
            <a:off x="80962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9" name="">
            <a:extLst xmlns:a="http://schemas.openxmlformats.org/drawingml/2006/main">
              <a:ext uri="{FF2B5EF4-FFF2-40B4-BE49-F238E27FC236}">
                <a16:creationId xmlns:a16="http://schemas.microsoft.com/office/drawing/2014/main" id="{06213A73-FB80-4A96-B9FF-DE90960B58A3}"/>
              </a:ext>
            </a:extLst>
          </p:cNvPr>
          <p:cNvSpPr>
            <a:spLocks xmlns:a="http://schemas.openxmlformats.org/drawingml/2006/main" noGrp="1"/>
          </p:cNvSpPr>
          <p:nvPr/>
        </p:nvSpPr>
        <p:spPr>
          <a:xfrm xmlns:a="http://schemas.openxmlformats.org/drawingml/2006/main">
            <a:off x="5334000" y="2324100"/>
            <a:ext cx="272415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47317BA4-7930-4AF5-8A52-90FE1C0D6CE8}"/>
              </a:ext>
            </a:extLst>
          </p:cNvPr>
          <p:cNvSpPr>
            <a:spLocks xmlns:a="http://schemas.openxmlformats.org/drawingml/2006/main" noGrp="1"/>
          </p:cNvSpPr>
          <p:nvPr/>
        </p:nvSpPr>
        <p:spPr>
          <a:xfrm xmlns:a="http://schemas.openxmlformats.org/drawingml/2006/main">
            <a:off x="5619750" y="2628900"/>
            <a:ext cx="2152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2A8C82"/>
                </a:solidFill>
              </a:defRPr>
            </a:pPr>
            <a:r>
              <a:rPr sz="1875" b="1">
                <a:solidFill>
                  <a:srgbClr val="2A8C82"/>
                </a:solidFill>
              </a:rPr>
              <a:t>Try exact routing</a:t>
            </a:r>
          </a:p>
        </p:txBody>
      </p:sp>
      <p:sp>
        <p:nvSpPr>
          <p:cNvPr id="21" name="">
            <a:extLst xmlns:a="http://schemas.openxmlformats.org/drawingml/2006/main">
              <a:ext uri="{FF2B5EF4-FFF2-40B4-BE49-F238E27FC236}">
                <a16:creationId xmlns:a16="http://schemas.microsoft.com/office/drawing/2014/main" id="{807AB4F3-92DF-4358-B926-941593041E10}"/>
              </a:ext>
            </a:extLst>
          </p:cNvPr>
          <p:cNvSpPr>
            <a:spLocks xmlns:a="http://schemas.openxmlformats.org/drawingml/2006/main" noGrp="1"/>
          </p:cNvSpPr>
          <p:nvPr/>
        </p:nvSpPr>
        <p:spPr>
          <a:xfrm xmlns:a="http://schemas.openxmlformats.org/drawingml/2006/main">
            <a:off x="5657850" y="3143250"/>
            <a:ext cx="20764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0">
                <a:solidFill>
                  <a:srgbClr val="526174"/>
                </a:solidFill>
              </a:defRPr>
            </a:pPr>
            <a:r>
              <a:rPr sz="1425" b="0">
                <a:solidFill>
                  <a:srgbClr val="526174"/>
                </a:solidFill>
              </a:rPr>
              <a:t>context clauses</a:t>
            </a:r>
          </a:p>
          <a:p xmlns:a="http://schemas.openxmlformats.org/drawingml/2006/main">
            <a:pPr algn="ctr">
              <a:defRPr sz="1425" b="0">
                <a:solidFill>
                  <a:srgbClr val="526174"/>
                </a:solidFill>
              </a:defRPr>
            </a:pPr>
            <a:r>
              <a:rPr sz="1425" b="0">
                <a:solidFill>
                  <a:srgbClr val="526174"/>
                </a:solidFill>
              </a:rPr>
              <a:t>structured solvers</a:t>
            </a:r>
          </a:p>
          <a:p xmlns:a="http://schemas.openxmlformats.org/drawingml/2006/main">
            <a:pPr algn="ctr">
              <a:defRPr sz="1425" b="0">
                <a:solidFill>
                  <a:srgbClr val="526174"/>
                </a:solidFill>
              </a:defRPr>
            </a:pPr>
            <a:r>
              <a:rPr sz="1425" b="0">
                <a:solidFill>
                  <a:srgbClr val="526174"/>
                </a:solidFill>
              </a:rPr>
              <a:t>entity-relation checks</a:t>
            </a:r>
          </a:p>
        </p:txBody>
      </p:sp>
      <p:sp>
        <p:nvSpPr>
          <p:cNvPr id="22" name="">
            <a:extLst xmlns:a="http://schemas.openxmlformats.org/drawingml/2006/main">
              <a:ext uri="{FF2B5EF4-FFF2-40B4-BE49-F238E27FC236}">
                <a16:creationId xmlns:a16="http://schemas.microsoft.com/office/drawing/2014/main" id="{98A41139-E6A1-4B40-9E6D-10F774A9947A}"/>
              </a:ext>
            </a:extLst>
          </p:cNvPr>
          <p:cNvSpPr>
            <a:spLocks xmlns:a="http://schemas.openxmlformats.org/drawingml/2006/main" noGrp="1"/>
          </p:cNvSpPr>
          <p:nvPr/>
        </p:nvSpPr>
        <p:spPr>
          <a:xfrm xmlns:a="http://schemas.openxmlformats.org/drawingml/2006/main">
            <a:off x="9029700" y="2324100"/>
            <a:ext cx="2247900" cy="2095500"/>
          </a:xfrm>
          <a:prstGeom xmlns:a="http://schemas.openxmlformats.org/drawingml/2006/main" prst="roundRect">
            <a:avLst>
              <a:gd name="adj" fmla="val 8182"/>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3" name="">
            <a:extLst xmlns:a="http://schemas.openxmlformats.org/drawingml/2006/main">
              <a:ext uri="{FF2B5EF4-FFF2-40B4-BE49-F238E27FC236}">
                <a16:creationId xmlns:a16="http://schemas.microsoft.com/office/drawing/2014/main" id="{9824B898-0D03-4185-9475-A3503B29BE4B}"/>
              </a:ext>
            </a:extLst>
          </p:cNvPr>
          <p:cNvSpPr>
            <a:spLocks xmlns:a="http://schemas.openxmlformats.org/drawingml/2006/main" noGrp="1"/>
          </p:cNvSpPr>
          <p:nvPr/>
        </p:nvSpPr>
        <p:spPr>
          <a:xfrm xmlns:a="http://schemas.openxmlformats.org/drawingml/2006/main">
            <a:off x="9296400" y="26289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D59B32"/>
                </a:solidFill>
              </a:defRPr>
            </a:pPr>
            <a:r>
              <a:rPr sz="1875" b="1">
                <a:solidFill>
                  <a:srgbClr val="D59B32"/>
                </a:solidFill>
              </a:rPr>
              <a:t>If uncertain</a:t>
            </a:r>
          </a:p>
        </p:txBody>
      </p:sp>
      <p:sp>
        <p:nvSpPr>
          <p:cNvPr id="24" name="">
            <a:extLst xmlns:a="http://schemas.openxmlformats.org/drawingml/2006/main">
              <a:ext uri="{FF2B5EF4-FFF2-40B4-BE49-F238E27FC236}">
                <a16:creationId xmlns:a16="http://schemas.microsoft.com/office/drawing/2014/main" id="{7221EA17-6231-4DB3-834C-236C38E68A8A}"/>
              </a:ext>
            </a:extLst>
          </p:cNvPr>
          <p:cNvSpPr>
            <a:spLocks xmlns:a="http://schemas.openxmlformats.org/drawingml/2006/main" noGrp="1"/>
          </p:cNvSpPr>
          <p:nvPr/>
        </p:nvSpPr>
        <p:spPr>
          <a:xfrm xmlns:a="http://schemas.openxmlformats.org/drawingml/2006/main">
            <a:off x="9296400" y="3143250"/>
            <a:ext cx="1714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skip lineage</a:t>
            </a:r>
          </a:p>
          <a:p xmlns:a="http://schemas.openxmlformats.org/drawingml/2006/main">
            <a:pPr algn="ctr">
              <a:defRPr sz="1350" b="0">
                <a:solidFill>
                  <a:srgbClr val="526174"/>
                </a:solidFill>
              </a:defRPr>
            </a:pPr>
            <a:r>
              <a:rPr sz="1350" b="0">
                <a:solidFill>
                  <a:srgbClr val="526174"/>
                </a:solidFill>
              </a:rPr>
              <a:t>use the fixed judge</a:t>
            </a:r>
          </a:p>
          <a:p xmlns:a="http://schemas.openxmlformats.org/drawingml/2006/main">
            <a:pPr algn="ctr">
              <a:defRPr sz="1350" b="0">
                <a:solidFill>
                  <a:srgbClr val="526174"/>
                </a:solidFill>
              </a:defRPr>
            </a:pPr>
            <a:r>
              <a:rPr sz="1350" b="0">
                <a:solidFill>
                  <a:srgbClr val="526174"/>
                </a:solidFill>
              </a:rPr>
              <a:t>keep the same vote rule</a:t>
            </a:r>
          </a:p>
        </p:txBody>
      </p:sp>
      <p:sp>
        <p:nvSpPr>
          <p:cNvPr id="25" name="">
            <a:extLst xmlns:a="http://schemas.openxmlformats.org/drawingml/2006/main">
              <a:ext uri="{FF2B5EF4-FFF2-40B4-BE49-F238E27FC236}">
                <a16:creationId xmlns:a16="http://schemas.microsoft.com/office/drawing/2014/main" id="{68952354-BF2A-4868-9D17-8A9DD060E671}"/>
              </a:ext>
            </a:extLst>
          </p:cNvPr>
          <p:cNvSpPr>
            <a:spLocks xmlns:a="http://schemas.openxmlformats.org/drawingml/2006/main" noGrp="1"/>
          </p:cNvSpPr>
          <p:nvPr/>
        </p:nvSpPr>
        <p:spPr>
          <a:xfrm xmlns:a="http://schemas.openxmlformats.org/drawingml/2006/main">
            <a:off x="4857750" y="5029200"/>
            <a:ext cx="6286500" cy="819150"/>
          </a:xfrm>
          <a:prstGeom xmlns:a="http://schemas.openxmlformats.org/drawingml/2006/main" prst="roundRect">
            <a:avLst>
              <a:gd name="adj" fmla="val 18605"/>
            </a:avLst>
          </a:prstGeom>
          <a:solidFill xmlns:a="http://schemas.openxmlformats.org/drawingml/2006/main">
            <a:srgbClr val="E7EEF4"/>
          </a:solidFill>
          <a:ln xmlns:a="http://schemas.openxmlformats.org/drawingml/2006/main" w="9525">
            <a:solidFill>
              <a:srgbClr val="1F5A7A"/>
            </a:solidFill>
            <a:prstDash val="solid"/>
          </a:ln>
        </p:spPr>
      </p:sp>
      <p:sp>
        <p:nvSpPr>
          <p:cNvPr id="26" name="">
            <a:extLst xmlns:a="http://schemas.openxmlformats.org/drawingml/2006/main">
              <a:ext uri="{FF2B5EF4-FFF2-40B4-BE49-F238E27FC236}">
                <a16:creationId xmlns:a16="http://schemas.microsoft.com/office/drawing/2014/main" id="{6C0405BB-CB3F-4C96-8187-1392984E63D4}"/>
              </a:ext>
            </a:extLst>
          </p:cNvPr>
          <p:cNvSpPr>
            <a:spLocks xmlns:a="http://schemas.openxmlformats.org/drawingml/2006/main" noGrp="1"/>
          </p:cNvSpPr>
          <p:nvPr/>
        </p:nvSpPr>
        <p:spPr>
          <a:xfrm xmlns:a="http://schemas.openxmlformats.org/drawingml/2006/main">
            <a:off x="5086350" y="5181600"/>
            <a:ext cx="582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F5A7A"/>
                </a:solidFill>
              </a:defRPr>
            </a:pPr>
            <a:r>
              <a:rPr sz="1350" b="1">
                <a:solidFill>
                  <a:srgbClr val="1F5A7A"/>
                </a:solidFill>
              </a:rPr>
              <a:t>Deterministic coverage: 93.72% in Phase 1 -&gt; 4.14% in Phase 2</a:t>
            </a:r>
          </a:p>
        </p:txBody>
      </p:sp>
      <p:sp>
        <p:nvSpPr>
          <p:cNvPr id="27" name="">
            <a:extLst xmlns:a="http://schemas.openxmlformats.org/drawingml/2006/main">
              <a:ext uri="{FF2B5EF4-FFF2-40B4-BE49-F238E27FC236}">
                <a16:creationId xmlns:a16="http://schemas.microsoft.com/office/drawing/2014/main" id="{D83826BB-977B-4FC1-9A4C-0F746D41FF6D}"/>
              </a:ext>
            </a:extLst>
          </p:cNvPr>
          <p:cNvSpPr>
            <a:spLocks xmlns:a="http://schemas.openxmlformats.org/drawingml/2006/main" noGrp="1"/>
          </p:cNvSpPr>
          <p:nvPr/>
        </p:nvSpPr>
        <p:spPr>
          <a:xfrm xmlns:a="http://schemas.openxmlformats.org/drawingml/2006/main">
            <a:off x="5086350" y="5505450"/>
            <a:ext cx="5829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The fixed judge absorbed the shift and still finished in 3:52:02.</a:t>
            </a:r>
          </a:p>
        </p:txBody>
      </p:sp>
      <p:sp>
        <p:nvSpPr>
          <p:cNvPr id="28" name="">
            <a:extLst xmlns:a="http://schemas.openxmlformats.org/drawingml/2006/main">
              <a:ext uri="{FF2B5EF4-FFF2-40B4-BE49-F238E27FC236}">
                <a16:creationId xmlns:a16="http://schemas.microsoft.com/office/drawing/2014/main" id="{AE0E8DA4-204A-412A-A005-0BF03F3F29D7}"/>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source-14">
            <a:extLst xmlns:a="http://schemas.openxmlformats.org/drawingml/2006/main">
              <a:ext uri="{FF2B5EF4-FFF2-40B4-BE49-F238E27FC236}">
                <a16:creationId xmlns:a16="http://schemas.microsoft.com/office/drawing/2014/main" id="{4FA3102D-F1D3-41D0-B45F-9EDF6DC06D61}"/>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[2] Phase 2 source preview  [8] Measured held-out run</a:t>
            </a:r>
          </a:p>
        </p:txBody>
      </p:sp>
      <p:sp>
        <p:nvSpPr>
          <p:cNvPr id="30" name="page-14">
            <a:extLst xmlns:a="http://schemas.openxmlformats.org/drawingml/2006/main">
              <a:ext uri="{FF2B5EF4-FFF2-40B4-BE49-F238E27FC236}">
                <a16:creationId xmlns:a16="http://schemas.microsoft.com/office/drawing/2014/main" id="{76D6A106-1A20-40B0-8EC3-9F41BE3D5C2E}"/>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14</a:t>
            </a:r>
          </a:p>
        </p:txBody>
      </p:sp>
    </p:spTree>
    <p:extLst>
      <p:ext uri="{BB962C8B-B14F-4D97-AF65-F5344CB8AC3E}">
        <p14:creationId xmlns:p14="http://schemas.microsoft.com/office/powerpoint/2010/main" val="1618010076"/>
      </p:ext>
    </p:extLst>
  </p:cSld>
</p:sld>
</file>

<file path=ppt/slides/slide1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616C739-D264-4A19-B9FE-AABE1A83236C}"/>
              </a:ext>
            </a:extLst>
          </p:cNvPr>
          <p:cNvSpPr>
            <a:spLocks xmlns:a="http://schemas.openxmlformats.org/drawingml/2006/main" noGrp="1"/>
          </p:cNvSpPr>
          <p:nvPr/>
        </p:nvSpPr>
        <p:spPr>
          <a:xfrm xmlns:a="http://schemas.openxmlformats.org/drawingml/2006/main">
            <a:off x="685800" y="4000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
            <a:extLst xmlns:a="http://schemas.openxmlformats.org/drawingml/2006/main">
              <a:ext uri="{FF2B5EF4-FFF2-40B4-BE49-F238E27FC236}">
                <a16:creationId xmlns:a16="http://schemas.microsoft.com/office/drawing/2014/main" id="{B8B3FF84-160E-4361-B02F-D9C63E865594}"/>
              </a:ext>
            </a:extLst>
          </p:cNvPr>
          <p:cNvSpPr>
            <a:spLocks xmlns:a="http://schemas.openxmlformats.org/drawingml/2006/main" noGrp="1"/>
          </p:cNvSpPr>
          <p:nvPr/>
        </p:nvSpPr>
        <p:spPr>
          <a:xfrm xmlns:a="http://schemas.openxmlformats.org/drawingml/2006/main">
            <a:off x="685800" y="838200"/>
            <a:ext cx="9048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300" b="1">
                <a:solidFill>
                  <a:srgbClr val="0F172A"/>
                </a:solidFill>
              </a:defRPr>
            </a:pPr>
            <a:r>
              <a:rPr sz="3300" b="1">
                <a:solidFill>
                  <a:srgbClr val="0F172A"/>
                </a:solidFill>
              </a:rPr>
              <a:t>What the experiments support—</a:t>
            </a:r>
          </a:p>
          <a:p xmlns:a="http://schemas.openxmlformats.org/drawingml/2006/main">
            <a:pPr algn="l">
              <a:defRPr sz="3300" b="1">
                <a:solidFill>
                  <a:srgbClr val="0F172A"/>
                </a:solidFill>
              </a:defRPr>
            </a:pPr>
            <a:r>
              <a:rPr sz="3300" b="1">
                <a:solidFill>
                  <a:srgbClr val="0F172A"/>
                </a:solidFill>
              </a:rPr>
              <a:t>and what remains open</a:t>
            </a:r>
          </a:p>
        </p:txBody>
      </p:sp>
      <p:sp>
        <p:nvSpPr>
          <p:cNvPr id="3" name="">
            <a:extLst xmlns:a="http://schemas.openxmlformats.org/drawingml/2006/main">
              <a:ext uri="{FF2B5EF4-FFF2-40B4-BE49-F238E27FC236}">
                <a16:creationId xmlns:a16="http://schemas.microsoft.com/office/drawing/2014/main" id="{75BBE7C6-3143-4E17-A780-48C7BB2FC726}"/>
              </a:ext>
            </a:extLst>
          </p:cNvPr>
          <p:cNvSpPr>
            <a:spLocks xmlns:a="http://schemas.openxmlformats.org/drawingml/2006/main" noGrp="1"/>
          </p:cNvSpPr>
          <p:nvPr/>
        </p:nvSpPr>
        <p:spPr>
          <a:xfrm xmlns:a="http://schemas.openxmlformats.org/drawingml/2006/main">
            <a:off x="6858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 name="">
            <a:extLst xmlns:a="http://schemas.openxmlformats.org/drawingml/2006/main">
              <a:ext uri="{FF2B5EF4-FFF2-40B4-BE49-F238E27FC236}">
                <a16:creationId xmlns:a16="http://schemas.microsoft.com/office/drawing/2014/main" id="{DE44C291-17C9-4B82-8B65-CF3931D5CB4F}"/>
              </a:ext>
            </a:extLst>
          </p:cNvPr>
          <p:cNvSpPr>
            <a:spLocks xmlns:a="http://schemas.openxmlformats.org/drawingml/2006/main" noGrp="1"/>
          </p:cNvSpPr>
          <p:nvPr/>
        </p:nvSpPr>
        <p:spPr>
          <a:xfrm xmlns:a="http://schemas.openxmlformats.org/drawingml/2006/main">
            <a:off x="9144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A8C82"/>
                </a:solidFill>
              </a:defRPr>
            </a:pPr>
            <a:r>
              <a:rPr sz="1650" b="1">
                <a:solidFill>
                  <a:srgbClr val="2A8C82"/>
                </a:solidFill>
              </a:rPr>
              <a:t>Supported</a:t>
            </a:r>
          </a:p>
        </p:txBody>
      </p:sp>
      <p:sp>
        <p:nvSpPr>
          <p:cNvPr id="5" name="">
            <a:extLst xmlns:a="http://schemas.openxmlformats.org/drawingml/2006/main">
              <a:ext uri="{FF2B5EF4-FFF2-40B4-BE49-F238E27FC236}">
                <a16:creationId xmlns:a16="http://schemas.microsoft.com/office/drawing/2014/main" id="{86F83137-965E-44BC-8E52-6D374FBECF34}"/>
              </a:ext>
            </a:extLst>
          </p:cNvPr>
          <p:cNvSpPr>
            <a:spLocks xmlns:a="http://schemas.openxmlformats.org/drawingml/2006/main" noGrp="1"/>
          </p:cNvSpPr>
          <p:nvPr/>
        </p:nvSpPr>
        <p:spPr>
          <a:xfrm xmlns:a="http://schemas.openxmlformats.org/drawingml/2006/main">
            <a:off x="9144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Task families need separate policies.</a:t>
            </a:r>
          </a:p>
          <a:p xmlns:a="http://schemas.openxmlformats.org/drawingml/2006/main">
            <a:pPr algn="l">
              <a:defRPr sz="1275" b="0">
                <a:solidFill>
                  <a:srgbClr val="0F172A"/>
                </a:solidFill>
              </a:defRPr>
            </a:pPr>
            <a:r>
              <a:rPr sz="1275" b="0">
                <a:solidFill>
                  <a:srgbClr val="0F172A"/>
                </a:solidFill>
              </a:rPr>
              <a:t>Predicate alignment prevents relation swaps.</a:t>
            </a:r>
          </a:p>
          <a:p xmlns:a="http://schemas.openxmlformats.org/drawingml/2006/main">
            <a:pPr algn="l">
              <a:defRPr sz="1275" b="0">
                <a:solidFill>
                  <a:srgbClr val="0F172A"/>
                </a:solidFill>
              </a:defRPr>
            </a:pPr>
            <a:r>
              <a:rPr sz="1275" b="0">
                <a:solidFill>
                  <a:srgbClr val="0F172A"/>
                </a:solidFill>
              </a:rPr>
              <a:t>Abstention protected runtime under shift.</a:t>
            </a:r>
          </a:p>
        </p:txBody>
      </p:sp>
      <p:sp>
        <p:nvSpPr>
          <p:cNvPr id="6" name="">
            <a:extLst xmlns:a="http://schemas.openxmlformats.org/drawingml/2006/main">
              <a:ext uri="{FF2B5EF4-FFF2-40B4-BE49-F238E27FC236}">
                <a16:creationId xmlns:a16="http://schemas.microsoft.com/office/drawing/2014/main" id="{2321D992-D4C0-4072-BCF7-7E04EBD6ABC3}"/>
              </a:ext>
            </a:extLst>
          </p:cNvPr>
          <p:cNvSpPr>
            <a:spLocks xmlns:a="http://schemas.openxmlformats.org/drawingml/2006/main" noGrp="1"/>
          </p:cNvSpPr>
          <p:nvPr/>
        </p:nvSpPr>
        <p:spPr>
          <a:xfrm xmlns:a="http://schemas.openxmlformats.org/drawingml/2006/main">
            <a:off x="443865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18A2228D-6EFD-452E-9D0F-09B28D96F66B}"/>
              </a:ext>
            </a:extLst>
          </p:cNvPr>
          <p:cNvSpPr>
            <a:spLocks xmlns:a="http://schemas.openxmlformats.org/drawingml/2006/main" noGrp="1"/>
          </p:cNvSpPr>
          <p:nvPr/>
        </p:nvSpPr>
        <p:spPr>
          <a:xfrm xmlns:a="http://schemas.openxmlformats.org/drawingml/2006/main">
            <a:off x="466725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B5483A"/>
                </a:solidFill>
              </a:defRPr>
            </a:pPr>
            <a:r>
              <a:rPr sz="1650" b="1">
                <a:solidFill>
                  <a:srgbClr val="B5483A"/>
                </a:solidFill>
              </a:rPr>
              <a:t>Limitations</a:t>
            </a:r>
          </a:p>
        </p:txBody>
      </p:sp>
      <p:sp>
        <p:nvSpPr>
          <p:cNvPr id="8" name="">
            <a:extLst xmlns:a="http://schemas.openxmlformats.org/drawingml/2006/main">
              <a:ext uri="{FF2B5EF4-FFF2-40B4-BE49-F238E27FC236}">
                <a16:creationId xmlns:a16="http://schemas.microsoft.com/office/drawing/2014/main" id="{FD280358-D10B-45F0-AC4E-6BA423BEDC44}"/>
              </a:ext>
            </a:extLst>
          </p:cNvPr>
          <p:cNvSpPr>
            <a:spLocks xmlns:a="http://schemas.openxmlformats.org/drawingml/2006/main" noGrp="1"/>
          </p:cNvSpPr>
          <p:nvPr/>
        </p:nvSpPr>
        <p:spPr>
          <a:xfrm xmlns:a="http://schemas.openxmlformats.org/drawingml/2006/main">
            <a:off x="466725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Only 299 released labels.</a:t>
            </a:r>
          </a:p>
          <a:p xmlns:a="http://schemas.openxmlformats.org/drawingml/2006/main">
            <a:pPr algn="l">
              <a:defRPr sz="1275" b="0">
                <a:solidFill>
                  <a:srgbClr val="0F172A"/>
                </a:solidFill>
              </a:defRPr>
            </a:pPr>
            <a:r>
              <a:rPr sz="1275" b="0">
                <a:solidFill>
                  <a:srgbClr val="0F172A"/>
                </a:solidFill>
              </a:rPr>
              <a:t>Aggregate splits provide no row-level errors.</a:t>
            </a:r>
          </a:p>
          <a:p xmlns:a="http://schemas.openxmlformats.org/drawingml/2006/main">
            <a:pPr algn="l">
              <a:defRPr sz="1275" b="0">
                <a:solidFill>
                  <a:srgbClr val="0F172A"/>
                </a:solidFill>
              </a:defRPr>
            </a:pPr>
            <a:r>
              <a:rPr sz="1275" b="0">
                <a:solidFill>
                  <a:srgbClr val="0F172A"/>
                </a:solidFill>
              </a:rPr>
              <a:t>Phase 2 accuracy is still unknown.</a:t>
            </a:r>
          </a:p>
        </p:txBody>
      </p:sp>
      <p:sp>
        <p:nvSpPr>
          <p:cNvPr id="9" name="">
            <a:extLst xmlns:a="http://schemas.openxmlformats.org/drawingml/2006/main">
              <a:ext uri="{FF2B5EF4-FFF2-40B4-BE49-F238E27FC236}">
                <a16:creationId xmlns:a16="http://schemas.microsoft.com/office/drawing/2014/main" id="{B77445E4-1673-44E7-AF1B-CD620468C0DB}"/>
              </a:ext>
            </a:extLst>
          </p:cNvPr>
          <p:cNvSpPr>
            <a:spLocks xmlns:a="http://schemas.openxmlformats.org/drawingml/2006/main" noGrp="1"/>
          </p:cNvSpPr>
          <p:nvPr/>
        </p:nvSpPr>
        <p:spPr>
          <a:xfrm xmlns:a="http://schemas.openxmlformats.org/drawingml/2006/main">
            <a:off x="81534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4EFB1193-451E-42D3-8F57-2CB8BC379135}"/>
              </a:ext>
            </a:extLst>
          </p:cNvPr>
          <p:cNvSpPr>
            <a:spLocks xmlns:a="http://schemas.openxmlformats.org/drawingml/2006/main" noGrp="1"/>
          </p:cNvSpPr>
          <p:nvPr/>
        </p:nvSpPr>
        <p:spPr>
          <a:xfrm xmlns:a="http://schemas.openxmlformats.org/drawingml/2006/main">
            <a:off x="83820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59B32"/>
                </a:solidFill>
              </a:defRPr>
            </a:pPr>
            <a:r>
              <a:rPr sz="1650" b="1">
                <a:solidFill>
                  <a:srgbClr val="D59B32"/>
                </a:solidFill>
              </a:rPr>
              <a:t>Next analyses</a:t>
            </a:r>
          </a:p>
        </p:txBody>
      </p:sp>
      <p:sp>
        <p:nvSpPr>
          <p:cNvPr id="11" name="">
            <a:extLst xmlns:a="http://schemas.openxmlformats.org/drawingml/2006/main">
              <a:ext uri="{FF2B5EF4-FFF2-40B4-BE49-F238E27FC236}">
                <a16:creationId xmlns:a16="http://schemas.microsoft.com/office/drawing/2014/main" id="{E13FC635-A8D5-468B-A020-31711A46F769}"/>
              </a:ext>
            </a:extLst>
          </p:cNvPr>
          <p:cNvSpPr>
            <a:spLocks xmlns:a="http://schemas.openxmlformats.org/drawingml/2006/main" noGrp="1"/>
          </p:cNvSpPr>
          <p:nvPr/>
        </p:nvSpPr>
        <p:spPr>
          <a:xfrm xmlns:a="http://schemas.openxmlformats.org/drawingml/2006/main">
            <a:off x="83820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Inspect Phase 2 errors when released.</a:t>
            </a:r>
          </a:p>
          <a:p xmlns:a="http://schemas.openxmlformats.org/drawingml/2006/main">
            <a:pPr algn="l">
              <a:defRPr sz="1275" b="0">
                <a:solidFill>
                  <a:srgbClr val="0F172A"/>
                </a:solidFill>
              </a:defRPr>
            </a:pPr>
            <a:r>
              <a:rPr sz="1275" b="0">
                <a:solidFill>
                  <a:srgbClr val="0F172A"/>
                </a:solidFill>
              </a:rPr>
              <a:t>Calibrate the judged tail.</a:t>
            </a:r>
          </a:p>
          <a:p xmlns:a="http://schemas.openxmlformats.org/drawingml/2006/main">
            <a:pPr algn="l">
              <a:defRPr sz="1275" b="0">
                <a:solidFill>
                  <a:srgbClr val="0F172A"/>
                </a:solidFill>
              </a:defRPr>
            </a:pPr>
            <a:r>
              <a:rPr sz="1275" b="0">
                <a:solidFill>
                  <a:srgbClr val="0F172A"/>
                </a:solidFill>
              </a:rPr>
              <a:t>Expand licensed civic and news evidence.</a:t>
            </a:r>
          </a:p>
        </p:txBody>
      </p:sp>
      <p:sp>
        <p:nvSpPr>
          <p:cNvPr id="12" name="">
            <a:extLst xmlns:a="http://schemas.openxmlformats.org/drawingml/2006/main">
              <a:ext uri="{FF2B5EF4-FFF2-40B4-BE49-F238E27FC236}">
                <a16:creationId xmlns:a16="http://schemas.microsoft.com/office/drawing/2014/main" id="{0FD96A9F-29D5-4DBE-BF72-66648174D902}"/>
              </a:ext>
            </a:extLst>
          </p:cNvPr>
          <p:cNvSpPr>
            <a:spLocks xmlns:a="http://schemas.openxmlformats.org/drawingml/2006/main" noGrp="1"/>
          </p:cNvSpPr>
          <p:nvPr/>
        </p:nvSpPr>
        <p:spPr>
          <a:xfrm xmlns:a="http://schemas.openxmlformats.org/drawingml/2006/main">
            <a:off x="6858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1F5A7A"/>
                </a:solidFill>
              </a:defRPr>
            </a:pPr>
            <a:r>
              <a:rPr sz="2700" b="1">
                <a:solidFill>
                  <a:srgbClr val="1F5A7A"/>
                </a:solidFill>
              </a:rPr>
              <a:t>Questions</a:t>
            </a:r>
          </a:p>
        </p:txBody>
      </p:sp>
      <p:sp>
        <p:nvSpPr>
          <p:cNvPr id="13" name="">
            <a:extLst xmlns:a="http://schemas.openxmlformats.org/drawingml/2006/main">
              <a:ext uri="{FF2B5EF4-FFF2-40B4-BE49-F238E27FC236}">
                <a16:creationId xmlns:a16="http://schemas.microsoft.com/office/drawing/2014/main" id="{2B8BAC1D-1097-4F60-A5D4-B655ADD582E0}"/>
              </a:ext>
            </a:extLst>
          </p:cNvPr>
          <p:cNvSpPr>
            <a:spLocks xmlns:a="http://schemas.openxmlformats.org/drawingml/2006/main" noGrp="1"/>
          </p:cNvSpPr>
          <p:nvPr/>
        </p:nvSpPr>
        <p:spPr>
          <a:xfrm xmlns:a="http://schemas.openxmlformats.org/drawingml/2006/main">
            <a:off x="3714750" y="5467350"/>
            <a:ext cx="7696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350" b="1">
                <a:solidFill>
                  <a:srgbClr val="526174"/>
                </a:solidFill>
              </a:defRPr>
            </a:pPr>
            <a:r>
              <a:rPr sz="1350" b="1">
                <a:solidFill>
                  <a:srgbClr val="526174"/>
                </a:solidFill>
              </a:rPr>
              <a:t>Selective inference remained reproducible and completed the held-out run within the runtime limit.</a:t>
            </a:r>
          </a:p>
        </p:txBody>
      </p:sp>
      <p:sp>
        <p:nvSpPr>
          <p:cNvPr id="14" name="">
            <a:extLst xmlns:a="http://schemas.openxmlformats.org/drawingml/2006/main">
              <a:ext uri="{FF2B5EF4-FFF2-40B4-BE49-F238E27FC236}">
                <a16:creationId xmlns:a16="http://schemas.microsoft.com/office/drawing/2014/main" id="{F26472C0-E999-40D2-B18D-0EC85CC45D92}"/>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C214942F-05C0-4849-B65C-92859DD8C60C}"/>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Team Huntrix final system and reproducibility package</a:t>
            </a:r>
          </a:p>
        </p:txBody>
      </p:sp>
      <p:sp>
        <p:nvSpPr>
          <p:cNvPr id="16" name="">
            <a:extLst xmlns:a="http://schemas.openxmlformats.org/drawingml/2006/main">
              <a:ext uri="{FF2B5EF4-FFF2-40B4-BE49-F238E27FC236}">
                <a16:creationId xmlns:a16="http://schemas.microsoft.com/office/drawing/2014/main" id="{2B1743CC-F08F-4114-8116-762006E60081}"/>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15</a:t>
            </a:r>
          </a:p>
        </p:txBody>
      </p:sp>
    </p:spTree>
    <p:extLst>
      <p:ext uri="{BB962C8B-B14F-4D97-AF65-F5344CB8AC3E}">
        <p14:creationId xmlns:p14="http://schemas.microsoft.com/office/powerpoint/2010/main" val="72139278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2026-07-22T19:12:42.1170000Z</dcterms:created>
  <dcterms:modified xsi:type="dcterms:W3CDTF">2026-07-22T19:12:42.1170000Z</dcterms:modified>
</coreProperties>
</file>