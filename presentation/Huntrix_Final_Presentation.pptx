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674895caa3647b7" /><Relationship Type="http://schemas.openxmlformats.org/officeDocument/2006/relationships/extended-properties" Target="/docProps/app.xml" Id="R3f4baba11e4549cd" /><Relationship Type="http://schemas.openxmlformats.org/officeDocument/2006/relationships/officeDocument" Target="/ppt/presentation.xml" Id="R7923cdbbb24d4ae7" /></Relationships>
</file>

<file path=ppt/presentation.xml><?xml version="1.0" encoding="utf-8"?>
<p:presentation xmlns:p="http://schemas.openxmlformats.org/presentationml/2006/main">
  <p:sldMasterIdLst>
    <p:sldMasterId xmlns:r="http://schemas.openxmlformats.org/officeDocument/2006/relationships" id="2147483648" r:id="Rda8d5f4c79a245ef"/>
  </p:sldMasterIdLst>
  <p:notesMasterIdLst>
    <p:notesMasterId xmlns:r="http://schemas.openxmlformats.org/officeDocument/2006/relationships" r:id="R6279b59ae76343d8"/>
  </p:notesMasterIdLst>
  <p:sldIdLst>
    <p:sldId xmlns:r="http://schemas.openxmlformats.org/officeDocument/2006/relationships" id="256" r:id="R67ba05a28f13455c"/>
    <p:sldId xmlns:r="http://schemas.openxmlformats.org/officeDocument/2006/relationships" id="257" r:id="R05a14d6b71ec43cc"/>
    <p:sldId xmlns:r="http://schemas.openxmlformats.org/officeDocument/2006/relationships" id="258" r:id="R4093821adebe4cd6"/>
    <p:sldId xmlns:r="http://schemas.openxmlformats.org/officeDocument/2006/relationships" id="259" r:id="Rea5b94a6341747ad"/>
    <p:sldId xmlns:r="http://schemas.openxmlformats.org/officeDocument/2006/relationships" id="260" r:id="R0f28059993664f73"/>
    <p:sldId xmlns:r="http://schemas.openxmlformats.org/officeDocument/2006/relationships" id="261" r:id="Ra75fb3a813d44677"/>
    <p:sldId xmlns:r="http://schemas.openxmlformats.org/officeDocument/2006/relationships" id="262" r:id="R5cdabe37e56d446a"/>
    <p:sldId xmlns:r="http://schemas.openxmlformats.org/officeDocument/2006/relationships" id="263" r:id="R1144d92d1a7d4d0d"/>
    <p:sldId xmlns:r="http://schemas.openxmlformats.org/officeDocument/2006/relationships" id="264" r:id="R29b88f5dc4284e19"/>
    <p:sldId xmlns:r="http://schemas.openxmlformats.org/officeDocument/2006/relationships" id="265" r:id="R107672984f84447f"/>
    <p:sldId xmlns:r="http://schemas.openxmlformats.org/officeDocument/2006/relationships" id="266" r:id="Raf14d9aca68c4049"/>
    <p:sldId xmlns:r="http://schemas.openxmlformats.org/officeDocument/2006/relationships" id="267" r:id="R456d7f81a1e2498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4e43c7a80054de0" /><Relationship Type="http://schemas.openxmlformats.org/officeDocument/2006/relationships/slideMaster" Target="/ppt/slideMasters/slideMaster1.xml" Id="Rda8d5f4c79a245ef" /><Relationship Type="http://schemas.openxmlformats.org/officeDocument/2006/relationships/notesMaster" Target="/ppt/notesMasters/notesMaster1.xml" Id="R6279b59ae76343d8" /><Relationship Type="http://schemas.openxmlformats.org/officeDocument/2006/relationships/presProps" Target="/ppt/presProps.xml" Id="Rcfbed5b77e0b4ea2" /><Relationship Type="http://schemas.openxmlformats.org/officeDocument/2006/relationships/tableStyles" Target="/ppt/tableStyles.xml" Id="Rdc4a79f1cd80485a" /><Relationship Type="http://schemas.openxmlformats.org/officeDocument/2006/relationships/slide" Target="/ppt/slides/slide1.xml" Id="R67ba05a28f13455c" /><Relationship Type="http://schemas.openxmlformats.org/officeDocument/2006/relationships/slide" Target="/ppt/slides/slide2.xml" Id="R05a14d6b71ec43cc" /><Relationship Type="http://schemas.openxmlformats.org/officeDocument/2006/relationships/slide" Target="/ppt/slides/slide3.xml" Id="R4093821adebe4cd6" /><Relationship Type="http://schemas.openxmlformats.org/officeDocument/2006/relationships/slide" Target="/ppt/slides/slide4.xml" Id="Rea5b94a6341747ad" /><Relationship Type="http://schemas.openxmlformats.org/officeDocument/2006/relationships/slide" Target="/ppt/slides/slide5.xml" Id="R0f28059993664f73" /><Relationship Type="http://schemas.openxmlformats.org/officeDocument/2006/relationships/slide" Target="/ppt/slides/slide6.xml" Id="Ra75fb3a813d44677" /><Relationship Type="http://schemas.openxmlformats.org/officeDocument/2006/relationships/slide" Target="/ppt/slides/slide7.xml" Id="R5cdabe37e56d446a" /><Relationship Type="http://schemas.openxmlformats.org/officeDocument/2006/relationships/slide" Target="/ppt/slides/slide8.xml" Id="R1144d92d1a7d4d0d" /><Relationship Type="http://schemas.openxmlformats.org/officeDocument/2006/relationships/slide" Target="/ppt/slides/slide9.xml" Id="R29b88f5dc4284e19" /><Relationship Type="http://schemas.openxmlformats.org/officeDocument/2006/relationships/slide" Target="/ppt/slides/slide10.xml" Id="R107672984f84447f" /><Relationship Type="http://schemas.openxmlformats.org/officeDocument/2006/relationships/slide" Target="/ppt/slides/slide11.xml" Id="Raf14d9aca68c4049" /><Relationship Type="http://schemas.openxmlformats.org/officeDocument/2006/relationships/slide" Target="/ppt/slides/slide12.xml" Id="R456d7f81a1e2498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7729cf191e4a1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b328f53265f4402" /><Relationship Type="http://schemas.openxmlformats.org/officeDocument/2006/relationships/notesMaster" Target="/ppt/notesMasters/notesMaster1.xml" Id="R723de47444d54e0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42955796064d35" /><Relationship Type="http://schemas.openxmlformats.org/officeDocument/2006/relationships/notesMaster" Target="/ppt/notesMasters/notesMaster1.xml" Id="R6b3ce0fbf9f24d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2488fe285e4584" /><Relationship Type="http://schemas.openxmlformats.org/officeDocument/2006/relationships/notesMaster" Target="/ppt/notesMasters/notesMaster1.xml" Id="Reaa908984e4b4c8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78cd14418d4aac" /><Relationship Type="http://schemas.openxmlformats.org/officeDocument/2006/relationships/notesMaster" Target="/ppt/notesMasters/notesMaster1.xml" Id="R3054e060ea144e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8314aa6e49d44783" /><Relationship Type="http://schemas.openxmlformats.org/officeDocument/2006/relationships/notesMaster" Target="/ppt/notesMasters/notesMaster1.xml" Id="R93d90bffce694160" /></Relationships>
</file>

<file path=ppt/notesSlides/_rels/notesSlide6.xml.rels>&#65279;<?xml version="1.0" encoding="utf-8"?><Relationships xmlns="http://schemas.openxmlformats.org/package/2006/relationships"><Relationship Type="http://schemas.openxmlformats.org/officeDocument/2006/relationships/slide" Target="/ppt/slides/slide6.xml" Id="R34d254d85f9d4ab2" /><Relationship Type="http://schemas.openxmlformats.org/officeDocument/2006/relationships/notesMaster" Target="/ppt/notesMasters/notesMaster1.xml" Id="R788f794e5b4a42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3f5a91053e547f3" /><Relationship Type="http://schemas.openxmlformats.org/officeDocument/2006/relationships/notesMaster" Target="/ppt/notesMasters/notesMaster1.xml" Id="R75205344d90c42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d2b762593945d4" /><Relationship Type="http://schemas.openxmlformats.org/officeDocument/2006/relationships/notesMaster" Target="/ppt/notesMasters/notesMaster1.xml" Id="Rf6848c162e6a400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57c9cf89fe34281" /><Relationship Type="http://schemas.openxmlformats.org/officeDocument/2006/relationships/notesMaster" Target="/ppt/notesMasters/notesMaster1.xml" Id="Rf796a76e7f8a490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5b4fdd249d24904" /><Relationship Type="http://schemas.openxmlformats.org/officeDocument/2006/relationships/notesMaster" Target="/ppt/notesMasters/notesMaster1.xml" Id="R3b112080368f4bb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1dc6c19bb054199" /><Relationship Type="http://schemas.openxmlformats.org/officeDocument/2006/relationships/notesMaster" Target="/ppt/notesMasters/notesMaster1.xml" Id="R6e035c092d9a44e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181d32ee691462a" /><Relationship Type="http://schemas.openxmlformats.org/officeDocument/2006/relationships/notesMaster" Target="/ppt/notesMasters/notesMaster1.xml" Id="Rcdeb415071b7497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Good morning. We are Team Huntrix. Our final Phase 1 system scored 0.982 on the private leaderboard and finished first. The public score was 0.967. The main reason was not a larger model or a large fine-tune. We changed which method was allowed to answer each kind of question. Exact cases went through deterministic evidence. Only the uncertain remainder went to the language model. This talk explains that decision, what failed before it, and how we packaged the result for Phase 2.</a:t>
            </a:r>
          </a:p>
          <a:p xmlns:a="http://schemas.openxmlformats.org/drawingml/2006/main">
            <a:r>
              <a:t/>
            </a:r>
          </a:p>
          <a:p xmlns:a="http://schemas.openxmlformats.org/drawingml/2006/main">
            <a:r>
              <a:t>Sources:</a:t>
            </a:r>
          </a:p>
          <a:p xmlns:a="http://schemas.openxmlformats.org/drawingml/2006/main">
            <a:r>
              <a:t>[1] Competition leaderboard and rules. [7] Team Huntrix final leaderboard and freeze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label looked simple: zero for hallucinated and one for faithful. The rows were not simple. Some asked whether a response followed a supplied passage. Others needed arithmetic, option parsing, Bengali morphology, idiom meaning, legal sections, or a historical fact. One generic judge prompt had to switch between all of these without being told which evidence standard to use. It gave us a useful baseline, but it also created a ceiling. A response could sound reasonable while answering the wrong relation. That pushed us toward task routing.</a:t>
            </a:r>
          </a:p>
          <a:p xmlns:a="http://schemas.openxmlformats.org/drawingml/2006/main">
            <a:r>
              <a:t/>
            </a:r>
          </a:p>
          <a:p xmlns:a="http://schemas.openxmlformats.org/drawingml/2006/main">
            <a:r>
              <a:t>Sources:</a:t>
            </a:r>
          </a:p>
          <a:p xmlns:a="http://schemas.openxmlformats.org/drawingml/2006/main">
            <a:r>
              <a:t>[1] Competition data description. [3] BenHalluEval. [4] Sakhawat et al., Bengali idiom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Our fix was a selective cascade. We normalize the row, identify its task family, and try only the rules that belong to that family. Exact lineage can decide an exact source match. Structured solvers can decide a parsed number or option. Context checks can decide a contradiction inside the supplied passage. Typed evidence can decide an idiom or legal relation. Each stage can also return nothing. That matters. If the source is only similar, or the relation is unclear, we do not force a label. The row reaches the judge. Abtahee will show how much work that router removed and how we controlled the remaining evidence.</a:t>
            </a:r>
          </a:p>
          <a:p xmlns:a="http://schemas.openxmlformats.org/drawingml/2006/main">
            <a:r>
              <a:t/>
            </a:r>
          </a:p>
          <a:p xmlns:a="http://schemas.openxmlformats.org/drawingml/2006/main">
            <a:r>
              <a:t>Sources:</a:t>
            </a:r>
          </a:p>
          <a:p xmlns:a="http://schemas.openxmlformats.org/drawingml/2006/main">
            <a:r>
              <a:t>[3] BenHalluEval. [4] Bengali idiom benchmark. [7] Frozen v91 architecture and trace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final router resolved 2,358 of the 2,516 Phase 1 rows before LLM inference. That is 93.72 percent. The judge saw 158 unique rows, or 6.28 percent. Earlier in development the uncertain queue was 620, so the deterministic layers removed almost three quarters of the expensive tail. This did more than save time. It also reduced the number of rows exposed to prompt variation. One detail: 158 is a row count. Some no-context rows received two or three views, so the number of model requests was higher than 158.</a:t>
            </a:r>
          </a:p>
          <a:p xmlns:a="http://schemas.openxmlformats.org/drawingml/2006/main">
            <a:r>
              <a:t/>
            </a:r>
          </a:p>
          <a:p xmlns:a="http://schemas.openxmlformats.org/drawingml/2006/main">
            <a:r>
              <a:t>Sources:</a:t>
            </a:r>
          </a:p>
          <a:p xmlns:a="http://schemas.openxmlformats.org/drawingml/2006/main">
            <a:r>
              <a:t>[7] Frozen v91 Phase 1 trace and experiment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Coverage alone would have been dangerous, so we imposed an evidence order. A contradiction inside the supplied context came first. Exact source lineage followed. Structured solvers needed the value, entity, and requested predicate to agree. Idiom, legal, and public fact records were typed by relation. A year near the right entity was not enough if the prompt asked about a different event. Fuzzy retrieval had the weakest role. It could surface a candidate, but it could not decide against stronger evidence. If two equally trusted sources disagreed, the router abstained. That policy sometimes increased the judge queue, but it prevented confident relation swaps.</a:t>
            </a:r>
          </a:p>
          <a:p xmlns:a="http://schemas.openxmlformats.org/drawingml/2006/main">
            <a:r>
              <a:t/>
            </a:r>
          </a:p>
          <a:p xmlns:a="http://schemas.openxmlformats.org/drawingml/2006/main">
            <a:r>
              <a:t>Sources:</a:t>
            </a:r>
          </a:p>
          <a:p xmlns:a="http://schemas.openxmlformats.org/drawingml/2006/main">
            <a:r>
              <a:t>[3] BenHalluEval. [4] Bengali idiom benchmark. [7] v91 evidence hierarchy and conflict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fallback used Qwen3.6 27B in a 16.332 GiB quantized checkpoint. Context rows received one entailment view. No-context rows received up to three short views: a factual check, strict exam grading, and a check that was deliberately cautious about faithful labels. A no-context response needed unanimous positive votes to receive label one. The first zero ended evaluation early. We disabled thinking and constrained generation to one binary token. Row order, prompt order, seeds, and batch boundaries were fixed. That made the judge fast enough to be a tail component rather than the whole system.</a:t>
            </a:r>
          </a:p>
          <a:p xmlns:a="http://schemas.openxmlformats.org/drawingml/2006/main">
            <a:r>
              <a:t/>
            </a:r>
          </a:p>
          <a:p xmlns:a="http://schemas.openxmlformats.org/drawingml/2006/main">
            <a:r>
              <a:t>Sources:</a:t>
            </a:r>
          </a:p>
          <a:p xmlns:a="http://schemas.openxmlformats.org/drawingml/2006/main">
            <a:r>
              <a:t>[5] Qwen3.6 model card. [6] llama.cpp, pinned b9637. [7] Frozen v91 judge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This score history changed how we thought about the problem. The early character and embedding baseline scored 0.657. Gemma reached 0.742, and a Qwen judge reached 0.797. The largest single jump came at v6, when source and structured routing raised the score to 0.903. After that, progress was smaller and more forensic. We tightened provenance, repaired relation checks, and added legal and idiom evidence. v85 reached 0.966. v87 is the small dip on the right. We reverted it. v91 finished at 0.967 publicly.</a:t>
            </a:r>
          </a:p>
          <a:p xmlns:a="http://schemas.openxmlformats.org/drawingml/2006/main">
            <a:r>
              <a:t/>
            </a:r>
          </a:p>
          <a:p xmlns:a="http://schemas.openxmlformats.org/drawingml/2006/main">
            <a:r>
              <a:t>Sources:</a:t>
            </a:r>
          </a:p>
          <a:p xmlns:a="http://schemas.openxmlformats.org/drawingml/2006/main">
            <a:r>
              <a:t>[7] Team Huntrix experiment log and public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Some of the most useful experiments were failures. Prompt voting looked decent on the released set and scored only 0.783 publicly. The compact TF-IDF verifier improved out of fold but struggled with cultural facts that had no context. Raw QA retrieval often found a passage about the right entity but the wrong relation. v87 was the clearest warning. We changed two labels using facts that looked plausible, and the public score fell from 0.966 to 0.965. We reverted those edits. From that point, a source was not enough. Every accepted record also needed the exact predicate the question asked for.</a:t>
            </a:r>
          </a:p>
          <a:p xmlns:a="http://schemas.openxmlformats.org/drawingml/2006/main">
            <a:r>
              <a:t/>
            </a:r>
          </a:p>
          <a:p xmlns:a="http://schemas.openxmlformats.org/drawingml/2006/main">
            <a:r>
              <a:t>Sources:</a:t>
            </a:r>
          </a:p>
          <a:p xmlns:a="http://schemas.openxmlformats.org/drawingml/2006/main">
            <a:r>
              <a:t>[7] Team Huntrix EXPERIMENT.log and scored submission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We kept the evaluation views separate. On the 299 released labels, the full cascade reached 0.9933 macro F1. The deterministic subset covered 225 of those rows without an error. The public leaderboard score was 0.967 at rank five. The final private score was 0.982 at rank one. That private result tells us the conservative policy generalized better than the public slice suggested. It does not tell us that every individual v91 rule will survive Phase 2. The source mix is broader, so we treat the private score as evidence, not a guarantee. Orny will cover that deployment side now.</a:t>
            </a:r>
          </a:p>
          <a:p xmlns:a="http://schemas.openxmlformats.org/drawingml/2006/main">
            <a:r>
              <a:t/>
            </a:r>
          </a:p>
          <a:p xmlns:a="http://schemas.openxmlformats.org/drawingml/2006/main">
            <a:r>
              <a:t>Sources:</a:t>
            </a:r>
          </a:p>
          <a:p xmlns:a="http://schemas.openxmlformats.org/drawingml/2006/main">
            <a:r>
              <a:t>[7] Released-label evaluation and final Kaggle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We ran the frozen notebook three times on Kaggle with two T4 GPUs. The complete 2,516-row runs took 440.87, 527.03, and 593.43 seconds. All three produced the same CSV bytes and the same SHA-256 hash as the scored submission. We reported 0.17 hours, or 612 seconds, as a conservative form value. A 5,000-row same-mix test took 14.60 minutes. We also estimated the pessimistic case where every row needs all three judge views. That stays around 5.2 to 5.5 hours, below the nine-hour limit.</a:t>
            </a:r>
          </a:p>
          <a:p xmlns:a="http://schemas.openxmlformats.org/drawingml/2006/main">
            <a:r>
              <a:t/>
            </a:r>
          </a:p>
          <a:p xmlns:a="http://schemas.openxmlformats.org/drawingml/2006/main">
            <a:r>
              <a:t>Sources:</a:t>
            </a:r>
          </a:p>
          <a:p xmlns:a="http://schemas.openxmlformats.org/drawingml/2006/main">
            <a:r>
              <a:t>[7] Frozen Kaggle notebook runs, output SHA, and runtime manifest.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Phase 2 changes the source distribution. The organizer listed Common Crawl, recent newspapers, Wikipedia, Banglapedia, government service pages, Bangladesh law, NCTB textbooks, and literature. Exact Phase 1 lineage will naturally cover less. The router handles this by failing closed. It first tries context clauses, structured solvers, and exact entity-relation checks. If those checks fail, the row skips lineage and reaches the same fixed judge. Lower deterministic coverage will increase runtime, but it should not make approximate retrieval more powerful. Our all-uncertain timing gives us room for that shift. Accuracy is still the open question, which is why abstention remains important.</a:t>
            </a:r>
          </a:p>
          <a:p xmlns:a="http://schemas.openxmlformats.org/drawingml/2006/main">
            <a:r>
              <a:t/>
            </a:r>
          </a:p>
          <a:p xmlns:a="http://schemas.openxmlformats.org/drawingml/2006/main">
            <a:r>
              <a:t>Sources:</a:t>
            </a:r>
          </a:p>
          <a:p xmlns:a="http://schemas.openxmlformats.org/drawingml/2006/main">
            <a:r>
              <a:t>[2] Organizer Phase 2 source preview. [7] Held-out routing policy and runtime analysis.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We will close with three lessons. First, this benchmark is a mixture of tasks, and those tasks need different evidence standards. Second, a related passage is not enough. The entity and the requested relation must match. Third, selective judging made the system faster and steadier because the LLM handled only the unresolved tail. That combination produced a private score of 0.982, reproduced the scored CSV offline, and stayed within the Phase 2 runtime limit. We are ready for your questions.</a:t>
            </a:r>
          </a:p>
          <a:p xmlns:a="http://schemas.openxmlformats.org/drawingml/2006/main">
            <a:r>
              <a:t/>
            </a:r>
          </a:p>
          <a:p xmlns:a="http://schemas.openxmlformats.org/drawingml/2006/main">
            <a:r>
              <a:t>Sources:</a:t>
            </a:r>
          </a:p>
          <a:p xmlns:a="http://schemas.openxmlformats.org/drawingml/2006/main">
            <a:r>
              <a:t>[7] Team Huntrix final system, leaderboard result, and reproducibility package.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d7f60d0d068490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3a2a2c24054d16" /><Relationship Type="http://schemas.openxmlformats.org/officeDocument/2006/relationships/slideLayout" Target="/ppt/slideLayouts/slideLayout1.xml" Id="R33773130f32b419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773130f32b419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e2a4c4128044e93" /><Relationship Type="http://schemas.openxmlformats.org/officeDocument/2006/relationships/notesSlide" Target="/ppt/notesSlides/notesSlide1.xml" Id="Rb62aa327fbbe4a9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28b245d8b904223" /><Relationship Type="http://schemas.openxmlformats.org/officeDocument/2006/relationships/notesSlide" Target="/ppt/notesSlides/notesSlide2.xml" Id="R2c93597e4f05405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5e40197ae784a3e" /><Relationship Type="http://schemas.openxmlformats.org/officeDocument/2006/relationships/notesSlide" Target="/ppt/notesSlides/notesSlide3.xml" Id="R78d2eeb12b9b46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9b0083e27394168" /><Relationship Type="http://schemas.openxmlformats.org/officeDocument/2006/relationships/notesSlide" Target="/ppt/notesSlides/notesSlide4.xml" Id="R1aa6fc49d4db405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2ec4c61255a4195" /><Relationship Type="http://schemas.openxmlformats.org/officeDocument/2006/relationships/notesSlide" Target="/ppt/notesSlides/notesSlide5.xml" Id="Rc563fcc577b94a8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dcb13a6522f4d2a" /><Relationship Type="http://schemas.openxmlformats.org/officeDocument/2006/relationships/notesSlide" Target="/ppt/notesSlides/notesSlide6.xml" Id="R7cc87319f9a14b6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8319baf98e74870" /><Relationship Type="http://schemas.openxmlformats.org/officeDocument/2006/relationships/chart" Target="/ppt/slides/charts/chart1.xml" Id="R0e9829d301394686" /><Relationship Type="http://schemas.openxmlformats.org/officeDocument/2006/relationships/notesSlide" Target="/ppt/notesSlides/notesSlide7.xml" Id="Re5028bcfe22d4d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3114f02c4b34861" /><Relationship Type="http://schemas.openxmlformats.org/officeDocument/2006/relationships/notesSlide" Target="/ppt/notesSlides/notesSlide8.xml" Id="Re163197730ff4e2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a2d6a9da004cd0" /><Relationship Type="http://schemas.openxmlformats.org/officeDocument/2006/relationships/notesSlide" Target="/ppt/notesSlides/notesSlide9.xml" Id="Rd430799ceb8b4c4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c95d7f822a74f38" /><Relationship Type="http://schemas.openxmlformats.org/officeDocument/2006/relationships/notesSlide" Target="/ppt/notesSlides/notesSlide10.xml" Id="Reb9e0b4a652f448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c63c66e251a40b1" /><Relationship Type="http://schemas.openxmlformats.org/officeDocument/2006/relationships/notesSlide" Target="/ppt/notesSlides/notesSlide11.xml" Id="R92a0e8b943b9443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3a5925eaa2c4143" /><Relationship Type="http://schemas.openxmlformats.org/officeDocument/2006/relationships/notesSlide" Target="/ppt/notesSlides/notesSlide12.xml" Id="Rc7049f1c0f5a4216" /></Relationships>
</file>

<file path=ppt/slides/charts/chart1.xml><?xml version="1.0" encoding="utf-8"?>
<c:chartSpace xmlns:c="http://schemas.openxmlformats.org/drawingml/2006/chart">
  <c:lang val="en-US"/>
  <c:chart>
    <c:plotArea>
      <c:lineChart>
        <c:grouping val="standard"/>
        <c:ser>
          <c:idx val="0"/>
          <c:order val="0"/>
          <c:tx>
            <c:v>Public macro F1</c:v>
          </c:tx>
          <c:spPr>
            <a:ln xmlns:a="http://schemas.openxmlformats.org/drawingml/2006/main" w="38100">
              <a:solidFill>
                <a:srgbClr val="1F5A7A"/>
              </a:solidFill>
              <a:prstDash val="solid"/>
            </a:ln>
          </c:spPr>
          <c:marker>
            <c:symbol val="circle"/>
            <c:size val="7"/>
          </c:marker>
          <c:cat>
            <c:strLit>
              <c:ptCount val="11"/>
              <c:pt idx="0">
                <c:v>Base</c:v>
              </c:pt>
              <c:pt idx="1">
                <c:v>Gemma</c:v>
              </c:pt>
              <c:pt idx="2">
                <c:v>Qwen</c:v>
              </c:pt>
              <c:pt idx="3">
                <c:v>v6</c:v>
              </c:pt>
              <c:pt idx="4">
                <c:v>v15</c:v>
              </c:pt>
              <c:pt idx="5">
                <c:v>v23</c:v>
              </c:pt>
              <c:pt idx="6">
                <c:v>v37</c:v>
              </c:pt>
              <c:pt idx="7">
                <c:v>v60</c:v>
              </c:pt>
              <c:pt idx="8">
                <c:v>v85</c:v>
              </c:pt>
              <c:pt idx="9">
                <c:v>v87</c:v>
              </c:pt>
              <c:pt idx="10">
                <c:v>v91</c:v>
              </c:pt>
            </c:strLit>
          </c:cat>
          <c:val>
            <c:numLit>
              <c:formatCode>0.000</c:formatCode>
              <c:ptCount val="11"/>
              <c:pt idx="0">
                <c:v>0.657</c:v>
              </c:pt>
              <c:pt idx="1">
                <c:v>0.742</c:v>
              </c:pt>
              <c:pt idx="2">
                <c:v>0.797</c:v>
              </c:pt>
              <c:pt idx="3">
                <c:v>0.903</c:v>
              </c:pt>
              <c:pt idx="4">
                <c:v>0.934</c:v>
              </c:pt>
              <c:pt idx="5">
                <c:v>0.945</c:v>
              </c:pt>
              <c:pt idx="6">
                <c:v>0.961</c:v>
              </c:pt>
              <c:pt idx="7">
                <c:v>0.963</c:v>
              </c:pt>
              <c:pt idx="8">
                <c:v>0.966</c:v>
              </c:pt>
              <c:pt idx="9">
                <c:v>0.965</c:v>
              </c:pt>
              <c:pt idx="10">
                <c:v>0.967</c:v>
              </c:pt>
            </c:numLit>
          </c:val>
        </c:ser>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8E0EA"/>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174"/>
                </a:solidFill>
              </a:defRPr>
            </a:pPr>
          </a:p>
        </c:txPr>
        <c:crossAx val="48672768"/>
        <c:lblAlgn val="ctr"/>
        <c:lblOffset val="100"/>
        <c:noMultiLvlLbl val="0"/>
      </c:catAx>
      <c:valAx>
        <c:axId val="48672768"/>
        <c:scaling>
          <c:orientation val="minMax"/>
          <c:max val="1"/>
          <c:min val="0.6"/>
        </c:scaling>
        <c:delete val="0"/>
        <c:axPos val="l"/>
        <c:majorGridlines>
          <c:spPr>
            <a:ln xmlns:a="http://schemas.openxmlformats.org/drawingml/2006/main" w="9525">
              <a:solidFill>
                <a:srgbClr val="D8E0EA"/>
              </a:solidFill>
              <a:prstDash val="solid"/>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174"/>
                </a:solidFill>
              </a:defRPr>
            </a:pPr>
          </a:p>
        </c:txPr>
        <c:crossAx val="48650112"/>
        <c:crossBetween val="between"/>
        <c:majorUnit val="0.1"/>
      </c:valAx>
      <c:spPr>
        <a:solidFill xmlns:a="http://schemas.openxmlformats.org/drawingml/2006/main">
          <a:srgbClr val="FFFFFF"/>
        </a:solidFill>
        <a:ln xmlns:a="http://schemas.openxmlformats.org/drawingml/2006/main" w="9525">
          <a:solidFill>
            <a:srgbClr val="D8E0EA"/>
          </a:solidFill>
          <a:prstDash val="solid"/>
        </a:ln>
      </c:spPr>
    </c:plotArea>
    <c:plotVisOnly val="1"/>
  </c:chart>
  <c:spPr>
    <a:solidFill xmlns:a="http://schemas.openxmlformats.org/drawingml/2006/main">
      <a:srgbClr val="F7F9FC"/>
    </a:solidFill>
  </c:spPr>
</c:chartSpace>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0E263B0-E27E-4EAB-B148-54A7191BD36E}"/>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2" name="">
            <a:extLst xmlns:a="http://schemas.openxmlformats.org/drawingml/2006/main">
              <a:ext uri="{FF2B5EF4-FFF2-40B4-BE49-F238E27FC236}">
                <a16:creationId xmlns:a16="http://schemas.microsoft.com/office/drawing/2014/main" id="{F2699F37-3780-49B0-A5D2-BECCB6F113CC}"/>
              </a:ext>
            </a:extLst>
          </p:cNvPr>
          <p:cNvSpPr>
            <a:spLocks xmlns:a="http://schemas.openxmlformats.org/drawingml/2006/main" noGrp="1"/>
          </p:cNvSpPr>
          <p:nvPr/>
        </p:nvSpPr>
        <p:spPr>
          <a:xfrm xmlns:a="http://schemas.openxmlformats.org/drawingml/2006/main">
            <a:off x="876300" y="6667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F5A7A"/>
                </a:solidFill>
              </a:defRPr>
            </a:pPr>
            <a:r>
              <a:rPr sz="1200" b="1">
                <a:solidFill>
                  <a:srgbClr val="1F5A7A"/>
                </a:solidFill>
              </a:rPr>
              <a:t>BENGALI HALLUCINATION DETECTION</a:t>
            </a:r>
          </a:p>
        </p:txBody>
      </p:sp>
      <p:sp>
        <p:nvSpPr>
          <p:cNvPr id="3" name="">
            <a:extLst xmlns:a="http://schemas.openxmlformats.org/drawingml/2006/main">
              <a:ext uri="{FF2B5EF4-FFF2-40B4-BE49-F238E27FC236}">
                <a16:creationId xmlns:a16="http://schemas.microsoft.com/office/drawing/2014/main" id="{427737F5-FAFF-4EFB-9845-466D16079510}"/>
              </a:ext>
            </a:extLst>
          </p:cNvPr>
          <p:cNvSpPr>
            <a:spLocks xmlns:a="http://schemas.openxmlformats.org/drawingml/2006/main" noGrp="1"/>
          </p:cNvSpPr>
          <p:nvPr/>
        </p:nvSpPr>
        <p:spPr>
          <a:xfrm xmlns:a="http://schemas.openxmlformats.org/drawingml/2006/main">
            <a:off x="876300" y="1162050"/>
            <a:ext cx="7429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0F172A"/>
                </a:solidFill>
              </a:defRPr>
            </a:pPr>
            <a:r>
              <a:rPr sz="3900" b="1">
                <a:solidFill>
                  <a:srgbClr val="0F172A"/>
                </a:solidFill>
              </a:rPr>
              <a:t>Private rank 1 came from</a:t>
            </a:r>
          </a:p>
          <a:p xmlns:a="http://schemas.openxmlformats.org/drawingml/2006/main">
            <a:pPr algn="l">
              <a:defRPr sz="3900" b="1">
                <a:solidFill>
                  <a:srgbClr val="0F172A"/>
                </a:solidFill>
              </a:defRPr>
            </a:pPr>
            <a:r>
              <a:rPr sz="3900" b="1">
                <a:solidFill>
                  <a:srgbClr val="0F172A"/>
                </a:solidFill>
              </a:rPr>
              <a:t>changing the decision path</a:t>
            </a:r>
          </a:p>
        </p:txBody>
      </p:sp>
      <p:sp>
        <p:nvSpPr>
          <p:cNvPr id="4" name="">
            <a:extLst xmlns:a="http://schemas.openxmlformats.org/drawingml/2006/main">
              <a:ext uri="{FF2B5EF4-FFF2-40B4-BE49-F238E27FC236}">
                <a16:creationId xmlns:a16="http://schemas.microsoft.com/office/drawing/2014/main" id="{5A3CC4C6-D2FB-4626-AFB6-2A8C0D61C393}"/>
              </a:ext>
            </a:extLst>
          </p:cNvPr>
          <p:cNvSpPr>
            <a:spLocks xmlns:a="http://schemas.openxmlformats.org/drawingml/2006/main" noGrp="1"/>
          </p:cNvSpPr>
          <p:nvPr/>
        </p:nvSpPr>
        <p:spPr>
          <a:xfrm xmlns:a="http://schemas.openxmlformats.org/drawingml/2006/main">
            <a:off x="914400" y="2762250"/>
            <a:ext cx="638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526174"/>
                </a:solidFill>
              </a:defRPr>
            </a:pPr>
            <a:r>
              <a:rPr sz="1800" b="0">
                <a:solidFill>
                  <a:srgbClr val="526174"/>
                </a:solidFill>
              </a:rPr>
              <a:t>Evidence-first selective inference for Olikbochon</a:t>
            </a:r>
          </a:p>
        </p:txBody>
      </p:sp>
      <p:sp>
        <p:nvSpPr>
          <p:cNvPr id="5" name="">
            <a:extLst xmlns:a="http://schemas.openxmlformats.org/drawingml/2006/main">
              <a:ext uri="{FF2B5EF4-FFF2-40B4-BE49-F238E27FC236}">
                <a16:creationId xmlns:a16="http://schemas.microsoft.com/office/drawing/2014/main" id="{34E23D9F-7DC9-4B71-8B5A-A13A2BB2B080}"/>
              </a:ext>
            </a:extLst>
          </p:cNvPr>
          <p:cNvSpPr>
            <a:spLocks xmlns:a="http://schemas.openxmlformats.org/drawingml/2006/main" noGrp="1"/>
          </p:cNvSpPr>
          <p:nvPr/>
        </p:nvSpPr>
        <p:spPr>
          <a:xfrm xmlns:a="http://schemas.openxmlformats.org/drawingml/2006/main">
            <a:off x="914400" y="3390900"/>
            <a:ext cx="9906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D1D51E54-8A54-4D1A-A9C6-BBF4FA3F8172}"/>
              </a:ext>
            </a:extLst>
          </p:cNvPr>
          <p:cNvSpPr>
            <a:spLocks xmlns:a="http://schemas.openxmlformats.org/drawingml/2006/main" noGrp="1"/>
          </p:cNvSpPr>
          <p:nvPr/>
        </p:nvSpPr>
        <p:spPr>
          <a:xfrm xmlns:a="http://schemas.openxmlformats.org/drawingml/2006/main">
            <a:off x="914400" y="3714750"/>
            <a:ext cx="2238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0.982</a:t>
            </a:r>
          </a:p>
        </p:txBody>
      </p:sp>
      <p:sp>
        <p:nvSpPr>
          <p:cNvPr id="7" name="">
            <a:extLst xmlns:a="http://schemas.openxmlformats.org/drawingml/2006/main">
              <a:ext uri="{FF2B5EF4-FFF2-40B4-BE49-F238E27FC236}">
                <a16:creationId xmlns:a16="http://schemas.microsoft.com/office/drawing/2014/main" id="{5D269A2C-0C59-4F60-95F4-CFD0F7EAD40B}"/>
              </a:ext>
            </a:extLst>
          </p:cNvPr>
          <p:cNvSpPr>
            <a:spLocks xmlns:a="http://schemas.openxmlformats.org/drawingml/2006/main" noGrp="1"/>
          </p:cNvSpPr>
          <p:nvPr/>
        </p:nvSpPr>
        <p:spPr>
          <a:xfrm xmlns:a="http://schemas.openxmlformats.org/drawingml/2006/main">
            <a:off x="914400" y="4400550"/>
            <a:ext cx="2238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private macro F1</a:t>
            </a:r>
          </a:p>
        </p:txBody>
      </p:sp>
      <p:sp>
        <p:nvSpPr>
          <p:cNvPr id="8" name="">
            <a:extLst xmlns:a="http://schemas.openxmlformats.org/drawingml/2006/main">
              <a:ext uri="{FF2B5EF4-FFF2-40B4-BE49-F238E27FC236}">
                <a16:creationId xmlns:a16="http://schemas.microsoft.com/office/drawing/2014/main" id="{09212A11-80A1-466F-99FA-1AFE6175ED51}"/>
              </a:ext>
            </a:extLst>
          </p:cNvPr>
          <p:cNvSpPr>
            <a:spLocks xmlns:a="http://schemas.openxmlformats.org/drawingml/2006/main" noGrp="1"/>
          </p:cNvSpPr>
          <p:nvPr/>
        </p:nvSpPr>
        <p:spPr>
          <a:xfrm xmlns:a="http://schemas.openxmlformats.org/drawingml/2006/main">
            <a:off x="3619500" y="3714750"/>
            <a:ext cx="2238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#1</a:t>
            </a:r>
          </a:p>
        </p:txBody>
      </p:sp>
      <p:sp>
        <p:nvSpPr>
          <p:cNvPr id="9" name="">
            <a:extLst xmlns:a="http://schemas.openxmlformats.org/drawingml/2006/main">
              <a:ext uri="{FF2B5EF4-FFF2-40B4-BE49-F238E27FC236}">
                <a16:creationId xmlns:a16="http://schemas.microsoft.com/office/drawing/2014/main" id="{E89FFBDC-67C4-4496-AC35-41224A3457DA}"/>
              </a:ext>
            </a:extLst>
          </p:cNvPr>
          <p:cNvSpPr>
            <a:spLocks xmlns:a="http://schemas.openxmlformats.org/drawingml/2006/main" noGrp="1"/>
          </p:cNvSpPr>
          <p:nvPr/>
        </p:nvSpPr>
        <p:spPr>
          <a:xfrm xmlns:a="http://schemas.openxmlformats.org/drawingml/2006/main">
            <a:off x="3619500" y="4400550"/>
            <a:ext cx="2238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private leaderboard</a:t>
            </a:r>
          </a:p>
        </p:txBody>
      </p:sp>
      <p:sp>
        <p:nvSpPr>
          <p:cNvPr id="10" name="">
            <a:extLst xmlns:a="http://schemas.openxmlformats.org/drawingml/2006/main">
              <a:ext uri="{FF2B5EF4-FFF2-40B4-BE49-F238E27FC236}">
                <a16:creationId xmlns:a16="http://schemas.microsoft.com/office/drawing/2014/main" id="{AD14F6D0-8056-4185-B073-A6C8FB2D50FE}"/>
              </a:ext>
            </a:extLst>
          </p:cNvPr>
          <p:cNvSpPr>
            <a:spLocks xmlns:a="http://schemas.openxmlformats.org/drawingml/2006/main" noGrp="1"/>
          </p:cNvSpPr>
          <p:nvPr/>
        </p:nvSpPr>
        <p:spPr>
          <a:xfrm xmlns:a="http://schemas.openxmlformats.org/drawingml/2006/main">
            <a:off x="6324600" y="3714750"/>
            <a:ext cx="2238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0.967</a:t>
            </a:r>
          </a:p>
        </p:txBody>
      </p:sp>
      <p:sp>
        <p:nvSpPr>
          <p:cNvPr id="11" name="">
            <a:extLst xmlns:a="http://schemas.openxmlformats.org/drawingml/2006/main">
              <a:ext uri="{FF2B5EF4-FFF2-40B4-BE49-F238E27FC236}">
                <a16:creationId xmlns:a16="http://schemas.microsoft.com/office/drawing/2014/main" id="{D0C73FDE-4A52-497E-8AE6-EB82DF01DE24}"/>
              </a:ext>
            </a:extLst>
          </p:cNvPr>
          <p:cNvSpPr>
            <a:spLocks xmlns:a="http://schemas.openxmlformats.org/drawingml/2006/main" noGrp="1"/>
          </p:cNvSpPr>
          <p:nvPr/>
        </p:nvSpPr>
        <p:spPr>
          <a:xfrm xmlns:a="http://schemas.openxmlformats.org/drawingml/2006/main">
            <a:off x="6324600" y="4400550"/>
            <a:ext cx="2238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public macro F1</a:t>
            </a:r>
          </a:p>
        </p:txBody>
      </p:sp>
      <p:sp>
        <p:nvSpPr>
          <p:cNvPr id="12" name="">
            <a:extLst xmlns:a="http://schemas.openxmlformats.org/drawingml/2006/main">
              <a:ext uri="{FF2B5EF4-FFF2-40B4-BE49-F238E27FC236}">
                <a16:creationId xmlns:a16="http://schemas.microsoft.com/office/drawing/2014/main" id="{D57758D0-0ABD-45AC-9915-703E0EE899FA}"/>
              </a:ext>
            </a:extLst>
          </p:cNvPr>
          <p:cNvSpPr>
            <a:spLocks xmlns:a="http://schemas.openxmlformats.org/drawingml/2006/main" noGrp="1"/>
          </p:cNvSpPr>
          <p:nvPr/>
        </p:nvSpPr>
        <p:spPr>
          <a:xfrm xmlns:a="http://schemas.openxmlformats.org/drawingml/2006/main">
            <a:off x="914400" y="56197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0F172A"/>
                </a:solidFill>
              </a:defRPr>
            </a:pPr>
            <a:r>
              <a:rPr sz="1275" b="1">
                <a:solidFill>
                  <a:srgbClr val="0F172A"/>
                </a:solidFill>
              </a:rPr>
              <a:t>Touhidul Alam Seyam  |  MD. Abtahee Kabir  |  Joyeta Barua Moni  |  Noore Tamanna Orny</a:t>
            </a:r>
          </a:p>
        </p:txBody>
      </p:sp>
      <p:sp>
        <p:nvSpPr>
          <p:cNvPr id="13" name="">
            <a:extLst xmlns:a="http://schemas.openxmlformats.org/drawingml/2006/main">
              <a:ext uri="{FF2B5EF4-FFF2-40B4-BE49-F238E27FC236}">
                <a16:creationId xmlns:a16="http://schemas.microsoft.com/office/drawing/2014/main" id="{2E8002DB-9253-40BA-A23C-0A8E86280D1D}"/>
              </a:ext>
            </a:extLst>
          </p:cNvPr>
          <p:cNvSpPr>
            <a:spLocks xmlns:a="http://schemas.openxmlformats.org/drawingml/2006/main" noGrp="1"/>
          </p:cNvSpPr>
          <p:nvPr/>
        </p:nvSpPr>
        <p:spPr>
          <a:xfrm xmlns:a="http://schemas.openxmlformats.org/drawingml/2006/main">
            <a:off x="914400" y="5953125"/>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a:solidFill>
                  <a:srgbClr val="526174"/>
                </a:solidFill>
              </a:defRPr>
            </a:pPr>
            <a:r>
              <a:rPr sz="1125" b="0">
                <a:solidFill>
                  <a:srgbClr val="526174"/>
                </a:solidFill>
              </a:rPr>
              <a:t>BGC Trust University Bangladesh  |  Chittagong University of Engineering &amp; Technology</a:t>
            </a:r>
          </a:p>
        </p:txBody>
      </p:sp>
      <p:sp>
        <p:nvSpPr>
          <p:cNvPr id="14" name="">
            <a:extLst xmlns:a="http://schemas.openxmlformats.org/drawingml/2006/main">
              <a:ext uri="{FF2B5EF4-FFF2-40B4-BE49-F238E27FC236}">
                <a16:creationId xmlns:a16="http://schemas.microsoft.com/office/drawing/2014/main" id="{B0EA409C-0AB1-478A-B18A-3CA2E5A11D5E}"/>
              </a:ext>
            </a:extLst>
          </p:cNvPr>
          <p:cNvSpPr>
            <a:spLocks xmlns:a="http://schemas.openxmlformats.org/drawingml/2006/main" noGrp="1"/>
          </p:cNvSpPr>
          <p:nvPr/>
        </p:nvSpPr>
        <p:spPr>
          <a:xfrm xmlns:a="http://schemas.openxmlformats.org/drawingml/2006/main">
            <a:off x="914400" y="6496050"/>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[1] Competition leaderboard and rules  [7] Frozen v91 records</a:t>
            </a:r>
          </a:p>
        </p:txBody>
      </p:sp>
      <p:sp>
        <p:nvSpPr>
          <p:cNvPr id="15" name="">
            <a:extLst xmlns:a="http://schemas.openxmlformats.org/drawingml/2006/main">
              <a:ext uri="{FF2B5EF4-FFF2-40B4-BE49-F238E27FC236}">
                <a16:creationId xmlns:a16="http://schemas.microsoft.com/office/drawing/2014/main" id="{F35B9DF0-4C75-4BD7-BF26-2347DCB801CB}"/>
              </a:ext>
            </a:extLst>
          </p:cNvPr>
          <p:cNvSpPr>
            <a:spLocks xmlns:a="http://schemas.openxmlformats.org/drawingml/2006/main" noGrp="1"/>
          </p:cNvSpPr>
          <p:nvPr/>
        </p:nvSpPr>
        <p:spPr>
          <a:xfrm xmlns:a="http://schemas.openxmlformats.org/drawingml/2006/main">
            <a:off x="10810875" y="6496050"/>
            <a:ext cx="6953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01</a:t>
            </a:r>
          </a:p>
        </p:txBody>
      </p:sp>
    </p:spTree>
    <p:extLst>
      <p:ext uri="{BB962C8B-B14F-4D97-AF65-F5344CB8AC3E}">
        <p14:creationId xmlns:p14="http://schemas.microsoft.com/office/powerpoint/2010/main" val="1937337298"/>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2">
            <a:extLst xmlns:a="http://schemas.openxmlformats.org/drawingml/2006/main">
              <a:ext uri="{FF2B5EF4-FFF2-40B4-BE49-F238E27FC236}">
                <a16:creationId xmlns:a16="http://schemas.microsoft.com/office/drawing/2014/main" id="{237EA7BB-AFBD-4118-BBFB-78AED23AE65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2">
            <a:extLst xmlns:a="http://schemas.openxmlformats.org/drawingml/2006/main">
              <a:ext uri="{FF2B5EF4-FFF2-40B4-BE49-F238E27FC236}">
                <a16:creationId xmlns:a16="http://schemas.microsoft.com/office/drawing/2014/main" id="{3B5573E7-30D0-4629-891D-0AD4C7B70CD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One binary label hid many different reasoning tasks</a:t>
            </a:r>
          </a:p>
        </p:txBody>
      </p:sp>
      <p:sp>
        <p:nvSpPr>
          <p:cNvPr id="3" name="">
            <a:extLst xmlns:a="http://schemas.openxmlformats.org/drawingml/2006/main">
              <a:ext uri="{FF2B5EF4-FFF2-40B4-BE49-F238E27FC236}">
                <a16:creationId xmlns:a16="http://schemas.microsoft.com/office/drawing/2014/main" id="{05291C28-028B-4864-A472-658CDA25258E}"/>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143A2445-84C6-4D4E-8F42-253747BC38FE}"/>
              </a:ext>
            </a:extLst>
          </p:cNvPr>
          <p:cNvSpPr>
            <a:spLocks xmlns:a="http://schemas.openxmlformats.org/drawingml/2006/main" noGrp="1"/>
          </p:cNvSpPr>
          <p:nvPr/>
        </p:nvSpPr>
        <p:spPr>
          <a:xfrm xmlns:a="http://schemas.openxmlformats.org/drawingml/2006/main">
            <a:off x="685800" y="14097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same label had to cover context faithfulness, language knowledge, and outside facts.</a:t>
            </a:r>
          </a:p>
        </p:txBody>
      </p:sp>
      <p:sp>
        <p:nvSpPr>
          <p:cNvPr id="5" name="">
            <a:extLst xmlns:a="http://schemas.openxmlformats.org/drawingml/2006/main">
              <a:ext uri="{FF2B5EF4-FFF2-40B4-BE49-F238E27FC236}">
                <a16:creationId xmlns:a16="http://schemas.microsoft.com/office/drawing/2014/main" id="{EDCAC00C-868A-4457-9BFB-DB0D13E8128A}"/>
              </a:ext>
            </a:extLst>
          </p:cNvPr>
          <p:cNvSpPr>
            <a:spLocks xmlns:a="http://schemas.openxmlformats.org/drawingml/2006/main" noGrp="1"/>
          </p:cNvSpPr>
          <p:nvPr/>
        </p:nvSpPr>
        <p:spPr>
          <a:xfrm xmlns:a="http://schemas.openxmlformats.org/drawingml/2006/main">
            <a:off x="1104900" y="2971800"/>
            <a:ext cx="9953625" cy="0"/>
          </a:xfrm>
          <a:prstGeom xmlns:a="http://schemas.openxmlformats.org/drawingml/2006/main" prst="line">
            <a:avLst/>
          </a:prstGeom>
          <a:noFill xmlns:a="http://schemas.openxmlformats.org/drawingml/2006/main"/>
          <a:ln xmlns:a="http://schemas.openxmlformats.org/drawingml/2006/main" w="47625">
            <a:solidFill>
              <a:srgbClr val="D8E0EA"/>
            </a:solidFill>
            <a:prstDash val="solid"/>
          </a:ln>
        </p:spPr>
      </p:sp>
      <p:sp>
        <p:nvSpPr>
          <p:cNvPr id="6" name="">
            <a:extLst xmlns:a="http://schemas.openxmlformats.org/drawingml/2006/main">
              <a:ext uri="{FF2B5EF4-FFF2-40B4-BE49-F238E27FC236}">
                <a16:creationId xmlns:a16="http://schemas.microsoft.com/office/drawing/2014/main" id="{A2FEBF59-E243-4C6A-B342-740C8B0673B3}"/>
              </a:ext>
            </a:extLst>
          </p:cNvPr>
          <p:cNvSpPr>
            <a:spLocks xmlns:a="http://schemas.openxmlformats.org/drawingml/2006/main" noGrp="1"/>
          </p:cNvSpPr>
          <p:nvPr/>
        </p:nvSpPr>
        <p:spPr>
          <a:xfrm xmlns:a="http://schemas.openxmlformats.org/drawingml/2006/main">
            <a:off x="1009650"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D2F9F5FE-85FA-4A98-A8F9-97537308BE4F}"/>
              </a:ext>
            </a:extLst>
          </p:cNvPr>
          <p:cNvSpPr>
            <a:spLocks xmlns:a="http://schemas.openxmlformats.org/drawingml/2006/main" noGrp="1"/>
          </p:cNvSpPr>
          <p:nvPr/>
        </p:nvSpPr>
        <p:spPr>
          <a:xfrm xmlns:a="http://schemas.openxmlformats.org/drawingml/2006/main">
            <a:off x="5524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Context</a:t>
            </a:r>
          </a:p>
        </p:txBody>
      </p:sp>
      <p:sp>
        <p:nvSpPr>
          <p:cNvPr id="8" name="">
            <a:extLst xmlns:a="http://schemas.openxmlformats.org/drawingml/2006/main">
              <a:ext uri="{FF2B5EF4-FFF2-40B4-BE49-F238E27FC236}">
                <a16:creationId xmlns:a16="http://schemas.microsoft.com/office/drawing/2014/main" id="{5241A4D2-31F5-471F-8A2E-0713F832EDE4}"/>
              </a:ext>
            </a:extLst>
          </p:cNvPr>
          <p:cNvSpPr>
            <a:spLocks xmlns:a="http://schemas.openxmlformats.org/drawingml/2006/main" noGrp="1"/>
          </p:cNvSpPr>
          <p:nvPr/>
        </p:nvSpPr>
        <p:spPr>
          <a:xfrm xmlns:a="http://schemas.openxmlformats.org/drawingml/2006/main">
            <a:off x="3905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entailment</a:t>
            </a:r>
          </a:p>
        </p:txBody>
      </p:sp>
      <p:sp>
        <p:nvSpPr>
          <p:cNvPr id="9" name="">
            <a:extLst xmlns:a="http://schemas.openxmlformats.org/drawingml/2006/main">
              <a:ext uri="{FF2B5EF4-FFF2-40B4-BE49-F238E27FC236}">
                <a16:creationId xmlns:a16="http://schemas.microsoft.com/office/drawing/2014/main" id="{06CFBC62-AE28-4718-91FC-086792748D43}"/>
              </a:ext>
            </a:extLst>
          </p:cNvPr>
          <p:cNvSpPr>
            <a:spLocks xmlns:a="http://schemas.openxmlformats.org/drawingml/2006/main" noGrp="1"/>
          </p:cNvSpPr>
          <p:nvPr/>
        </p:nvSpPr>
        <p:spPr>
          <a:xfrm xmlns:a="http://schemas.openxmlformats.org/drawingml/2006/main">
            <a:off x="30003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10" name="">
            <a:extLst xmlns:a="http://schemas.openxmlformats.org/drawingml/2006/main">
              <a:ext uri="{FF2B5EF4-FFF2-40B4-BE49-F238E27FC236}">
                <a16:creationId xmlns:a16="http://schemas.microsoft.com/office/drawing/2014/main" id="{2C12FE4B-0D78-4955-A9DD-6415037C371A}"/>
              </a:ext>
            </a:extLst>
          </p:cNvPr>
          <p:cNvSpPr>
            <a:spLocks xmlns:a="http://schemas.openxmlformats.org/drawingml/2006/main" noGrp="1"/>
          </p:cNvSpPr>
          <p:nvPr/>
        </p:nvSpPr>
        <p:spPr>
          <a:xfrm xmlns:a="http://schemas.openxmlformats.org/drawingml/2006/main">
            <a:off x="25431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Numbers</a:t>
            </a:r>
          </a:p>
        </p:txBody>
      </p:sp>
      <p:sp>
        <p:nvSpPr>
          <p:cNvPr id="11" name="">
            <a:extLst xmlns:a="http://schemas.openxmlformats.org/drawingml/2006/main">
              <a:ext uri="{FF2B5EF4-FFF2-40B4-BE49-F238E27FC236}">
                <a16:creationId xmlns:a16="http://schemas.microsoft.com/office/drawing/2014/main" id="{9843C3C1-FFC7-4577-AB0B-65B87991C0B3}"/>
              </a:ext>
            </a:extLst>
          </p:cNvPr>
          <p:cNvSpPr>
            <a:spLocks xmlns:a="http://schemas.openxmlformats.org/drawingml/2006/main" noGrp="1"/>
          </p:cNvSpPr>
          <p:nvPr/>
        </p:nvSpPr>
        <p:spPr>
          <a:xfrm xmlns:a="http://schemas.openxmlformats.org/drawingml/2006/main">
            <a:off x="23812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dates and ranges</a:t>
            </a:r>
          </a:p>
        </p:txBody>
      </p:sp>
      <p:sp>
        <p:nvSpPr>
          <p:cNvPr id="12" name="">
            <a:extLst xmlns:a="http://schemas.openxmlformats.org/drawingml/2006/main">
              <a:ext uri="{FF2B5EF4-FFF2-40B4-BE49-F238E27FC236}">
                <a16:creationId xmlns:a16="http://schemas.microsoft.com/office/drawing/2014/main" id="{048B5EC6-84EC-489D-8171-344102BD4C6A}"/>
              </a:ext>
            </a:extLst>
          </p:cNvPr>
          <p:cNvSpPr>
            <a:spLocks xmlns:a="http://schemas.openxmlformats.org/drawingml/2006/main" noGrp="1"/>
          </p:cNvSpPr>
          <p:nvPr/>
        </p:nvSpPr>
        <p:spPr>
          <a:xfrm xmlns:a="http://schemas.openxmlformats.org/drawingml/2006/main">
            <a:off x="4991100" y="2847975"/>
            <a:ext cx="228600" cy="228600"/>
          </a:xfrm>
          <a:prstGeom xmlns:a="http://schemas.openxmlformats.org/drawingml/2006/main" prst="ellipse">
            <a:avLst/>
          </a:prstGeom>
          <a:solidFill xmlns:a="http://schemas.openxmlformats.org/drawingml/2006/main">
            <a:srgbClr val="D59B32"/>
          </a:solidFill>
          <a:ln xmlns:a="http://schemas.openxmlformats.org/drawingml/2006/main" w="0">
            <a:solidFill>
              <a:srgbClr val="D59B32"/>
            </a:solidFill>
            <a:prstDash val="solid"/>
          </a:ln>
        </p:spPr>
      </p:sp>
      <p:sp>
        <p:nvSpPr>
          <p:cNvPr id="13" name="">
            <a:extLst xmlns:a="http://schemas.openxmlformats.org/drawingml/2006/main">
              <a:ext uri="{FF2B5EF4-FFF2-40B4-BE49-F238E27FC236}">
                <a16:creationId xmlns:a16="http://schemas.microsoft.com/office/drawing/2014/main" id="{F02BF8D1-F052-44B0-9590-74F1753E253B}"/>
              </a:ext>
            </a:extLst>
          </p:cNvPr>
          <p:cNvSpPr>
            <a:spLocks xmlns:a="http://schemas.openxmlformats.org/drawingml/2006/main" noGrp="1"/>
          </p:cNvSpPr>
          <p:nvPr/>
        </p:nvSpPr>
        <p:spPr>
          <a:xfrm xmlns:a="http://schemas.openxmlformats.org/drawingml/2006/main">
            <a:off x="453390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MCQ</a:t>
            </a:r>
          </a:p>
        </p:txBody>
      </p:sp>
      <p:sp>
        <p:nvSpPr>
          <p:cNvPr id="14" name="">
            <a:extLst xmlns:a="http://schemas.openxmlformats.org/drawingml/2006/main">
              <a:ext uri="{FF2B5EF4-FFF2-40B4-BE49-F238E27FC236}">
                <a16:creationId xmlns:a16="http://schemas.microsoft.com/office/drawing/2014/main" id="{269A71FD-D0DF-4DB3-87F6-851A8A16635A}"/>
              </a:ext>
            </a:extLst>
          </p:cNvPr>
          <p:cNvSpPr>
            <a:spLocks xmlns:a="http://schemas.openxmlformats.org/drawingml/2006/main" noGrp="1"/>
          </p:cNvSpPr>
          <p:nvPr/>
        </p:nvSpPr>
        <p:spPr>
          <a:xfrm xmlns:a="http://schemas.openxmlformats.org/drawingml/2006/main">
            <a:off x="437197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option parsing</a:t>
            </a:r>
          </a:p>
        </p:txBody>
      </p:sp>
      <p:sp>
        <p:nvSpPr>
          <p:cNvPr id="15" name="">
            <a:extLst xmlns:a="http://schemas.openxmlformats.org/drawingml/2006/main">
              <a:ext uri="{FF2B5EF4-FFF2-40B4-BE49-F238E27FC236}">
                <a16:creationId xmlns:a16="http://schemas.microsoft.com/office/drawing/2014/main" id="{82592D7F-C0B7-427D-BBFF-000BF2373FFC}"/>
              </a:ext>
            </a:extLst>
          </p:cNvPr>
          <p:cNvSpPr>
            <a:spLocks xmlns:a="http://schemas.openxmlformats.org/drawingml/2006/main" noGrp="1"/>
          </p:cNvSpPr>
          <p:nvPr/>
        </p:nvSpPr>
        <p:spPr>
          <a:xfrm xmlns:a="http://schemas.openxmlformats.org/drawingml/2006/main">
            <a:off x="6981825"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16" name="">
            <a:extLst xmlns:a="http://schemas.openxmlformats.org/drawingml/2006/main">
              <a:ext uri="{FF2B5EF4-FFF2-40B4-BE49-F238E27FC236}">
                <a16:creationId xmlns:a16="http://schemas.microsoft.com/office/drawing/2014/main" id="{9C1FD995-56DC-47C8-830F-FCDBC3F603E8}"/>
              </a:ext>
            </a:extLst>
          </p:cNvPr>
          <p:cNvSpPr>
            <a:spLocks xmlns:a="http://schemas.openxmlformats.org/drawingml/2006/main" noGrp="1"/>
          </p:cNvSpPr>
          <p:nvPr/>
        </p:nvSpPr>
        <p:spPr>
          <a:xfrm xmlns:a="http://schemas.openxmlformats.org/drawingml/2006/main">
            <a:off x="652462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Language</a:t>
            </a:r>
          </a:p>
        </p:txBody>
      </p:sp>
      <p:sp>
        <p:nvSpPr>
          <p:cNvPr id="17" name="">
            <a:extLst xmlns:a="http://schemas.openxmlformats.org/drawingml/2006/main">
              <a:ext uri="{FF2B5EF4-FFF2-40B4-BE49-F238E27FC236}">
                <a16:creationId xmlns:a16="http://schemas.microsoft.com/office/drawing/2014/main" id="{35EBAA3B-DC45-4A7F-8816-BE0073783758}"/>
              </a:ext>
            </a:extLst>
          </p:cNvPr>
          <p:cNvSpPr>
            <a:spLocks xmlns:a="http://schemas.openxmlformats.org/drawingml/2006/main" noGrp="1"/>
          </p:cNvSpPr>
          <p:nvPr/>
        </p:nvSpPr>
        <p:spPr>
          <a:xfrm xmlns:a="http://schemas.openxmlformats.org/drawingml/2006/main">
            <a:off x="636270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morphology</a:t>
            </a:r>
          </a:p>
        </p:txBody>
      </p:sp>
      <p:sp>
        <p:nvSpPr>
          <p:cNvPr id="18" name="">
            <a:extLst xmlns:a="http://schemas.openxmlformats.org/drawingml/2006/main">
              <a:ext uri="{FF2B5EF4-FFF2-40B4-BE49-F238E27FC236}">
                <a16:creationId xmlns:a16="http://schemas.microsoft.com/office/drawing/2014/main" id="{7EE13802-0CDA-49CB-86E5-B143B5380F04}"/>
              </a:ext>
            </a:extLst>
          </p:cNvPr>
          <p:cNvSpPr>
            <a:spLocks xmlns:a="http://schemas.openxmlformats.org/drawingml/2006/main" noGrp="1"/>
          </p:cNvSpPr>
          <p:nvPr/>
        </p:nvSpPr>
        <p:spPr>
          <a:xfrm xmlns:a="http://schemas.openxmlformats.org/drawingml/2006/main">
            <a:off x="8972550" y="2847975"/>
            <a:ext cx="228600" cy="228600"/>
          </a:xfrm>
          <a:prstGeom xmlns:a="http://schemas.openxmlformats.org/drawingml/2006/main" prst="ellipse">
            <a:avLst/>
          </a:prstGeom>
          <a:solidFill xmlns:a="http://schemas.openxmlformats.org/drawingml/2006/main">
            <a:srgbClr val="B5483A"/>
          </a:solidFill>
          <a:ln xmlns:a="http://schemas.openxmlformats.org/drawingml/2006/main" w="0">
            <a:solidFill>
              <a:srgbClr val="B5483A"/>
            </a:solidFill>
            <a:prstDash val="solid"/>
          </a:ln>
        </p:spPr>
      </p:sp>
      <p:sp>
        <p:nvSpPr>
          <p:cNvPr id="19" name="">
            <a:extLst xmlns:a="http://schemas.openxmlformats.org/drawingml/2006/main">
              <a:ext uri="{FF2B5EF4-FFF2-40B4-BE49-F238E27FC236}">
                <a16:creationId xmlns:a16="http://schemas.microsoft.com/office/drawing/2014/main" id="{0DB9E0CD-0339-4EAB-AC64-1A851FF95710}"/>
              </a:ext>
            </a:extLst>
          </p:cNvPr>
          <p:cNvSpPr>
            <a:spLocks xmlns:a="http://schemas.openxmlformats.org/drawingml/2006/main" noGrp="1"/>
          </p:cNvSpPr>
          <p:nvPr/>
        </p:nvSpPr>
        <p:spPr>
          <a:xfrm xmlns:a="http://schemas.openxmlformats.org/drawingml/2006/main">
            <a:off x="85153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Idioms</a:t>
            </a:r>
          </a:p>
        </p:txBody>
      </p:sp>
      <p:sp>
        <p:nvSpPr>
          <p:cNvPr id="20" name="">
            <a:extLst xmlns:a="http://schemas.openxmlformats.org/drawingml/2006/main">
              <a:ext uri="{FF2B5EF4-FFF2-40B4-BE49-F238E27FC236}">
                <a16:creationId xmlns:a16="http://schemas.microsoft.com/office/drawing/2014/main" id="{30E4B04A-6792-4693-8D75-5CB8B56090B6}"/>
              </a:ext>
            </a:extLst>
          </p:cNvPr>
          <p:cNvSpPr>
            <a:spLocks xmlns:a="http://schemas.openxmlformats.org/drawingml/2006/main" noGrp="1"/>
          </p:cNvSpPr>
          <p:nvPr/>
        </p:nvSpPr>
        <p:spPr>
          <a:xfrm xmlns:a="http://schemas.openxmlformats.org/drawingml/2006/main">
            <a:off x="83534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literal vs figurative</a:t>
            </a:r>
          </a:p>
        </p:txBody>
      </p:sp>
      <p:sp>
        <p:nvSpPr>
          <p:cNvPr id="21" name="">
            <a:extLst xmlns:a="http://schemas.openxmlformats.org/drawingml/2006/main">
              <a:ext uri="{FF2B5EF4-FFF2-40B4-BE49-F238E27FC236}">
                <a16:creationId xmlns:a16="http://schemas.microsoft.com/office/drawing/2014/main" id="{784D7E7F-CE97-40A4-8F43-AFD2B947E996}"/>
              </a:ext>
            </a:extLst>
          </p:cNvPr>
          <p:cNvSpPr>
            <a:spLocks xmlns:a="http://schemas.openxmlformats.org/drawingml/2006/main" noGrp="1"/>
          </p:cNvSpPr>
          <p:nvPr/>
        </p:nvSpPr>
        <p:spPr>
          <a:xfrm xmlns:a="http://schemas.openxmlformats.org/drawingml/2006/main">
            <a:off x="109632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22" name="">
            <a:extLst xmlns:a="http://schemas.openxmlformats.org/drawingml/2006/main">
              <a:ext uri="{FF2B5EF4-FFF2-40B4-BE49-F238E27FC236}">
                <a16:creationId xmlns:a16="http://schemas.microsoft.com/office/drawing/2014/main" id="{7DC59EBF-76D0-4B4E-8A5D-F996E80C1A16}"/>
              </a:ext>
            </a:extLst>
          </p:cNvPr>
          <p:cNvSpPr>
            <a:spLocks xmlns:a="http://schemas.openxmlformats.org/drawingml/2006/main" noGrp="1"/>
          </p:cNvSpPr>
          <p:nvPr/>
        </p:nvSpPr>
        <p:spPr>
          <a:xfrm xmlns:a="http://schemas.openxmlformats.org/drawingml/2006/main">
            <a:off x="105060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Facts</a:t>
            </a:r>
          </a:p>
        </p:txBody>
      </p:sp>
      <p:sp>
        <p:nvSpPr>
          <p:cNvPr id="23" name="">
            <a:extLst xmlns:a="http://schemas.openxmlformats.org/drawingml/2006/main">
              <a:ext uri="{FF2B5EF4-FFF2-40B4-BE49-F238E27FC236}">
                <a16:creationId xmlns:a16="http://schemas.microsoft.com/office/drawing/2014/main" id="{91855CCD-1EE6-437A-8AB5-6D3742AACCE1}"/>
              </a:ext>
            </a:extLst>
          </p:cNvPr>
          <p:cNvSpPr>
            <a:spLocks xmlns:a="http://schemas.openxmlformats.org/drawingml/2006/main" noGrp="1"/>
          </p:cNvSpPr>
          <p:nvPr/>
        </p:nvSpPr>
        <p:spPr>
          <a:xfrm xmlns:a="http://schemas.openxmlformats.org/drawingml/2006/main">
            <a:off x="103441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history and law</a:t>
            </a:r>
          </a:p>
        </p:txBody>
      </p:sp>
      <p:sp>
        <p:nvSpPr>
          <p:cNvPr id="24" name="">
            <a:extLst xmlns:a="http://schemas.openxmlformats.org/drawingml/2006/main">
              <a:ext uri="{FF2B5EF4-FFF2-40B4-BE49-F238E27FC236}">
                <a16:creationId xmlns:a16="http://schemas.microsoft.com/office/drawing/2014/main" id="{56FF4F7C-D4F7-4EAF-A006-8D9D1ED7A274}"/>
              </a:ext>
            </a:extLst>
          </p:cNvPr>
          <p:cNvSpPr>
            <a:spLocks xmlns:a="http://schemas.openxmlformats.org/drawingml/2006/main" noGrp="1"/>
          </p:cNvSpPr>
          <p:nvPr/>
        </p:nvSpPr>
        <p:spPr>
          <a:xfrm xmlns:a="http://schemas.openxmlformats.org/drawingml/2006/main">
            <a:off x="1657350" y="4648200"/>
            <a:ext cx="8877300" cy="1028700"/>
          </a:xfrm>
          <a:prstGeom xmlns:a="http://schemas.openxmlformats.org/drawingml/2006/main" prst="roundRect">
            <a:avLst>
              <a:gd name="adj" fmla="val 12963"/>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35C789A1-F72E-4319-887B-FF418C6C010F}"/>
              </a:ext>
            </a:extLst>
          </p:cNvPr>
          <p:cNvSpPr>
            <a:spLocks xmlns:a="http://schemas.openxmlformats.org/drawingml/2006/main" noGrp="1"/>
          </p:cNvSpPr>
          <p:nvPr/>
        </p:nvSpPr>
        <p:spPr>
          <a:xfrm xmlns:a="http://schemas.openxmlformats.org/drawingml/2006/main">
            <a:off x="2057400" y="48577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1">
                <a:solidFill>
                  <a:srgbClr val="0F172A"/>
                </a:solidFill>
              </a:defRPr>
            </a:pPr>
            <a:r>
              <a:rPr sz="1950" b="1">
                <a:solidFill>
                  <a:srgbClr val="0F172A"/>
                </a:solidFill>
              </a:rPr>
              <a:t>A single judge prompt treated all six as the same problem.</a:t>
            </a:r>
          </a:p>
        </p:txBody>
      </p:sp>
      <p:sp>
        <p:nvSpPr>
          <p:cNvPr id="26" name="">
            <a:extLst xmlns:a="http://schemas.openxmlformats.org/drawingml/2006/main">
              <a:ext uri="{FF2B5EF4-FFF2-40B4-BE49-F238E27FC236}">
                <a16:creationId xmlns:a16="http://schemas.microsoft.com/office/drawing/2014/main" id="{D172DA00-2434-4847-9485-86E031C8C58C}"/>
              </a:ext>
            </a:extLst>
          </p:cNvPr>
          <p:cNvSpPr>
            <a:spLocks xmlns:a="http://schemas.openxmlformats.org/drawingml/2006/main" noGrp="1"/>
          </p:cNvSpPr>
          <p:nvPr/>
        </p:nvSpPr>
        <p:spPr>
          <a:xfrm xmlns:a="http://schemas.openxmlformats.org/drawingml/2006/main">
            <a:off x="2057400" y="5257800"/>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That worked as a baseline, but it was prompt-sensitive and weak on culturally specific relations.</a:t>
            </a:r>
          </a:p>
        </p:txBody>
      </p:sp>
      <p:sp>
        <p:nvSpPr>
          <p:cNvPr id="27" name="">
            <a:extLst xmlns:a="http://schemas.openxmlformats.org/drawingml/2006/main">
              <a:ext uri="{FF2B5EF4-FFF2-40B4-BE49-F238E27FC236}">
                <a16:creationId xmlns:a16="http://schemas.microsoft.com/office/drawing/2014/main" id="{AACBB317-6CF8-4EC2-BC56-82DD48F43B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2">
            <a:extLst xmlns:a="http://schemas.openxmlformats.org/drawingml/2006/main">
              <a:ext uri="{FF2B5EF4-FFF2-40B4-BE49-F238E27FC236}">
                <a16:creationId xmlns:a16="http://schemas.microsoft.com/office/drawing/2014/main" id="{0930CC2D-51FC-4952-AFF8-4FEC9AE335BC}"/>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[1] Competition task definition  [3] BenHalluEval task taxonomy  [4] Bengali idiom benchmark</a:t>
            </a:r>
          </a:p>
        </p:txBody>
      </p:sp>
      <p:sp>
        <p:nvSpPr>
          <p:cNvPr id="29" name="page-2">
            <a:extLst xmlns:a="http://schemas.openxmlformats.org/drawingml/2006/main">
              <a:ext uri="{FF2B5EF4-FFF2-40B4-BE49-F238E27FC236}">
                <a16:creationId xmlns:a16="http://schemas.microsoft.com/office/drawing/2014/main" id="{732377DC-B1E5-4C45-9656-7A9F007AE0D1}"/>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02</a:t>
            </a:r>
          </a:p>
        </p:txBody>
      </p:sp>
    </p:spTree>
    <p:extLst>
      <p:ext uri="{BB962C8B-B14F-4D97-AF65-F5344CB8AC3E}">
        <p14:creationId xmlns:p14="http://schemas.microsoft.com/office/powerpoint/2010/main" val="537406244"/>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3">
            <a:extLst xmlns:a="http://schemas.openxmlformats.org/drawingml/2006/main">
              <a:ext uri="{FF2B5EF4-FFF2-40B4-BE49-F238E27FC236}">
                <a16:creationId xmlns:a16="http://schemas.microsoft.com/office/drawing/2014/main" id="{7AC69D24-54B2-4B7E-9582-4E9E979288EE}"/>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3">
            <a:extLst xmlns:a="http://schemas.openxmlformats.org/drawingml/2006/main">
              <a:ext uri="{FF2B5EF4-FFF2-40B4-BE49-F238E27FC236}">
                <a16:creationId xmlns:a16="http://schemas.microsoft.com/office/drawing/2014/main" id="{F0AE6388-F87E-4B21-A67F-240310BD3354}"/>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The breakthrough was a selective cascade</a:t>
            </a:r>
          </a:p>
        </p:txBody>
      </p:sp>
      <p:sp>
        <p:nvSpPr>
          <p:cNvPr id="3" name="">
            <a:extLst xmlns:a="http://schemas.openxmlformats.org/drawingml/2006/main">
              <a:ext uri="{FF2B5EF4-FFF2-40B4-BE49-F238E27FC236}">
                <a16:creationId xmlns:a16="http://schemas.microsoft.com/office/drawing/2014/main" id="{B41C495B-5BAD-4DC6-99B8-CEF22C26271E}"/>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3520B0B8-807E-443F-AB06-41A76BAF9DC9}"/>
              </a:ext>
            </a:extLst>
          </p:cNvPr>
          <p:cNvSpPr>
            <a:spLocks xmlns:a="http://schemas.openxmlformats.org/drawingml/2006/main" noGrp="1"/>
          </p:cNvSpPr>
          <p:nvPr/>
        </p:nvSpPr>
        <p:spPr>
          <a:xfrm xmlns:a="http://schemas.openxmlformats.org/drawingml/2006/main">
            <a:off x="685800" y="1381125"/>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Every stage could answer, or abstain. Abstention was a normal outcome, not a failure.</a:t>
            </a:r>
          </a:p>
        </p:txBody>
      </p:sp>
      <p:sp>
        <p:nvSpPr>
          <p:cNvPr id="5" name="">
            <a:extLst xmlns:a="http://schemas.openxmlformats.org/drawingml/2006/main">
              <a:ext uri="{FF2B5EF4-FFF2-40B4-BE49-F238E27FC236}">
                <a16:creationId xmlns:a16="http://schemas.microsoft.com/office/drawing/2014/main" id="{68B8D2E9-7D4B-405A-A19E-CB89F5927441}"/>
              </a:ext>
            </a:extLst>
          </p:cNvPr>
          <p:cNvSpPr>
            <a:spLocks xmlns:a="http://schemas.openxmlformats.org/drawingml/2006/main" noGrp="1"/>
          </p:cNvSpPr>
          <p:nvPr/>
        </p:nvSpPr>
        <p:spPr>
          <a:xfrm xmlns:a="http://schemas.openxmlformats.org/drawingml/2006/main">
            <a:off x="23622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D51F4866-8CF7-4223-9473-AD8BD1CC2F81}"/>
              </a:ext>
            </a:extLst>
          </p:cNvPr>
          <p:cNvSpPr>
            <a:spLocks xmlns:a="http://schemas.openxmlformats.org/drawingml/2006/main" noGrp="1"/>
          </p:cNvSpPr>
          <p:nvPr/>
        </p:nvSpPr>
        <p:spPr>
          <a:xfrm xmlns:a="http://schemas.openxmlformats.org/drawingml/2006/main">
            <a:off x="47625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74709EE-4827-44BE-948D-251129F55FAC}"/>
              </a:ext>
            </a:extLst>
          </p:cNvPr>
          <p:cNvSpPr>
            <a:spLocks xmlns:a="http://schemas.openxmlformats.org/drawingml/2006/main" noGrp="1"/>
          </p:cNvSpPr>
          <p:nvPr/>
        </p:nvSpPr>
        <p:spPr>
          <a:xfrm xmlns:a="http://schemas.openxmlformats.org/drawingml/2006/main">
            <a:off x="71628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64F75721-27B7-4EE0-97D9-E9E30BD24259}"/>
              </a:ext>
            </a:extLst>
          </p:cNvPr>
          <p:cNvSpPr>
            <a:spLocks xmlns:a="http://schemas.openxmlformats.org/drawingml/2006/main" noGrp="1"/>
          </p:cNvSpPr>
          <p:nvPr/>
        </p:nvSpPr>
        <p:spPr>
          <a:xfrm xmlns:a="http://schemas.openxmlformats.org/drawingml/2006/main">
            <a:off x="95631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pipeline-0">
            <a:extLst xmlns:a="http://schemas.openxmlformats.org/drawingml/2006/main">
              <a:ext uri="{FF2B5EF4-FFF2-40B4-BE49-F238E27FC236}">
                <a16:creationId xmlns:a16="http://schemas.microsoft.com/office/drawing/2014/main" id="{876A820B-F405-4437-8BED-CB345424B81C}"/>
              </a:ext>
            </a:extLst>
          </p:cNvPr>
          <p:cNvSpPr>
            <a:spLocks xmlns:a="http://schemas.openxmlformats.org/drawingml/2006/main" noGrp="1"/>
          </p:cNvSpPr>
          <p:nvPr/>
        </p:nvSpPr>
        <p:spPr>
          <a:xfrm xmlns:a="http://schemas.openxmlformats.org/drawingml/2006/main">
            <a:off x="76200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15EFDDC0-3767-475F-A1CC-764445570E6A}"/>
              </a:ext>
            </a:extLst>
          </p:cNvPr>
          <p:cNvSpPr>
            <a:spLocks xmlns:a="http://schemas.openxmlformats.org/drawingml/2006/main" noGrp="1"/>
          </p:cNvSpPr>
          <p:nvPr/>
        </p:nvSpPr>
        <p:spPr>
          <a:xfrm xmlns:a="http://schemas.openxmlformats.org/drawingml/2006/main">
            <a:off x="93345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Normalize</a:t>
            </a:r>
          </a:p>
        </p:txBody>
      </p:sp>
      <p:sp>
        <p:nvSpPr>
          <p:cNvPr id="11" name="">
            <a:extLst xmlns:a="http://schemas.openxmlformats.org/drawingml/2006/main">
              <a:ext uri="{FF2B5EF4-FFF2-40B4-BE49-F238E27FC236}">
                <a16:creationId xmlns:a16="http://schemas.microsoft.com/office/drawing/2014/main" id="{8A0ED064-B0F7-4B5F-9112-991E059C382B}"/>
              </a:ext>
            </a:extLst>
          </p:cNvPr>
          <p:cNvSpPr>
            <a:spLocks xmlns:a="http://schemas.openxmlformats.org/drawingml/2006/main" noGrp="1"/>
          </p:cNvSpPr>
          <p:nvPr/>
        </p:nvSpPr>
        <p:spPr>
          <a:xfrm xmlns:a="http://schemas.openxmlformats.org/drawingml/2006/main">
            <a:off x="93345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digits, options,</a:t>
            </a:r>
          </a:p>
          <a:p xmlns:a="http://schemas.openxmlformats.org/drawingml/2006/main">
            <a:pPr algn="ctr">
              <a:defRPr sz="1275" b="0">
                <a:solidFill>
                  <a:srgbClr val="526174"/>
                </a:solidFill>
              </a:defRPr>
            </a:pPr>
            <a:r>
              <a:rPr sz="1275" b="0">
                <a:solidFill>
                  <a:srgbClr val="526174"/>
                </a:solidFill>
              </a:rPr>
              <a:t>aliases</a:t>
            </a:r>
          </a:p>
        </p:txBody>
      </p:sp>
      <p:sp>
        <p:nvSpPr>
          <p:cNvPr id="12" name="pipeline-1">
            <a:extLst xmlns:a="http://schemas.openxmlformats.org/drawingml/2006/main">
              <a:ext uri="{FF2B5EF4-FFF2-40B4-BE49-F238E27FC236}">
                <a16:creationId xmlns:a16="http://schemas.microsoft.com/office/drawing/2014/main" id="{1039A6F7-3F82-4C6D-ABC9-5D0B337476C5}"/>
              </a:ext>
            </a:extLst>
          </p:cNvPr>
          <p:cNvSpPr>
            <a:spLocks xmlns:a="http://schemas.openxmlformats.org/drawingml/2006/main" noGrp="1"/>
          </p:cNvSpPr>
          <p:nvPr/>
        </p:nvSpPr>
        <p:spPr>
          <a:xfrm xmlns:a="http://schemas.openxmlformats.org/drawingml/2006/main">
            <a:off x="31432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DD9330E3-7DD3-4ED9-B965-4B54CDFA9FCF}"/>
              </a:ext>
            </a:extLst>
          </p:cNvPr>
          <p:cNvSpPr>
            <a:spLocks xmlns:a="http://schemas.openxmlformats.org/drawingml/2006/main" noGrp="1"/>
          </p:cNvSpPr>
          <p:nvPr/>
        </p:nvSpPr>
        <p:spPr>
          <a:xfrm xmlns:a="http://schemas.openxmlformats.org/drawingml/2006/main">
            <a:off x="33147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Route</a:t>
            </a:r>
          </a:p>
        </p:txBody>
      </p:sp>
      <p:sp>
        <p:nvSpPr>
          <p:cNvPr id="14" name="">
            <a:extLst xmlns:a="http://schemas.openxmlformats.org/drawingml/2006/main">
              <a:ext uri="{FF2B5EF4-FFF2-40B4-BE49-F238E27FC236}">
                <a16:creationId xmlns:a16="http://schemas.microsoft.com/office/drawing/2014/main" id="{4407CEFD-6B9E-48B4-BFA3-BBE78BD19B9D}"/>
              </a:ext>
            </a:extLst>
          </p:cNvPr>
          <p:cNvSpPr>
            <a:spLocks xmlns:a="http://schemas.openxmlformats.org/drawingml/2006/main" noGrp="1"/>
          </p:cNvSpPr>
          <p:nvPr/>
        </p:nvSpPr>
        <p:spPr>
          <a:xfrm xmlns:a="http://schemas.openxmlformats.org/drawingml/2006/main">
            <a:off x="33147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context, numeric,</a:t>
            </a:r>
          </a:p>
          <a:p xmlns:a="http://schemas.openxmlformats.org/drawingml/2006/main">
            <a:pPr algn="ctr">
              <a:defRPr sz="1275" b="0">
                <a:solidFill>
                  <a:srgbClr val="526174"/>
                </a:solidFill>
              </a:defRPr>
            </a:pPr>
            <a:r>
              <a:rPr sz="1275" b="0">
                <a:solidFill>
                  <a:srgbClr val="526174"/>
                </a:solidFill>
              </a:rPr>
              <a:t>lexical, factual</a:t>
            </a:r>
          </a:p>
        </p:txBody>
      </p:sp>
      <p:sp>
        <p:nvSpPr>
          <p:cNvPr id="15" name="pipeline-2">
            <a:extLst xmlns:a="http://schemas.openxmlformats.org/drawingml/2006/main">
              <a:ext uri="{FF2B5EF4-FFF2-40B4-BE49-F238E27FC236}">
                <a16:creationId xmlns:a16="http://schemas.microsoft.com/office/drawing/2014/main" id="{483123BE-3A6C-4F6D-A9FE-B338D0867184}"/>
              </a:ext>
            </a:extLst>
          </p:cNvPr>
          <p:cNvSpPr>
            <a:spLocks xmlns:a="http://schemas.openxmlformats.org/drawingml/2006/main" noGrp="1"/>
          </p:cNvSpPr>
          <p:nvPr/>
        </p:nvSpPr>
        <p:spPr>
          <a:xfrm xmlns:a="http://schemas.openxmlformats.org/drawingml/2006/main">
            <a:off x="55435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DEFC9573-CA54-44CE-9557-A878F874E3AB}"/>
              </a:ext>
            </a:extLst>
          </p:cNvPr>
          <p:cNvSpPr>
            <a:spLocks xmlns:a="http://schemas.openxmlformats.org/drawingml/2006/main" noGrp="1"/>
          </p:cNvSpPr>
          <p:nvPr/>
        </p:nvSpPr>
        <p:spPr>
          <a:xfrm xmlns:a="http://schemas.openxmlformats.org/drawingml/2006/main">
            <a:off x="57150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Verify</a:t>
            </a:r>
          </a:p>
        </p:txBody>
      </p:sp>
      <p:sp>
        <p:nvSpPr>
          <p:cNvPr id="17" name="">
            <a:extLst xmlns:a="http://schemas.openxmlformats.org/drawingml/2006/main">
              <a:ext uri="{FF2B5EF4-FFF2-40B4-BE49-F238E27FC236}">
                <a16:creationId xmlns:a16="http://schemas.microsoft.com/office/drawing/2014/main" id="{D24069F1-86F2-43AE-9806-14BDD66123CA}"/>
              </a:ext>
            </a:extLst>
          </p:cNvPr>
          <p:cNvSpPr>
            <a:spLocks xmlns:a="http://schemas.openxmlformats.org/drawingml/2006/main" noGrp="1"/>
          </p:cNvSpPr>
          <p:nvPr/>
        </p:nvSpPr>
        <p:spPr>
          <a:xfrm xmlns:a="http://schemas.openxmlformats.org/drawingml/2006/main">
            <a:off x="57150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exact lineage and</a:t>
            </a:r>
          </a:p>
          <a:p xmlns:a="http://schemas.openxmlformats.org/drawingml/2006/main">
            <a:pPr algn="ctr">
              <a:defRPr sz="1275" b="0">
                <a:solidFill>
                  <a:srgbClr val="526174"/>
                </a:solidFill>
              </a:defRPr>
            </a:pPr>
            <a:r>
              <a:rPr sz="1275" b="0">
                <a:solidFill>
                  <a:srgbClr val="526174"/>
                </a:solidFill>
              </a:rPr>
              <a:t>typed evidence</a:t>
            </a:r>
          </a:p>
        </p:txBody>
      </p:sp>
      <p:sp>
        <p:nvSpPr>
          <p:cNvPr id="18" name="pipeline-3">
            <a:extLst xmlns:a="http://schemas.openxmlformats.org/drawingml/2006/main">
              <a:ext uri="{FF2B5EF4-FFF2-40B4-BE49-F238E27FC236}">
                <a16:creationId xmlns:a16="http://schemas.microsoft.com/office/drawing/2014/main" id="{11794C17-5890-4DC6-983D-9AABDA120321}"/>
              </a:ext>
            </a:extLst>
          </p:cNvPr>
          <p:cNvSpPr>
            <a:spLocks xmlns:a="http://schemas.openxmlformats.org/drawingml/2006/main" noGrp="1"/>
          </p:cNvSpPr>
          <p:nvPr/>
        </p:nvSpPr>
        <p:spPr>
          <a:xfrm xmlns:a="http://schemas.openxmlformats.org/drawingml/2006/main">
            <a:off x="7943850" y="2324100"/>
            <a:ext cx="1619250" cy="1600200"/>
          </a:xfrm>
          <a:prstGeom xmlns:a="http://schemas.openxmlformats.org/drawingml/2006/main" prst="roundRect">
            <a:avLst>
              <a:gd name="adj" fmla="val 10714"/>
            </a:avLst>
          </a:prstGeom>
          <a:solidFill xmlns:a="http://schemas.openxmlformats.org/drawingml/2006/main">
            <a:srgbClr val="E7EEF4"/>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2B40CB86-1741-4B77-BEA6-29BB5001D480}"/>
              </a:ext>
            </a:extLst>
          </p:cNvPr>
          <p:cNvSpPr>
            <a:spLocks xmlns:a="http://schemas.openxmlformats.org/drawingml/2006/main" noGrp="1"/>
          </p:cNvSpPr>
          <p:nvPr/>
        </p:nvSpPr>
        <p:spPr>
          <a:xfrm xmlns:a="http://schemas.openxmlformats.org/drawingml/2006/main">
            <a:off x="81153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Abstain?</a:t>
            </a:r>
          </a:p>
        </p:txBody>
      </p:sp>
      <p:sp>
        <p:nvSpPr>
          <p:cNvPr id="20" name="">
            <a:extLst xmlns:a="http://schemas.openxmlformats.org/drawingml/2006/main">
              <a:ext uri="{FF2B5EF4-FFF2-40B4-BE49-F238E27FC236}">
                <a16:creationId xmlns:a16="http://schemas.microsoft.com/office/drawing/2014/main" id="{6B967DB1-1CD6-48CC-A010-5ADB6204BEA6}"/>
              </a:ext>
            </a:extLst>
          </p:cNvPr>
          <p:cNvSpPr>
            <a:spLocks xmlns:a="http://schemas.openxmlformats.org/drawingml/2006/main" noGrp="1"/>
          </p:cNvSpPr>
          <p:nvPr/>
        </p:nvSpPr>
        <p:spPr>
          <a:xfrm xmlns:a="http://schemas.openxmlformats.org/drawingml/2006/main">
            <a:off x="81153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resolved label or</a:t>
            </a:r>
          </a:p>
          <a:p xmlns:a="http://schemas.openxmlformats.org/drawingml/2006/main">
            <a:pPr algn="ctr">
              <a:defRPr sz="1275" b="0">
                <a:solidFill>
                  <a:srgbClr val="526174"/>
                </a:solidFill>
              </a:defRPr>
            </a:pPr>
            <a:r>
              <a:rPr sz="1275" b="0">
                <a:solidFill>
                  <a:srgbClr val="526174"/>
                </a:solidFill>
              </a:rPr>
              <a:t>uncertain tail</a:t>
            </a:r>
          </a:p>
        </p:txBody>
      </p:sp>
      <p:sp>
        <p:nvSpPr>
          <p:cNvPr id="21" name="pipeline-4">
            <a:extLst xmlns:a="http://schemas.openxmlformats.org/drawingml/2006/main">
              <a:ext uri="{FF2B5EF4-FFF2-40B4-BE49-F238E27FC236}">
                <a16:creationId xmlns:a16="http://schemas.microsoft.com/office/drawing/2014/main" id="{48FB6C77-1F99-403F-93BA-FFF56E0B4983}"/>
              </a:ext>
            </a:extLst>
          </p:cNvPr>
          <p:cNvSpPr>
            <a:spLocks xmlns:a="http://schemas.openxmlformats.org/drawingml/2006/main" noGrp="1"/>
          </p:cNvSpPr>
          <p:nvPr/>
        </p:nvSpPr>
        <p:spPr>
          <a:xfrm xmlns:a="http://schemas.openxmlformats.org/drawingml/2006/main">
            <a:off x="10344150" y="2324100"/>
            <a:ext cx="1619250" cy="1600200"/>
          </a:xfrm>
          <a:prstGeom xmlns:a="http://schemas.openxmlformats.org/drawingml/2006/main" prst="roundRect">
            <a:avLst>
              <a:gd name="adj" fmla="val 10714"/>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968D10F7-EAEF-4514-BBFE-B3332A0D3DCD}"/>
              </a:ext>
            </a:extLst>
          </p:cNvPr>
          <p:cNvSpPr>
            <a:spLocks xmlns:a="http://schemas.openxmlformats.org/drawingml/2006/main" noGrp="1"/>
          </p:cNvSpPr>
          <p:nvPr/>
        </p:nvSpPr>
        <p:spPr>
          <a:xfrm xmlns:a="http://schemas.openxmlformats.org/drawingml/2006/main">
            <a:off x="105156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D59B32"/>
                </a:solidFill>
              </a:defRPr>
            </a:pPr>
            <a:r>
              <a:rPr sz="1800" b="1">
                <a:solidFill>
                  <a:srgbClr val="D59B32"/>
                </a:solidFill>
              </a:rPr>
              <a:t>Judge</a:t>
            </a:r>
          </a:p>
        </p:txBody>
      </p:sp>
      <p:sp>
        <p:nvSpPr>
          <p:cNvPr id="23" name="">
            <a:extLst xmlns:a="http://schemas.openxmlformats.org/drawingml/2006/main">
              <a:ext uri="{FF2B5EF4-FFF2-40B4-BE49-F238E27FC236}">
                <a16:creationId xmlns:a16="http://schemas.microsoft.com/office/drawing/2014/main" id="{29BEEA4A-84E3-4AFC-B9A3-80D163C39F95}"/>
              </a:ext>
            </a:extLst>
          </p:cNvPr>
          <p:cNvSpPr>
            <a:spLocks xmlns:a="http://schemas.openxmlformats.org/drawingml/2006/main" noGrp="1"/>
          </p:cNvSpPr>
          <p:nvPr/>
        </p:nvSpPr>
        <p:spPr>
          <a:xfrm xmlns:a="http://schemas.openxmlformats.org/drawingml/2006/main">
            <a:off x="105156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Qwen binary</a:t>
            </a:r>
          </a:p>
          <a:p xmlns:a="http://schemas.openxmlformats.org/drawingml/2006/main">
            <a:pPr algn="ctr">
              <a:defRPr sz="1275" b="0">
                <a:solidFill>
                  <a:srgbClr val="526174"/>
                </a:solidFill>
              </a:defRPr>
            </a:pPr>
            <a:r>
              <a:rPr sz="1275" b="0">
                <a:solidFill>
                  <a:srgbClr val="526174"/>
                </a:solidFill>
              </a:rPr>
              <a:t>decision</a:t>
            </a:r>
          </a:p>
        </p:txBody>
      </p:sp>
      <p:sp>
        <p:nvSpPr>
          <p:cNvPr id="24" name="">
            <a:extLst xmlns:a="http://schemas.openxmlformats.org/drawingml/2006/main">
              <a:ext uri="{FF2B5EF4-FFF2-40B4-BE49-F238E27FC236}">
                <a16:creationId xmlns:a16="http://schemas.microsoft.com/office/drawing/2014/main" id="{217C80CA-6990-4322-A998-564310998F2B}"/>
              </a:ext>
            </a:extLst>
          </p:cNvPr>
          <p:cNvSpPr>
            <a:spLocks xmlns:a="http://schemas.openxmlformats.org/drawingml/2006/main" noGrp="1"/>
          </p:cNvSpPr>
          <p:nvPr/>
        </p:nvSpPr>
        <p:spPr>
          <a:xfrm xmlns:a="http://schemas.openxmlformats.org/drawingml/2006/main">
            <a:off x="1428750" y="4476750"/>
            <a:ext cx="933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0F172A"/>
                </a:solidFill>
              </a:defRPr>
            </a:pPr>
            <a:r>
              <a:rPr sz="1800" b="1">
                <a:solidFill>
                  <a:srgbClr val="0F172A"/>
                </a:solidFill>
              </a:rPr>
              <a:t>Deterministic stages record the source family and relation behind each decision.</a:t>
            </a:r>
          </a:p>
        </p:txBody>
      </p:sp>
      <p:sp>
        <p:nvSpPr>
          <p:cNvPr id="25" name="">
            <a:extLst xmlns:a="http://schemas.openxmlformats.org/drawingml/2006/main">
              <a:ext uri="{FF2B5EF4-FFF2-40B4-BE49-F238E27FC236}">
                <a16:creationId xmlns:a16="http://schemas.microsoft.com/office/drawing/2014/main" id="{52A699D0-B066-476B-B2A7-7D26DCF56007}"/>
              </a:ext>
            </a:extLst>
          </p:cNvPr>
          <p:cNvSpPr>
            <a:spLocks xmlns:a="http://schemas.openxmlformats.org/drawingml/2006/main" noGrp="1"/>
          </p:cNvSpPr>
          <p:nvPr/>
        </p:nvSpPr>
        <p:spPr>
          <a:xfrm xmlns:a="http://schemas.openxmlformats.org/drawingml/2006/main">
            <a:off x="2095500" y="495300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a:solidFill>
                  <a:srgbClr val="526174"/>
                </a:solidFill>
              </a:defRPr>
            </a:pPr>
            <a:r>
              <a:rPr sz="1500" b="0">
                <a:solidFill>
                  <a:srgbClr val="526174"/>
                </a:solidFill>
              </a:rPr>
              <a:t>If those fields are not defensible, the row moves forward unchanged.</a:t>
            </a:r>
          </a:p>
        </p:txBody>
      </p:sp>
      <p:sp>
        <p:nvSpPr>
          <p:cNvPr id="26" name="">
            <a:extLst xmlns:a="http://schemas.openxmlformats.org/drawingml/2006/main">
              <a:ext uri="{FF2B5EF4-FFF2-40B4-BE49-F238E27FC236}">
                <a16:creationId xmlns:a16="http://schemas.microsoft.com/office/drawing/2014/main" id="{CE177D65-5C08-4CB9-A5BD-714A9105B14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3">
            <a:extLst xmlns:a="http://schemas.openxmlformats.org/drawingml/2006/main">
              <a:ext uri="{FF2B5EF4-FFF2-40B4-BE49-F238E27FC236}">
                <a16:creationId xmlns:a16="http://schemas.microsoft.com/office/drawing/2014/main" id="{BEC4B53A-5456-4EE0-B57C-D45B2011FBF0}"/>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BenHalluEval  [4] Bengali idiom benchmark  [7] Frozen v91 architecture</a:t>
            </a:r>
          </a:p>
        </p:txBody>
      </p:sp>
      <p:sp>
        <p:nvSpPr>
          <p:cNvPr id="28" name="page-3">
            <a:extLst xmlns:a="http://schemas.openxmlformats.org/drawingml/2006/main">
              <a:ext uri="{FF2B5EF4-FFF2-40B4-BE49-F238E27FC236}">
                <a16:creationId xmlns:a16="http://schemas.microsoft.com/office/drawing/2014/main" id="{4C24076D-ABDF-452E-9652-816E2EC8E810}"/>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03</a:t>
            </a:r>
          </a:p>
        </p:txBody>
      </p:sp>
    </p:spTree>
    <p:extLst>
      <p:ext uri="{BB962C8B-B14F-4D97-AF65-F5344CB8AC3E}">
        <p14:creationId xmlns:p14="http://schemas.microsoft.com/office/powerpoint/2010/main" val="976654802"/>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4">
            <a:extLst xmlns:a="http://schemas.openxmlformats.org/drawingml/2006/main">
              <a:ext uri="{FF2B5EF4-FFF2-40B4-BE49-F238E27FC236}">
                <a16:creationId xmlns:a16="http://schemas.microsoft.com/office/drawing/2014/main" id="{56DBF382-D1AE-4322-BF4F-A4639E3884DF}"/>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4">
            <a:extLst xmlns:a="http://schemas.openxmlformats.org/drawingml/2006/main">
              <a:ext uri="{FF2B5EF4-FFF2-40B4-BE49-F238E27FC236}">
                <a16:creationId xmlns:a16="http://schemas.microsoft.com/office/drawing/2014/main" id="{D53F5178-0558-428A-821E-B2A2E54F8695}"/>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Deterministic routing handled 93.7% of Phase 1</a:t>
            </a:r>
          </a:p>
        </p:txBody>
      </p:sp>
      <p:sp>
        <p:nvSpPr>
          <p:cNvPr id="3" name="">
            <a:extLst xmlns:a="http://schemas.openxmlformats.org/drawingml/2006/main">
              <a:ext uri="{FF2B5EF4-FFF2-40B4-BE49-F238E27FC236}">
                <a16:creationId xmlns:a16="http://schemas.microsoft.com/office/drawing/2014/main" id="{D88C75AF-EA00-45D9-81F4-8A88EA51C77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D6EE7EC-77D3-4EA2-A74E-D45554CAF468}"/>
              </a:ext>
            </a:extLst>
          </p:cNvPr>
          <p:cNvSpPr>
            <a:spLocks xmlns:a="http://schemas.openxmlformats.org/drawingml/2006/main" noGrp="1"/>
          </p:cNvSpPr>
          <p:nvPr/>
        </p:nvSpPr>
        <p:spPr>
          <a:xfrm xmlns:a="http://schemas.openxmlformats.org/drawingml/2006/main">
            <a:off x="685800" y="1390650"/>
            <a:ext cx="809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526174"/>
                </a:solidFill>
              </a:defRPr>
            </a:pPr>
            <a:r>
              <a:rPr sz="1725" b="0">
                <a:solidFill>
                  <a:srgbClr val="526174"/>
                </a:solidFill>
              </a:rPr>
              <a:t>Only 158 of 2,516 rows reached the Qwen judge.</a:t>
            </a:r>
          </a:p>
        </p:txBody>
      </p:sp>
      <p:sp>
        <p:nvSpPr>
          <p:cNvPr id="5" name="">
            <a:extLst xmlns:a="http://schemas.openxmlformats.org/drawingml/2006/main">
              <a:ext uri="{FF2B5EF4-FFF2-40B4-BE49-F238E27FC236}">
                <a16:creationId xmlns:a16="http://schemas.microsoft.com/office/drawing/2014/main" id="{97924AA8-01C5-4369-B5FF-6289CA4626F7}"/>
              </a:ext>
            </a:extLst>
          </p:cNvPr>
          <p:cNvSpPr>
            <a:spLocks xmlns:a="http://schemas.openxmlformats.org/drawingml/2006/main" noGrp="1"/>
          </p:cNvSpPr>
          <p:nvPr/>
        </p:nvSpPr>
        <p:spPr>
          <a:xfrm xmlns:a="http://schemas.openxmlformats.org/drawingml/2006/main">
            <a:off x="990600" y="2524125"/>
            <a:ext cx="10210800" cy="838200"/>
          </a:xfrm>
          <a:prstGeom xmlns:a="http://schemas.openxmlformats.org/drawingml/2006/main" prst="roundRect">
            <a:avLst>
              <a:gd name="adj" fmla="val 25000"/>
            </a:avLst>
          </a:prstGeom>
          <a:solidFill xmlns:a="http://schemas.openxmlformats.org/drawingml/2006/main">
            <a:srgbClr val="E7EEF4"/>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317967A6-7D30-4B8F-875A-8CC8DD52392B}"/>
              </a:ext>
            </a:extLst>
          </p:cNvPr>
          <p:cNvSpPr>
            <a:spLocks xmlns:a="http://schemas.openxmlformats.org/drawingml/2006/main" noGrp="1"/>
          </p:cNvSpPr>
          <p:nvPr/>
        </p:nvSpPr>
        <p:spPr>
          <a:xfrm xmlns:a="http://schemas.openxmlformats.org/drawingml/2006/main">
            <a:off x="990600" y="2524125"/>
            <a:ext cx="9572625" cy="838200"/>
          </a:xfrm>
          <a:prstGeom xmlns:a="http://schemas.openxmlformats.org/drawingml/2006/main" prst="roundRect">
            <a:avLst>
              <a:gd name="adj" fmla="val 25000"/>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B915AC14-9CF0-466F-B7A3-8B0652361D54}"/>
              </a:ext>
            </a:extLst>
          </p:cNvPr>
          <p:cNvSpPr>
            <a:spLocks xmlns:a="http://schemas.openxmlformats.org/drawingml/2006/main" noGrp="1"/>
          </p:cNvSpPr>
          <p:nvPr/>
        </p:nvSpPr>
        <p:spPr>
          <a:xfrm xmlns:a="http://schemas.openxmlformats.org/drawingml/2006/main">
            <a:off x="10372725" y="2524125"/>
            <a:ext cx="190500" cy="8382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8" name="">
            <a:extLst xmlns:a="http://schemas.openxmlformats.org/drawingml/2006/main">
              <a:ext uri="{FF2B5EF4-FFF2-40B4-BE49-F238E27FC236}">
                <a16:creationId xmlns:a16="http://schemas.microsoft.com/office/drawing/2014/main" id="{46F0477A-0BBC-4DEA-9059-F4152D224CB9}"/>
              </a:ext>
            </a:extLst>
          </p:cNvPr>
          <p:cNvSpPr>
            <a:spLocks xmlns:a="http://schemas.openxmlformats.org/drawingml/2006/main" noGrp="1"/>
          </p:cNvSpPr>
          <p:nvPr/>
        </p:nvSpPr>
        <p:spPr>
          <a:xfrm xmlns:a="http://schemas.openxmlformats.org/drawingml/2006/main">
            <a:off x="1314450" y="2714625"/>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a:solidFill>
                  <a:srgbClr val="FFFFFF"/>
                </a:solidFill>
              </a:defRPr>
            </a:pPr>
            <a:r>
              <a:rPr sz="2100" b="1">
                <a:solidFill>
                  <a:srgbClr val="FFFFFF"/>
                </a:solidFill>
              </a:rPr>
              <a:t>2,358 deterministic</a:t>
            </a:r>
          </a:p>
        </p:txBody>
      </p:sp>
      <p:sp>
        <p:nvSpPr>
          <p:cNvPr id="9" name="">
            <a:extLst xmlns:a="http://schemas.openxmlformats.org/drawingml/2006/main">
              <a:ext uri="{FF2B5EF4-FFF2-40B4-BE49-F238E27FC236}">
                <a16:creationId xmlns:a16="http://schemas.microsoft.com/office/drawing/2014/main" id="{6E68723C-CE76-405F-99F5-CB975631F378}"/>
              </a:ext>
            </a:extLst>
          </p:cNvPr>
          <p:cNvSpPr>
            <a:spLocks xmlns:a="http://schemas.openxmlformats.org/drawingml/2006/main" noGrp="1"/>
          </p:cNvSpPr>
          <p:nvPr/>
        </p:nvSpPr>
        <p:spPr>
          <a:xfrm xmlns:a="http://schemas.openxmlformats.org/drawingml/2006/main">
            <a:off x="10572750" y="2724150"/>
            <a:ext cx="552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0F172A"/>
                </a:solidFill>
              </a:defRPr>
            </a:pPr>
            <a:r>
              <a:rPr sz="1650" b="1">
                <a:solidFill>
                  <a:srgbClr val="0F172A"/>
                </a:solidFill>
              </a:rPr>
              <a:t>158</a:t>
            </a:r>
          </a:p>
        </p:txBody>
      </p:sp>
      <p:sp>
        <p:nvSpPr>
          <p:cNvPr id="10" name="">
            <a:extLst xmlns:a="http://schemas.openxmlformats.org/drawingml/2006/main">
              <a:ext uri="{FF2B5EF4-FFF2-40B4-BE49-F238E27FC236}">
                <a16:creationId xmlns:a16="http://schemas.microsoft.com/office/drawing/2014/main" id="{CCA7F601-5D16-403A-A67E-7F3BE7244441}"/>
              </a:ext>
            </a:extLst>
          </p:cNvPr>
          <p:cNvSpPr>
            <a:spLocks xmlns:a="http://schemas.openxmlformats.org/drawingml/2006/main" noGrp="1"/>
          </p:cNvSpPr>
          <p:nvPr/>
        </p:nvSpPr>
        <p:spPr>
          <a:xfrm xmlns:a="http://schemas.openxmlformats.org/drawingml/2006/main">
            <a:off x="1428750" y="39052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93.72%</a:t>
            </a:r>
          </a:p>
        </p:txBody>
      </p:sp>
      <p:sp>
        <p:nvSpPr>
          <p:cNvPr id="11" name="">
            <a:extLst xmlns:a="http://schemas.openxmlformats.org/drawingml/2006/main">
              <a:ext uri="{FF2B5EF4-FFF2-40B4-BE49-F238E27FC236}">
                <a16:creationId xmlns:a16="http://schemas.microsoft.com/office/drawing/2014/main" id="{902EC57B-478B-4322-B8FD-F73472C411EF}"/>
              </a:ext>
            </a:extLst>
          </p:cNvPr>
          <p:cNvSpPr>
            <a:spLocks xmlns:a="http://schemas.openxmlformats.org/drawingml/2006/main" noGrp="1"/>
          </p:cNvSpPr>
          <p:nvPr/>
        </p:nvSpPr>
        <p:spPr>
          <a:xfrm xmlns:a="http://schemas.openxmlformats.org/drawingml/2006/main">
            <a:off x="1428750" y="45910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resolved before LLM inference</a:t>
            </a:r>
          </a:p>
        </p:txBody>
      </p:sp>
      <p:sp>
        <p:nvSpPr>
          <p:cNvPr id="12" name="">
            <a:extLst xmlns:a="http://schemas.openxmlformats.org/drawingml/2006/main">
              <a:ext uri="{FF2B5EF4-FFF2-40B4-BE49-F238E27FC236}">
                <a16:creationId xmlns:a16="http://schemas.microsoft.com/office/drawing/2014/main" id="{04006BCF-FAEC-4285-8902-E4612A6F7F23}"/>
              </a:ext>
            </a:extLst>
          </p:cNvPr>
          <p:cNvSpPr>
            <a:spLocks xmlns:a="http://schemas.openxmlformats.org/drawingml/2006/main" noGrp="1"/>
          </p:cNvSpPr>
          <p:nvPr/>
        </p:nvSpPr>
        <p:spPr>
          <a:xfrm xmlns:a="http://schemas.openxmlformats.org/drawingml/2006/main">
            <a:off x="4810125" y="39052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6.28%</a:t>
            </a:r>
          </a:p>
        </p:txBody>
      </p:sp>
      <p:sp>
        <p:nvSpPr>
          <p:cNvPr id="13" name="">
            <a:extLst xmlns:a="http://schemas.openxmlformats.org/drawingml/2006/main">
              <a:ext uri="{FF2B5EF4-FFF2-40B4-BE49-F238E27FC236}">
                <a16:creationId xmlns:a16="http://schemas.microsoft.com/office/drawing/2014/main" id="{EB267353-7963-4B5F-BB03-561E10743B2E}"/>
              </a:ext>
            </a:extLst>
          </p:cNvPr>
          <p:cNvSpPr>
            <a:spLocks xmlns:a="http://schemas.openxmlformats.org/drawingml/2006/main" noGrp="1"/>
          </p:cNvSpPr>
          <p:nvPr/>
        </p:nvSpPr>
        <p:spPr>
          <a:xfrm xmlns:a="http://schemas.openxmlformats.org/drawingml/2006/main">
            <a:off x="4810125" y="45910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unique rows sent to the judge</a:t>
            </a:r>
          </a:p>
        </p:txBody>
      </p:sp>
      <p:sp>
        <p:nvSpPr>
          <p:cNvPr id="14" name="">
            <a:extLst xmlns:a="http://schemas.openxmlformats.org/drawingml/2006/main">
              <a:ext uri="{FF2B5EF4-FFF2-40B4-BE49-F238E27FC236}">
                <a16:creationId xmlns:a16="http://schemas.microsoft.com/office/drawing/2014/main" id="{7197661B-5AC5-4DFE-8DDB-1D3877497B54}"/>
              </a:ext>
            </a:extLst>
          </p:cNvPr>
          <p:cNvSpPr>
            <a:spLocks xmlns:a="http://schemas.openxmlformats.org/drawingml/2006/main" noGrp="1"/>
          </p:cNvSpPr>
          <p:nvPr/>
        </p:nvSpPr>
        <p:spPr>
          <a:xfrm xmlns:a="http://schemas.openxmlformats.org/drawingml/2006/main">
            <a:off x="8191500" y="3905250"/>
            <a:ext cx="285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74.5%</a:t>
            </a:r>
          </a:p>
        </p:txBody>
      </p:sp>
      <p:sp>
        <p:nvSpPr>
          <p:cNvPr id="15" name="">
            <a:extLst xmlns:a="http://schemas.openxmlformats.org/drawingml/2006/main">
              <a:ext uri="{FF2B5EF4-FFF2-40B4-BE49-F238E27FC236}">
                <a16:creationId xmlns:a16="http://schemas.microsoft.com/office/drawing/2014/main" id="{E2F7563A-4CA7-45FB-8A76-B36F767B1AAB}"/>
              </a:ext>
            </a:extLst>
          </p:cNvPr>
          <p:cNvSpPr>
            <a:spLocks xmlns:a="http://schemas.openxmlformats.org/drawingml/2006/main" noGrp="1"/>
          </p:cNvSpPr>
          <p:nvPr/>
        </p:nvSpPr>
        <p:spPr>
          <a:xfrm xmlns:a="http://schemas.openxmlformats.org/drawingml/2006/main">
            <a:off x="8191500" y="45910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judge-queue reduction from 620</a:t>
            </a:r>
          </a:p>
        </p:txBody>
      </p:sp>
      <p:sp>
        <p:nvSpPr>
          <p:cNvPr id="16" name="">
            <a:extLst xmlns:a="http://schemas.openxmlformats.org/drawingml/2006/main">
              <a:ext uri="{FF2B5EF4-FFF2-40B4-BE49-F238E27FC236}">
                <a16:creationId xmlns:a16="http://schemas.microsoft.com/office/drawing/2014/main" id="{89D71427-BC2E-4B00-803A-96C9B97FBDBF}"/>
              </a:ext>
            </a:extLst>
          </p:cNvPr>
          <p:cNvSpPr>
            <a:spLocks xmlns:a="http://schemas.openxmlformats.org/drawingml/2006/main" noGrp="1"/>
          </p:cNvSpPr>
          <p:nvPr/>
        </p:nvSpPr>
        <p:spPr>
          <a:xfrm xmlns:a="http://schemas.openxmlformats.org/drawingml/2006/main">
            <a:off x="2000250" y="5429250"/>
            <a:ext cx="819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These are unique rows. Some no-context rows used more than one judge view.</a:t>
            </a:r>
          </a:p>
        </p:txBody>
      </p:sp>
      <p:sp>
        <p:nvSpPr>
          <p:cNvPr id="17" name="">
            <a:extLst xmlns:a="http://schemas.openxmlformats.org/drawingml/2006/main">
              <a:ext uri="{FF2B5EF4-FFF2-40B4-BE49-F238E27FC236}">
                <a16:creationId xmlns:a16="http://schemas.microsoft.com/office/drawing/2014/main" id="{465977CF-3CA8-46C9-9A54-0FC76E734960}"/>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4">
            <a:extLst xmlns:a="http://schemas.openxmlformats.org/drawingml/2006/main">
              <a:ext uri="{FF2B5EF4-FFF2-40B4-BE49-F238E27FC236}">
                <a16:creationId xmlns:a16="http://schemas.microsoft.com/office/drawing/2014/main" id="{2BC493AD-B49A-42EA-8474-C421C10C1828}"/>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v91 Phase 1 trace: 2,358 resolved and 158 unresolved rows</a:t>
            </a:r>
          </a:p>
        </p:txBody>
      </p:sp>
      <p:sp>
        <p:nvSpPr>
          <p:cNvPr id="19" name="page-4">
            <a:extLst xmlns:a="http://schemas.openxmlformats.org/drawingml/2006/main">
              <a:ext uri="{FF2B5EF4-FFF2-40B4-BE49-F238E27FC236}">
                <a16:creationId xmlns:a16="http://schemas.microsoft.com/office/drawing/2014/main" id="{D2F377F2-1E68-46C1-9AA8-E991178EE068}"/>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04</a:t>
            </a:r>
          </a:p>
        </p:txBody>
      </p:sp>
    </p:spTree>
    <p:extLst>
      <p:ext uri="{BB962C8B-B14F-4D97-AF65-F5344CB8AC3E}">
        <p14:creationId xmlns:p14="http://schemas.microsoft.com/office/powerpoint/2010/main" val="1220949669"/>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5">
            <a:extLst xmlns:a="http://schemas.openxmlformats.org/drawingml/2006/main">
              <a:ext uri="{FF2B5EF4-FFF2-40B4-BE49-F238E27FC236}">
                <a16:creationId xmlns:a16="http://schemas.microsoft.com/office/drawing/2014/main" id="{89707A61-E66F-49EA-9450-BB520AE1057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5">
            <a:extLst xmlns:a="http://schemas.openxmlformats.org/drawingml/2006/main">
              <a:ext uri="{FF2B5EF4-FFF2-40B4-BE49-F238E27FC236}">
                <a16:creationId xmlns:a16="http://schemas.microsoft.com/office/drawing/2014/main" id="{EA199A8F-0276-4097-90CD-0E258CB78982}"/>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Evidence could decide only when the relation matched</a:t>
            </a:r>
          </a:p>
        </p:txBody>
      </p:sp>
      <p:sp>
        <p:nvSpPr>
          <p:cNvPr id="3" name="">
            <a:extLst xmlns:a="http://schemas.openxmlformats.org/drawingml/2006/main">
              <a:ext uri="{FF2B5EF4-FFF2-40B4-BE49-F238E27FC236}">
                <a16:creationId xmlns:a16="http://schemas.microsoft.com/office/drawing/2014/main" id="{3C5ECEB4-6FF6-4ABF-8571-47A7AAF6CC7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18699C77-4A9F-4CF8-8B9C-51449F368BE7}"/>
              </a:ext>
            </a:extLst>
          </p:cNvPr>
          <p:cNvSpPr>
            <a:spLocks xmlns:a="http://schemas.openxmlformats.org/drawingml/2006/main" noGrp="1"/>
          </p:cNvSpPr>
          <p:nvPr/>
        </p:nvSpPr>
        <p:spPr>
          <a:xfrm xmlns:a="http://schemas.openxmlformats.org/drawingml/2006/main">
            <a:off x="685800" y="139065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Similarity proposed candidates. It never overruled stronger evidence.</a:t>
            </a:r>
          </a:p>
        </p:txBody>
      </p:sp>
      <p:sp>
        <p:nvSpPr>
          <p:cNvPr id="5" name="">
            <a:extLst xmlns:a="http://schemas.openxmlformats.org/drawingml/2006/main">
              <a:ext uri="{FF2B5EF4-FFF2-40B4-BE49-F238E27FC236}">
                <a16:creationId xmlns:a16="http://schemas.microsoft.com/office/drawing/2014/main" id="{B73F918B-C4E8-4192-9C9C-6D6B3AA5FEEC}"/>
              </a:ext>
            </a:extLst>
          </p:cNvPr>
          <p:cNvSpPr>
            <a:spLocks xmlns:a="http://schemas.openxmlformats.org/drawingml/2006/main" noGrp="1"/>
          </p:cNvSpPr>
          <p:nvPr/>
        </p:nvSpPr>
        <p:spPr>
          <a:xfrm xmlns:a="http://schemas.openxmlformats.org/drawingml/2006/main">
            <a:off x="1104900" y="26479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C24D9471-2DD1-4CE4-88E2-CFD9828A72E4}"/>
              </a:ext>
            </a:extLst>
          </p:cNvPr>
          <p:cNvSpPr>
            <a:spLocks xmlns:a="http://schemas.openxmlformats.org/drawingml/2006/main" noGrp="1"/>
          </p:cNvSpPr>
          <p:nvPr/>
        </p:nvSpPr>
        <p:spPr>
          <a:xfrm xmlns:a="http://schemas.openxmlformats.org/drawingml/2006/main">
            <a:off x="1104900" y="21336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B5483A"/>
                </a:solidFill>
              </a:defRPr>
            </a:pPr>
            <a:r>
              <a:rPr sz="1500" b="1">
                <a:solidFill>
                  <a:srgbClr val="B5483A"/>
                </a:solidFill>
              </a:rPr>
              <a:t>1</a:t>
            </a:r>
          </a:p>
        </p:txBody>
      </p:sp>
      <p:sp>
        <p:nvSpPr>
          <p:cNvPr id="7" name="">
            <a:extLst xmlns:a="http://schemas.openxmlformats.org/drawingml/2006/main">
              <a:ext uri="{FF2B5EF4-FFF2-40B4-BE49-F238E27FC236}">
                <a16:creationId xmlns:a16="http://schemas.microsoft.com/office/drawing/2014/main" id="{87CB8A3C-5410-4F9D-977B-07C04A1E79B7}"/>
              </a:ext>
            </a:extLst>
          </p:cNvPr>
          <p:cNvSpPr>
            <a:spLocks xmlns:a="http://schemas.openxmlformats.org/drawingml/2006/main" noGrp="1"/>
          </p:cNvSpPr>
          <p:nvPr/>
        </p:nvSpPr>
        <p:spPr>
          <a:xfrm xmlns:a="http://schemas.openxmlformats.org/drawingml/2006/main">
            <a:off x="1676400" y="21050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Context contradiction</a:t>
            </a:r>
          </a:p>
        </p:txBody>
      </p:sp>
      <p:sp>
        <p:nvSpPr>
          <p:cNvPr id="8" name="">
            <a:extLst xmlns:a="http://schemas.openxmlformats.org/drawingml/2006/main">
              <a:ext uri="{FF2B5EF4-FFF2-40B4-BE49-F238E27FC236}">
                <a16:creationId xmlns:a16="http://schemas.microsoft.com/office/drawing/2014/main" id="{40C6539B-7D6F-4A49-8C17-C53346A257DA}"/>
              </a:ext>
            </a:extLst>
          </p:cNvPr>
          <p:cNvSpPr>
            <a:spLocks xmlns:a="http://schemas.openxmlformats.org/drawingml/2006/main" noGrp="1"/>
          </p:cNvSpPr>
          <p:nvPr/>
        </p:nvSpPr>
        <p:spPr>
          <a:xfrm xmlns:a="http://schemas.openxmlformats.org/drawingml/2006/main">
            <a:off x="4762500" y="21145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same clause, prompt anchors, no competing claim</a:t>
            </a:r>
          </a:p>
        </p:txBody>
      </p:sp>
      <p:sp>
        <p:nvSpPr>
          <p:cNvPr id="9" name="">
            <a:extLst xmlns:a="http://schemas.openxmlformats.org/drawingml/2006/main">
              <a:ext uri="{FF2B5EF4-FFF2-40B4-BE49-F238E27FC236}">
                <a16:creationId xmlns:a16="http://schemas.microsoft.com/office/drawing/2014/main" id="{20C1BA5F-B545-4FBB-ADC0-2197EB7E7540}"/>
              </a:ext>
            </a:extLst>
          </p:cNvPr>
          <p:cNvSpPr>
            <a:spLocks xmlns:a="http://schemas.openxmlformats.org/drawingml/2006/main" noGrp="1"/>
          </p:cNvSpPr>
          <p:nvPr/>
        </p:nvSpPr>
        <p:spPr>
          <a:xfrm xmlns:a="http://schemas.openxmlformats.org/drawingml/2006/main">
            <a:off x="1104900" y="339090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902719E6-1ECE-4642-866B-CFEAE7B304B4}"/>
              </a:ext>
            </a:extLst>
          </p:cNvPr>
          <p:cNvSpPr>
            <a:spLocks xmlns:a="http://schemas.openxmlformats.org/drawingml/2006/main" noGrp="1"/>
          </p:cNvSpPr>
          <p:nvPr/>
        </p:nvSpPr>
        <p:spPr>
          <a:xfrm xmlns:a="http://schemas.openxmlformats.org/drawingml/2006/main">
            <a:off x="1104900" y="28765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F5A7A"/>
                </a:solidFill>
              </a:defRPr>
            </a:pPr>
            <a:r>
              <a:rPr sz="1500" b="1">
                <a:solidFill>
                  <a:srgbClr val="1F5A7A"/>
                </a:solidFill>
              </a:rPr>
              <a:t>2</a:t>
            </a:r>
          </a:p>
        </p:txBody>
      </p:sp>
      <p:sp>
        <p:nvSpPr>
          <p:cNvPr id="11" name="">
            <a:extLst xmlns:a="http://schemas.openxmlformats.org/drawingml/2006/main">
              <a:ext uri="{FF2B5EF4-FFF2-40B4-BE49-F238E27FC236}">
                <a16:creationId xmlns:a16="http://schemas.microsoft.com/office/drawing/2014/main" id="{5F3C7886-C5B3-4714-AA32-88647BE6BCFF}"/>
              </a:ext>
            </a:extLst>
          </p:cNvPr>
          <p:cNvSpPr>
            <a:spLocks xmlns:a="http://schemas.openxmlformats.org/drawingml/2006/main" noGrp="1"/>
          </p:cNvSpPr>
          <p:nvPr/>
        </p:nvSpPr>
        <p:spPr>
          <a:xfrm xmlns:a="http://schemas.openxmlformats.org/drawingml/2006/main">
            <a:off x="1676400" y="28479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Exact source lineage</a:t>
            </a:r>
          </a:p>
        </p:txBody>
      </p:sp>
      <p:sp>
        <p:nvSpPr>
          <p:cNvPr id="12" name="">
            <a:extLst xmlns:a="http://schemas.openxmlformats.org/drawingml/2006/main">
              <a:ext uri="{FF2B5EF4-FFF2-40B4-BE49-F238E27FC236}">
                <a16:creationId xmlns:a16="http://schemas.microsoft.com/office/drawing/2014/main" id="{D936BFE2-E630-4D32-8E37-48193E345E1D}"/>
              </a:ext>
            </a:extLst>
          </p:cNvPr>
          <p:cNvSpPr>
            <a:spLocks xmlns:a="http://schemas.openxmlformats.org/drawingml/2006/main" noGrp="1"/>
          </p:cNvSpPr>
          <p:nvPr/>
        </p:nvSpPr>
        <p:spPr>
          <a:xfrm xmlns:a="http://schemas.openxmlformats.org/drawingml/2006/main">
            <a:off x="4762500" y="285750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prompt, response, and applicable context agree</a:t>
            </a:r>
          </a:p>
        </p:txBody>
      </p:sp>
      <p:sp>
        <p:nvSpPr>
          <p:cNvPr id="13" name="">
            <a:extLst xmlns:a="http://schemas.openxmlformats.org/drawingml/2006/main">
              <a:ext uri="{FF2B5EF4-FFF2-40B4-BE49-F238E27FC236}">
                <a16:creationId xmlns:a16="http://schemas.microsoft.com/office/drawing/2014/main" id="{F76E9470-2C4A-4D95-A654-D3F4C446A1EE}"/>
              </a:ext>
            </a:extLst>
          </p:cNvPr>
          <p:cNvSpPr>
            <a:spLocks xmlns:a="http://schemas.openxmlformats.org/drawingml/2006/main" noGrp="1"/>
          </p:cNvSpPr>
          <p:nvPr/>
        </p:nvSpPr>
        <p:spPr>
          <a:xfrm xmlns:a="http://schemas.openxmlformats.org/drawingml/2006/main">
            <a:off x="1104900" y="41338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B8BACB6D-4B55-4765-94AF-C0D56003B541}"/>
              </a:ext>
            </a:extLst>
          </p:cNvPr>
          <p:cNvSpPr>
            <a:spLocks xmlns:a="http://schemas.openxmlformats.org/drawingml/2006/main" noGrp="1"/>
          </p:cNvSpPr>
          <p:nvPr/>
        </p:nvSpPr>
        <p:spPr>
          <a:xfrm xmlns:a="http://schemas.openxmlformats.org/drawingml/2006/main">
            <a:off x="1104900" y="36195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A8C82"/>
                </a:solidFill>
              </a:defRPr>
            </a:pPr>
            <a:r>
              <a:rPr sz="1500" b="1">
                <a:solidFill>
                  <a:srgbClr val="2A8C82"/>
                </a:solidFill>
              </a:rPr>
              <a:t>3</a:t>
            </a:r>
          </a:p>
        </p:txBody>
      </p:sp>
      <p:sp>
        <p:nvSpPr>
          <p:cNvPr id="15" name="">
            <a:extLst xmlns:a="http://schemas.openxmlformats.org/drawingml/2006/main">
              <a:ext uri="{FF2B5EF4-FFF2-40B4-BE49-F238E27FC236}">
                <a16:creationId xmlns:a16="http://schemas.microsoft.com/office/drawing/2014/main" id="{E54D99B1-EAD9-43F6-A9CD-D025D88D2A2F}"/>
              </a:ext>
            </a:extLst>
          </p:cNvPr>
          <p:cNvSpPr>
            <a:spLocks xmlns:a="http://schemas.openxmlformats.org/drawingml/2006/main" noGrp="1"/>
          </p:cNvSpPr>
          <p:nvPr/>
        </p:nvSpPr>
        <p:spPr>
          <a:xfrm xmlns:a="http://schemas.openxmlformats.org/drawingml/2006/main">
            <a:off x="1676400" y="35909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Structured solver</a:t>
            </a:r>
          </a:p>
        </p:txBody>
      </p:sp>
      <p:sp>
        <p:nvSpPr>
          <p:cNvPr id="16" name="">
            <a:extLst xmlns:a="http://schemas.openxmlformats.org/drawingml/2006/main">
              <a:ext uri="{FF2B5EF4-FFF2-40B4-BE49-F238E27FC236}">
                <a16:creationId xmlns:a16="http://schemas.microsoft.com/office/drawing/2014/main" id="{9B167F5E-AB4F-4147-BF3C-F76D17869816}"/>
              </a:ext>
            </a:extLst>
          </p:cNvPr>
          <p:cNvSpPr>
            <a:spLocks xmlns:a="http://schemas.openxmlformats.org/drawingml/2006/main" noGrp="1"/>
          </p:cNvSpPr>
          <p:nvPr/>
        </p:nvSpPr>
        <p:spPr>
          <a:xfrm xmlns:a="http://schemas.openxmlformats.org/drawingml/2006/main">
            <a:off x="4762500" y="36004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parsed value, entity, and predicate align</a:t>
            </a:r>
          </a:p>
        </p:txBody>
      </p:sp>
      <p:sp>
        <p:nvSpPr>
          <p:cNvPr id="17" name="">
            <a:extLst xmlns:a="http://schemas.openxmlformats.org/drawingml/2006/main">
              <a:ext uri="{FF2B5EF4-FFF2-40B4-BE49-F238E27FC236}">
                <a16:creationId xmlns:a16="http://schemas.microsoft.com/office/drawing/2014/main" id="{1E6A52AA-EB67-4CA0-B762-F4BCCBDB6FFD}"/>
              </a:ext>
            </a:extLst>
          </p:cNvPr>
          <p:cNvSpPr>
            <a:spLocks xmlns:a="http://schemas.openxmlformats.org/drawingml/2006/main" noGrp="1"/>
          </p:cNvSpPr>
          <p:nvPr/>
        </p:nvSpPr>
        <p:spPr>
          <a:xfrm xmlns:a="http://schemas.openxmlformats.org/drawingml/2006/main">
            <a:off x="1104900" y="487680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19C1EE1F-C8F4-40DF-A2B4-DBB3579A8930}"/>
              </a:ext>
            </a:extLst>
          </p:cNvPr>
          <p:cNvSpPr>
            <a:spLocks xmlns:a="http://schemas.openxmlformats.org/drawingml/2006/main" noGrp="1"/>
          </p:cNvSpPr>
          <p:nvPr/>
        </p:nvSpPr>
        <p:spPr>
          <a:xfrm xmlns:a="http://schemas.openxmlformats.org/drawingml/2006/main">
            <a:off x="1104900" y="43624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D59B32"/>
                </a:solidFill>
              </a:defRPr>
            </a:pPr>
            <a:r>
              <a:rPr sz="1500" b="1">
                <a:solidFill>
                  <a:srgbClr val="D59B32"/>
                </a:solidFill>
              </a:rPr>
              <a:t>4</a:t>
            </a:r>
          </a:p>
        </p:txBody>
      </p:sp>
      <p:sp>
        <p:nvSpPr>
          <p:cNvPr id="19" name="">
            <a:extLst xmlns:a="http://schemas.openxmlformats.org/drawingml/2006/main">
              <a:ext uri="{FF2B5EF4-FFF2-40B4-BE49-F238E27FC236}">
                <a16:creationId xmlns:a16="http://schemas.microsoft.com/office/drawing/2014/main" id="{12CCB19F-E046-49AE-B295-DCC057BC5BC1}"/>
              </a:ext>
            </a:extLst>
          </p:cNvPr>
          <p:cNvSpPr>
            <a:spLocks xmlns:a="http://schemas.openxmlformats.org/drawingml/2006/main" noGrp="1"/>
          </p:cNvSpPr>
          <p:nvPr/>
        </p:nvSpPr>
        <p:spPr>
          <a:xfrm xmlns:a="http://schemas.openxmlformats.org/drawingml/2006/main">
            <a:off x="1676400" y="433387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Typed evidence</a:t>
            </a:r>
          </a:p>
        </p:txBody>
      </p:sp>
      <p:sp>
        <p:nvSpPr>
          <p:cNvPr id="20" name="">
            <a:extLst xmlns:a="http://schemas.openxmlformats.org/drawingml/2006/main">
              <a:ext uri="{FF2B5EF4-FFF2-40B4-BE49-F238E27FC236}">
                <a16:creationId xmlns:a16="http://schemas.microsoft.com/office/drawing/2014/main" id="{912D4270-ECA1-4351-9B87-D17D7C1A75BE}"/>
              </a:ext>
            </a:extLst>
          </p:cNvPr>
          <p:cNvSpPr>
            <a:spLocks xmlns:a="http://schemas.openxmlformats.org/drawingml/2006/main" noGrp="1"/>
          </p:cNvSpPr>
          <p:nvPr/>
        </p:nvSpPr>
        <p:spPr>
          <a:xfrm xmlns:a="http://schemas.openxmlformats.org/drawingml/2006/main">
            <a:off x="4762500" y="434340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exact idiom sense, law section, or two-source fact</a:t>
            </a:r>
          </a:p>
        </p:txBody>
      </p:sp>
      <p:sp>
        <p:nvSpPr>
          <p:cNvPr id="21" name="">
            <a:extLst xmlns:a="http://schemas.openxmlformats.org/drawingml/2006/main">
              <a:ext uri="{FF2B5EF4-FFF2-40B4-BE49-F238E27FC236}">
                <a16:creationId xmlns:a16="http://schemas.microsoft.com/office/drawing/2014/main" id="{C0E52EC9-9242-4AAF-83B9-F7EC30F900D2}"/>
              </a:ext>
            </a:extLst>
          </p:cNvPr>
          <p:cNvSpPr>
            <a:spLocks xmlns:a="http://schemas.openxmlformats.org/drawingml/2006/main" noGrp="1"/>
          </p:cNvSpPr>
          <p:nvPr/>
        </p:nvSpPr>
        <p:spPr>
          <a:xfrm xmlns:a="http://schemas.openxmlformats.org/drawingml/2006/main">
            <a:off x="1104900" y="5619750"/>
            <a:ext cx="9886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2" name="">
            <a:extLst xmlns:a="http://schemas.openxmlformats.org/drawingml/2006/main">
              <a:ext uri="{FF2B5EF4-FFF2-40B4-BE49-F238E27FC236}">
                <a16:creationId xmlns:a16="http://schemas.microsoft.com/office/drawing/2014/main" id="{A3688D31-CD5B-4E0E-92AB-F0D9CE0AE730}"/>
              </a:ext>
            </a:extLst>
          </p:cNvPr>
          <p:cNvSpPr>
            <a:spLocks xmlns:a="http://schemas.openxmlformats.org/drawingml/2006/main" noGrp="1"/>
          </p:cNvSpPr>
          <p:nvPr/>
        </p:nvSpPr>
        <p:spPr>
          <a:xfrm xmlns:a="http://schemas.openxmlformats.org/drawingml/2006/main">
            <a:off x="1104900" y="510540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94A3B8"/>
                </a:solidFill>
              </a:defRPr>
            </a:pPr>
            <a:r>
              <a:rPr sz="1500" b="1">
                <a:solidFill>
                  <a:srgbClr val="94A3B8"/>
                </a:solidFill>
              </a:rPr>
              <a:t>5</a:t>
            </a:r>
          </a:p>
        </p:txBody>
      </p:sp>
      <p:sp>
        <p:nvSpPr>
          <p:cNvPr id="23" name="">
            <a:extLst xmlns:a="http://schemas.openxmlformats.org/drawingml/2006/main">
              <a:ext uri="{FF2B5EF4-FFF2-40B4-BE49-F238E27FC236}">
                <a16:creationId xmlns:a16="http://schemas.microsoft.com/office/drawing/2014/main" id="{AEC68F8B-9674-415F-BACD-74DD57C8967D}"/>
              </a:ext>
            </a:extLst>
          </p:cNvPr>
          <p:cNvSpPr>
            <a:spLocks xmlns:a="http://schemas.openxmlformats.org/drawingml/2006/main" noGrp="1"/>
          </p:cNvSpPr>
          <p:nvPr/>
        </p:nvSpPr>
        <p:spPr>
          <a:xfrm xmlns:a="http://schemas.openxmlformats.org/drawingml/2006/main">
            <a:off x="1676400" y="5076825"/>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Fuzzy retrieval</a:t>
            </a:r>
          </a:p>
        </p:txBody>
      </p:sp>
      <p:sp>
        <p:nvSpPr>
          <p:cNvPr id="24" name="">
            <a:extLst xmlns:a="http://schemas.openxmlformats.org/drawingml/2006/main">
              <a:ext uri="{FF2B5EF4-FFF2-40B4-BE49-F238E27FC236}">
                <a16:creationId xmlns:a16="http://schemas.microsoft.com/office/drawing/2014/main" id="{208EC0AF-B018-4D4E-BC00-03AE03E3149C}"/>
              </a:ext>
            </a:extLst>
          </p:cNvPr>
          <p:cNvSpPr>
            <a:spLocks xmlns:a="http://schemas.openxmlformats.org/drawingml/2006/main" noGrp="1"/>
          </p:cNvSpPr>
          <p:nvPr/>
        </p:nvSpPr>
        <p:spPr>
          <a:xfrm xmlns:a="http://schemas.openxmlformats.org/drawingml/2006/main">
            <a:off x="4762500" y="5086350"/>
            <a:ext cx="622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candidate only; otherwise abstain</a:t>
            </a:r>
          </a:p>
        </p:txBody>
      </p:sp>
      <p:sp>
        <p:nvSpPr>
          <p:cNvPr id="25" name="">
            <a:extLst xmlns:a="http://schemas.openxmlformats.org/drawingml/2006/main">
              <a:ext uri="{FF2B5EF4-FFF2-40B4-BE49-F238E27FC236}">
                <a16:creationId xmlns:a16="http://schemas.microsoft.com/office/drawing/2014/main" id="{D0EB0653-84A6-471A-AED8-59777C363B45}"/>
              </a:ext>
            </a:extLst>
          </p:cNvPr>
          <p:cNvSpPr>
            <a:spLocks xmlns:a="http://schemas.openxmlformats.org/drawingml/2006/main" noGrp="1"/>
          </p:cNvSpPr>
          <p:nvPr/>
        </p:nvSpPr>
        <p:spPr>
          <a:xfrm xmlns:a="http://schemas.openxmlformats.org/drawingml/2006/main">
            <a:off x="1676400" y="590550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1F5A7A"/>
                </a:solidFill>
              </a:defRPr>
            </a:pPr>
            <a:r>
              <a:rPr sz="1500" b="1">
                <a:solidFill>
                  <a:srgbClr val="1F5A7A"/>
                </a:solidFill>
              </a:rPr>
              <a:t>Conflict between equal-strength sources also produced abstention.</a:t>
            </a:r>
          </a:p>
        </p:txBody>
      </p:sp>
      <p:sp>
        <p:nvSpPr>
          <p:cNvPr id="26" name="">
            <a:extLst xmlns:a="http://schemas.openxmlformats.org/drawingml/2006/main">
              <a:ext uri="{FF2B5EF4-FFF2-40B4-BE49-F238E27FC236}">
                <a16:creationId xmlns:a16="http://schemas.microsoft.com/office/drawing/2014/main" id="{13A291F1-A155-47ED-9111-D3990A3A79B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5">
            <a:extLst xmlns:a="http://schemas.openxmlformats.org/drawingml/2006/main">
              <a:ext uri="{FF2B5EF4-FFF2-40B4-BE49-F238E27FC236}">
                <a16:creationId xmlns:a16="http://schemas.microsoft.com/office/drawing/2014/main" id="{949EBC35-CE99-415C-B727-01B7B91817E3}"/>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[3] BenHalluEval  [4] Bengali idiom benchmark  [7] v91 evidence policy</a:t>
            </a:r>
          </a:p>
        </p:txBody>
      </p:sp>
      <p:sp>
        <p:nvSpPr>
          <p:cNvPr id="28" name="page-5">
            <a:extLst xmlns:a="http://schemas.openxmlformats.org/drawingml/2006/main">
              <a:ext uri="{FF2B5EF4-FFF2-40B4-BE49-F238E27FC236}">
                <a16:creationId xmlns:a16="http://schemas.microsoft.com/office/drawing/2014/main" id="{FCE542A0-E3CB-4D9B-BAB4-0755A5F14BF4}"/>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05</a:t>
            </a:r>
          </a:p>
        </p:txBody>
      </p:sp>
    </p:spTree>
    <p:extLst>
      <p:ext uri="{BB962C8B-B14F-4D97-AF65-F5344CB8AC3E}">
        <p14:creationId xmlns:p14="http://schemas.microsoft.com/office/powerpoint/2010/main" val="1573250653"/>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6">
            <a:extLst xmlns:a="http://schemas.openxmlformats.org/drawingml/2006/main">
              <a:ext uri="{FF2B5EF4-FFF2-40B4-BE49-F238E27FC236}">
                <a16:creationId xmlns:a16="http://schemas.microsoft.com/office/drawing/2014/main" id="{2D8A4323-4169-4FC3-9A4A-2367D7DEF11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6">
            <a:extLst xmlns:a="http://schemas.openxmlformats.org/drawingml/2006/main">
              <a:ext uri="{FF2B5EF4-FFF2-40B4-BE49-F238E27FC236}">
                <a16:creationId xmlns:a16="http://schemas.microsoft.com/office/drawing/2014/main" id="{CD2CE2FC-2E5A-44B1-958D-1E025BA7005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Qwen judged 158 rows, not the whole test set</a:t>
            </a:r>
          </a:p>
        </p:txBody>
      </p:sp>
      <p:sp>
        <p:nvSpPr>
          <p:cNvPr id="3" name="">
            <a:extLst xmlns:a="http://schemas.openxmlformats.org/drawingml/2006/main">
              <a:ext uri="{FF2B5EF4-FFF2-40B4-BE49-F238E27FC236}">
                <a16:creationId xmlns:a16="http://schemas.microsoft.com/office/drawing/2014/main" id="{9A25799A-2A28-43B6-9C77-17D46AE942E0}"/>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3F2D2017-1B8F-4711-BCA1-C83E642181CF}"/>
              </a:ext>
            </a:extLst>
          </p:cNvPr>
          <p:cNvSpPr>
            <a:spLocks xmlns:a="http://schemas.openxmlformats.org/drawingml/2006/main" noGrp="1"/>
          </p:cNvSpPr>
          <p:nvPr/>
        </p:nvSpPr>
        <p:spPr>
          <a:xfrm xmlns:a="http://schemas.openxmlformats.org/drawingml/2006/main">
            <a:off x="685800" y="139065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fallback was short, deterministic, and biased toward catching hallucinations.</a:t>
            </a:r>
          </a:p>
        </p:txBody>
      </p:sp>
      <p:sp>
        <p:nvSpPr>
          <p:cNvPr id="5" name="">
            <a:extLst xmlns:a="http://schemas.openxmlformats.org/drawingml/2006/main">
              <a:ext uri="{FF2B5EF4-FFF2-40B4-BE49-F238E27FC236}">
                <a16:creationId xmlns:a16="http://schemas.microsoft.com/office/drawing/2014/main" id="{C1DE5CAE-B92A-4894-A55A-56CE5A824C08}"/>
              </a:ext>
            </a:extLst>
          </p:cNvPr>
          <p:cNvSpPr>
            <a:spLocks xmlns:a="http://schemas.openxmlformats.org/drawingml/2006/main" noGrp="1"/>
          </p:cNvSpPr>
          <p:nvPr/>
        </p:nvSpPr>
        <p:spPr>
          <a:xfrm xmlns:a="http://schemas.openxmlformats.org/drawingml/2006/main">
            <a:off x="914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5F1FE80-E5DC-45AD-96B9-BE54589D595E}"/>
              </a:ext>
            </a:extLst>
          </p:cNvPr>
          <p:cNvSpPr>
            <a:spLocks xmlns:a="http://schemas.openxmlformats.org/drawingml/2006/main" noGrp="1"/>
          </p:cNvSpPr>
          <p:nvPr/>
        </p:nvSpPr>
        <p:spPr>
          <a:xfrm xmlns:a="http://schemas.openxmlformats.org/drawingml/2006/main">
            <a:off x="1257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2A8C82"/>
                </a:solidFill>
              </a:defRPr>
            </a:pPr>
            <a:r>
              <a:rPr sz="2025" b="1">
                <a:solidFill>
                  <a:srgbClr val="2A8C82"/>
                </a:solidFill>
              </a:rPr>
              <a:t>Context row</a:t>
            </a:r>
          </a:p>
        </p:txBody>
      </p:sp>
      <p:sp>
        <p:nvSpPr>
          <p:cNvPr id="7" name="">
            <a:extLst xmlns:a="http://schemas.openxmlformats.org/drawingml/2006/main">
              <a:ext uri="{FF2B5EF4-FFF2-40B4-BE49-F238E27FC236}">
                <a16:creationId xmlns:a16="http://schemas.microsoft.com/office/drawing/2014/main" id="{6F82927B-ABF3-464A-BD69-0D7BEAD4828E}"/>
              </a:ext>
            </a:extLst>
          </p:cNvPr>
          <p:cNvSpPr>
            <a:spLocks xmlns:a="http://schemas.openxmlformats.org/drawingml/2006/main" noGrp="1"/>
          </p:cNvSpPr>
          <p:nvPr/>
        </p:nvSpPr>
        <p:spPr>
          <a:xfrm xmlns:a="http://schemas.openxmlformats.org/drawingml/2006/main">
            <a:off x="1257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1 entailment view</a:t>
            </a:r>
          </a:p>
        </p:txBody>
      </p:sp>
      <p:sp>
        <p:nvSpPr>
          <p:cNvPr id="8" name="">
            <a:extLst xmlns:a="http://schemas.openxmlformats.org/drawingml/2006/main">
              <a:ext uri="{FF2B5EF4-FFF2-40B4-BE49-F238E27FC236}">
                <a16:creationId xmlns:a16="http://schemas.microsoft.com/office/drawing/2014/main" id="{F939E6BC-EBB9-4FDA-BFA3-6C9A6737C902}"/>
              </a:ext>
            </a:extLst>
          </p:cNvPr>
          <p:cNvSpPr>
            <a:spLocks xmlns:a="http://schemas.openxmlformats.org/drawingml/2006/main" noGrp="1"/>
          </p:cNvSpPr>
          <p:nvPr/>
        </p:nvSpPr>
        <p:spPr>
          <a:xfrm xmlns:a="http://schemas.openxmlformats.org/drawingml/2006/main">
            <a:off x="1257300" y="35623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Compare the response against the supplied passage.</a:t>
            </a:r>
          </a:p>
        </p:txBody>
      </p:sp>
      <p:sp>
        <p:nvSpPr>
          <p:cNvPr id="9" name="">
            <a:extLst xmlns:a="http://schemas.openxmlformats.org/drawingml/2006/main">
              <a:ext uri="{FF2B5EF4-FFF2-40B4-BE49-F238E27FC236}">
                <a16:creationId xmlns:a16="http://schemas.microsoft.com/office/drawing/2014/main" id="{030A160A-0BE1-48DB-A617-7B06F158975C}"/>
              </a:ext>
            </a:extLst>
          </p:cNvPr>
          <p:cNvSpPr>
            <a:spLocks xmlns:a="http://schemas.openxmlformats.org/drawingml/2006/main" noGrp="1"/>
          </p:cNvSpPr>
          <p:nvPr/>
        </p:nvSpPr>
        <p:spPr>
          <a:xfrm xmlns:a="http://schemas.openxmlformats.org/drawingml/2006/main">
            <a:off x="1257300" y="432435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 returns 0.</a:t>
            </a:r>
          </a:p>
        </p:txBody>
      </p:sp>
      <p:sp>
        <p:nvSpPr>
          <p:cNvPr id="10" name="">
            <a:extLst xmlns:a="http://schemas.openxmlformats.org/drawingml/2006/main">
              <a:ext uri="{FF2B5EF4-FFF2-40B4-BE49-F238E27FC236}">
                <a16:creationId xmlns:a16="http://schemas.microsoft.com/office/drawing/2014/main" id="{FF7B396E-D60F-4060-AAFC-497BDD625FA5}"/>
              </a:ext>
            </a:extLst>
          </p:cNvPr>
          <p:cNvSpPr>
            <a:spLocks xmlns:a="http://schemas.openxmlformats.org/drawingml/2006/main" noGrp="1"/>
          </p:cNvSpPr>
          <p:nvPr/>
        </p:nvSpPr>
        <p:spPr>
          <a:xfrm xmlns:a="http://schemas.openxmlformats.org/drawingml/2006/main">
            <a:off x="6629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4741112D-14AE-4211-A5EB-32E361EFFF3C}"/>
              </a:ext>
            </a:extLst>
          </p:cNvPr>
          <p:cNvSpPr>
            <a:spLocks xmlns:a="http://schemas.openxmlformats.org/drawingml/2006/main" noGrp="1"/>
          </p:cNvSpPr>
          <p:nvPr/>
        </p:nvSpPr>
        <p:spPr>
          <a:xfrm xmlns:a="http://schemas.openxmlformats.org/drawingml/2006/main">
            <a:off x="6972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D59B32"/>
                </a:solidFill>
              </a:defRPr>
            </a:pPr>
            <a:r>
              <a:rPr sz="2025" b="1">
                <a:solidFill>
                  <a:srgbClr val="D59B32"/>
                </a:solidFill>
              </a:rPr>
              <a:t>No-context row</a:t>
            </a:r>
          </a:p>
        </p:txBody>
      </p:sp>
      <p:sp>
        <p:nvSpPr>
          <p:cNvPr id="12" name="">
            <a:extLst xmlns:a="http://schemas.openxmlformats.org/drawingml/2006/main">
              <a:ext uri="{FF2B5EF4-FFF2-40B4-BE49-F238E27FC236}">
                <a16:creationId xmlns:a16="http://schemas.microsoft.com/office/drawing/2014/main" id="{E8FAF801-439C-4BF2-9F4B-1530432E049E}"/>
              </a:ext>
            </a:extLst>
          </p:cNvPr>
          <p:cNvSpPr>
            <a:spLocks xmlns:a="http://schemas.openxmlformats.org/drawingml/2006/main" noGrp="1"/>
          </p:cNvSpPr>
          <p:nvPr/>
        </p:nvSpPr>
        <p:spPr>
          <a:xfrm xmlns:a="http://schemas.openxmlformats.org/drawingml/2006/main">
            <a:off x="6972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Up to 3 short views</a:t>
            </a:r>
          </a:p>
        </p:txBody>
      </p:sp>
      <p:sp>
        <p:nvSpPr>
          <p:cNvPr id="13" name="">
            <a:extLst xmlns:a="http://schemas.openxmlformats.org/drawingml/2006/main">
              <a:ext uri="{FF2B5EF4-FFF2-40B4-BE49-F238E27FC236}">
                <a16:creationId xmlns:a16="http://schemas.microsoft.com/office/drawing/2014/main" id="{66647D4F-1971-4C25-B615-ECDFE680FF99}"/>
              </a:ext>
            </a:extLst>
          </p:cNvPr>
          <p:cNvSpPr>
            <a:spLocks xmlns:a="http://schemas.openxmlformats.org/drawingml/2006/main" noGrp="1"/>
          </p:cNvSpPr>
          <p:nvPr/>
        </p:nvSpPr>
        <p:spPr>
          <a:xfrm xmlns:a="http://schemas.openxmlformats.org/drawingml/2006/main">
            <a:off x="6972300" y="3562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Fact check  |  exam grading  |  zero-bias check</a:t>
            </a:r>
          </a:p>
        </p:txBody>
      </p:sp>
      <p:sp>
        <p:nvSpPr>
          <p:cNvPr id="14" name="">
            <a:extLst xmlns:a="http://schemas.openxmlformats.org/drawingml/2006/main">
              <a:ext uri="{FF2B5EF4-FFF2-40B4-BE49-F238E27FC236}">
                <a16:creationId xmlns:a16="http://schemas.microsoft.com/office/drawing/2014/main" id="{0E5081C4-3130-446A-9FD7-CCA0EF79546C}"/>
              </a:ext>
            </a:extLst>
          </p:cNvPr>
          <p:cNvSpPr>
            <a:spLocks xmlns:a="http://schemas.openxmlformats.org/drawingml/2006/main" noGrp="1"/>
          </p:cNvSpPr>
          <p:nvPr/>
        </p:nvSpPr>
        <p:spPr>
          <a:xfrm xmlns:a="http://schemas.openxmlformats.org/drawingml/2006/main">
            <a:off x="6972300" y="43243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1 requires unanimous positive votes.</a:t>
            </a:r>
          </a:p>
        </p:txBody>
      </p:sp>
      <p:sp>
        <p:nvSpPr>
          <p:cNvPr id="15" name="">
            <a:extLst xmlns:a="http://schemas.openxmlformats.org/drawingml/2006/main">
              <a:ext uri="{FF2B5EF4-FFF2-40B4-BE49-F238E27FC236}">
                <a16:creationId xmlns:a16="http://schemas.microsoft.com/office/drawing/2014/main" id="{745A21C2-3519-4151-BE87-919058E8202D}"/>
              </a:ext>
            </a:extLst>
          </p:cNvPr>
          <p:cNvSpPr>
            <a:spLocks xmlns:a="http://schemas.openxmlformats.org/drawingml/2006/main" noGrp="1"/>
          </p:cNvSpPr>
          <p:nvPr/>
        </p:nvSpPr>
        <p:spPr>
          <a:xfrm xmlns:a="http://schemas.openxmlformats.org/drawingml/2006/main">
            <a:off x="2381250" y="5391150"/>
            <a:ext cx="7429500" cy="590550"/>
          </a:xfrm>
          <a:prstGeom xmlns:a="http://schemas.openxmlformats.org/drawingml/2006/main" prst="roundRect">
            <a:avLst>
              <a:gd name="adj" fmla="val 22581"/>
            </a:avLst>
          </a:prstGeom>
          <a:solidFill xmlns:a="http://schemas.openxmlformats.org/drawingml/2006/main">
            <a:srgbClr val="E7EEF4"/>
          </a:solidFill>
          <a:ln xmlns:a="http://schemas.openxmlformats.org/drawingml/2006/main" w="9525">
            <a:solidFill>
              <a:srgbClr val="1F5A7A"/>
            </a:solidFill>
            <a:prstDash val="solid"/>
          </a:ln>
        </p:spPr>
      </p:sp>
      <p:sp>
        <p:nvSpPr>
          <p:cNvPr id="16" name="">
            <a:extLst xmlns:a="http://schemas.openxmlformats.org/drawingml/2006/main">
              <a:ext uri="{FF2B5EF4-FFF2-40B4-BE49-F238E27FC236}">
                <a16:creationId xmlns:a16="http://schemas.microsoft.com/office/drawing/2014/main" id="{3166F92B-6538-473D-A7BC-B9CECEAC21D6}"/>
              </a:ext>
            </a:extLst>
          </p:cNvPr>
          <p:cNvSpPr>
            <a:spLocks xmlns:a="http://schemas.openxmlformats.org/drawingml/2006/main" noGrp="1"/>
          </p:cNvSpPr>
          <p:nvPr/>
        </p:nvSpPr>
        <p:spPr>
          <a:xfrm xmlns:a="http://schemas.openxmlformats.org/drawingml/2006/main">
            <a:off x="2667000" y="55530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Qwen3.6-27B Q4_K_P  |  one-token grammar  |  fixed seeds and batches</a:t>
            </a:r>
          </a:p>
        </p:txBody>
      </p:sp>
      <p:sp>
        <p:nvSpPr>
          <p:cNvPr id="17" name="">
            <a:extLst xmlns:a="http://schemas.openxmlformats.org/drawingml/2006/main">
              <a:ext uri="{FF2B5EF4-FFF2-40B4-BE49-F238E27FC236}">
                <a16:creationId xmlns:a16="http://schemas.microsoft.com/office/drawing/2014/main" id="{E55DB598-3D2B-4E07-B4B7-157378A7578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6">
            <a:extLst xmlns:a="http://schemas.openxmlformats.org/drawingml/2006/main">
              <a:ext uri="{FF2B5EF4-FFF2-40B4-BE49-F238E27FC236}">
                <a16:creationId xmlns:a16="http://schemas.microsoft.com/office/drawing/2014/main" id="{B7608015-5814-46A9-BA99-568485FA408B}"/>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[5] Qwen3.6 model card  [6] llama.cpp b9637  [7] Frozen judge configuration</a:t>
            </a:r>
          </a:p>
        </p:txBody>
      </p:sp>
      <p:sp>
        <p:nvSpPr>
          <p:cNvPr id="19" name="page-6">
            <a:extLst xmlns:a="http://schemas.openxmlformats.org/drawingml/2006/main">
              <a:ext uri="{FF2B5EF4-FFF2-40B4-BE49-F238E27FC236}">
                <a16:creationId xmlns:a16="http://schemas.microsoft.com/office/drawing/2014/main" id="{409ABCDF-8403-4997-906D-A8F599472DF0}"/>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06</a:t>
            </a:r>
          </a:p>
        </p:txBody>
      </p:sp>
    </p:spTree>
    <p:extLst>
      <p:ext uri="{BB962C8B-B14F-4D97-AF65-F5344CB8AC3E}">
        <p14:creationId xmlns:p14="http://schemas.microsoft.com/office/powerpoint/2010/main" val="1713849573"/>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kicker-7">
            <a:extLst xmlns:a="http://schemas.openxmlformats.org/drawingml/2006/main">
              <a:ext uri="{FF2B5EF4-FFF2-40B4-BE49-F238E27FC236}">
                <a16:creationId xmlns:a16="http://schemas.microsoft.com/office/drawing/2014/main" id="{31CA328E-A4DF-4540-9980-860493B3D5A0}"/>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7">
            <a:extLst xmlns:a="http://schemas.openxmlformats.org/drawingml/2006/main">
              <a:ext uri="{FF2B5EF4-FFF2-40B4-BE49-F238E27FC236}">
                <a16:creationId xmlns:a16="http://schemas.microsoft.com/office/drawing/2014/main" id="{F880FE3B-5428-4F73-BA89-784C6CB92824}"/>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Routing produced the largest score jump</a:t>
            </a:r>
          </a:p>
        </p:txBody>
      </p:sp>
      <p:sp>
        <p:nvSpPr>
          <p:cNvPr id="3" name="">
            <a:extLst xmlns:a="http://schemas.openxmlformats.org/drawingml/2006/main">
              <a:ext uri="{FF2B5EF4-FFF2-40B4-BE49-F238E27FC236}">
                <a16:creationId xmlns:a16="http://schemas.microsoft.com/office/drawing/2014/main" id="{BF292FFC-D3DB-4D77-9E99-B7304C0F755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5600BD1A-CE52-4BB2-9CDB-181FB461D558}"/>
              </a:ext>
            </a:extLst>
          </p:cNvPr>
          <p:cNvSpPr>
            <a:spLocks xmlns:a="http://schemas.openxmlformats.org/drawingml/2006/main" noGrp="1"/>
          </p:cNvSpPr>
          <p:nvPr/>
        </p:nvSpPr>
        <p:spPr>
          <a:xfrm xmlns:a="http://schemas.openxmlformats.org/drawingml/2006/main">
            <a:off x="685800" y="1381125"/>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model helped. The architecture change helped more.</a:t>
            </a:r>
          </a:p>
        </p:txBody>
      </p:sp>
      <p:graphicFrame>
        <p:nvGraphicFramePr>
          <p:cNvPr id="21" name="Chart"/>
          <p:cNvGraphicFramePr/>
          <p:nvPr/>
        </p:nvGraphicFramePr>
        <p:xfrm>
          <a:off xmlns:a="http://schemas.openxmlformats.org/drawingml/2006/main" x="876300" y="2019300"/>
          <a:ext xmlns:a="http://schemas.openxmlformats.org/drawingml/2006/main" cx="8953500" cy="3467100"/>
        </p:xfrm>
        <a:graphic xmlns:a="http://schemas.openxmlformats.org/drawingml/2006/main">
          <a:graphicData uri="http://schemas.openxmlformats.org/drawingml/2006/chart">
            <c:chart xmlns:r="http://schemas.openxmlformats.org/officeDocument/2006/relationships" xmlns:c="http://schemas.openxmlformats.org/drawingml/2006/chart" r:id="R0e9829d301394686"/>
          </a:graphicData>
        </a:graphic>
      </p:graphicFrame>
      <p:sp>
        <p:nvSpPr>
          <p:cNvPr id="6" name="">
            <a:extLst xmlns:a="http://schemas.openxmlformats.org/drawingml/2006/main">
              <a:ext uri="{FF2B5EF4-FFF2-40B4-BE49-F238E27FC236}">
                <a16:creationId xmlns:a16="http://schemas.microsoft.com/office/drawing/2014/main" id="{BD86C12F-C882-4C66-86FD-7516323CA526}"/>
              </a:ext>
            </a:extLst>
          </p:cNvPr>
          <p:cNvSpPr>
            <a:spLocks xmlns:a="http://schemas.openxmlformats.org/drawingml/2006/main" noGrp="1"/>
          </p:cNvSpPr>
          <p:nvPr/>
        </p:nvSpPr>
        <p:spPr>
          <a:xfrm xmlns:a="http://schemas.openxmlformats.org/drawingml/2006/main">
            <a:off x="9982200" y="2400300"/>
            <a:ext cx="1485900" cy="1295400"/>
          </a:xfrm>
          <a:prstGeom xmlns:a="http://schemas.openxmlformats.org/drawingml/2006/main" prst="roundRect">
            <a:avLst>
              <a:gd name="adj" fmla="val 11765"/>
            </a:avLst>
          </a:prstGeom>
          <a:solidFill xmlns:a="http://schemas.openxmlformats.org/drawingml/2006/main">
            <a:srgbClr val="DDF2EE"/>
          </a:solidFill>
          <a:ln xmlns:a="http://schemas.openxmlformats.org/drawingml/2006/main" w="9525">
            <a:solidFill>
              <a:srgbClr val="2A8C82"/>
            </a:solidFill>
            <a:prstDash val="solid"/>
          </a:ln>
        </p:spPr>
      </p:sp>
      <p:sp>
        <p:nvSpPr>
          <p:cNvPr id="7" name="">
            <a:extLst xmlns:a="http://schemas.openxmlformats.org/drawingml/2006/main">
              <a:ext uri="{FF2B5EF4-FFF2-40B4-BE49-F238E27FC236}">
                <a16:creationId xmlns:a16="http://schemas.microsoft.com/office/drawing/2014/main" id="{10133E78-3154-4150-882F-1EA3A5B30BDC}"/>
              </a:ext>
            </a:extLst>
          </p:cNvPr>
          <p:cNvSpPr>
            <a:spLocks xmlns:a="http://schemas.openxmlformats.org/drawingml/2006/main" noGrp="1"/>
          </p:cNvSpPr>
          <p:nvPr/>
        </p:nvSpPr>
        <p:spPr>
          <a:xfrm xmlns:a="http://schemas.openxmlformats.org/drawingml/2006/main">
            <a:off x="10191750" y="2571750"/>
            <a:ext cx="1066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A8C82"/>
                </a:solidFill>
              </a:defRPr>
            </a:pPr>
            <a:r>
              <a:rPr sz="1350" b="1">
                <a:solidFill>
                  <a:srgbClr val="2A8C82"/>
                </a:solidFill>
              </a:rPr>
              <a:t>v6</a:t>
            </a:r>
          </a:p>
        </p:txBody>
      </p:sp>
      <p:sp>
        <p:nvSpPr>
          <p:cNvPr id="8" name="">
            <a:extLst xmlns:a="http://schemas.openxmlformats.org/drawingml/2006/main">
              <a:ext uri="{FF2B5EF4-FFF2-40B4-BE49-F238E27FC236}">
                <a16:creationId xmlns:a16="http://schemas.microsoft.com/office/drawing/2014/main" id="{16FD2EE4-82A9-43FD-98C3-E8FBE19D5BB7}"/>
              </a:ext>
            </a:extLst>
          </p:cNvPr>
          <p:cNvSpPr>
            <a:spLocks xmlns:a="http://schemas.openxmlformats.org/drawingml/2006/main" noGrp="1"/>
          </p:cNvSpPr>
          <p:nvPr/>
        </p:nvSpPr>
        <p:spPr>
          <a:xfrm xmlns:a="http://schemas.openxmlformats.org/drawingml/2006/main">
            <a:off x="10153650" y="295275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0F172A"/>
                </a:solidFill>
              </a:defRPr>
            </a:pPr>
            <a:r>
              <a:rPr sz="2400" b="1">
                <a:solidFill>
                  <a:srgbClr val="0F172A"/>
                </a:solidFill>
              </a:rPr>
              <a:t>+0.106</a:t>
            </a:r>
          </a:p>
        </p:txBody>
      </p:sp>
      <p:sp>
        <p:nvSpPr>
          <p:cNvPr id="9" name="">
            <a:extLst xmlns:a="http://schemas.openxmlformats.org/drawingml/2006/main">
              <a:ext uri="{FF2B5EF4-FFF2-40B4-BE49-F238E27FC236}">
                <a16:creationId xmlns:a16="http://schemas.microsoft.com/office/drawing/2014/main" id="{DAF2B0F9-6CAA-421A-A33D-6B6E6F0DA6E0}"/>
              </a:ext>
            </a:extLst>
          </p:cNvPr>
          <p:cNvSpPr>
            <a:spLocks xmlns:a="http://schemas.openxmlformats.org/drawingml/2006/main" noGrp="1"/>
          </p:cNvSpPr>
          <p:nvPr/>
        </p:nvSpPr>
        <p:spPr>
          <a:xfrm xmlns:a="http://schemas.openxmlformats.org/drawingml/2006/main">
            <a:off x="10134600" y="3381375"/>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routing added</a:t>
            </a:r>
          </a:p>
        </p:txBody>
      </p:sp>
      <p:sp>
        <p:nvSpPr>
          <p:cNvPr id="10" name="">
            <a:extLst xmlns:a="http://schemas.openxmlformats.org/drawingml/2006/main">
              <a:ext uri="{FF2B5EF4-FFF2-40B4-BE49-F238E27FC236}">
                <a16:creationId xmlns:a16="http://schemas.microsoft.com/office/drawing/2014/main" id="{E4480948-D329-4206-97D5-7542F536E31D}"/>
              </a:ext>
            </a:extLst>
          </p:cNvPr>
          <p:cNvSpPr>
            <a:spLocks xmlns:a="http://schemas.openxmlformats.org/drawingml/2006/main" noGrp="1"/>
          </p:cNvSpPr>
          <p:nvPr/>
        </p:nvSpPr>
        <p:spPr>
          <a:xfrm xmlns:a="http://schemas.openxmlformats.org/drawingml/2006/main">
            <a:off x="9982200" y="3943350"/>
            <a:ext cx="1485900" cy="1295400"/>
          </a:xfrm>
          <a:prstGeom xmlns:a="http://schemas.openxmlformats.org/drawingml/2006/main" prst="roundRect">
            <a:avLst>
              <a:gd name="adj" fmla="val 11765"/>
            </a:avLst>
          </a:prstGeom>
          <a:solidFill xmlns:a="http://schemas.openxmlformats.org/drawingml/2006/main">
            <a:srgbClr val="FBF0D8"/>
          </a:solidFill>
          <a:ln xmlns:a="http://schemas.openxmlformats.org/drawingml/2006/main" w="9525">
            <a:solidFill>
              <a:srgbClr val="D59B32"/>
            </a:solidFill>
            <a:prstDash val="solid"/>
          </a:ln>
        </p:spPr>
      </p:sp>
      <p:sp>
        <p:nvSpPr>
          <p:cNvPr id="11" name="">
            <a:extLst xmlns:a="http://schemas.openxmlformats.org/drawingml/2006/main">
              <a:ext uri="{FF2B5EF4-FFF2-40B4-BE49-F238E27FC236}">
                <a16:creationId xmlns:a16="http://schemas.microsoft.com/office/drawing/2014/main" id="{586A1287-A4DC-4699-A412-4954FAA68231}"/>
              </a:ext>
            </a:extLst>
          </p:cNvPr>
          <p:cNvSpPr>
            <a:spLocks xmlns:a="http://schemas.openxmlformats.org/drawingml/2006/main" noGrp="1"/>
          </p:cNvSpPr>
          <p:nvPr/>
        </p:nvSpPr>
        <p:spPr>
          <a:xfrm xmlns:a="http://schemas.openxmlformats.org/drawingml/2006/main">
            <a:off x="10191750" y="4114800"/>
            <a:ext cx="1066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v91</a:t>
            </a:r>
          </a:p>
        </p:txBody>
      </p:sp>
      <p:sp>
        <p:nvSpPr>
          <p:cNvPr id="12" name="">
            <a:extLst xmlns:a="http://schemas.openxmlformats.org/drawingml/2006/main">
              <a:ext uri="{FF2B5EF4-FFF2-40B4-BE49-F238E27FC236}">
                <a16:creationId xmlns:a16="http://schemas.microsoft.com/office/drawing/2014/main" id="{50C9E088-D4E1-46C2-9CA8-C97F10A71249}"/>
              </a:ext>
            </a:extLst>
          </p:cNvPr>
          <p:cNvSpPr>
            <a:spLocks xmlns:a="http://schemas.openxmlformats.org/drawingml/2006/main" noGrp="1"/>
          </p:cNvSpPr>
          <p:nvPr/>
        </p:nvSpPr>
        <p:spPr>
          <a:xfrm xmlns:a="http://schemas.openxmlformats.org/drawingml/2006/main">
            <a:off x="10153650" y="44958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0F172A"/>
                </a:solidFill>
              </a:defRPr>
            </a:pPr>
            <a:r>
              <a:rPr sz="2400" b="1">
                <a:solidFill>
                  <a:srgbClr val="0F172A"/>
                </a:solidFill>
              </a:rPr>
              <a:t>0.967</a:t>
            </a:r>
          </a:p>
        </p:txBody>
      </p:sp>
      <p:sp>
        <p:nvSpPr>
          <p:cNvPr id="13" name="">
            <a:extLst xmlns:a="http://schemas.openxmlformats.org/drawingml/2006/main">
              <a:ext uri="{FF2B5EF4-FFF2-40B4-BE49-F238E27FC236}">
                <a16:creationId xmlns:a16="http://schemas.microsoft.com/office/drawing/2014/main" id="{D7AF9E35-8135-45A1-85AC-595F4FE5E684}"/>
              </a:ext>
            </a:extLst>
          </p:cNvPr>
          <p:cNvSpPr>
            <a:spLocks xmlns:a="http://schemas.openxmlformats.org/drawingml/2006/main" noGrp="1"/>
          </p:cNvSpPr>
          <p:nvPr/>
        </p:nvSpPr>
        <p:spPr>
          <a:xfrm xmlns:a="http://schemas.openxmlformats.org/drawingml/2006/main">
            <a:off x="10134600" y="4924425"/>
            <a:ext cx="1181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public F1</a:t>
            </a:r>
          </a:p>
        </p:txBody>
      </p:sp>
      <p:sp>
        <p:nvSpPr>
          <p:cNvPr id="14" name="">
            <a:extLst xmlns:a="http://schemas.openxmlformats.org/drawingml/2006/main">
              <a:ext uri="{FF2B5EF4-FFF2-40B4-BE49-F238E27FC236}">
                <a16:creationId xmlns:a16="http://schemas.microsoft.com/office/drawing/2014/main" id="{D0ECCED7-0ED0-4EF2-84BC-72C3B1D96DA5}"/>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source-7">
            <a:extLst xmlns:a="http://schemas.openxmlformats.org/drawingml/2006/main">
              <a:ext uri="{FF2B5EF4-FFF2-40B4-BE49-F238E27FC236}">
                <a16:creationId xmlns:a16="http://schemas.microsoft.com/office/drawing/2014/main" id="{28FB695C-5E4B-4B86-BC9B-720443ED1C37}"/>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Scored Phase 1 experiment ledger and Kaggle public leaderboard</a:t>
            </a:r>
          </a:p>
        </p:txBody>
      </p:sp>
      <p:sp>
        <p:nvSpPr>
          <p:cNvPr id="16" name="page-7">
            <a:extLst xmlns:a="http://schemas.openxmlformats.org/drawingml/2006/main">
              <a:ext uri="{FF2B5EF4-FFF2-40B4-BE49-F238E27FC236}">
                <a16:creationId xmlns:a16="http://schemas.microsoft.com/office/drawing/2014/main" id="{F39B5C16-B11C-413A-8FC5-DEB46E48D0AC}"/>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07</a:t>
            </a:r>
          </a:p>
        </p:txBody>
      </p:sp>
    </p:spTree>
    <p:extLst>
      <p:ext uri="{BB962C8B-B14F-4D97-AF65-F5344CB8AC3E}">
        <p14:creationId xmlns:p14="http://schemas.microsoft.com/office/powerpoint/2010/main" val="660104505"/>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8">
            <a:extLst xmlns:a="http://schemas.openxmlformats.org/drawingml/2006/main">
              <a:ext uri="{FF2B5EF4-FFF2-40B4-BE49-F238E27FC236}">
                <a16:creationId xmlns:a16="http://schemas.microsoft.com/office/drawing/2014/main" id="{A7F96313-302B-4675-AB25-536E81D0228D}"/>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8">
            <a:extLst xmlns:a="http://schemas.openxmlformats.org/drawingml/2006/main">
              <a:ext uri="{FF2B5EF4-FFF2-40B4-BE49-F238E27FC236}">
                <a16:creationId xmlns:a16="http://schemas.microsoft.com/office/drawing/2014/main" id="{BAC66FCE-590F-4DF4-929C-D8148B99519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Several reasonable ideas made the score worse</a:t>
            </a:r>
          </a:p>
        </p:txBody>
      </p:sp>
      <p:sp>
        <p:nvSpPr>
          <p:cNvPr id="3" name="">
            <a:extLst xmlns:a="http://schemas.openxmlformats.org/drawingml/2006/main">
              <a:ext uri="{FF2B5EF4-FFF2-40B4-BE49-F238E27FC236}">
                <a16:creationId xmlns:a16="http://schemas.microsoft.com/office/drawing/2014/main" id="{8A7FA0FD-623F-4339-BD53-A1FCAEB00F4F}"/>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D7E9DE23-476C-4ABA-AE7B-B27E468F8E20}"/>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failed runs were useful because each exposed a different error source.</a:t>
            </a:r>
          </a:p>
        </p:txBody>
      </p:sp>
      <p:sp>
        <p:nvSpPr>
          <p:cNvPr id="5" name="">
            <a:extLst xmlns:a="http://schemas.openxmlformats.org/drawingml/2006/main">
              <a:ext uri="{FF2B5EF4-FFF2-40B4-BE49-F238E27FC236}">
                <a16:creationId xmlns:a16="http://schemas.microsoft.com/office/drawing/2014/main" id="{4BC7FF94-B132-431A-87A4-9491C722B773}"/>
              </a:ext>
            </a:extLst>
          </p:cNvPr>
          <p:cNvSpPr>
            <a:spLocks xmlns:a="http://schemas.openxmlformats.org/drawingml/2006/main" noGrp="1"/>
          </p:cNvSpPr>
          <p:nvPr/>
        </p:nvSpPr>
        <p:spPr>
          <a:xfrm xmlns:a="http://schemas.openxmlformats.org/drawingml/2006/main">
            <a:off x="876300" y="20764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Experiment</a:t>
            </a:r>
          </a:p>
        </p:txBody>
      </p:sp>
      <p:sp>
        <p:nvSpPr>
          <p:cNvPr id="6" name="">
            <a:extLst xmlns:a="http://schemas.openxmlformats.org/drawingml/2006/main">
              <a:ext uri="{FF2B5EF4-FFF2-40B4-BE49-F238E27FC236}">
                <a16:creationId xmlns:a16="http://schemas.microsoft.com/office/drawing/2014/main" id="{1F188C48-3048-4B21-8DA6-BD5B055DA052}"/>
              </a:ext>
            </a:extLst>
          </p:cNvPr>
          <p:cNvSpPr>
            <a:spLocks xmlns:a="http://schemas.openxmlformats.org/drawingml/2006/main" noGrp="1"/>
          </p:cNvSpPr>
          <p:nvPr/>
        </p:nvSpPr>
        <p:spPr>
          <a:xfrm xmlns:a="http://schemas.openxmlformats.org/drawingml/2006/main">
            <a:off x="3733800" y="20764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Observed result</a:t>
            </a:r>
          </a:p>
        </p:txBody>
      </p:sp>
      <p:sp>
        <p:nvSpPr>
          <p:cNvPr id="7" name="">
            <a:extLst xmlns:a="http://schemas.openxmlformats.org/drawingml/2006/main">
              <a:ext uri="{FF2B5EF4-FFF2-40B4-BE49-F238E27FC236}">
                <a16:creationId xmlns:a16="http://schemas.microsoft.com/office/drawing/2014/main" id="{E4A22EB3-B80F-4E70-A800-D272D050FDC4}"/>
              </a:ext>
            </a:extLst>
          </p:cNvPr>
          <p:cNvSpPr>
            <a:spLocks xmlns:a="http://schemas.openxmlformats.org/drawingml/2006/main" noGrp="1"/>
          </p:cNvSpPr>
          <p:nvPr/>
        </p:nvSpPr>
        <p:spPr>
          <a:xfrm xmlns:a="http://schemas.openxmlformats.org/drawingml/2006/main">
            <a:off x="7086600" y="20764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What it taught us</a:t>
            </a:r>
          </a:p>
        </p:txBody>
      </p:sp>
      <p:sp>
        <p:nvSpPr>
          <p:cNvPr id="8" name="">
            <a:extLst xmlns:a="http://schemas.openxmlformats.org/drawingml/2006/main">
              <a:ext uri="{FF2B5EF4-FFF2-40B4-BE49-F238E27FC236}">
                <a16:creationId xmlns:a16="http://schemas.microsoft.com/office/drawing/2014/main" id="{6A5B10CC-343E-4243-9DCE-1D83646A058E}"/>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9" name="">
            <a:extLst xmlns:a="http://schemas.openxmlformats.org/drawingml/2006/main">
              <a:ext uri="{FF2B5EF4-FFF2-40B4-BE49-F238E27FC236}">
                <a16:creationId xmlns:a16="http://schemas.microsoft.com/office/drawing/2014/main" id="{DE7C035E-2B2E-4431-B3EB-BD5A3E466A7D}"/>
              </a:ext>
            </a:extLst>
          </p:cNvPr>
          <p:cNvSpPr>
            <a:spLocks xmlns:a="http://schemas.openxmlformats.org/drawingml/2006/main" noGrp="1"/>
          </p:cNvSpPr>
          <p:nvPr/>
        </p:nvSpPr>
        <p:spPr>
          <a:xfrm xmlns:a="http://schemas.openxmlformats.org/drawingml/2006/main">
            <a:off x="876300" y="25717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Prompt voting</a:t>
            </a:r>
          </a:p>
        </p:txBody>
      </p:sp>
      <p:sp>
        <p:nvSpPr>
          <p:cNvPr id="10" name="">
            <a:extLst xmlns:a="http://schemas.openxmlformats.org/drawingml/2006/main">
              <a:ext uri="{FF2B5EF4-FFF2-40B4-BE49-F238E27FC236}">
                <a16:creationId xmlns:a16="http://schemas.microsoft.com/office/drawing/2014/main" id="{FBF632F1-F125-4DD9-B664-CA4912DFDCF7}"/>
              </a:ext>
            </a:extLst>
          </p:cNvPr>
          <p:cNvSpPr>
            <a:spLocks xmlns:a="http://schemas.openxmlformats.org/drawingml/2006/main" noGrp="1"/>
          </p:cNvSpPr>
          <p:nvPr/>
        </p:nvSpPr>
        <p:spPr>
          <a:xfrm xmlns:a="http://schemas.openxmlformats.org/drawingml/2006/main">
            <a:off x="3733800" y="25717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0.851 local, 0.783 public</a:t>
            </a:r>
          </a:p>
        </p:txBody>
      </p:sp>
      <p:sp>
        <p:nvSpPr>
          <p:cNvPr id="11" name="">
            <a:extLst xmlns:a="http://schemas.openxmlformats.org/drawingml/2006/main">
              <a:ext uri="{FF2B5EF4-FFF2-40B4-BE49-F238E27FC236}">
                <a16:creationId xmlns:a16="http://schemas.microsoft.com/office/drawing/2014/main" id="{4AB3AC28-8D99-4584-84A8-F3D866FA8AB3}"/>
              </a:ext>
            </a:extLst>
          </p:cNvPr>
          <p:cNvSpPr>
            <a:spLocks xmlns:a="http://schemas.openxmlformats.org/drawingml/2006/main" noGrp="1"/>
          </p:cNvSpPr>
          <p:nvPr/>
        </p:nvSpPr>
        <p:spPr>
          <a:xfrm xmlns:a="http://schemas.openxmlformats.org/drawingml/2006/main">
            <a:off x="7086600" y="25717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Overfit prompt behavior on 299 labels</a:t>
            </a:r>
          </a:p>
        </p:txBody>
      </p:sp>
      <p:sp>
        <p:nvSpPr>
          <p:cNvPr id="12" name="">
            <a:extLst xmlns:a="http://schemas.openxmlformats.org/drawingml/2006/main">
              <a:ext uri="{FF2B5EF4-FFF2-40B4-BE49-F238E27FC236}">
                <a16:creationId xmlns:a16="http://schemas.microsoft.com/office/drawing/2014/main" id="{1B800C5F-D863-4974-BB42-08708B4A8E66}"/>
              </a:ext>
            </a:extLst>
          </p:cNvPr>
          <p:cNvSpPr>
            <a:spLocks xmlns:a="http://schemas.openxmlformats.org/drawingml/2006/main" noGrp="1"/>
          </p:cNvSpPr>
          <p:nvPr/>
        </p:nvSpPr>
        <p:spPr>
          <a:xfrm xmlns:a="http://schemas.openxmlformats.org/drawingml/2006/main">
            <a:off x="876300" y="32194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3" name="">
            <a:extLst xmlns:a="http://schemas.openxmlformats.org/drawingml/2006/main">
              <a:ext uri="{FF2B5EF4-FFF2-40B4-BE49-F238E27FC236}">
                <a16:creationId xmlns:a16="http://schemas.microsoft.com/office/drawing/2014/main" id="{07E8AA0A-BAFE-424D-AF92-26E842A52830}"/>
              </a:ext>
            </a:extLst>
          </p:cNvPr>
          <p:cNvSpPr>
            <a:spLocks xmlns:a="http://schemas.openxmlformats.org/drawingml/2006/main" noGrp="1"/>
          </p:cNvSpPr>
          <p:nvPr/>
        </p:nvSpPr>
        <p:spPr>
          <a:xfrm xmlns:a="http://schemas.openxmlformats.org/drawingml/2006/main">
            <a:off x="876300" y="3409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TF-IDF verifier</a:t>
            </a:r>
          </a:p>
        </p:txBody>
      </p:sp>
      <p:sp>
        <p:nvSpPr>
          <p:cNvPr id="14" name="">
            <a:extLst xmlns:a="http://schemas.openxmlformats.org/drawingml/2006/main">
              <a:ext uri="{FF2B5EF4-FFF2-40B4-BE49-F238E27FC236}">
                <a16:creationId xmlns:a16="http://schemas.microsoft.com/office/drawing/2014/main" id="{26F72725-330C-416E-B357-C0AA69E255D7}"/>
              </a:ext>
            </a:extLst>
          </p:cNvPr>
          <p:cNvSpPr>
            <a:spLocks xmlns:a="http://schemas.openxmlformats.org/drawingml/2006/main" noGrp="1"/>
          </p:cNvSpPr>
          <p:nvPr/>
        </p:nvSpPr>
        <p:spPr>
          <a:xfrm xmlns:a="http://schemas.openxmlformats.org/drawingml/2006/main">
            <a:off x="3733800" y="3409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0.826 out of fold</a:t>
            </a:r>
          </a:p>
        </p:txBody>
      </p:sp>
      <p:sp>
        <p:nvSpPr>
          <p:cNvPr id="15" name="">
            <a:extLst xmlns:a="http://schemas.openxmlformats.org/drawingml/2006/main">
              <a:ext uri="{FF2B5EF4-FFF2-40B4-BE49-F238E27FC236}">
                <a16:creationId xmlns:a16="http://schemas.microsoft.com/office/drawing/2014/main" id="{D663F784-E4EE-415B-8537-6F3EC8345455}"/>
              </a:ext>
            </a:extLst>
          </p:cNvPr>
          <p:cNvSpPr>
            <a:spLocks xmlns:a="http://schemas.openxmlformats.org/drawingml/2006/main" noGrp="1"/>
          </p:cNvSpPr>
          <p:nvPr/>
        </p:nvSpPr>
        <p:spPr>
          <a:xfrm xmlns:a="http://schemas.openxmlformats.org/drawingml/2006/main">
            <a:off x="7086600" y="34099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Missed no-context cultural facts</a:t>
            </a:r>
          </a:p>
        </p:txBody>
      </p:sp>
      <p:sp>
        <p:nvSpPr>
          <p:cNvPr id="16" name="">
            <a:extLst xmlns:a="http://schemas.openxmlformats.org/drawingml/2006/main">
              <a:ext uri="{FF2B5EF4-FFF2-40B4-BE49-F238E27FC236}">
                <a16:creationId xmlns:a16="http://schemas.microsoft.com/office/drawing/2014/main" id="{F7D10F19-F30F-4612-AAE8-4342F4F53776}"/>
              </a:ext>
            </a:extLst>
          </p:cNvPr>
          <p:cNvSpPr>
            <a:spLocks xmlns:a="http://schemas.openxmlformats.org/drawingml/2006/main" noGrp="1"/>
          </p:cNvSpPr>
          <p:nvPr/>
        </p:nvSpPr>
        <p:spPr>
          <a:xfrm xmlns:a="http://schemas.openxmlformats.org/drawingml/2006/main">
            <a:off x="876300" y="40576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FDA94B51-59FA-4B32-B8B7-44081E4B1C43}"/>
              </a:ext>
            </a:extLst>
          </p:cNvPr>
          <p:cNvSpPr>
            <a:spLocks xmlns:a="http://schemas.openxmlformats.org/drawingml/2006/main" noGrp="1"/>
          </p:cNvSpPr>
          <p:nvPr/>
        </p:nvSpPr>
        <p:spPr>
          <a:xfrm xmlns:a="http://schemas.openxmlformats.org/drawingml/2006/main">
            <a:off x="876300" y="42481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Raw QA retrieval</a:t>
            </a:r>
          </a:p>
        </p:txBody>
      </p:sp>
      <p:sp>
        <p:nvSpPr>
          <p:cNvPr id="18" name="">
            <a:extLst xmlns:a="http://schemas.openxmlformats.org/drawingml/2006/main">
              <a:ext uri="{FF2B5EF4-FFF2-40B4-BE49-F238E27FC236}">
                <a16:creationId xmlns:a16="http://schemas.microsoft.com/office/drawing/2014/main" id="{A55D7B75-09E1-4CF5-B7E5-EF14512C7FBA}"/>
              </a:ext>
            </a:extLst>
          </p:cNvPr>
          <p:cNvSpPr>
            <a:spLocks xmlns:a="http://schemas.openxmlformats.org/drawingml/2006/main" noGrp="1"/>
          </p:cNvSpPr>
          <p:nvPr/>
        </p:nvSpPr>
        <p:spPr>
          <a:xfrm xmlns:a="http://schemas.openxmlformats.org/drawingml/2006/main">
            <a:off x="3733800" y="42481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Relevant passage, wrong answer</a:t>
            </a:r>
          </a:p>
        </p:txBody>
      </p:sp>
      <p:sp>
        <p:nvSpPr>
          <p:cNvPr id="19" name="">
            <a:extLst xmlns:a="http://schemas.openxmlformats.org/drawingml/2006/main">
              <a:ext uri="{FF2B5EF4-FFF2-40B4-BE49-F238E27FC236}">
                <a16:creationId xmlns:a16="http://schemas.microsoft.com/office/drawing/2014/main" id="{0591673C-E186-442F-A2C2-081848F3DC78}"/>
              </a:ext>
            </a:extLst>
          </p:cNvPr>
          <p:cNvSpPr>
            <a:spLocks xmlns:a="http://schemas.openxmlformats.org/drawingml/2006/main" noGrp="1"/>
          </p:cNvSpPr>
          <p:nvPr/>
        </p:nvSpPr>
        <p:spPr>
          <a:xfrm xmlns:a="http://schemas.openxmlformats.org/drawingml/2006/main">
            <a:off x="7086600" y="42481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Similarity confused neighboring relations</a:t>
            </a:r>
          </a:p>
        </p:txBody>
      </p:sp>
      <p:sp>
        <p:nvSpPr>
          <p:cNvPr id="20" name="">
            <a:extLst xmlns:a="http://schemas.openxmlformats.org/drawingml/2006/main">
              <a:ext uri="{FF2B5EF4-FFF2-40B4-BE49-F238E27FC236}">
                <a16:creationId xmlns:a16="http://schemas.microsoft.com/office/drawing/2014/main" id="{79235CB9-C572-42EA-AC88-21AD1CFA9006}"/>
              </a:ext>
            </a:extLst>
          </p:cNvPr>
          <p:cNvSpPr>
            <a:spLocks xmlns:a="http://schemas.openxmlformats.org/drawingml/2006/main" noGrp="1"/>
          </p:cNvSpPr>
          <p:nvPr/>
        </p:nvSpPr>
        <p:spPr>
          <a:xfrm xmlns:a="http://schemas.openxmlformats.org/drawingml/2006/main">
            <a:off x="876300" y="4895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041BF020-35E6-45C0-AE44-94C198773F2E}"/>
              </a:ext>
            </a:extLst>
          </p:cNvPr>
          <p:cNvSpPr>
            <a:spLocks xmlns:a="http://schemas.openxmlformats.org/drawingml/2006/main" noGrp="1"/>
          </p:cNvSpPr>
          <p:nvPr/>
        </p:nvSpPr>
        <p:spPr>
          <a:xfrm xmlns:a="http://schemas.openxmlformats.org/drawingml/2006/main">
            <a:off x="876300" y="50863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v87 fact edits</a:t>
            </a:r>
          </a:p>
        </p:txBody>
      </p:sp>
      <p:sp>
        <p:nvSpPr>
          <p:cNvPr id="22" name="">
            <a:extLst xmlns:a="http://schemas.openxmlformats.org/drawingml/2006/main">
              <a:ext uri="{FF2B5EF4-FFF2-40B4-BE49-F238E27FC236}">
                <a16:creationId xmlns:a16="http://schemas.microsoft.com/office/drawing/2014/main" id="{ABA0F7E9-911F-4ADE-A39F-2711B5CBB5A7}"/>
              </a:ext>
            </a:extLst>
          </p:cNvPr>
          <p:cNvSpPr>
            <a:spLocks xmlns:a="http://schemas.openxmlformats.org/drawingml/2006/main" noGrp="1"/>
          </p:cNvSpPr>
          <p:nvPr/>
        </p:nvSpPr>
        <p:spPr>
          <a:xfrm xmlns:a="http://schemas.openxmlformats.org/drawingml/2006/main">
            <a:off x="3733800" y="50863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B5483A"/>
                </a:solidFill>
              </a:defRPr>
            </a:pPr>
            <a:r>
              <a:rPr sz="1425" b="1">
                <a:solidFill>
                  <a:srgbClr val="B5483A"/>
                </a:solidFill>
              </a:rPr>
              <a:t>0.966 to 0.965 public</a:t>
            </a:r>
          </a:p>
        </p:txBody>
      </p:sp>
      <p:sp>
        <p:nvSpPr>
          <p:cNvPr id="23" name="">
            <a:extLst xmlns:a="http://schemas.openxmlformats.org/drawingml/2006/main">
              <a:ext uri="{FF2B5EF4-FFF2-40B4-BE49-F238E27FC236}">
                <a16:creationId xmlns:a16="http://schemas.microsoft.com/office/drawing/2014/main" id="{37CF694F-BED4-468C-9F6E-991014EF789E}"/>
              </a:ext>
            </a:extLst>
          </p:cNvPr>
          <p:cNvSpPr>
            <a:spLocks xmlns:a="http://schemas.openxmlformats.org/drawingml/2006/main" noGrp="1"/>
          </p:cNvSpPr>
          <p:nvPr/>
        </p:nvSpPr>
        <p:spPr>
          <a:xfrm xmlns:a="http://schemas.openxmlformats.org/drawingml/2006/main">
            <a:off x="7086600" y="50863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Plausible facts were not enough</a:t>
            </a:r>
          </a:p>
        </p:txBody>
      </p:sp>
      <p:sp>
        <p:nvSpPr>
          <p:cNvPr id="24" name="">
            <a:extLst xmlns:a="http://schemas.openxmlformats.org/drawingml/2006/main">
              <a:ext uri="{FF2B5EF4-FFF2-40B4-BE49-F238E27FC236}">
                <a16:creationId xmlns:a16="http://schemas.microsoft.com/office/drawing/2014/main" id="{A22AB141-B305-4581-B773-7364F6625253}"/>
              </a:ext>
            </a:extLst>
          </p:cNvPr>
          <p:cNvSpPr>
            <a:spLocks xmlns:a="http://schemas.openxmlformats.org/drawingml/2006/main" noGrp="1"/>
          </p:cNvSpPr>
          <p:nvPr/>
        </p:nvSpPr>
        <p:spPr>
          <a:xfrm xmlns:a="http://schemas.openxmlformats.org/drawingml/2006/main">
            <a:off x="876300" y="57340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84B9F346-7769-4DEF-8138-609608E9A398}"/>
              </a:ext>
            </a:extLst>
          </p:cNvPr>
          <p:cNvSpPr>
            <a:spLocks xmlns:a="http://schemas.openxmlformats.org/drawingml/2006/main" noGrp="1"/>
          </p:cNvSpPr>
          <p:nvPr/>
        </p:nvSpPr>
        <p:spPr>
          <a:xfrm xmlns:a="http://schemas.openxmlformats.org/drawingml/2006/main">
            <a:off x="1295400" y="5886450"/>
            <a:ext cx="960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B5483A"/>
                </a:solidFill>
              </a:defRPr>
            </a:pPr>
            <a:r>
              <a:rPr sz="1500" b="1">
                <a:solidFill>
                  <a:srgbClr val="B5483A"/>
                </a:solidFill>
              </a:rPr>
              <a:t>After v87, no evidence record entered the router without an explicit source and relation.</a:t>
            </a:r>
          </a:p>
        </p:txBody>
      </p:sp>
      <p:sp>
        <p:nvSpPr>
          <p:cNvPr id="26" name="">
            <a:extLst xmlns:a="http://schemas.openxmlformats.org/drawingml/2006/main">
              <a:ext uri="{FF2B5EF4-FFF2-40B4-BE49-F238E27FC236}">
                <a16:creationId xmlns:a16="http://schemas.microsoft.com/office/drawing/2014/main" id="{6084F8A3-E0C6-4F3C-B0AA-0458D18701F6}"/>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8">
            <a:extLst xmlns:a="http://schemas.openxmlformats.org/drawingml/2006/main">
              <a:ext uri="{FF2B5EF4-FFF2-40B4-BE49-F238E27FC236}">
                <a16:creationId xmlns:a16="http://schemas.microsoft.com/office/drawing/2014/main" id="{F1B386CA-385D-49D8-A1AB-33F9ADC70103}"/>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Rejected and scored experiment records in EXPERIMENT.log</a:t>
            </a:r>
          </a:p>
        </p:txBody>
      </p:sp>
      <p:sp>
        <p:nvSpPr>
          <p:cNvPr id="28" name="page-8">
            <a:extLst xmlns:a="http://schemas.openxmlformats.org/drawingml/2006/main">
              <a:ext uri="{FF2B5EF4-FFF2-40B4-BE49-F238E27FC236}">
                <a16:creationId xmlns:a16="http://schemas.microsoft.com/office/drawing/2014/main" id="{C3FC1864-755A-4E71-ACC4-1CE6B1F7F6EB}"/>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08</a:t>
            </a:r>
          </a:p>
        </p:txBody>
      </p:sp>
    </p:spTree>
    <p:extLst>
      <p:ext uri="{BB962C8B-B14F-4D97-AF65-F5344CB8AC3E}">
        <p14:creationId xmlns:p14="http://schemas.microsoft.com/office/powerpoint/2010/main" val="2055115637"/>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2" name="kicker-9">
            <a:extLst xmlns:a="http://schemas.openxmlformats.org/drawingml/2006/main">
              <a:ext uri="{FF2B5EF4-FFF2-40B4-BE49-F238E27FC236}">
                <a16:creationId xmlns:a16="http://schemas.microsoft.com/office/drawing/2014/main" id="{57406B8D-ABBD-4843-845A-098C4B11C8F8}"/>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9">
            <a:extLst xmlns:a="http://schemas.openxmlformats.org/drawingml/2006/main">
              <a:ext uri="{FF2B5EF4-FFF2-40B4-BE49-F238E27FC236}">
                <a16:creationId xmlns:a16="http://schemas.microsoft.com/office/drawing/2014/main" id="{751CE769-CE8D-488C-80A2-8D745D382F4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The final result held across local, public, and private views</a:t>
            </a:r>
          </a:p>
        </p:txBody>
      </p:sp>
      <p:sp>
        <p:nvSpPr>
          <p:cNvPr id="3" name="">
            <a:extLst xmlns:a="http://schemas.openxmlformats.org/drawingml/2006/main">
              <a:ext uri="{FF2B5EF4-FFF2-40B4-BE49-F238E27FC236}">
                <a16:creationId xmlns:a16="http://schemas.microsoft.com/office/drawing/2014/main" id="{49B1BD18-584C-4778-8B0C-0A53F999530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A33D6C1A-B19B-48FC-B9B0-D2A7215BB31A}"/>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Each view answers a different question, so we report them separately.</a:t>
            </a:r>
          </a:p>
        </p:txBody>
      </p:sp>
      <p:sp>
        <p:nvSpPr>
          <p:cNvPr id="5" name="">
            <a:extLst xmlns:a="http://schemas.openxmlformats.org/drawingml/2006/main">
              <a:ext uri="{FF2B5EF4-FFF2-40B4-BE49-F238E27FC236}">
                <a16:creationId xmlns:a16="http://schemas.microsoft.com/office/drawing/2014/main" id="{E4B31AC1-2073-475D-BB8F-0F1676ADB285}"/>
              </a:ext>
            </a:extLst>
          </p:cNvPr>
          <p:cNvSpPr>
            <a:spLocks xmlns:a="http://schemas.openxmlformats.org/drawingml/2006/main" noGrp="1"/>
          </p:cNvSpPr>
          <p:nvPr/>
        </p:nvSpPr>
        <p:spPr>
          <a:xfrm xmlns:a="http://schemas.openxmlformats.org/drawingml/2006/main">
            <a:off x="914400" y="22479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0.9933</a:t>
            </a:r>
          </a:p>
        </p:txBody>
      </p:sp>
      <p:sp>
        <p:nvSpPr>
          <p:cNvPr id="6" name="">
            <a:extLst xmlns:a="http://schemas.openxmlformats.org/drawingml/2006/main">
              <a:ext uri="{FF2B5EF4-FFF2-40B4-BE49-F238E27FC236}">
                <a16:creationId xmlns:a16="http://schemas.microsoft.com/office/drawing/2014/main" id="{0299B86A-986C-4693-BE1D-91417F7D09B6}"/>
              </a:ext>
            </a:extLst>
          </p:cNvPr>
          <p:cNvSpPr>
            <a:spLocks xmlns:a="http://schemas.openxmlformats.org/drawingml/2006/main" noGrp="1"/>
          </p:cNvSpPr>
          <p:nvPr/>
        </p:nvSpPr>
        <p:spPr>
          <a:xfrm xmlns:a="http://schemas.openxmlformats.org/drawingml/2006/main">
            <a:off x="914400" y="29337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macro F1 on 299 released labels</a:t>
            </a:r>
          </a:p>
        </p:txBody>
      </p:sp>
      <p:sp>
        <p:nvSpPr>
          <p:cNvPr id="7" name="">
            <a:extLst xmlns:a="http://schemas.openxmlformats.org/drawingml/2006/main">
              <a:ext uri="{FF2B5EF4-FFF2-40B4-BE49-F238E27FC236}">
                <a16:creationId xmlns:a16="http://schemas.microsoft.com/office/drawing/2014/main" id="{7FA2F2E2-5458-4B59-99EC-9C5355A3C70D}"/>
              </a:ext>
            </a:extLst>
          </p:cNvPr>
          <p:cNvSpPr>
            <a:spLocks xmlns:a="http://schemas.openxmlformats.org/drawingml/2006/main" noGrp="1"/>
          </p:cNvSpPr>
          <p:nvPr/>
        </p:nvSpPr>
        <p:spPr>
          <a:xfrm xmlns:a="http://schemas.openxmlformats.org/drawingml/2006/main">
            <a:off x="3714750" y="224790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1.0000</a:t>
            </a:r>
          </a:p>
        </p:txBody>
      </p:sp>
      <p:sp>
        <p:nvSpPr>
          <p:cNvPr id="8" name="">
            <a:extLst xmlns:a="http://schemas.openxmlformats.org/drawingml/2006/main">
              <a:ext uri="{FF2B5EF4-FFF2-40B4-BE49-F238E27FC236}">
                <a16:creationId xmlns:a16="http://schemas.microsoft.com/office/drawing/2014/main" id="{A2081CD3-FF87-498C-9FEA-224AB16638E6}"/>
              </a:ext>
            </a:extLst>
          </p:cNvPr>
          <p:cNvSpPr>
            <a:spLocks xmlns:a="http://schemas.openxmlformats.org/drawingml/2006/main" noGrp="1"/>
          </p:cNvSpPr>
          <p:nvPr/>
        </p:nvSpPr>
        <p:spPr>
          <a:xfrm xmlns:a="http://schemas.openxmlformats.org/drawingml/2006/main">
            <a:off x="3714750" y="293370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macro F1 on 225 deterministic controls</a:t>
            </a:r>
          </a:p>
        </p:txBody>
      </p:sp>
      <p:sp>
        <p:nvSpPr>
          <p:cNvPr id="9" name="">
            <a:extLst xmlns:a="http://schemas.openxmlformats.org/drawingml/2006/main">
              <a:ext uri="{FF2B5EF4-FFF2-40B4-BE49-F238E27FC236}">
                <a16:creationId xmlns:a16="http://schemas.microsoft.com/office/drawing/2014/main" id="{514771EF-02C2-45EE-B626-DCA4E1BA7473}"/>
              </a:ext>
            </a:extLst>
          </p:cNvPr>
          <p:cNvSpPr>
            <a:spLocks xmlns:a="http://schemas.openxmlformats.org/drawingml/2006/main" noGrp="1"/>
          </p:cNvSpPr>
          <p:nvPr/>
        </p:nvSpPr>
        <p:spPr>
          <a:xfrm xmlns:a="http://schemas.openxmlformats.org/drawingml/2006/main">
            <a:off x="6667500" y="22479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0.967</a:t>
            </a:r>
          </a:p>
        </p:txBody>
      </p:sp>
      <p:sp>
        <p:nvSpPr>
          <p:cNvPr id="10" name="">
            <a:extLst xmlns:a="http://schemas.openxmlformats.org/drawingml/2006/main">
              <a:ext uri="{FF2B5EF4-FFF2-40B4-BE49-F238E27FC236}">
                <a16:creationId xmlns:a16="http://schemas.microsoft.com/office/drawing/2014/main" id="{77901E57-A964-43DD-AAA8-1FF41F8093B5}"/>
              </a:ext>
            </a:extLst>
          </p:cNvPr>
          <p:cNvSpPr>
            <a:spLocks xmlns:a="http://schemas.openxmlformats.org/drawingml/2006/main" noGrp="1"/>
          </p:cNvSpPr>
          <p:nvPr/>
        </p:nvSpPr>
        <p:spPr>
          <a:xfrm xmlns:a="http://schemas.openxmlformats.org/drawingml/2006/main">
            <a:off x="6667500" y="29337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public macro F1, rank 5</a:t>
            </a:r>
          </a:p>
        </p:txBody>
      </p:sp>
      <p:sp>
        <p:nvSpPr>
          <p:cNvPr id="11" name="">
            <a:extLst xmlns:a="http://schemas.openxmlformats.org/drawingml/2006/main">
              <a:ext uri="{FF2B5EF4-FFF2-40B4-BE49-F238E27FC236}">
                <a16:creationId xmlns:a16="http://schemas.microsoft.com/office/drawing/2014/main" id="{88B727D0-9426-441B-8F09-B9E0D4391324}"/>
              </a:ext>
            </a:extLst>
          </p:cNvPr>
          <p:cNvSpPr>
            <a:spLocks xmlns:a="http://schemas.openxmlformats.org/drawingml/2006/main" noGrp="1"/>
          </p:cNvSpPr>
          <p:nvPr/>
        </p:nvSpPr>
        <p:spPr>
          <a:xfrm xmlns:a="http://schemas.openxmlformats.org/drawingml/2006/main">
            <a:off x="9277350" y="22479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0.982</a:t>
            </a:r>
          </a:p>
        </p:txBody>
      </p:sp>
      <p:sp>
        <p:nvSpPr>
          <p:cNvPr id="12" name="">
            <a:extLst xmlns:a="http://schemas.openxmlformats.org/drawingml/2006/main">
              <a:ext uri="{FF2B5EF4-FFF2-40B4-BE49-F238E27FC236}">
                <a16:creationId xmlns:a16="http://schemas.microsoft.com/office/drawing/2014/main" id="{348D9EE9-253A-416E-AEC7-B2BC958D35E5}"/>
              </a:ext>
            </a:extLst>
          </p:cNvPr>
          <p:cNvSpPr>
            <a:spLocks xmlns:a="http://schemas.openxmlformats.org/drawingml/2006/main" noGrp="1"/>
          </p:cNvSpPr>
          <p:nvPr/>
        </p:nvSpPr>
        <p:spPr>
          <a:xfrm xmlns:a="http://schemas.openxmlformats.org/drawingml/2006/main">
            <a:off x="9277350" y="29337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private macro F1, rank 1</a:t>
            </a:r>
          </a:p>
        </p:txBody>
      </p:sp>
      <p:sp>
        <p:nvSpPr>
          <p:cNvPr id="13" name="">
            <a:extLst xmlns:a="http://schemas.openxmlformats.org/drawingml/2006/main">
              <a:ext uri="{FF2B5EF4-FFF2-40B4-BE49-F238E27FC236}">
                <a16:creationId xmlns:a16="http://schemas.microsoft.com/office/drawing/2014/main" id="{BA73A83B-464D-460E-B590-1ED7E2DC82B5}"/>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B3B14180-F1BB-45AC-966F-5986A77308A8}"/>
              </a:ext>
            </a:extLst>
          </p:cNvPr>
          <p:cNvSpPr>
            <a:spLocks xmlns:a="http://schemas.openxmlformats.org/drawingml/2006/main" noGrp="1"/>
          </p:cNvSpPr>
          <p:nvPr/>
        </p:nvSpPr>
        <p:spPr>
          <a:xfrm xmlns:a="http://schemas.openxmlformats.org/drawingml/2006/main">
            <a:off x="1181100" y="4095750"/>
            <a:ext cx="9829800" cy="1676400"/>
          </a:xfrm>
          <a:prstGeom xmlns:a="http://schemas.openxmlformats.org/drawingml/2006/main" prst="roundRect">
            <a:avLst>
              <a:gd name="adj" fmla="val 9091"/>
            </a:avLst>
          </a:prstGeom>
          <a:solidFill xmlns:a="http://schemas.openxmlformats.org/drawingml/2006/main">
            <a:srgbClr val="FFFFFF"/>
          </a:solidFill>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36832CC7-B523-49C5-B1D2-42B7025BD751}"/>
              </a:ext>
            </a:extLst>
          </p:cNvPr>
          <p:cNvSpPr>
            <a:spLocks xmlns:a="http://schemas.openxmlformats.org/drawingml/2006/main" noGrp="1"/>
          </p:cNvSpPr>
          <p:nvPr/>
        </p:nvSpPr>
        <p:spPr>
          <a:xfrm xmlns:a="http://schemas.openxmlformats.org/drawingml/2006/main">
            <a:off x="1524000" y="43434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F5A7A"/>
                </a:solidFill>
              </a:defRPr>
            </a:pPr>
            <a:r>
              <a:rPr sz="1650" b="1">
                <a:solidFill>
                  <a:srgbClr val="1F5A7A"/>
                </a:solidFill>
              </a:rPr>
              <a:t>What we can claim</a:t>
            </a:r>
          </a:p>
        </p:txBody>
      </p:sp>
      <p:sp>
        <p:nvSpPr>
          <p:cNvPr id="16" name="">
            <a:extLst xmlns:a="http://schemas.openxmlformats.org/drawingml/2006/main">
              <a:ext uri="{FF2B5EF4-FFF2-40B4-BE49-F238E27FC236}">
                <a16:creationId xmlns:a16="http://schemas.microsoft.com/office/drawing/2014/main" id="{2F051128-A5BB-4A6E-9EB5-8985B61A937A}"/>
              </a:ext>
            </a:extLst>
          </p:cNvPr>
          <p:cNvSpPr>
            <a:spLocks xmlns:a="http://schemas.openxmlformats.org/drawingml/2006/main" noGrp="1"/>
          </p:cNvSpPr>
          <p:nvPr/>
        </p:nvSpPr>
        <p:spPr>
          <a:xfrm xmlns:a="http://schemas.openxmlformats.org/drawingml/2006/main">
            <a:off x="1524000" y="4781550"/>
            <a:ext cx="857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0F172A"/>
                </a:solidFill>
              </a:defRPr>
            </a:pPr>
            <a:r>
              <a:rPr sz="1500" b="0">
                <a:solidFill>
                  <a:srgbClr val="0F172A"/>
                </a:solidFill>
              </a:rPr>
              <a:t>The final system generalized better than our public-only experiments suggested.</a:t>
            </a:r>
          </a:p>
        </p:txBody>
      </p:sp>
      <p:sp>
        <p:nvSpPr>
          <p:cNvPr id="17" name="">
            <a:extLst xmlns:a="http://schemas.openxmlformats.org/drawingml/2006/main">
              <a:ext uri="{FF2B5EF4-FFF2-40B4-BE49-F238E27FC236}">
                <a16:creationId xmlns:a16="http://schemas.microsoft.com/office/drawing/2014/main" id="{BF0951F0-33B7-43FC-AC17-6E49693A0A07}"/>
              </a:ext>
            </a:extLst>
          </p:cNvPr>
          <p:cNvSpPr>
            <a:spLocks xmlns:a="http://schemas.openxmlformats.org/drawingml/2006/main" noGrp="1"/>
          </p:cNvSpPr>
          <p:nvPr/>
        </p:nvSpPr>
        <p:spPr>
          <a:xfrm xmlns:a="http://schemas.openxmlformats.org/drawingml/2006/main">
            <a:off x="1524000" y="502920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What we cannot claim</a:t>
            </a:r>
          </a:p>
        </p:txBody>
      </p:sp>
      <p:sp>
        <p:nvSpPr>
          <p:cNvPr id="18" name="">
            <a:extLst xmlns:a="http://schemas.openxmlformats.org/drawingml/2006/main">
              <a:ext uri="{FF2B5EF4-FFF2-40B4-BE49-F238E27FC236}">
                <a16:creationId xmlns:a16="http://schemas.microsoft.com/office/drawing/2014/main" id="{E8FB082D-73AF-4963-8064-33F2218C7939}"/>
              </a:ext>
            </a:extLst>
          </p:cNvPr>
          <p:cNvSpPr>
            <a:spLocks xmlns:a="http://schemas.openxmlformats.org/drawingml/2006/main" noGrp="1"/>
          </p:cNvSpPr>
          <p:nvPr/>
        </p:nvSpPr>
        <p:spPr>
          <a:xfrm xmlns:a="http://schemas.openxmlformats.org/drawingml/2006/main">
            <a:off x="1524000" y="5353050"/>
            <a:ext cx="876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A private score does not prove every v91 rule will transfer to the broader Phase 2 sources.</a:t>
            </a:r>
          </a:p>
        </p:txBody>
      </p:sp>
      <p:sp>
        <p:nvSpPr>
          <p:cNvPr id="19" name="">
            <a:extLst xmlns:a="http://schemas.openxmlformats.org/drawingml/2006/main">
              <a:ext uri="{FF2B5EF4-FFF2-40B4-BE49-F238E27FC236}">
                <a16:creationId xmlns:a16="http://schemas.microsoft.com/office/drawing/2014/main" id="{1E7103AC-8DAC-492C-8D3E-3083A2B086C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0" name="source-9">
            <a:extLst xmlns:a="http://schemas.openxmlformats.org/drawingml/2006/main">
              <a:ext uri="{FF2B5EF4-FFF2-40B4-BE49-F238E27FC236}">
                <a16:creationId xmlns:a16="http://schemas.microsoft.com/office/drawing/2014/main" id="{2E7EDDED-C2F2-4E3E-A925-635203266AFF}"/>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Released-set evaluation and final Kaggle public/private leaderboards</a:t>
            </a:r>
          </a:p>
        </p:txBody>
      </p:sp>
      <p:sp>
        <p:nvSpPr>
          <p:cNvPr id="21" name="page-9">
            <a:extLst xmlns:a="http://schemas.openxmlformats.org/drawingml/2006/main">
              <a:ext uri="{FF2B5EF4-FFF2-40B4-BE49-F238E27FC236}">
                <a16:creationId xmlns:a16="http://schemas.microsoft.com/office/drawing/2014/main" id="{B460960E-8097-49B7-B798-7BE8782F110F}"/>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09</a:t>
            </a:r>
          </a:p>
        </p:txBody>
      </p:sp>
    </p:spTree>
    <p:extLst>
      <p:ext uri="{BB962C8B-B14F-4D97-AF65-F5344CB8AC3E}">
        <p14:creationId xmlns:p14="http://schemas.microsoft.com/office/powerpoint/2010/main" val="1624928891"/>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6" name="kicker-10">
            <a:extLst xmlns:a="http://schemas.openxmlformats.org/drawingml/2006/main">
              <a:ext uri="{FF2B5EF4-FFF2-40B4-BE49-F238E27FC236}">
                <a16:creationId xmlns:a16="http://schemas.microsoft.com/office/drawing/2014/main" id="{84C99DA6-0C76-480E-A79E-A010B936695A}"/>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0">
            <a:extLst xmlns:a="http://schemas.openxmlformats.org/drawingml/2006/main">
              <a:ext uri="{FF2B5EF4-FFF2-40B4-BE49-F238E27FC236}">
                <a16:creationId xmlns:a16="http://schemas.microsoft.com/office/drawing/2014/main" id="{220CA644-C3A1-4D25-BA81-EA7C094E6FD5}"/>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Three full runs reproduced the same CSV in under ten minutes</a:t>
            </a:r>
          </a:p>
        </p:txBody>
      </p:sp>
      <p:sp>
        <p:nvSpPr>
          <p:cNvPr id="3" name="">
            <a:extLst xmlns:a="http://schemas.openxmlformats.org/drawingml/2006/main">
              <a:ext uri="{FF2B5EF4-FFF2-40B4-BE49-F238E27FC236}">
                <a16:creationId xmlns:a16="http://schemas.microsoft.com/office/drawing/2014/main" id="{21EC0AE5-408C-4240-BE43-39104F9CD35A}"/>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08295B1-3365-45F3-8752-26F040F869E2}"/>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All timings cover the complete 2,516-row file on Kaggle T4 x2.</a:t>
            </a:r>
          </a:p>
        </p:txBody>
      </p:sp>
      <p:sp>
        <p:nvSpPr>
          <p:cNvPr id="5" name="">
            <a:extLst xmlns:a="http://schemas.openxmlformats.org/drawingml/2006/main">
              <a:ext uri="{FF2B5EF4-FFF2-40B4-BE49-F238E27FC236}">
                <a16:creationId xmlns:a16="http://schemas.microsoft.com/office/drawing/2014/main" id="{0648979C-3B98-4BA1-83C7-3876B0E85060}"/>
              </a:ext>
            </a:extLst>
          </p:cNvPr>
          <p:cNvSpPr>
            <a:spLocks xmlns:a="http://schemas.openxmlformats.org/drawingml/2006/main" noGrp="1"/>
          </p:cNvSpPr>
          <p:nvPr/>
        </p:nvSpPr>
        <p:spPr>
          <a:xfrm xmlns:a="http://schemas.openxmlformats.org/drawingml/2006/main">
            <a:off x="914400" y="2295525"/>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Run 1</a:t>
            </a:r>
          </a:p>
        </p:txBody>
      </p:sp>
      <p:sp>
        <p:nvSpPr>
          <p:cNvPr id="6" name="">
            <a:extLst xmlns:a="http://schemas.openxmlformats.org/drawingml/2006/main">
              <a:ext uri="{FF2B5EF4-FFF2-40B4-BE49-F238E27FC236}">
                <a16:creationId xmlns:a16="http://schemas.microsoft.com/office/drawing/2014/main" id="{02A55FC2-DD12-4907-B75B-9565A39AA732}"/>
              </a:ext>
            </a:extLst>
          </p:cNvPr>
          <p:cNvSpPr>
            <a:spLocks xmlns:a="http://schemas.openxmlformats.org/drawingml/2006/main" noGrp="1"/>
          </p:cNvSpPr>
          <p:nvPr/>
        </p:nvSpPr>
        <p:spPr>
          <a:xfrm xmlns:a="http://schemas.openxmlformats.org/drawingml/2006/main">
            <a:off x="2095500" y="2190750"/>
            <a:ext cx="6572250" cy="495300"/>
          </a:xfrm>
          <a:prstGeom xmlns:a="http://schemas.openxmlformats.org/drawingml/2006/main" prst="roundRect">
            <a:avLst>
              <a:gd name="adj" fmla="val 26923"/>
            </a:avLst>
          </a:prstGeom>
          <a:solidFill xmlns:a="http://schemas.openxmlformats.org/drawingml/2006/main">
            <a:srgbClr val="E7EEF4"/>
          </a:solidFill>
          <a:ln xmlns:a="http://schemas.openxmlformats.org/drawingml/2006/main" w="0">
            <a:solidFill>
              <a:srgbClr val="E7EEF4"/>
            </a:solidFill>
            <a:prstDash val="solid"/>
          </a:ln>
        </p:spPr>
      </p:sp>
      <p:sp>
        <p:nvSpPr>
          <p:cNvPr id="7" name="">
            <a:extLst xmlns:a="http://schemas.openxmlformats.org/drawingml/2006/main">
              <a:ext uri="{FF2B5EF4-FFF2-40B4-BE49-F238E27FC236}">
                <a16:creationId xmlns:a16="http://schemas.microsoft.com/office/drawing/2014/main" id="{E5A0C5A3-BA10-4B22-9F2A-EF5DB6FD1A1A}"/>
              </a:ext>
            </a:extLst>
          </p:cNvPr>
          <p:cNvSpPr>
            <a:spLocks xmlns:a="http://schemas.openxmlformats.org/drawingml/2006/main" noGrp="1"/>
          </p:cNvSpPr>
          <p:nvPr/>
        </p:nvSpPr>
        <p:spPr>
          <a:xfrm xmlns:a="http://schemas.openxmlformats.org/drawingml/2006/main">
            <a:off x="2095500" y="2190750"/>
            <a:ext cx="4734490" cy="495300"/>
          </a:xfrm>
          <a:prstGeom xmlns:a="http://schemas.openxmlformats.org/drawingml/2006/main" prst="roundRect">
            <a:avLst>
              <a:gd name="adj" fmla="val 26923"/>
            </a:avLst>
          </a:prstGeom>
          <a:solidFill xmlns:a="http://schemas.openxmlformats.org/drawingml/2006/main">
            <a:srgbClr val="2A8C82"/>
          </a:solidFill>
          <a:ln xmlns:a="http://schemas.openxmlformats.org/drawingml/2006/main" w="0">
            <a:solidFill>
              <a:srgbClr val="2A8C82"/>
            </a:solidFill>
            <a:prstDash val="solid"/>
          </a:ln>
        </p:spPr>
      </p:sp>
      <p:sp>
        <p:nvSpPr>
          <p:cNvPr id="8" name="">
            <a:extLst xmlns:a="http://schemas.openxmlformats.org/drawingml/2006/main">
              <a:ext uri="{FF2B5EF4-FFF2-40B4-BE49-F238E27FC236}">
                <a16:creationId xmlns:a16="http://schemas.microsoft.com/office/drawing/2014/main" id="{037E98A6-3156-4A4C-9DAB-AAEB96E1D890}"/>
              </a:ext>
            </a:extLst>
          </p:cNvPr>
          <p:cNvSpPr>
            <a:spLocks xmlns:a="http://schemas.openxmlformats.org/drawingml/2006/main" noGrp="1"/>
          </p:cNvSpPr>
          <p:nvPr/>
        </p:nvSpPr>
        <p:spPr>
          <a:xfrm xmlns:a="http://schemas.openxmlformats.org/drawingml/2006/main">
            <a:off x="8839200" y="22860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500" b="1">
                <a:solidFill>
                  <a:srgbClr val="2A8C82"/>
                </a:solidFill>
              </a:defRPr>
            </a:pPr>
            <a:r>
              <a:rPr sz="1500" b="1">
                <a:solidFill>
                  <a:srgbClr val="2A8C82"/>
                </a:solidFill>
              </a:rPr>
              <a:t>440.87 s</a:t>
            </a:r>
          </a:p>
        </p:txBody>
      </p:sp>
      <p:sp>
        <p:nvSpPr>
          <p:cNvPr id="9" name="">
            <a:extLst xmlns:a="http://schemas.openxmlformats.org/drawingml/2006/main">
              <a:ext uri="{FF2B5EF4-FFF2-40B4-BE49-F238E27FC236}">
                <a16:creationId xmlns:a16="http://schemas.microsoft.com/office/drawing/2014/main" id="{CD19F613-5E4F-4090-A0DF-B6B399680474}"/>
              </a:ext>
            </a:extLst>
          </p:cNvPr>
          <p:cNvSpPr>
            <a:spLocks xmlns:a="http://schemas.openxmlformats.org/drawingml/2006/main" noGrp="1"/>
          </p:cNvSpPr>
          <p:nvPr/>
        </p:nvSpPr>
        <p:spPr>
          <a:xfrm xmlns:a="http://schemas.openxmlformats.org/drawingml/2006/main">
            <a:off x="914400" y="3171825"/>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Run 2</a:t>
            </a:r>
          </a:p>
        </p:txBody>
      </p:sp>
      <p:sp>
        <p:nvSpPr>
          <p:cNvPr id="10" name="">
            <a:extLst xmlns:a="http://schemas.openxmlformats.org/drawingml/2006/main">
              <a:ext uri="{FF2B5EF4-FFF2-40B4-BE49-F238E27FC236}">
                <a16:creationId xmlns:a16="http://schemas.microsoft.com/office/drawing/2014/main" id="{796E9138-AFB6-4383-8E99-3E6A228CB3D2}"/>
              </a:ext>
            </a:extLst>
          </p:cNvPr>
          <p:cNvSpPr>
            <a:spLocks xmlns:a="http://schemas.openxmlformats.org/drawingml/2006/main" noGrp="1"/>
          </p:cNvSpPr>
          <p:nvPr/>
        </p:nvSpPr>
        <p:spPr>
          <a:xfrm xmlns:a="http://schemas.openxmlformats.org/drawingml/2006/main">
            <a:off x="2095500" y="3067050"/>
            <a:ext cx="6572250" cy="495300"/>
          </a:xfrm>
          <a:prstGeom xmlns:a="http://schemas.openxmlformats.org/drawingml/2006/main" prst="roundRect">
            <a:avLst>
              <a:gd name="adj" fmla="val 26923"/>
            </a:avLst>
          </a:prstGeom>
          <a:solidFill xmlns:a="http://schemas.openxmlformats.org/drawingml/2006/main">
            <a:srgbClr val="E7EEF4"/>
          </a:solidFill>
          <a:ln xmlns:a="http://schemas.openxmlformats.org/drawingml/2006/main" w="0">
            <a:solidFill>
              <a:srgbClr val="E7EEF4"/>
            </a:solidFill>
            <a:prstDash val="solid"/>
          </a:ln>
        </p:spPr>
      </p:sp>
      <p:sp>
        <p:nvSpPr>
          <p:cNvPr id="11" name="">
            <a:extLst xmlns:a="http://schemas.openxmlformats.org/drawingml/2006/main">
              <a:ext uri="{FF2B5EF4-FFF2-40B4-BE49-F238E27FC236}">
                <a16:creationId xmlns:a16="http://schemas.microsoft.com/office/drawing/2014/main" id="{D44F230D-6162-4C0F-8912-19F954666974}"/>
              </a:ext>
            </a:extLst>
          </p:cNvPr>
          <p:cNvSpPr>
            <a:spLocks xmlns:a="http://schemas.openxmlformats.org/drawingml/2006/main" noGrp="1"/>
          </p:cNvSpPr>
          <p:nvPr/>
        </p:nvSpPr>
        <p:spPr>
          <a:xfrm xmlns:a="http://schemas.openxmlformats.org/drawingml/2006/main">
            <a:off x="2095500" y="3067050"/>
            <a:ext cx="5659760" cy="495300"/>
          </a:xfrm>
          <a:prstGeom xmlns:a="http://schemas.openxmlformats.org/drawingml/2006/main" prst="roundRect">
            <a:avLst>
              <a:gd name="adj" fmla="val 26923"/>
            </a:avLst>
          </a:prstGeom>
          <a:solidFill xmlns:a="http://schemas.openxmlformats.org/drawingml/2006/main">
            <a:srgbClr val="1F5A7A"/>
          </a:solidFill>
          <a:ln xmlns:a="http://schemas.openxmlformats.org/drawingml/2006/main" w="0">
            <a:solidFill>
              <a:srgbClr val="1F5A7A"/>
            </a:solidFill>
            <a:prstDash val="solid"/>
          </a:ln>
        </p:spPr>
      </p:sp>
      <p:sp>
        <p:nvSpPr>
          <p:cNvPr id="12" name="">
            <a:extLst xmlns:a="http://schemas.openxmlformats.org/drawingml/2006/main">
              <a:ext uri="{FF2B5EF4-FFF2-40B4-BE49-F238E27FC236}">
                <a16:creationId xmlns:a16="http://schemas.microsoft.com/office/drawing/2014/main" id="{C14D3329-2021-4AB4-8292-14B82074405A}"/>
              </a:ext>
            </a:extLst>
          </p:cNvPr>
          <p:cNvSpPr>
            <a:spLocks xmlns:a="http://schemas.openxmlformats.org/drawingml/2006/main" noGrp="1"/>
          </p:cNvSpPr>
          <p:nvPr/>
        </p:nvSpPr>
        <p:spPr>
          <a:xfrm xmlns:a="http://schemas.openxmlformats.org/drawingml/2006/main">
            <a:off x="8839200" y="31623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500" b="1">
                <a:solidFill>
                  <a:srgbClr val="1F5A7A"/>
                </a:solidFill>
              </a:defRPr>
            </a:pPr>
            <a:r>
              <a:rPr sz="1500" b="1">
                <a:solidFill>
                  <a:srgbClr val="1F5A7A"/>
                </a:solidFill>
              </a:rPr>
              <a:t>527.03 s</a:t>
            </a:r>
          </a:p>
        </p:txBody>
      </p:sp>
      <p:sp>
        <p:nvSpPr>
          <p:cNvPr id="13" name="">
            <a:extLst xmlns:a="http://schemas.openxmlformats.org/drawingml/2006/main">
              <a:ext uri="{FF2B5EF4-FFF2-40B4-BE49-F238E27FC236}">
                <a16:creationId xmlns:a16="http://schemas.microsoft.com/office/drawing/2014/main" id="{46EEFC5F-0F7E-4AC1-AEA4-F2EA369232D7}"/>
              </a:ext>
            </a:extLst>
          </p:cNvPr>
          <p:cNvSpPr>
            <a:spLocks xmlns:a="http://schemas.openxmlformats.org/drawingml/2006/main" noGrp="1"/>
          </p:cNvSpPr>
          <p:nvPr/>
        </p:nvSpPr>
        <p:spPr>
          <a:xfrm xmlns:a="http://schemas.openxmlformats.org/drawingml/2006/main">
            <a:off x="914400" y="4048125"/>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Run 3</a:t>
            </a:r>
          </a:p>
        </p:txBody>
      </p:sp>
      <p:sp>
        <p:nvSpPr>
          <p:cNvPr id="14" name="">
            <a:extLst xmlns:a="http://schemas.openxmlformats.org/drawingml/2006/main">
              <a:ext uri="{FF2B5EF4-FFF2-40B4-BE49-F238E27FC236}">
                <a16:creationId xmlns:a16="http://schemas.microsoft.com/office/drawing/2014/main" id="{2303A20A-CC0F-4007-9A3E-0C59FE40C565}"/>
              </a:ext>
            </a:extLst>
          </p:cNvPr>
          <p:cNvSpPr>
            <a:spLocks xmlns:a="http://schemas.openxmlformats.org/drawingml/2006/main" noGrp="1"/>
          </p:cNvSpPr>
          <p:nvPr/>
        </p:nvSpPr>
        <p:spPr>
          <a:xfrm xmlns:a="http://schemas.openxmlformats.org/drawingml/2006/main">
            <a:off x="2095500" y="3943350"/>
            <a:ext cx="6572250" cy="495300"/>
          </a:xfrm>
          <a:prstGeom xmlns:a="http://schemas.openxmlformats.org/drawingml/2006/main" prst="roundRect">
            <a:avLst>
              <a:gd name="adj" fmla="val 26923"/>
            </a:avLst>
          </a:prstGeom>
          <a:solidFill xmlns:a="http://schemas.openxmlformats.org/drawingml/2006/main">
            <a:srgbClr val="E7EEF4"/>
          </a:solidFill>
          <a:ln xmlns:a="http://schemas.openxmlformats.org/drawingml/2006/main" w="0">
            <a:solidFill>
              <a:srgbClr val="E7EEF4"/>
            </a:solidFill>
            <a:prstDash val="solid"/>
          </a:ln>
        </p:spPr>
      </p:sp>
      <p:sp>
        <p:nvSpPr>
          <p:cNvPr id="15" name="">
            <a:extLst xmlns:a="http://schemas.openxmlformats.org/drawingml/2006/main">
              <a:ext uri="{FF2B5EF4-FFF2-40B4-BE49-F238E27FC236}">
                <a16:creationId xmlns:a16="http://schemas.microsoft.com/office/drawing/2014/main" id="{5CBDD30E-91C9-4FA7-9CE9-B6F97F7B953C}"/>
              </a:ext>
            </a:extLst>
          </p:cNvPr>
          <p:cNvSpPr>
            <a:spLocks xmlns:a="http://schemas.openxmlformats.org/drawingml/2006/main" noGrp="1"/>
          </p:cNvSpPr>
          <p:nvPr/>
        </p:nvSpPr>
        <p:spPr>
          <a:xfrm xmlns:a="http://schemas.openxmlformats.org/drawingml/2006/main">
            <a:off x="2095500" y="3943350"/>
            <a:ext cx="6372827" cy="495300"/>
          </a:xfrm>
          <a:prstGeom xmlns:a="http://schemas.openxmlformats.org/drawingml/2006/main" prst="roundRect">
            <a:avLst>
              <a:gd name="adj" fmla="val 26923"/>
            </a:avLst>
          </a:prstGeom>
          <a:solidFill xmlns:a="http://schemas.openxmlformats.org/drawingml/2006/main">
            <a:srgbClr val="D59B32"/>
          </a:solidFill>
          <a:ln xmlns:a="http://schemas.openxmlformats.org/drawingml/2006/main" w="0">
            <a:solidFill>
              <a:srgbClr val="D59B32"/>
            </a:solidFill>
            <a:prstDash val="solid"/>
          </a:ln>
        </p:spPr>
      </p:sp>
      <p:sp>
        <p:nvSpPr>
          <p:cNvPr id="16" name="">
            <a:extLst xmlns:a="http://schemas.openxmlformats.org/drawingml/2006/main">
              <a:ext uri="{FF2B5EF4-FFF2-40B4-BE49-F238E27FC236}">
                <a16:creationId xmlns:a16="http://schemas.microsoft.com/office/drawing/2014/main" id="{BA5EB19F-A41E-4D5E-B35B-46BEC6B9566F}"/>
              </a:ext>
            </a:extLst>
          </p:cNvPr>
          <p:cNvSpPr>
            <a:spLocks xmlns:a="http://schemas.openxmlformats.org/drawingml/2006/main" noGrp="1"/>
          </p:cNvSpPr>
          <p:nvPr/>
        </p:nvSpPr>
        <p:spPr>
          <a:xfrm xmlns:a="http://schemas.openxmlformats.org/drawingml/2006/main">
            <a:off x="8839200" y="40386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500" b="1">
                <a:solidFill>
                  <a:srgbClr val="D59B32"/>
                </a:solidFill>
              </a:defRPr>
            </a:pPr>
            <a:r>
              <a:rPr sz="1500" b="1">
                <a:solidFill>
                  <a:srgbClr val="D59B32"/>
                </a:solidFill>
              </a:rPr>
              <a:t>593.43 s</a:t>
            </a:r>
          </a:p>
        </p:txBody>
      </p:sp>
      <p:sp>
        <p:nvSpPr>
          <p:cNvPr id="17" name="">
            <a:extLst xmlns:a="http://schemas.openxmlformats.org/drawingml/2006/main">
              <a:ext uri="{FF2B5EF4-FFF2-40B4-BE49-F238E27FC236}">
                <a16:creationId xmlns:a16="http://schemas.microsoft.com/office/drawing/2014/main" id="{B20212B1-A461-4EC7-8D51-D4DB05222E94}"/>
              </a:ext>
            </a:extLst>
          </p:cNvPr>
          <p:cNvSpPr>
            <a:spLocks xmlns:a="http://schemas.openxmlformats.org/drawingml/2006/main" noGrp="1"/>
          </p:cNvSpPr>
          <p:nvPr/>
        </p:nvSpPr>
        <p:spPr>
          <a:xfrm xmlns:a="http://schemas.openxmlformats.org/drawingml/2006/main">
            <a:off x="2095500" y="4943475"/>
            <a:ext cx="6572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2A48B981-F1D5-449B-AFCC-82A5A13FBF9F}"/>
              </a:ext>
            </a:extLst>
          </p:cNvPr>
          <p:cNvSpPr>
            <a:spLocks xmlns:a="http://schemas.openxmlformats.org/drawingml/2006/main" noGrp="1"/>
          </p:cNvSpPr>
          <p:nvPr/>
        </p:nvSpPr>
        <p:spPr>
          <a:xfrm xmlns:a="http://schemas.openxmlformats.org/drawingml/2006/main">
            <a:off x="6115050" y="50292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125" b="0">
                <a:solidFill>
                  <a:srgbClr val="526174"/>
                </a:solidFill>
              </a:defRPr>
            </a:pPr>
            <a:r>
              <a:rPr sz="1125" b="0">
                <a:solidFill>
                  <a:srgbClr val="526174"/>
                </a:solidFill>
              </a:rPr>
              <a:t>612 s conservative form value</a:t>
            </a:r>
          </a:p>
        </p:txBody>
      </p:sp>
      <p:sp>
        <p:nvSpPr>
          <p:cNvPr id="19" name="">
            <a:extLst xmlns:a="http://schemas.openxmlformats.org/drawingml/2006/main">
              <a:ext uri="{FF2B5EF4-FFF2-40B4-BE49-F238E27FC236}">
                <a16:creationId xmlns:a16="http://schemas.microsoft.com/office/drawing/2014/main" id="{D88A0AD8-F137-4488-A732-79E96EABDC04}"/>
              </a:ext>
            </a:extLst>
          </p:cNvPr>
          <p:cNvSpPr>
            <a:spLocks xmlns:a="http://schemas.openxmlformats.org/drawingml/2006/main" noGrp="1"/>
          </p:cNvSpPr>
          <p:nvPr/>
        </p:nvSpPr>
        <p:spPr>
          <a:xfrm xmlns:a="http://schemas.openxmlformats.org/drawingml/2006/main">
            <a:off x="1143000" y="5524500"/>
            <a:ext cx="4667250" cy="590550"/>
          </a:xfrm>
          <a:prstGeom xmlns:a="http://schemas.openxmlformats.org/drawingml/2006/main" prst="roundRect">
            <a:avLst>
              <a:gd name="adj" fmla="val 22581"/>
            </a:avLst>
          </a:prstGeom>
          <a:solidFill xmlns:a="http://schemas.openxmlformats.org/drawingml/2006/main">
            <a:srgbClr val="DDF2EE"/>
          </a:solidFill>
          <a:ln xmlns:a="http://schemas.openxmlformats.org/drawingml/2006/main" w="9525">
            <a:solidFill>
              <a:srgbClr val="2A8C82"/>
            </a:solidFill>
            <a:prstDash val="solid"/>
          </a:ln>
        </p:spPr>
      </p:sp>
      <p:sp>
        <p:nvSpPr>
          <p:cNvPr id="20" name="">
            <a:extLst xmlns:a="http://schemas.openxmlformats.org/drawingml/2006/main">
              <a:ext uri="{FF2B5EF4-FFF2-40B4-BE49-F238E27FC236}">
                <a16:creationId xmlns:a16="http://schemas.microsoft.com/office/drawing/2014/main" id="{F92AF5F4-7B04-4CAC-80F2-DD85E2AF74EB}"/>
              </a:ext>
            </a:extLst>
          </p:cNvPr>
          <p:cNvSpPr>
            <a:spLocks xmlns:a="http://schemas.openxmlformats.org/drawingml/2006/main" noGrp="1"/>
          </p:cNvSpPr>
          <p:nvPr/>
        </p:nvSpPr>
        <p:spPr>
          <a:xfrm xmlns:a="http://schemas.openxmlformats.org/drawingml/2006/main">
            <a:off x="1371600" y="5676900"/>
            <a:ext cx="4210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2A8C82"/>
                </a:solidFill>
              </a:defRPr>
            </a:pPr>
            <a:r>
              <a:rPr sz="1425" b="1">
                <a:solidFill>
                  <a:srgbClr val="2A8C82"/>
                </a:solidFill>
              </a:rPr>
              <a:t>5,000 same-mix rows: 14.60 min</a:t>
            </a:r>
          </a:p>
        </p:txBody>
      </p:sp>
      <p:sp>
        <p:nvSpPr>
          <p:cNvPr id="21" name="">
            <a:extLst xmlns:a="http://schemas.openxmlformats.org/drawingml/2006/main">
              <a:ext uri="{FF2B5EF4-FFF2-40B4-BE49-F238E27FC236}">
                <a16:creationId xmlns:a16="http://schemas.microsoft.com/office/drawing/2014/main" id="{0A6AD794-5174-4545-8714-78A49F7E1389}"/>
              </a:ext>
            </a:extLst>
          </p:cNvPr>
          <p:cNvSpPr>
            <a:spLocks xmlns:a="http://schemas.openxmlformats.org/drawingml/2006/main" noGrp="1"/>
          </p:cNvSpPr>
          <p:nvPr/>
        </p:nvSpPr>
        <p:spPr>
          <a:xfrm xmlns:a="http://schemas.openxmlformats.org/drawingml/2006/main">
            <a:off x="6381750" y="5524500"/>
            <a:ext cx="4667250" cy="590550"/>
          </a:xfrm>
          <a:prstGeom xmlns:a="http://schemas.openxmlformats.org/drawingml/2006/main" prst="roundRect">
            <a:avLst>
              <a:gd name="adj" fmla="val 22581"/>
            </a:avLst>
          </a:prstGeom>
          <a:solidFill xmlns:a="http://schemas.openxmlformats.org/drawingml/2006/main">
            <a:srgbClr val="FBF0D8"/>
          </a:solidFill>
          <a:ln xmlns:a="http://schemas.openxmlformats.org/drawingml/2006/main" w="9525">
            <a:solidFill>
              <a:srgbClr val="D59B32"/>
            </a:solidFill>
            <a:prstDash val="solid"/>
          </a:ln>
        </p:spPr>
      </p:sp>
      <p:sp>
        <p:nvSpPr>
          <p:cNvPr id="22" name="">
            <a:extLst xmlns:a="http://schemas.openxmlformats.org/drawingml/2006/main">
              <a:ext uri="{FF2B5EF4-FFF2-40B4-BE49-F238E27FC236}">
                <a16:creationId xmlns:a16="http://schemas.microsoft.com/office/drawing/2014/main" id="{2596CF90-E993-4B20-8D7F-C2B4CC31E83B}"/>
              </a:ext>
            </a:extLst>
          </p:cNvPr>
          <p:cNvSpPr>
            <a:spLocks xmlns:a="http://schemas.openxmlformats.org/drawingml/2006/main" noGrp="1"/>
          </p:cNvSpPr>
          <p:nvPr/>
        </p:nvSpPr>
        <p:spPr>
          <a:xfrm xmlns:a="http://schemas.openxmlformats.org/drawingml/2006/main">
            <a:off x="6610350" y="5676900"/>
            <a:ext cx="4210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D59B32"/>
                </a:solidFill>
              </a:defRPr>
            </a:pPr>
            <a:r>
              <a:rPr sz="1425" b="1">
                <a:solidFill>
                  <a:srgbClr val="D59B32"/>
                </a:solidFill>
              </a:rPr>
              <a:t>all-uncertain estimate: 5.2 to 5.5 h</a:t>
            </a:r>
          </a:p>
        </p:txBody>
      </p:sp>
      <p:sp>
        <p:nvSpPr>
          <p:cNvPr id="23" name="">
            <a:extLst xmlns:a="http://schemas.openxmlformats.org/drawingml/2006/main">
              <a:ext uri="{FF2B5EF4-FFF2-40B4-BE49-F238E27FC236}">
                <a16:creationId xmlns:a16="http://schemas.microsoft.com/office/drawing/2014/main" id="{872DF932-CE55-4DF6-B72E-8B481F222E60}"/>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4" name="source-10">
            <a:extLst xmlns:a="http://schemas.openxmlformats.org/drawingml/2006/main">
              <a:ext uri="{FF2B5EF4-FFF2-40B4-BE49-F238E27FC236}">
                <a16:creationId xmlns:a16="http://schemas.microsoft.com/office/drawing/2014/main" id="{E4FFC8C9-5F96-4254-A41F-0522E2888178}"/>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Kaggle notebook versions 1 to 3, frozen output SHA and runtime records</a:t>
            </a:r>
          </a:p>
        </p:txBody>
      </p:sp>
      <p:sp>
        <p:nvSpPr>
          <p:cNvPr id="25" name="page-10">
            <a:extLst xmlns:a="http://schemas.openxmlformats.org/drawingml/2006/main">
              <a:ext uri="{FF2B5EF4-FFF2-40B4-BE49-F238E27FC236}">
                <a16:creationId xmlns:a16="http://schemas.microsoft.com/office/drawing/2014/main" id="{0F23CE51-CA1E-4B96-B15D-84E88CB5FAB1}"/>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10</a:t>
            </a:r>
          </a:p>
        </p:txBody>
      </p:sp>
    </p:spTree>
    <p:extLst>
      <p:ext uri="{BB962C8B-B14F-4D97-AF65-F5344CB8AC3E}">
        <p14:creationId xmlns:p14="http://schemas.microsoft.com/office/powerpoint/2010/main" val="982862655"/>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11">
            <a:extLst xmlns:a="http://schemas.openxmlformats.org/drawingml/2006/main">
              <a:ext uri="{FF2B5EF4-FFF2-40B4-BE49-F238E27FC236}">
                <a16:creationId xmlns:a16="http://schemas.microsoft.com/office/drawing/2014/main" id="{65A71044-4FE9-44D9-A56A-2E1B946C844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title-11">
            <a:extLst xmlns:a="http://schemas.openxmlformats.org/drawingml/2006/main">
              <a:ext uri="{FF2B5EF4-FFF2-40B4-BE49-F238E27FC236}">
                <a16:creationId xmlns:a16="http://schemas.microsoft.com/office/drawing/2014/main" id="{781E5139-2522-4EBD-8A2E-B7AF396475D8}"/>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widens the source mix, so abstention matters more</a:t>
            </a:r>
          </a:p>
        </p:txBody>
      </p:sp>
      <p:sp>
        <p:nvSpPr>
          <p:cNvPr id="3" name="">
            <a:extLst xmlns:a="http://schemas.openxmlformats.org/drawingml/2006/main">
              <a:ext uri="{FF2B5EF4-FFF2-40B4-BE49-F238E27FC236}">
                <a16:creationId xmlns:a16="http://schemas.microsoft.com/office/drawing/2014/main" id="{6908050A-0944-407B-B29D-795A08ADD4F5}"/>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34C0B545-980C-4C3A-AAE1-B21A17991A67}"/>
              </a:ext>
            </a:extLst>
          </p:cNvPr>
          <p:cNvSpPr>
            <a:spLocks xmlns:a="http://schemas.openxmlformats.org/drawingml/2006/main" noGrp="1"/>
          </p:cNvSpPr>
          <p:nvPr/>
        </p:nvSpPr>
        <p:spPr>
          <a:xfrm xmlns:a="http://schemas.openxmlformats.org/drawingml/2006/main">
            <a:off x="685800" y="1390650"/>
            <a:ext cx="1000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Exact Phase 1 lineage will cover less. The fallback must remain safe when coverage drops.</a:t>
            </a:r>
          </a:p>
        </p:txBody>
      </p:sp>
      <p:sp>
        <p:nvSpPr>
          <p:cNvPr id="5" name="">
            <a:extLst xmlns:a="http://schemas.openxmlformats.org/drawingml/2006/main">
              <a:ext uri="{FF2B5EF4-FFF2-40B4-BE49-F238E27FC236}">
                <a16:creationId xmlns:a16="http://schemas.microsoft.com/office/drawing/2014/main" id="{9B739A96-933D-4715-A9C7-38A7B323B90D}"/>
              </a:ext>
            </a:extLst>
          </p:cNvPr>
          <p:cNvSpPr>
            <a:spLocks xmlns:a="http://schemas.openxmlformats.org/drawingml/2006/main" noGrp="1"/>
          </p:cNvSpPr>
          <p:nvPr/>
        </p:nvSpPr>
        <p:spPr>
          <a:xfrm xmlns:a="http://schemas.openxmlformats.org/drawingml/2006/main">
            <a:off x="914400" y="21526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Web and news</a:t>
            </a:r>
          </a:p>
        </p:txBody>
      </p:sp>
      <p:sp>
        <p:nvSpPr>
          <p:cNvPr id="6" name="">
            <a:extLst xmlns:a="http://schemas.openxmlformats.org/drawingml/2006/main">
              <a:ext uri="{FF2B5EF4-FFF2-40B4-BE49-F238E27FC236}">
                <a16:creationId xmlns:a16="http://schemas.microsoft.com/office/drawing/2014/main" id="{5396C45F-0A4A-4594-9196-15369A6BF742}"/>
              </a:ext>
            </a:extLst>
          </p:cNvPr>
          <p:cNvSpPr>
            <a:spLocks xmlns:a="http://schemas.openxmlformats.org/drawingml/2006/main" noGrp="1"/>
          </p:cNvSpPr>
          <p:nvPr/>
        </p:nvSpPr>
        <p:spPr>
          <a:xfrm xmlns:a="http://schemas.openxmlformats.org/drawingml/2006/main">
            <a:off x="914400" y="24765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Common Crawl, recent newspapers</a:t>
            </a:r>
          </a:p>
        </p:txBody>
      </p:sp>
      <p:sp>
        <p:nvSpPr>
          <p:cNvPr id="7" name="">
            <a:extLst xmlns:a="http://schemas.openxmlformats.org/drawingml/2006/main">
              <a:ext uri="{FF2B5EF4-FFF2-40B4-BE49-F238E27FC236}">
                <a16:creationId xmlns:a16="http://schemas.microsoft.com/office/drawing/2014/main" id="{2B10EB82-6D04-4F8E-9920-212376387E9D}"/>
              </a:ext>
            </a:extLst>
          </p:cNvPr>
          <p:cNvSpPr>
            <a:spLocks xmlns:a="http://schemas.openxmlformats.org/drawingml/2006/main" noGrp="1"/>
          </p:cNvSpPr>
          <p:nvPr/>
        </p:nvSpPr>
        <p:spPr>
          <a:xfrm xmlns:a="http://schemas.openxmlformats.org/drawingml/2006/main">
            <a:off x="914400" y="28956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307F89E4-4354-4C99-8BEE-B1CCBCD1CB56}"/>
              </a:ext>
            </a:extLst>
          </p:cNvPr>
          <p:cNvSpPr>
            <a:spLocks xmlns:a="http://schemas.openxmlformats.org/drawingml/2006/main" noGrp="1"/>
          </p:cNvSpPr>
          <p:nvPr/>
        </p:nvSpPr>
        <p:spPr>
          <a:xfrm xmlns:a="http://schemas.openxmlformats.org/drawingml/2006/main">
            <a:off x="914400" y="30289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Knowledge</a:t>
            </a:r>
          </a:p>
        </p:txBody>
      </p:sp>
      <p:sp>
        <p:nvSpPr>
          <p:cNvPr id="9" name="">
            <a:extLst xmlns:a="http://schemas.openxmlformats.org/drawingml/2006/main">
              <a:ext uri="{FF2B5EF4-FFF2-40B4-BE49-F238E27FC236}">
                <a16:creationId xmlns:a16="http://schemas.microsoft.com/office/drawing/2014/main" id="{EAB51DD9-98BA-4209-AC1B-66B2C83B4079}"/>
              </a:ext>
            </a:extLst>
          </p:cNvPr>
          <p:cNvSpPr>
            <a:spLocks xmlns:a="http://schemas.openxmlformats.org/drawingml/2006/main" noGrp="1"/>
          </p:cNvSpPr>
          <p:nvPr/>
        </p:nvSpPr>
        <p:spPr>
          <a:xfrm xmlns:a="http://schemas.openxmlformats.org/drawingml/2006/main">
            <a:off x="914400" y="33528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Wikipedia and Banglapedia</a:t>
            </a:r>
          </a:p>
        </p:txBody>
      </p:sp>
      <p:sp>
        <p:nvSpPr>
          <p:cNvPr id="10" name="">
            <a:extLst xmlns:a="http://schemas.openxmlformats.org/drawingml/2006/main">
              <a:ext uri="{FF2B5EF4-FFF2-40B4-BE49-F238E27FC236}">
                <a16:creationId xmlns:a16="http://schemas.microsoft.com/office/drawing/2014/main" id="{A3559009-9677-4273-B1C5-631AED2CCE61}"/>
              </a:ext>
            </a:extLst>
          </p:cNvPr>
          <p:cNvSpPr>
            <a:spLocks xmlns:a="http://schemas.openxmlformats.org/drawingml/2006/main" noGrp="1"/>
          </p:cNvSpPr>
          <p:nvPr/>
        </p:nvSpPr>
        <p:spPr>
          <a:xfrm xmlns:a="http://schemas.openxmlformats.org/drawingml/2006/main">
            <a:off x="914400" y="37719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5D487090-D4E3-487B-B596-2A6A6FB3A1CA}"/>
              </a:ext>
            </a:extLst>
          </p:cNvPr>
          <p:cNvSpPr>
            <a:spLocks xmlns:a="http://schemas.openxmlformats.org/drawingml/2006/main" noGrp="1"/>
          </p:cNvSpPr>
          <p:nvPr/>
        </p:nvSpPr>
        <p:spPr>
          <a:xfrm xmlns:a="http://schemas.openxmlformats.org/drawingml/2006/main">
            <a:off x="914400" y="39052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Civic and legal</a:t>
            </a:r>
          </a:p>
        </p:txBody>
      </p:sp>
      <p:sp>
        <p:nvSpPr>
          <p:cNvPr id="12" name="">
            <a:extLst xmlns:a="http://schemas.openxmlformats.org/drawingml/2006/main">
              <a:ext uri="{FF2B5EF4-FFF2-40B4-BE49-F238E27FC236}">
                <a16:creationId xmlns:a16="http://schemas.microsoft.com/office/drawing/2014/main" id="{83AE3451-B1DD-4BC0-830A-24DE9104F534}"/>
              </a:ext>
            </a:extLst>
          </p:cNvPr>
          <p:cNvSpPr>
            <a:spLocks xmlns:a="http://schemas.openxmlformats.org/drawingml/2006/main" noGrp="1"/>
          </p:cNvSpPr>
          <p:nvPr/>
        </p:nvSpPr>
        <p:spPr>
          <a:xfrm xmlns:a="http://schemas.openxmlformats.org/drawingml/2006/main">
            <a:off x="914400" y="4229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government services and bdlaws</a:t>
            </a:r>
          </a:p>
        </p:txBody>
      </p:sp>
      <p:sp>
        <p:nvSpPr>
          <p:cNvPr id="13" name="">
            <a:extLst xmlns:a="http://schemas.openxmlformats.org/drawingml/2006/main">
              <a:ext uri="{FF2B5EF4-FFF2-40B4-BE49-F238E27FC236}">
                <a16:creationId xmlns:a16="http://schemas.microsoft.com/office/drawing/2014/main" id="{2ED92D48-1C31-4900-A8A4-2F4B9D7B1FDC}"/>
              </a:ext>
            </a:extLst>
          </p:cNvPr>
          <p:cNvSpPr>
            <a:spLocks xmlns:a="http://schemas.openxmlformats.org/drawingml/2006/main" noGrp="1"/>
          </p:cNvSpPr>
          <p:nvPr/>
        </p:nvSpPr>
        <p:spPr>
          <a:xfrm xmlns:a="http://schemas.openxmlformats.org/drawingml/2006/main">
            <a:off x="914400" y="46482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86AAF368-D7E4-4088-A344-2C21B063329D}"/>
              </a:ext>
            </a:extLst>
          </p:cNvPr>
          <p:cNvSpPr>
            <a:spLocks xmlns:a="http://schemas.openxmlformats.org/drawingml/2006/main" noGrp="1"/>
          </p:cNvSpPr>
          <p:nvPr/>
        </p:nvSpPr>
        <p:spPr>
          <a:xfrm xmlns:a="http://schemas.openxmlformats.org/drawingml/2006/main">
            <a:off x="914400" y="4781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Education and culture</a:t>
            </a:r>
          </a:p>
        </p:txBody>
      </p:sp>
      <p:sp>
        <p:nvSpPr>
          <p:cNvPr id="15" name="">
            <a:extLst xmlns:a="http://schemas.openxmlformats.org/drawingml/2006/main">
              <a:ext uri="{FF2B5EF4-FFF2-40B4-BE49-F238E27FC236}">
                <a16:creationId xmlns:a16="http://schemas.microsoft.com/office/drawing/2014/main" id="{243C9CD7-CC6E-450F-8054-A8F77872FF80}"/>
              </a:ext>
            </a:extLst>
          </p:cNvPr>
          <p:cNvSpPr>
            <a:spLocks xmlns:a="http://schemas.openxmlformats.org/drawingml/2006/main" noGrp="1"/>
          </p:cNvSpPr>
          <p:nvPr/>
        </p:nvSpPr>
        <p:spPr>
          <a:xfrm xmlns:a="http://schemas.openxmlformats.org/drawingml/2006/main">
            <a:off x="9144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NCTB textbooks and literature</a:t>
            </a:r>
          </a:p>
        </p:txBody>
      </p:sp>
      <p:sp>
        <p:nvSpPr>
          <p:cNvPr id="16" name="">
            <a:extLst xmlns:a="http://schemas.openxmlformats.org/drawingml/2006/main">
              <a:ext uri="{FF2B5EF4-FFF2-40B4-BE49-F238E27FC236}">
                <a16:creationId xmlns:a16="http://schemas.microsoft.com/office/drawing/2014/main" id="{A301DFA6-0BB3-429B-9A5D-A87845424E5F}"/>
              </a:ext>
            </a:extLst>
          </p:cNvPr>
          <p:cNvSpPr>
            <a:spLocks xmlns:a="http://schemas.openxmlformats.org/drawingml/2006/main" noGrp="1"/>
          </p:cNvSpPr>
          <p:nvPr/>
        </p:nvSpPr>
        <p:spPr>
          <a:xfrm xmlns:a="http://schemas.openxmlformats.org/drawingml/2006/main">
            <a:off x="914400" y="55245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29FE3ADB-3A61-467B-A746-E1EFEE603C2B}"/>
              </a:ext>
            </a:extLst>
          </p:cNvPr>
          <p:cNvSpPr>
            <a:spLocks xmlns:a="http://schemas.openxmlformats.org/drawingml/2006/main" noGrp="1"/>
          </p:cNvSpPr>
          <p:nvPr/>
        </p:nvSpPr>
        <p:spPr>
          <a:xfrm xmlns:a="http://schemas.openxmlformats.org/drawingml/2006/main">
            <a:off x="44005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36DF46C7-8BB0-4903-9D97-EB678E2B01FD}"/>
              </a:ext>
            </a:extLst>
          </p:cNvPr>
          <p:cNvSpPr>
            <a:spLocks xmlns:a="http://schemas.openxmlformats.org/drawingml/2006/main" noGrp="1"/>
          </p:cNvSpPr>
          <p:nvPr/>
        </p:nvSpPr>
        <p:spPr>
          <a:xfrm xmlns:a="http://schemas.openxmlformats.org/drawingml/2006/main">
            <a:off x="80962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9" name="">
            <a:extLst xmlns:a="http://schemas.openxmlformats.org/drawingml/2006/main">
              <a:ext uri="{FF2B5EF4-FFF2-40B4-BE49-F238E27FC236}">
                <a16:creationId xmlns:a16="http://schemas.microsoft.com/office/drawing/2014/main" id="{F6EB7525-C955-4EDA-8CD4-AE32CBEEB40C}"/>
              </a:ext>
            </a:extLst>
          </p:cNvPr>
          <p:cNvSpPr>
            <a:spLocks xmlns:a="http://schemas.openxmlformats.org/drawingml/2006/main" noGrp="1"/>
          </p:cNvSpPr>
          <p:nvPr/>
        </p:nvSpPr>
        <p:spPr>
          <a:xfrm xmlns:a="http://schemas.openxmlformats.org/drawingml/2006/main">
            <a:off x="5334000" y="2324100"/>
            <a:ext cx="272415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D187771D-67CC-438F-B725-A4418814C347}"/>
              </a:ext>
            </a:extLst>
          </p:cNvPr>
          <p:cNvSpPr>
            <a:spLocks xmlns:a="http://schemas.openxmlformats.org/drawingml/2006/main" noGrp="1"/>
          </p:cNvSpPr>
          <p:nvPr/>
        </p:nvSpPr>
        <p:spPr>
          <a:xfrm xmlns:a="http://schemas.openxmlformats.org/drawingml/2006/main">
            <a:off x="5619750" y="2628900"/>
            <a:ext cx="2152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2A8C82"/>
                </a:solidFill>
              </a:defRPr>
            </a:pPr>
            <a:r>
              <a:rPr sz="1875" b="1">
                <a:solidFill>
                  <a:srgbClr val="2A8C82"/>
                </a:solidFill>
              </a:rPr>
              <a:t>Try exact routing</a:t>
            </a:r>
          </a:p>
        </p:txBody>
      </p:sp>
      <p:sp>
        <p:nvSpPr>
          <p:cNvPr id="21" name="">
            <a:extLst xmlns:a="http://schemas.openxmlformats.org/drawingml/2006/main">
              <a:ext uri="{FF2B5EF4-FFF2-40B4-BE49-F238E27FC236}">
                <a16:creationId xmlns:a16="http://schemas.microsoft.com/office/drawing/2014/main" id="{90F60547-5B0C-4643-92D1-BFBDEB56ED15}"/>
              </a:ext>
            </a:extLst>
          </p:cNvPr>
          <p:cNvSpPr>
            <a:spLocks xmlns:a="http://schemas.openxmlformats.org/drawingml/2006/main" noGrp="1"/>
          </p:cNvSpPr>
          <p:nvPr/>
        </p:nvSpPr>
        <p:spPr>
          <a:xfrm xmlns:a="http://schemas.openxmlformats.org/drawingml/2006/main">
            <a:off x="5657850" y="3143250"/>
            <a:ext cx="20764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0">
                <a:solidFill>
                  <a:srgbClr val="526174"/>
                </a:solidFill>
              </a:defRPr>
            </a:pPr>
            <a:r>
              <a:rPr sz="1425" b="0">
                <a:solidFill>
                  <a:srgbClr val="526174"/>
                </a:solidFill>
              </a:rPr>
              <a:t>context clauses</a:t>
            </a:r>
          </a:p>
          <a:p xmlns:a="http://schemas.openxmlformats.org/drawingml/2006/main">
            <a:pPr algn="ctr">
              <a:defRPr sz="1425" b="0">
                <a:solidFill>
                  <a:srgbClr val="526174"/>
                </a:solidFill>
              </a:defRPr>
            </a:pPr>
            <a:r>
              <a:rPr sz="1425" b="0">
                <a:solidFill>
                  <a:srgbClr val="526174"/>
                </a:solidFill>
              </a:rPr>
              <a:t>structured solvers</a:t>
            </a:r>
          </a:p>
          <a:p xmlns:a="http://schemas.openxmlformats.org/drawingml/2006/main">
            <a:pPr algn="ctr">
              <a:defRPr sz="1425" b="0">
                <a:solidFill>
                  <a:srgbClr val="526174"/>
                </a:solidFill>
              </a:defRPr>
            </a:pPr>
            <a:r>
              <a:rPr sz="1425" b="0">
                <a:solidFill>
                  <a:srgbClr val="526174"/>
                </a:solidFill>
              </a:rPr>
              <a:t>entity-relation checks</a:t>
            </a:r>
          </a:p>
        </p:txBody>
      </p:sp>
      <p:sp>
        <p:nvSpPr>
          <p:cNvPr id="22" name="">
            <a:extLst xmlns:a="http://schemas.openxmlformats.org/drawingml/2006/main">
              <a:ext uri="{FF2B5EF4-FFF2-40B4-BE49-F238E27FC236}">
                <a16:creationId xmlns:a16="http://schemas.microsoft.com/office/drawing/2014/main" id="{26D10D9C-24C0-45E7-92BD-7F6AE9EB03E7}"/>
              </a:ext>
            </a:extLst>
          </p:cNvPr>
          <p:cNvSpPr>
            <a:spLocks xmlns:a="http://schemas.openxmlformats.org/drawingml/2006/main" noGrp="1"/>
          </p:cNvSpPr>
          <p:nvPr/>
        </p:nvSpPr>
        <p:spPr>
          <a:xfrm xmlns:a="http://schemas.openxmlformats.org/drawingml/2006/main">
            <a:off x="9029700" y="2324100"/>
            <a:ext cx="2247900" cy="2095500"/>
          </a:xfrm>
          <a:prstGeom xmlns:a="http://schemas.openxmlformats.org/drawingml/2006/main" prst="roundRect">
            <a:avLst>
              <a:gd name="adj" fmla="val 8182"/>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67CC30EB-E108-43BB-B610-B911FC165D8F}"/>
              </a:ext>
            </a:extLst>
          </p:cNvPr>
          <p:cNvSpPr>
            <a:spLocks xmlns:a="http://schemas.openxmlformats.org/drawingml/2006/main" noGrp="1"/>
          </p:cNvSpPr>
          <p:nvPr/>
        </p:nvSpPr>
        <p:spPr>
          <a:xfrm xmlns:a="http://schemas.openxmlformats.org/drawingml/2006/main">
            <a:off x="9296400" y="2628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D59B32"/>
                </a:solidFill>
              </a:defRPr>
            </a:pPr>
            <a:r>
              <a:rPr sz="1875" b="1">
                <a:solidFill>
                  <a:srgbClr val="D59B32"/>
                </a:solidFill>
              </a:rPr>
              <a:t>If uncertain</a:t>
            </a:r>
          </a:p>
        </p:txBody>
      </p:sp>
      <p:sp>
        <p:nvSpPr>
          <p:cNvPr id="24" name="">
            <a:extLst xmlns:a="http://schemas.openxmlformats.org/drawingml/2006/main">
              <a:ext uri="{FF2B5EF4-FFF2-40B4-BE49-F238E27FC236}">
                <a16:creationId xmlns:a16="http://schemas.microsoft.com/office/drawing/2014/main" id="{7F6346EC-B09E-43E3-8BD4-8BC5B811F1A0}"/>
              </a:ext>
            </a:extLst>
          </p:cNvPr>
          <p:cNvSpPr>
            <a:spLocks xmlns:a="http://schemas.openxmlformats.org/drawingml/2006/main" noGrp="1"/>
          </p:cNvSpPr>
          <p:nvPr/>
        </p:nvSpPr>
        <p:spPr>
          <a:xfrm xmlns:a="http://schemas.openxmlformats.org/drawingml/2006/main">
            <a:off x="9296400" y="3143250"/>
            <a:ext cx="171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skip lineage</a:t>
            </a:r>
          </a:p>
          <a:p xmlns:a="http://schemas.openxmlformats.org/drawingml/2006/main">
            <a:pPr algn="ctr">
              <a:defRPr sz="1350" b="0">
                <a:solidFill>
                  <a:srgbClr val="526174"/>
                </a:solidFill>
              </a:defRPr>
            </a:pPr>
            <a:r>
              <a:rPr sz="1350" b="0">
                <a:solidFill>
                  <a:srgbClr val="526174"/>
                </a:solidFill>
              </a:rPr>
              <a:t>use the fixed judge</a:t>
            </a:r>
          </a:p>
          <a:p xmlns:a="http://schemas.openxmlformats.org/drawingml/2006/main">
            <a:pPr algn="ctr">
              <a:defRPr sz="1350" b="0">
                <a:solidFill>
                  <a:srgbClr val="526174"/>
                </a:solidFill>
              </a:defRPr>
            </a:pPr>
            <a:r>
              <a:rPr sz="1350" b="0">
                <a:solidFill>
                  <a:srgbClr val="526174"/>
                </a:solidFill>
              </a:rPr>
              <a:t>keep the same vote rule</a:t>
            </a:r>
          </a:p>
        </p:txBody>
      </p:sp>
      <p:sp>
        <p:nvSpPr>
          <p:cNvPr id="25" name="">
            <a:extLst xmlns:a="http://schemas.openxmlformats.org/drawingml/2006/main">
              <a:ext uri="{FF2B5EF4-FFF2-40B4-BE49-F238E27FC236}">
                <a16:creationId xmlns:a16="http://schemas.microsoft.com/office/drawing/2014/main" id="{39F7B609-AC20-497C-A1D4-80AA8D469F3A}"/>
              </a:ext>
            </a:extLst>
          </p:cNvPr>
          <p:cNvSpPr>
            <a:spLocks xmlns:a="http://schemas.openxmlformats.org/drawingml/2006/main" noGrp="1"/>
          </p:cNvSpPr>
          <p:nvPr/>
        </p:nvSpPr>
        <p:spPr>
          <a:xfrm xmlns:a="http://schemas.openxmlformats.org/drawingml/2006/main">
            <a:off x="4857750" y="5029200"/>
            <a:ext cx="6286500" cy="819150"/>
          </a:xfrm>
          <a:prstGeom xmlns:a="http://schemas.openxmlformats.org/drawingml/2006/main" prst="roundRect">
            <a:avLst>
              <a:gd name="adj" fmla="val 18605"/>
            </a:avLst>
          </a:prstGeom>
          <a:solidFill xmlns:a="http://schemas.openxmlformats.org/drawingml/2006/main">
            <a:srgbClr val="E7EEF4"/>
          </a:solidFill>
          <a:ln xmlns:a="http://schemas.openxmlformats.org/drawingml/2006/main" w="9525">
            <a:solidFill>
              <a:srgbClr val="1F5A7A"/>
            </a:solidFill>
            <a:prstDash val="solid"/>
          </a:ln>
        </p:spPr>
      </p:sp>
      <p:sp>
        <p:nvSpPr>
          <p:cNvPr id="26" name="">
            <a:extLst xmlns:a="http://schemas.openxmlformats.org/drawingml/2006/main">
              <a:ext uri="{FF2B5EF4-FFF2-40B4-BE49-F238E27FC236}">
                <a16:creationId xmlns:a16="http://schemas.microsoft.com/office/drawing/2014/main" id="{588521B8-D7B1-4E64-80DA-C65DCF2D31A4}"/>
              </a:ext>
            </a:extLst>
          </p:cNvPr>
          <p:cNvSpPr>
            <a:spLocks xmlns:a="http://schemas.openxmlformats.org/drawingml/2006/main" noGrp="1"/>
          </p:cNvSpPr>
          <p:nvPr/>
        </p:nvSpPr>
        <p:spPr>
          <a:xfrm xmlns:a="http://schemas.openxmlformats.org/drawingml/2006/main">
            <a:off x="5162550" y="5238750"/>
            <a:ext cx="567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F5A7A"/>
                </a:solidFill>
              </a:defRPr>
            </a:pPr>
            <a:r>
              <a:rPr sz="1425" b="1">
                <a:solidFill>
                  <a:srgbClr val="1F5A7A"/>
                </a:solidFill>
              </a:rPr>
              <a:t>Lower deterministic coverage raises runtime. It should not force weak evidence into a label.</a:t>
            </a:r>
          </a:p>
        </p:txBody>
      </p:sp>
      <p:sp>
        <p:nvSpPr>
          <p:cNvPr id="27" name="">
            <a:extLst xmlns:a="http://schemas.openxmlformats.org/drawingml/2006/main">
              <a:ext uri="{FF2B5EF4-FFF2-40B4-BE49-F238E27FC236}">
                <a16:creationId xmlns:a16="http://schemas.microsoft.com/office/drawing/2014/main" id="{3769D825-33F3-4E37-A8E6-99AFF79A9E7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11">
            <a:extLst xmlns:a="http://schemas.openxmlformats.org/drawingml/2006/main">
              <a:ext uri="{FF2B5EF4-FFF2-40B4-BE49-F238E27FC236}">
                <a16:creationId xmlns:a16="http://schemas.microsoft.com/office/drawing/2014/main" id="{88C47389-B37D-4B66-ABB9-612BF0215526}"/>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[2] Organizer Phase 2 preview  [7] Held-out routing and runtime stress analysis</a:t>
            </a:r>
          </a:p>
        </p:txBody>
      </p:sp>
      <p:sp>
        <p:nvSpPr>
          <p:cNvPr id="29" name="page-11">
            <a:extLst xmlns:a="http://schemas.openxmlformats.org/drawingml/2006/main">
              <a:ext uri="{FF2B5EF4-FFF2-40B4-BE49-F238E27FC236}">
                <a16:creationId xmlns:a16="http://schemas.microsoft.com/office/drawing/2014/main" id="{A2276004-FF37-4047-8DF6-21E6A5FB9115}"/>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11</a:t>
            </a:r>
          </a:p>
        </p:txBody>
      </p:sp>
    </p:spTree>
    <p:extLst>
      <p:ext uri="{BB962C8B-B14F-4D97-AF65-F5344CB8AC3E}">
        <p14:creationId xmlns:p14="http://schemas.microsoft.com/office/powerpoint/2010/main" val="1860785256"/>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97D9E44-7F36-44EA-8FF2-8D3D6AE661EA}"/>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1F5A7A"/>
                </a:solidFill>
              </a:defRPr>
            </a:pPr>
            <a:r>
              <a:rPr sz="1050" b="1">
                <a:solidFill>
                  <a:srgbClr val="1F5A7A"/>
                </a:solidFill>
              </a:rPr>
              <a:t>TEAM HUNTRIX</a:t>
            </a:r>
          </a:p>
        </p:txBody>
      </p:sp>
      <p:sp>
        <p:nvSpPr>
          <p:cNvPr id="2" name="">
            <a:extLst xmlns:a="http://schemas.openxmlformats.org/drawingml/2006/main">
              <a:ext uri="{FF2B5EF4-FFF2-40B4-BE49-F238E27FC236}">
                <a16:creationId xmlns:a16="http://schemas.microsoft.com/office/drawing/2014/main" id="{34B4159C-00FA-49CB-B577-91FA456E5ED0}"/>
              </a:ext>
            </a:extLst>
          </p:cNvPr>
          <p:cNvSpPr>
            <a:spLocks xmlns:a="http://schemas.openxmlformats.org/drawingml/2006/main" noGrp="1"/>
          </p:cNvSpPr>
          <p:nvPr/>
        </p:nvSpPr>
        <p:spPr>
          <a:xfrm xmlns:a="http://schemas.openxmlformats.org/drawingml/2006/main">
            <a:off x="685800" y="838200"/>
            <a:ext cx="78105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0F172A"/>
                </a:solidFill>
              </a:defRPr>
            </a:pPr>
            <a:r>
              <a:rPr sz="3600" b="1">
                <a:solidFill>
                  <a:srgbClr val="0F172A"/>
                </a:solidFill>
              </a:rPr>
              <a:t>Be exact when possible.</a:t>
            </a:r>
          </a:p>
          <a:p xmlns:a="http://schemas.openxmlformats.org/drawingml/2006/main">
            <a:pPr algn="l">
              <a:defRPr sz="3600" b="1">
                <a:solidFill>
                  <a:srgbClr val="0F172A"/>
                </a:solidFill>
              </a:defRPr>
            </a:pPr>
            <a:r>
              <a:rPr sz="3600" b="1">
                <a:solidFill>
                  <a:srgbClr val="0F172A"/>
                </a:solidFill>
              </a:rPr>
              <a:t>Abstain when necessary.</a:t>
            </a:r>
          </a:p>
        </p:txBody>
      </p:sp>
      <p:sp>
        <p:nvSpPr>
          <p:cNvPr id="3" name="">
            <a:extLst xmlns:a="http://schemas.openxmlformats.org/drawingml/2006/main">
              <a:ext uri="{FF2B5EF4-FFF2-40B4-BE49-F238E27FC236}">
                <a16:creationId xmlns:a16="http://schemas.microsoft.com/office/drawing/2014/main" id="{AAFCBEAD-C084-44F2-85E4-BFF25C3A73E8}"/>
              </a:ext>
            </a:extLst>
          </p:cNvPr>
          <p:cNvSpPr>
            <a:spLocks xmlns:a="http://schemas.openxmlformats.org/drawingml/2006/main" noGrp="1"/>
          </p:cNvSpPr>
          <p:nvPr/>
        </p:nvSpPr>
        <p:spPr>
          <a:xfrm xmlns:a="http://schemas.openxmlformats.org/drawingml/2006/main">
            <a:off x="685800" y="26670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01</a:t>
            </a:r>
          </a:p>
        </p:txBody>
      </p:sp>
      <p:sp>
        <p:nvSpPr>
          <p:cNvPr id="4" name="">
            <a:extLst xmlns:a="http://schemas.openxmlformats.org/drawingml/2006/main">
              <a:ext uri="{FF2B5EF4-FFF2-40B4-BE49-F238E27FC236}">
                <a16:creationId xmlns:a16="http://schemas.microsoft.com/office/drawing/2014/main" id="{1DFEF4AC-9096-48F5-8A85-0D7406E7B1B2}"/>
              </a:ext>
            </a:extLst>
          </p:cNvPr>
          <p:cNvSpPr>
            <a:spLocks xmlns:a="http://schemas.openxmlformats.org/drawingml/2006/main" noGrp="1"/>
          </p:cNvSpPr>
          <p:nvPr/>
        </p:nvSpPr>
        <p:spPr>
          <a:xfrm xmlns:a="http://schemas.openxmlformats.org/drawingml/2006/main">
            <a:off x="1447800" y="2628900"/>
            <a:ext cx="876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0F172A"/>
                </a:solidFill>
              </a:defRPr>
            </a:pPr>
            <a:r>
              <a:rPr sz="1800" b="0">
                <a:solidFill>
                  <a:srgbClr val="0F172A"/>
                </a:solidFill>
              </a:rPr>
              <a:t>Task families need different evidence standards.</a:t>
            </a:r>
          </a:p>
        </p:txBody>
      </p:sp>
      <p:sp>
        <p:nvSpPr>
          <p:cNvPr id="5" name="">
            <a:extLst xmlns:a="http://schemas.openxmlformats.org/drawingml/2006/main">
              <a:ext uri="{FF2B5EF4-FFF2-40B4-BE49-F238E27FC236}">
                <a16:creationId xmlns:a16="http://schemas.microsoft.com/office/drawing/2014/main" id="{D392BED4-FEB0-4063-BB1C-06B96D4F8D40}"/>
              </a:ext>
            </a:extLst>
          </p:cNvPr>
          <p:cNvSpPr>
            <a:spLocks xmlns:a="http://schemas.openxmlformats.org/drawingml/2006/main" noGrp="1"/>
          </p:cNvSpPr>
          <p:nvPr/>
        </p:nvSpPr>
        <p:spPr>
          <a:xfrm xmlns:a="http://schemas.openxmlformats.org/drawingml/2006/main">
            <a:off x="1447800" y="3124200"/>
            <a:ext cx="8763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082799ED-EA2B-4106-9715-322B7D5891B7}"/>
              </a:ext>
            </a:extLst>
          </p:cNvPr>
          <p:cNvSpPr>
            <a:spLocks xmlns:a="http://schemas.openxmlformats.org/drawingml/2006/main" noGrp="1"/>
          </p:cNvSpPr>
          <p:nvPr/>
        </p:nvSpPr>
        <p:spPr>
          <a:xfrm xmlns:a="http://schemas.openxmlformats.org/drawingml/2006/main">
            <a:off x="685800" y="34861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02</a:t>
            </a:r>
          </a:p>
        </p:txBody>
      </p:sp>
      <p:sp>
        <p:nvSpPr>
          <p:cNvPr id="7" name="">
            <a:extLst xmlns:a="http://schemas.openxmlformats.org/drawingml/2006/main">
              <a:ext uri="{FF2B5EF4-FFF2-40B4-BE49-F238E27FC236}">
                <a16:creationId xmlns:a16="http://schemas.microsoft.com/office/drawing/2014/main" id="{BEBA2620-FB98-4CAE-A788-12A0191B313D}"/>
              </a:ext>
            </a:extLst>
          </p:cNvPr>
          <p:cNvSpPr>
            <a:spLocks xmlns:a="http://schemas.openxmlformats.org/drawingml/2006/main" noGrp="1"/>
          </p:cNvSpPr>
          <p:nvPr/>
        </p:nvSpPr>
        <p:spPr>
          <a:xfrm xmlns:a="http://schemas.openxmlformats.org/drawingml/2006/main">
            <a:off x="1447800" y="3448050"/>
            <a:ext cx="876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0F172A"/>
                </a:solidFill>
              </a:defRPr>
            </a:pPr>
            <a:r>
              <a:rPr sz="1800" b="0">
                <a:solidFill>
                  <a:srgbClr val="0F172A"/>
                </a:solidFill>
              </a:rPr>
              <a:t>The requested relation matters more than semantic similarity.</a:t>
            </a:r>
          </a:p>
        </p:txBody>
      </p:sp>
      <p:sp>
        <p:nvSpPr>
          <p:cNvPr id="8" name="">
            <a:extLst xmlns:a="http://schemas.openxmlformats.org/drawingml/2006/main">
              <a:ext uri="{FF2B5EF4-FFF2-40B4-BE49-F238E27FC236}">
                <a16:creationId xmlns:a16="http://schemas.microsoft.com/office/drawing/2014/main" id="{EC41E110-A02E-4C60-A79D-6CDF3CCE4CD5}"/>
              </a:ext>
            </a:extLst>
          </p:cNvPr>
          <p:cNvSpPr>
            <a:spLocks xmlns:a="http://schemas.openxmlformats.org/drawingml/2006/main" noGrp="1"/>
          </p:cNvSpPr>
          <p:nvPr/>
        </p:nvSpPr>
        <p:spPr>
          <a:xfrm xmlns:a="http://schemas.openxmlformats.org/drawingml/2006/main">
            <a:off x="1447800" y="3943350"/>
            <a:ext cx="8763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9" name="">
            <a:extLst xmlns:a="http://schemas.openxmlformats.org/drawingml/2006/main">
              <a:ext uri="{FF2B5EF4-FFF2-40B4-BE49-F238E27FC236}">
                <a16:creationId xmlns:a16="http://schemas.microsoft.com/office/drawing/2014/main" id="{F8A4B59A-3C48-4167-A41F-836D340A901C}"/>
              </a:ext>
            </a:extLst>
          </p:cNvPr>
          <p:cNvSpPr>
            <a:spLocks xmlns:a="http://schemas.openxmlformats.org/drawingml/2006/main" noGrp="1"/>
          </p:cNvSpPr>
          <p:nvPr/>
        </p:nvSpPr>
        <p:spPr>
          <a:xfrm xmlns:a="http://schemas.openxmlformats.org/drawingml/2006/main">
            <a:off x="685800" y="43053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03</a:t>
            </a:r>
          </a:p>
        </p:txBody>
      </p:sp>
      <p:sp>
        <p:nvSpPr>
          <p:cNvPr id="10" name="">
            <a:extLst xmlns:a="http://schemas.openxmlformats.org/drawingml/2006/main">
              <a:ext uri="{FF2B5EF4-FFF2-40B4-BE49-F238E27FC236}">
                <a16:creationId xmlns:a16="http://schemas.microsoft.com/office/drawing/2014/main" id="{D4EB52B1-28DE-4012-B66E-E313037C6806}"/>
              </a:ext>
            </a:extLst>
          </p:cNvPr>
          <p:cNvSpPr>
            <a:spLocks xmlns:a="http://schemas.openxmlformats.org/drawingml/2006/main" noGrp="1"/>
          </p:cNvSpPr>
          <p:nvPr/>
        </p:nvSpPr>
        <p:spPr>
          <a:xfrm xmlns:a="http://schemas.openxmlformats.org/drawingml/2006/main">
            <a:off x="1447800" y="4267200"/>
            <a:ext cx="876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0F172A"/>
                </a:solidFill>
              </a:defRPr>
            </a:pPr>
            <a:r>
              <a:rPr sz="1800" b="1">
                <a:solidFill>
                  <a:srgbClr val="0F172A"/>
                </a:solidFill>
              </a:rPr>
              <a:t>Selective judging made inference faster and more reproducible.</a:t>
            </a:r>
          </a:p>
        </p:txBody>
      </p:sp>
      <p:sp>
        <p:nvSpPr>
          <p:cNvPr id="11" name="">
            <a:extLst xmlns:a="http://schemas.openxmlformats.org/drawingml/2006/main">
              <a:ext uri="{FF2B5EF4-FFF2-40B4-BE49-F238E27FC236}">
                <a16:creationId xmlns:a16="http://schemas.microsoft.com/office/drawing/2014/main" id="{FE28D47E-9C92-4A06-A793-D3559022B646}"/>
              </a:ext>
            </a:extLst>
          </p:cNvPr>
          <p:cNvSpPr>
            <a:spLocks xmlns:a="http://schemas.openxmlformats.org/drawingml/2006/main" noGrp="1"/>
          </p:cNvSpPr>
          <p:nvPr/>
        </p:nvSpPr>
        <p:spPr>
          <a:xfrm xmlns:a="http://schemas.openxmlformats.org/drawingml/2006/main">
            <a:off x="1447800" y="4762500"/>
            <a:ext cx="8763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5393D4B8-0A04-49EF-A2E0-643BECAD890D}"/>
              </a:ext>
            </a:extLst>
          </p:cNvPr>
          <p:cNvSpPr>
            <a:spLocks xmlns:a="http://schemas.openxmlformats.org/drawingml/2006/main" noGrp="1"/>
          </p:cNvSpPr>
          <p:nvPr/>
        </p:nvSpPr>
        <p:spPr>
          <a:xfrm xmlns:a="http://schemas.openxmlformats.org/drawingml/2006/main">
            <a:off x="685800" y="552450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F5A7A"/>
                </a:solidFill>
              </a:defRPr>
            </a:pPr>
            <a:r>
              <a:rPr sz="2700" b="1">
                <a:solidFill>
                  <a:srgbClr val="1F5A7A"/>
                </a:solidFill>
              </a:rPr>
              <a:t>Questions</a:t>
            </a:r>
          </a:p>
        </p:txBody>
      </p:sp>
      <p:sp>
        <p:nvSpPr>
          <p:cNvPr id="13" name="">
            <a:extLst xmlns:a="http://schemas.openxmlformats.org/drawingml/2006/main">
              <a:ext uri="{FF2B5EF4-FFF2-40B4-BE49-F238E27FC236}">
                <a16:creationId xmlns:a16="http://schemas.microsoft.com/office/drawing/2014/main" id="{F3D7279D-A5BA-4ADF-A4AD-E9E16585FF5A}"/>
              </a:ext>
            </a:extLst>
          </p:cNvPr>
          <p:cNvSpPr>
            <a:spLocks xmlns:a="http://schemas.openxmlformats.org/drawingml/2006/main" noGrp="1"/>
          </p:cNvSpPr>
          <p:nvPr/>
        </p:nvSpPr>
        <p:spPr>
          <a:xfrm xmlns:a="http://schemas.openxmlformats.org/drawingml/2006/main">
            <a:off x="4552950" y="5581650"/>
            <a:ext cx="685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500" b="1">
                <a:solidFill>
                  <a:srgbClr val="526174"/>
                </a:solidFill>
              </a:defRPr>
            </a:pPr>
            <a:r>
              <a:rPr sz="1500" b="1">
                <a:solidFill>
                  <a:srgbClr val="526174"/>
                </a:solidFill>
              </a:rPr>
              <a:t>Private rank 1  |  0.982 macro F1  |  9-hour compliant</a:t>
            </a:r>
          </a:p>
        </p:txBody>
      </p:sp>
      <p:sp>
        <p:nvSpPr>
          <p:cNvPr id="14" name="">
            <a:extLst xmlns:a="http://schemas.openxmlformats.org/drawingml/2006/main">
              <a:ext uri="{FF2B5EF4-FFF2-40B4-BE49-F238E27FC236}">
                <a16:creationId xmlns:a16="http://schemas.microsoft.com/office/drawing/2014/main" id="{894053C5-845E-449D-A06D-CC0A0B1B950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F5DC4A2A-8E95-46F2-9F38-7BFDD4F2554A}"/>
              </a:ext>
            </a:extLst>
          </p:cNvPr>
          <p:cNvSpPr>
            <a:spLocks xmlns:a="http://schemas.openxmlformats.org/drawingml/2006/main" noGrp="1"/>
          </p:cNvSpPr>
          <p:nvPr/>
        </p:nvSpPr>
        <p:spPr>
          <a:xfrm xmlns:a="http://schemas.openxmlformats.org/drawingml/2006/main">
            <a:off x="685800" y="6457950"/>
            <a:ext cx="981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0">
                <a:solidFill>
                  <a:srgbClr val="526174"/>
                </a:solidFill>
              </a:defRPr>
            </a:pPr>
            <a:r>
              <a:rPr sz="975" b="0">
                <a:solidFill>
                  <a:srgbClr val="526174"/>
                </a:solidFill>
              </a:rPr>
              <a:t>[7] Team Huntrix final system and reproducibility package</a:t>
            </a:r>
          </a:p>
        </p:txBody>
      </p:sp>
      <p:sp>
        <p:nvSpPr>
          <p:cNvPr id="16" name="">
            <a:extLst xmlns:a="http://schemas.openxmlformats.org/drawingml/2006/main">
              <a:ext uri="{FF2B5EF4-FFF2-40B4-BE49-F238E27FC236}">
                <a16:creationId xmlns:a16="http://schemas.microsoft.com/office/drawing/2014/main" id="{74FC8830-961E-4483-847C-98E2561B0EC2}"/>
              </a:ext>
            </a:extLst>
          </p:cNvPr>
          <p:cNvSpPr>
            <a:spLocks xmlns:a="http://schemas.openxmlformats.org/drawingml/2006/main" noGrp="1"/>
          </p:cNvSpPr>
          <p:nvPr/>
        </p:nvSpPr>
        <p:spPr>
          <a:xfrm xmlns:a="http://schemas.openxmlformats.org/drawingml/2006/main">
            <a:off x="10810875" y="645795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1F5A7A"/>
                </a:solidFill>
              </a:defRPr>
            </a:pPr>
            <a:r>
              <a:rPr sz="975" b="1">
                <a:solidFill>
                  <a:srgbClr val="1F5A7A"/>
                </a:solidFill>
              </a:rPr>
              <a:t>12</a:t>
            </a:r>
          </a:p>
        </p:txBody>
      </p:sp>
    </p:spTree>
    <p:extLst>
      <p:ext uri="{BB962C8B-B14F-4D97-AF65-F5344CB8AC3E}">
        <p14:creationId xmlns:p14="http://schemas.microsoft.com/office/powerpoint/2010/main" val="9959495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2026-07-22T18:17:38.4010000Z</dcterms:created>
  <dcterms:modified xsi:type="dcterms:W3CDTF">2026-07-22T18:17:38.4010000Z</dcterms:modified>
</coreProperties>
</file>