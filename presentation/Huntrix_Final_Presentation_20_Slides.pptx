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131fa50947414f" /><Relationship Type="http://schemas.openxmlformats.org/officeDocument/2006/relationships/extended-properties" Target="/docProps/app.xml" Id="Re807bf848e0b4551" /><Relationship Type="http://schemas.openxmlformats.org/officeDocument/2006/relationships/officeDocument" Target="/ppt/presentation.xml" Id="R1a210f8c809b400b" /></Relationships>
</file>

<file path=ppt/presentation.xml><?xml version="1.0" encoding="utf-8"?>
<p:presentation xmlns:p="http://schemas.openxmlformats.org/presentationml/2006/main">
  <p:sldMasterIdLst>
    <p:sldMasterId xmlns:r="http://schemas.openxmlformats.org/officeDocument/2006/relationships" id="2147483648" r:id="R619c517a7ea9445a"/>
  </p:sldMasterIdLst>
  <p:notesMasterIdLst>
    <p:notesMasterId xmlns:r="http://schemas.openxmlformats.org/officeDocument/2006/relationships" r:id="Rf704208071094658"/>
  </p:notesMasterIdLst>
  <p:sldIdLst>
    <p:sldId xmlns:r="http://schemas.openxmlformats.org/officeDocument/2006/relationships" id="256" r:id="Raa72a0d5cfae466e"/>
    <p:sldId xmlns:r="http://schemas.openxmlformats.org/officeDocument/2006/relationships" id="257" r:id="R36e0b11fdedb4f05"/>
    <p:sldId xmlns:r="http://schemas.openxmlformats.org/officeDocument/2006/relationships" id="258" r:id="Rf6cc7d1d6faa473f"/>
    <p:sldId xmlns:r="http://schemas.openxmlformats.org/officeDocument/2006/relationships" id="259" r:id="R5093deecc7864884"/>
    <p:sldId xmlns:r="http://schemas.openxmlformats.org/officeDocument/2006/relationships" id="260" r:id="Ra454830da7314d78"/>
    <p:sldId xmlns:r="http://schemas.openxmlformats.org/officeDocument/2006/relationships" id="261" r:id="Rbdc6c50e21ef48bb"/>
    <p:sldId xmlns:r="http://schemas.openxmlformats.org/officeDocument/2006/relationships" id="262" r:id="Rbbb88a79aafe427c"/>
    <p:sldId xmlns:r="http://schemas.openxmlformats.org/officeDocument/2006/relationships" id="263" r:id="R73494b83bb194ec1"/>
    <p:sldId xmlns:r="http://schemas.openxmlformats.org/officeDocument/2006/relationships" id="264" r:id="Rdebc8d2ac3904c03"/>
    <p:sldId xmlns:r="http://schemas.openxmlformats.org/officeDocument/2006/relationships" id="265" r:id="Ra5a07021e6654548"/>
    <p:sldId xmlns:r="http://schemas.openxmlformats.org/officeDocument/2006/relationships" id="266" r:id="Rbb9d2925207d4e1e"/>
    <p:sldId xmlns:r="http://schemas.openxmlformats.org/officeDocument/2006/relationships" id="267" r:id="R14a4d2b205ba4395"/>
    <p:sldId xmlns:r="http://schemas.openxmlformats.org/officeDocument/2006/relationships" id="268" r:id="Rfc2b8b6a193d41a0"/>
    <p:sldId xmlns:r="http://schemas.openxmlformats.org/officeDocument/2006/relationships" id="269" r:id="Rdc94624353e24f6e"/>
    <p:sldId xmlns:r="http://schemas.openxmlformats.org/officeDocument/2006/relationships" id="270" r:id="Ra1cbd2385dcb4e22"/>
    <p:sldId xmlns:r="http://schemas.openxmlformats.org/officeDocument/2006/relationships" id="271" r:id="Rd6eebb455d6749df"/>
    <p:sldId xmlns:r="http://schemas.openxmlformats.org/officeDocument/2006/relationships" id="272" r:id="R8ee3b52d405c421e"/>
    <p:sldId xmlns:r="http://schemas.openxmlformats.org/officeDocument/2006/relationships" id="273" r:id="Rb32115231fe34160"/>
    <p:sldId xmlns:r="http://schemas.openxmlformats.org/officeDocument/2006/relationships" id="274" r:id="R3fd4c747afd64875"/>
    <p:sldId xmlns:r="http://schemas.openxmlformats.org/officeDocument/2006/relationships" id="275" r:id="R5a3570a1e02744d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284df0ca454c4e" /><Relationship Type="http://schemas.openxmlformats.org/officeDocument/2006/relationships/slideMaster" Target="/ppt/slideMasters/slideMaster1.xml" Id="R619c517a7ea9445a" /><Relationship Type="http://schemas.openxmlformats.org/officeDocument/2006/relationships/notesMaster" Target="/ppt/notesMasters/notesMaster1.xml" Id="Rf704208071094658" /><Relationship Type="http://schemas.openxmlformats.org/officeDocument/2006/relationships/presProps" Target="/ppt/presProps.xml" Id="Rdde89ab686d14be9" /><Relationship Type="http://schemas.openxmlformats.org/officeDocument/2006/relationships/tableStyles" Target="/ppt/tableStyles.xml" Id="Rcabc49482c004561" /><Relationship Type="http://schemas.openxmlformats.org/officeDocument/2006/relationships/slide" Target="/ppt/slides/slide1.xml" Id="Raa72a0d5cfae466e" /><Relationship Type="http://schemas.openxmlformats.org/officeDocument/2006/relationships/slide" Target="/ppt/slides/slide2.xml" Id="R36e0b11fdedb4f05" /><Relationship Type="http://schemas.openxmlformats.org/officeDocument/2006/relationships/slide" Target="/ppt/slides/slide3.xml" Id="Rf6cc7d1d6faa473f" /><Relationship Type="http://schemas.openxmlformats.org/officeDocument/2006/relationships/slide" Target="/ppt/slides/slide4.xml" Id="R5093deecc7864884" /><Relationship Type="http://schemas.openxmlformats.org/officeDocument/2006/relationships/slide" Target="/ppt/slides/slide5.xml" Id="Ra454830da7314d78" /><Relationship Type="http://schemas.openxmlformats.org/officeDocument/2006/relationships/slide" Target="/ppt/slides/slide6.xml" Id="Rbdc6c50e21ef48bb" /><Relationship Type="http://schemas.openxmlformats.org/officeDocument/2006/relationships/slide" Target="/ppt/slides/slide7.xml" Id="Rbbb88a79aafe427c" /><Relationship Type="http://schemas.openxmlformats.org/officeDocument/2006/relationships/slide" Target="/ppt/slides/slide8.xml" Id="R73494b83bb194ec1" /><Relationship Type="http://schemas.openxmlformats.org/officeDocument/2006/relationships/slide" Target="/ppt/slides/slide9.xml" Id="Rdebc8d2ac3904c03" /><Relationship Type="http://schemas.openxmlformats.org/officeDocument/2006/relationships/slide" Target="/ppt/slides/slide10.xml" Id="Ra5a07021e6654548" /><Relationship Type="http://schemas.openxmlformats.org/officeDocument/2006/relationships/slide" Target="/ppt/slides/slide11.xml" Id="Rbb9d2925207d4e1e" /><Relationship Type="http://schemas.openxmlformats.org/officeDocument/2006/relationships/slide" Target="/ppt/slides/slide12.xml" Id="R14a4d2b205ba4395" /><Relationship Type="http://schemas.openxmlformats.org/officeDocument/2006/relationships/slide" Target="/ppt/slides/slide13.xml" Id="Rfc2b8b6a193d41a0" /><Relationship Type="http://schemas.openxmlformats.org/officeDocument/2006/relationships/slide" Target="/ppt/slides/slide14.xml" Id="Rdc94624353e24f6e" /><Relationship Type="http://schemas.openxmlformats.org/officeDocument/2006/relationships/slide" Target="/ppt/slides/slide15.xml" Id="Ra1cbd2385dcb4e22" /><Relationship Type="http://schemas.openxmlformats.org/officeDocument/2006/relationships/slide" Target="/ppt/slides/slide16.xml" Id="Rd6eebb455d6749df" /><Relationship Type="http://schemas.openxmlformats.org/officeDocument/2006/relationships/slide" Target="/ppt/slides/slide17.xml" Id="R8ee3b52d405c421e" /><Relationship Type="http://schemas.openxmlformats.org/officeDocument/2006/relationships/slide" Target="/ppt/slides/slide18.xml" Id="Rb32115231fe34160" /><Relationship Type="http://schemas.openxmlformats.org/officeDocument/2006/relationships/slide" Target="/ppt/slides/slide19.xml" Id="R3fd4c747afd64875" /><Relationship Type="http://schemas.openxmlformats.org/officeDocument/2006/relationships/slide" Target="/ppt/slides/slide20.xml" Id="R5a3570a1e02744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1758fbe1494d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40e617b1434edc" /><Relationship Type="http://schemas.openxmlformats.org/officeDocument/2006/relationships/notesMaster" Target="/ppt/notesMasters/notesMaster1.xml" Id="R7f4b40b6ab5c4f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70cf16603b49e6" /><Relationship Type="http://schemas.openxmlformats.org/officeDocument/2006/relationships/notesMaster" Target="/ppt/notesMasters/notesMaster1.xml" Id="R032f65b4790942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26514acab94307" /><Relationship Type="http://schemas.openxmlformats.org/officeDocument/2006/relationships/notesMaster" Target="/ppt/notesMasters/notesMaster1.xml" Id="R554e70c33d504f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4ff66dbe0549dd" /><Relationship Type="http://schemas.openxmlformats.org/officeDocument/2006/relationships/notesMaster" Target="/ppt/notesMasters/notesMaster1.xml" Id="Rc2cefc81216f49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a65db08e39485a" /><Relationship Type="http://schemas.openxmlformats.org/officeDocument/2006/relationships/notesMaster" Target="/ppt/notesMasters/notesMaster1.xml" Id="R1c9e3290aac44c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ca9ad22ad64159" /><Relationship Type="http://schemas.openxmlformats.org/officeDocument/2006/relationships/notesMaster" Target="/ppt/notesMasters/notesMaster1.xml" Id="R784af74ad99543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9c910f040c4775" /><Relationship Type="http://schemas.openxmlformats.org/officeDocument/2006/relationships/notesMaster" Target="/ppt/notesMasters/notesMaster1.xml" Id="Rb953c43d784443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4355a1a63840c6" /><Relationship Type="http://schemas.openxmlformats.org/officeDocument/2006/relationships/notesMaster" Target="/ppt/notesMasters/notesMaster1.xml" Id="Rcc823e34cf5245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10c481c2534205" /><Relationship Type="http://schemas.openxmlformats.org/officeDocument/2006/relationships/notesMaster" Target="/ppt/notesMasters/notesMaster1.xml" Id="R43b86dbf423e4b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b9a7b74b5784d5a" /><Relationship Type="http://schemas.openxmlformats.org/officeDocument/2006/relationships/notesMaster" Target="/ppt/notesMasters/notesMaster1.xml" Id="Rd6eb2855300a46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b7ba9bbe684752" /><Relationship Type="http://schemas.openxmlformats.org/officeDocument/2006/relationships/notesMaster" Target="/ppt/notesMasters/notesMaster1.xml" Id="Rcf6e25c7b4ba420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d9633653e04108" /><Relationship Type="http://schemas.openxmlformats.org/officeDocument/2006/relationships/notesMaster" Target="/ppt/notesMasters/notesMaster1.xml" Id="Rd8bc86af630d44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4144270a264af5" /><Relationship Type="http://schemas.openxmlformats.org/officeDocument/2006/relationships/notesMaster" Target="/ppt/notesMasters/notesMaster1.xml" Id="R15cd25b899ae4d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651363787543a8" /><Relationship Type="http://schemas.openxmlformats.org/officeDocument/2006/relationships/notesMaster" Target="/ppt/notesMasters/notesMaster1.xml" Id="R5587cfcef679410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e9be58160004574" /><Relationship Type="http://schemas.openxmlformats.org/officeDocument/2006/relationships/notesMaster" Target="/ppt/notesMasters/notesMaster1.xml" Id="R646e4ecc33cf41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37aca783fa4094" /><Relationship Type="http://schemas.openxmlformats.org/officeDocument/2006/relationships/notesMaster" Target="/ppt/notesMasters/notesMaster1.xml" Id="R709c4c48f3a24f2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3f910cd1ffb4158" /><Relationship Type="http://schemas.openxmlformats.org/officeDocument/2006/relationships/notesMaster" Target="/ppt/notesMasters/notesMaster1.xml" Id="R86bdf57d0c5f4d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d0dd8785564daa" /><Relationship Type="http://schemas.openxmlformats.org/officeDocument/2006/relationships/notesMaster" Target="/ppt/notesMasters/notesMaster1.xml" Id="R34e126b21b24434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7084d0868da47e9" /><Relationship Type="http://schemas.openxmlformats.org/officeDocument/2006/relationships/notesMaster" Target="/ppt/notesMasters/notesMaster1.xml" Id="R272feb80f1c9424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82172b03d774410" /><Relationship Type="http://schemas.openxmlformats.org/officeDocument/2006/relationships/notesMaster" Target="/ppt/notesMasters/notesMaster1.xml" Id="R7b8885320a3d46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Touhidul Alam Seyam</a:t>
            </a:r>
          </a:p>
          <a:p xmlns:a="http://schemas.openxmlformats.org/drawingml/2006/main">
            <a:r>
              <a:t>Target time: 45 seconds</a:t>
            </a:r>
          </a:p>
          <a:p xmlns:a="http://schemas.openxmlformats.org/drawingml/2006/main">
            <a:r>
              <a:t/>
            </a:r>
          </a:p>
          <a:p xmlns:a="http://schemas.openxmlformats.org/drawingml/2006/main">
            <a:r>
              <a:t>Script:</a:t>
            </a:r>
          </a:p>
          <a:p xmlns:a="http://schemas.openxmlformats.org/drawingml/2006/main">
            <a:r>
              <a:t>Good morning. We are Team Huntrix. This talk is about a research question rather than a leaderboard position: when is a Bengali hallucination decision exact enough for a deterministic method, and when should the system abstain to a language-model judge? We will show how that question changed our architecture, which experiments failed, how the decision log shaped later versions, and what the organizer-run Phase 2 notebook revealed about source shift. The final score appears later as one evaluation view, alongside local tests, reproducibility checks, and runtime evidence.</a:t>
            </a:r>
          </a:p>
          <a:p xmlns:a="http://schemas.openxmlformats.org/drawingml/2006/main">
            <a:r>
              <a:t/>
            </a:r>
          </a:p>
          <a:p xmlns:a="http://schemas.openxmlformats.org/drawingml/2006/main">
            <a:r>
              <a:t>Sources:</a:t>
            </a:r>
          </a:p>
          <a:p xmlns:a="http://schemas.openxmlformats.org/drawingml/2006/main">
            <a:r>
              <a:t>[1] Competition task definition. [3,4] Bengali hallucination and idiom studies. [7] Team Huntrix experiment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Touhidul Alam Seyam</a:t>
            </a:r>
          </a:p>
          <a:p xmlns:a="http://schemas.openxmlformats.org/drawingml/2006/main">
            <a:r>
              <a:t>Target time: 50 seconds</a:t>
            </a:r>
          </a:p>
          <a:p xmlns:a="http://schemas.openxmlformats.org/drawingml/2006/main">
            <a:r>
              <a:t/>
            </a:r>
          </a:p>
          <a:p xmlns:a="http://schemas.openxmlformats.org/drawingml/2006/main">
            <a:r>
              <a:t>Script:</a:t>
            </a:r>
          </a:p>
          <a:p xmlns:a="http://schemas.openxmlformats.org/drawingml/2006/main">
            <a:r>
              <a:t>The label looked simple: zero for hallucinated and one for faithful. The rows were not simple. Some asked whether a response followed a supplied passage. Others needed arithmetic, option parsing, Bengali morphology, idiom meaning, legal sections, or a historical fact. One generic judge prompt had to switch between all of these without being told which evidence standard to use. It gave us a useful baseline, but it also created a ceiling. A response could sound reasonable while answering the wrong relation. That pushed us toward task routing.</a:t>
            </a:r>
          </a:p>
          <a:p xmlns:a="http://schemas.openxmlformats.org/drawingml/2006/main">
            <a:r>
              <a:t/>
            </a:r>
          </a:p>
          <a:p xmlns:a="http://schemas.openxmlformats.org/drawingml/2006/main">
            <a:r>
              <a:t>Sources:</a:t>
            </a:r>
          </a:p>
          <a:p xmlns:a="http://schemas.openxmlformats.org/drawingml/2006/main">
            <a:r>
              <a:t>[1] Competition data description. [3] BenHalluEval. [4] Sakhawat et al., Bengali idiom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Touhidul Alam Seyam</a:t>
            </a:r>
          </a:p>
          <a:p xmlns:a="http://schemas.openxmlformats.org/drawingml/2006/main">
            <a:r>
              <a:t>Target time: 55 seconds</a:t>
            </a:r>
          </a:p>
          <a:p xmlns:a="http://schemas.openxmlformats.org/drawingml/2006/main">
            <a:r>
              <a:t/>
            </a:r>
          </a:p>
          <a:p xmlns:a="http://schemas.openxmlformats.org/drawingml/2006/main">
            <a:r>
              <a:t>Script:</a:t>
            </a:r>
          </a:p>
          <a:p xmlns:a="http://schemas.openxmlformats.org/drawingml/2006/main">
            <a:r>
              <a:t>Our fix was a selective cascade. We normalize the row, identify its task family, and try only the rules that belong to that family. The technical contribution is the combination of selective routing, small task solvers, claim-level verification, typed provenance, and an offline two-T4 fallback. Exact lineage can decide an exact source match. Structured solvers can decide a parsed number or option. Context checks can decide a contradiction inside the supplied passage. Each stage can also return nothing. If the source is only similar, or the relation is unclear, the row reaches the judge. The next slide opens this router and shows the actual branch conditions.</a:t>
            </a:r>
          </a:p>
          <a:p xmlns:a="http://schemas.openxmlformats.org/drawingml/2006/main">
            <a:r>
              <a:t/>
            </a:r>
          </a:p>
          <a:p xmlns:a="http://schemas.openxmlformats.org/drawingml/2006/main">
            <a:r>
              <a:t>Sources:</a:t>
            </a:r>
          </a:p>
          <a:p xmlns:a="http://schemas.openxmlformats.org/drawingml/2006/main">
            <a:r>
              <a:t>[3] BenHalluEval. [4] Bengali idiom benchmark. [7] Frozen v91 architecture and trace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Touhidul Alam Seyam</a:t>
            </a:r>
          </a:p>
          <a:p xmlns:a="http://schemas.openxmlformats.org/drawingml/2006/main">
            <a:r>
              <a:t>Target time: 65 seconds</a:t>
            </a:r>
          </a:p>
          <a:p xmlns:a="http://schemas.openxmlformats.org/drawingml/2006/main">
            <a:r>
              <a:t/>
            </a:r>
          </a:p>
          <a:p xmlns:a="http://schemas.openxmlformats.org/drawingml/2006/main">
            <a:r>
              <a:t>Script:</a:t>
            </a:r>
          </a:p>
          <a:p xmlns:a="http://schemas.openxmlformats.org/drawingml/2006/main">
            <a:r>
              <a:t>This is the router in operational form. After normalization, the first question is whether the row contains an answer-bearing context. If it does, the context verifier compares atomic claims. Without context, the router checks for a structured task such as a number, range, option, or morphology problem. The next branch asks whether an exact source lineage exists. Even then, typed evidence must match the entity, predicate, and value. A conflict between sources of equal trust forces abstention. Every branch has the same contract: return zero, one, or null. Null is not an error. It sends the row forward. Only the final unresolved tail reaches the LLM judge. Abtahee will now quantify that split and then open the two main verification paths.</a:t>
            </a:r>
          </a:p>
          <a:p xmlns:a="http://schemas.openxmlformats.org/drawingml/2006/main">
            <a:r>
              <a:t/>
            </a:r>
          </a:p>
          <a:p xmlns:a="http://schemas.openxmlformats.org/drawingml/2006/main">
            <a:r>
              <a:t>Sources:</a:t>
            </a:r>
          </a:p>
          <a:p xmlns:a="http://schemas.openxmlformats.org/drawingml/2006/main">
            <a:r>
              <a:t>[3] BenHalluEval task decomposition. [7] Frozen v91 router implementation and trace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MD. Abtahee Kabir</a:t>
            </a:r>
          </a:p>
          <a:p xmlns:a="http://schemas.openxmlformats.org/drawingml/2006/main">
            <a:r>
              <a:t>Target time: 60 seconds</a:t>
            </a:r>
          </a:p>
          <a:p xmlns:a="http://schemas.openxmlformats.org/drawingml/2006/main">
            <a:r>
              <a:t/>
            </a:r>
          </a:p>
          <a:p xmlns:a="http://schemas.openxmlformats.org/drawingml/2006/main">
            <a:r>
              <a:t>Script:</a:t>
            </a:r>
          </a:p>
          <a:p xmlns:a="http://schemas.openxmlformats.org/drawingml/2006/main">
            <a:r>
              <a:t>The deterministic branch was not one large collection of keywords. It contained separate parsers with the same output contract. The numeric solver normalized Bengali digits, units, dates, and ranges before checking the exact comparison requested. The multiple-choice solver extracted the option set, mapped aliases, and verified that the response selected a valid option. The morphology solver identified the requested form and compared the root, suffix, or grammatical class. Idiom and lexical rows first distinguished literal from figurative meaning. All four produced an entity, predicate, parsed value, source, and verdict. If any required field was missing or contradictory, the solver returned null. This shared contract made the router testable even though the parsers were task-specific.</a:t>
            </a:r>
          </a:p>
          <a:p xmlns:a="http://schemas.openxmlformats.org/drawingml/2006/main">
            <a:r>
              <a:t/>
            </a:r>
          </a:p>
          <a:p xmlns:a="http://schemas.openxmlformats.org/drawingml/2006/main">
            <a:r>
              <a:t>Sources:</a:t>
            </a:r>
          </a:p>
          <a:p xmlns:a="http://schemas.openxmlformats.org/drawingml/2006/main">
            <a:r>
              <a:t>[7] Frozen v91 structured solvers, typed relation schema, and regression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MD. Abtahee Kabir</a:t>
            </a:r>
          </a:p>
          <a:p xmlns:a="http://schemas.openxmlformats.org/drawingml/2006/main">
            <a:r>
              <a:t>Target time: 65 seconds</a:t>
            </a:r>
          </a:p>
          <a:p xmlns:a="http://schemas.openxmlformats.org/drawingml/2006/main">
            <a:r>
              <a:t/>
            </a:r>
          </a:p>
          <a:p xmlns:a="http://schemas.openxmlformats.org/drawingml/2006/main">
            <a:r>
              <a:t>Script:</a:t>
            </a:r>
          </a:p>
          <a:p xmlns:a="http://schemas.openxmlformats.org/drawingml/2006/main">
            <a:r>
              <a:t>This released example shows why semantic similarity was not enough. The context says that Tareque Masud's latest feature film was Runway and that it was released in 2010. The prompt asks when the film was released. The response says Runway. That is a correct title and the correct entity, but it has the wrong semantic type. The expected predicate is release year, while the response supplies a film title. A retrieval system may see a highly related answer. Our relation gate rejects it and emits label zero. This is the concrete failure mode that motivated the predicate field used in later slides.</a:t>
            </a:r>
          </a:p>
          <a:p xmlns:a="http://schemas.openxmlformats.org/drawingml/2006/main">
            <a:r>
              <a:t/>
            </a:r>
          </a:p>
          <a:p xmlns:a="http://schemas.openxmlformats.org/drawingml/2006/main">
            <a:r>
              <a:t>Sources:</a:t>
            </a:r>
          </a:p>
          <a:p xmlns:a="http://schemas.openxmlformats.org/drawingml/2006/main">
            <a:r>
              <a:t>[1] Competition-released dataset samples.json, sample 4. [7] Frozen v91 predicate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MD. Abtahee Kabir</a:t>
            </a:r>
          </a:p>
          <a:p xmlns:a="http://schemas.openxmlformats.org/drawingml/2006/main">
            <a:r>
              <a:t>Target time: 65 seconds</a:t>
            </a:r>
          </a:p>
          <a:p xmlns:a="http://schemas.openxmlformats.org/drawingml/2006/main">
            <a:r>
              <a:t/>
            </a:r>
          </a:p>
          <a:p xmlns:a="http://schemas.openxmlformats.org/drawingml/2006/main">
            <a:r>
              <a:t>Script:</a:t>
            </a:r>
          </a:p>
          <a:p xmlns:a="http://schemas.openxmlformats.org/drawingml/2006/main">
            <a:r>
              <a:t>For context rows, raw similarity was not the decision variable. We split the context into clauses and the response into atomic factual claims. Alignment used anchors such as named entities, numbers, negation, and the requested relation. Each claim then received one of three states: supported, contradicted, or unknown. A single contradiction was enough for label zero. Label one required support for every factual claim and no unsupported addition. Anything between those cases produced abstention and moved to the judge. This claim-level rule matters when most of a response copies the context but changes one year, person, quantity, or polarity.</a:t>
            </a:r>
          </a:p>
          <a:p xmlns:a="http://schemas.openxmlformats.org/drawingml/2006/main">
            <a:r>
              <a:t/>
            </a:r>
          </a:p>
          <a:p xmlns:a="http://schemas.openxmlformats.org/drawingml/2006/main">
            <a:r>
              <a:t>Sources:</a:t>
            </a:r>
          </a:p>
          <a:p xmlns:a="http://schemas.openxmlformats.org/drawingml/2006/main">
            <a:r>
              <a:t>This is the expanded presentation view of Figure 2a in the report. [3] BenHalluEval context-faithfulness tasks. [7] Frozen v91 clause segmentation, anchor alignment, and claim decision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MD. Abtahee Kabir</a:t>
            </a:r>
          </a:p>
          <a:p xmlns:a="http://schemas.openxmlformats.org/drawingml/2006/main">
            <a:r>
              <a:t>Target time: 55 seconds</a:t>
            </a:r>
          </a:p>
          <a:p xmlns:a="http://schemas.openxmlformats.org/drawingml/2006/main">
            <a:r>
              <a:t/>
            </a:r>
          </a:p>
          <a:p xmlns:a="http://schemas.openxmlformats.org/drawingml/2006/main">
            <a:r>
              <a:t>Script:</a:t>
            </a:r>
          </a:p>
          <a:p xmlns:a="http://schemas.openxmlformats.org/drawingml/2006/main">
            <a:r>
              <a:t>The fallback used Qwen3.6 27B in a 16.332 GiB quantized checkpoint. Context rows received one entailment view. No-context rows received up to three short views: a factual check, strict exam grading, and a check that was deliberately cautious about faithful labels. A no-context response needed unanimous positive votes to receive label one. The first zero ended evaluation early. We disabled thinking and constrained generation to one binary token. Row order, prompt order, seeds, and batch boundaries were fixed. That made the judge fast enough to be a tail component rather than the whole system. Joyeta will now show how every accepted evidence record was traced back to a source and relation.</a:t>
            </a:r>
          </a:p>
          <a:p xmlns:a="http://schemas.openxmlformats.org/drawingml/2006/main">
            <a:r>
              <a:t/>
            </a:r>
          </a:p>
          <a:p xmlns:a="http://schemas.openxmlformats.org/drawingml/2006/main">
            <a:r>
              <a:t>Sources:</a:t>
            </a:r>
          </a:p>
          <a:p xmlns:a="http://schemas.openxmlformats.org/drawingml/2006/main">
            <a:r>
              <a:t>[5] Qwen3.6 model card. [6] llama.cpp, pinned b9637. [7] Frozen v91 judge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Joyeta Barua Moni</a:t>
            </a:r>
          </a:p>
          <a:p xmlns:a="http://schemas.openxmlformats.org/drawingml/2006/main">
            <a:r>
              <a:t>Target time: 65 seconds</a:t>
            </a:r>
          </a:p>
          <a:p xmlns:a="http://schemas.openxmlformats.org/drawingml/2006/main">
            <a:r>
              <a:t/>
            </a:r>
          </a:p>
          <a:p xmlns:a="http://schemas.openxmlformats.org/drawingml/2006/main">
            <a:r>
              <a:t>Script:</a:t>
            </a:r>
          </a:p>
          <a:p xmlns:a="http://schemas.openxmlformats.org/drawingml/2006/main">
            <a:r>
              <a:t>Every deterministic fact was stored as a typed evidence record. The record carried a source identifier, source family, normalized entity, predicate, value, and provenance. At prediction time, four gates had to pass. The entity had to match. The requested predicate had to match, not merely appear near the same topic. The value needed exact or task-specific equivalence. Finally, no source of equal trust could contradict it. The resulting trace recorded the route, source, predicate, and verdict. If any gate failed, the verdict was null and the row moved forward. This trace made error analysis possible without storing a manual label vector for the test set.</a:t>
            </a:r>
          </a:p>
          <a:p xmlns:a="http://schemas.openxmlformats.org/drawingml/2006/main">
            <a:r>
              <a:t/>
            </a:r>
          </a:p>
          <a:p xmlns:a="http://schemas.openxmlformats.org/drawingml/2006/main">
            <a:r>
              <a:t>Sources:</a:t>
            </a:r>
          </a:p>
          <a:p xmlns:a="http://schemas.openxmlformats.org/drawingml/2006/main">
            <a:r>
              <a:t>This is the expanded presentation view of Figure 2b in the report. [7] Frozen v91 evidence schema, provenance ledger, conflict audit, and row-level trace format.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Joyeta Barua Moni</a:t>
            </a:r>
          </a:p>
          <a:p xmlns:a="http://schemas.openxmlformats.org/drawingml/2006/main">
            <a:r>
              <a:t>Target time: 60 seconds</a:t>
            </a:r>
          </a:p>
          <a:p xmlns:a="http://schemas.openxmlformats.org/drawingml/2006/main">
            <a:r>
              <a:t/>
            </a:r>
          </a:p>
          <a:p xmlns:a="http://schemas.openxmlformats.org/drawingml/2006/main">
            <a:r>
              <a:t>Script:</a:t>
            </a:r>
          </a:p>
          <a:p xmlns:a="http://schemas.openxmlformats.org/drawingml/2006/main">
            <a:r>
              <a:t>This table makes the evolution easier to compare, but it is not a controlled ablation because each version accumulates more than one change. The baseline scored 0.657. A uniform Qwen judge raised that to 0.797 but judged every row under one policy. v6 introduced source and structured routing and reached 0.903, the largest observed step. v37 tightened provenance and reduced the unresolved queue to 312 rows. v85 added a reproducible two-source anchor and left 193 rows. v91 required typed idiom and predicate guards, reached 0.967 publicly, and left 158 rows. The important evidence is the alignment between score movement, queue reduction, and documented architectural changes, not a claim that each row is a pure single-variable experiment.</a:t>
            </a:r>
          </a:p>
          <a:p xmlns:a="http://schemas.openxmlformats.org/drawingml/2006/main">
            <a:r>
              <a:t/>
            </a:r>
          </a:p>
          <a:p xmlns:a="http://schemas.openxmlformats.org/drawingml/2006/main">
            <a:r>
              <a:t>Sources:</a:t>
            </a:r>
          </a:p>
          <a:p xmlns:a="http://schemas.openxmlformats.org/drawingml/2006/main">
            <a:r>
              <a:t>[7] Team Huntrix experiment log and public leaderboard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Joyeta Barua Moni</a:t>
            </a:r>
          </a:p>
          <a:p xmlns:a="http://schemas.openxmlformats.org/drawingml/2006/main">
            <a:r>
              <a:t>Target time: 60 seconds</a:t>
            </a:r>
          </a:p>
          <a:p xmlns:a="http://schemas.openxmlformats.org/drawingml/2006/main">
            <a:r>
              <a:t/>
            </a:r>
          </a:p>
          <a:p xmlns:a="http://schemas.openxmlformats.org/drawingml/2006/main">
            <a:r>
              <a:t>Script:</a:t>
            </a:r>
          </a:p>
          <a:p xmlns:a="http://schemas.openxmlformats.org/drawingml/2006/main">
            <a:r>
              <a:t>The decision log mattered because a failed experiment had to change the next experiment. Prompt voting looked reasonable on the released set and scored 0.783 publicly, so we stopped treating prompt variation as independent evidence. The TF-IDF verifier reached 0.826 out of fold but missed cultural facts, so we retained it only as a portable fallback. Raw retrieval often found the right entity and the wrong relation, so retrieval was restricted to proposing candidates. v87 changed two labels using plausible facts and reduced the public score from 0.966 to 0.965. We reverted it and added the source-plus-predicate admission rule. Later changes also had to preserve the regression suite and emit an evidence trace.</a:t>
            </a:r>
          </a:p>
          <a:p xmlns:a="http://schemas.openxmlformats.org/drawingml/2006/main">
            <a:r>
              <a:t/>
            </a:r>
          </a:p>
          <a:p xmlns:a="http://schemas.openxmlformats.org/drawingml/2006/main">
            <a:r>
              <a:t>Sources:</a:t>
            </a:r>
          </a:p>
          <a:p xmlns:a="http://schemas.openxmlformats.org/drawingml/2006/main">
            <a:r>
              <a:t>[7] Team Huntrix EXPERIMENT.log and scored submission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Joyeta Barua Moni</a:t>
            </a:r>
          </a:p>
          <a:p xmlns:a="http://schemas.openxmlformats.org/drawingml/2006/main">
            <a:r>
              <a:t>Target time: 60 seconds</a:t>
            </a:r>
          </a:p>
          <a:p xmlns:a="http://schemas.openxmlformats.org/drawingml/2006/main">
            <a:r>
              <a:t/>
            </a:r>
          </a:p>
          <a:p xmlns:a="http://schemas.openxmlformats.org/drawingml/2006/main">
            <a:r>
              <a:t>Script:</a:t>
            </a:r>
          </a:p>
          <a:p xmlns:a="http://schemas.openxmlformats.org/drawingml/2006/main">
            <a:r>
              <a:t>We treated reproducibility as a result, not an administrative detail. The codebase had 249 automated tests, including 225 deterministic controls. The notebook reads the organizer's literal test path, loads pinned model, runtime, and evidence assets, and uses a fixed row, prompt, and batch schedule. One local llama.cpp server tensor-splits the model equally across the two T4 GPUs. The final validator preserves incoming IDs and writes exactly id and label. Three full runs produced byte-identical files, the frozen hash matched the scored CSV, and the organizer-run notebook validated 5,000 Phase 2 rows in 3 hours and 52 minutes. These checks establish execution integrity; they do not substitute for an unreleased Phase 2 accuracy score. Orny will cover the measured deployment run next.</a:t>
            </a:r>
          </a:p>
          <a:p xmlns:a="http://schemas.openxmlformats.org/drawingml/2006/main">
            <a:r>
              <a:t/>
            </a:r>
          </a:p>
          <a:p xmlns:a="http://schemas.openxmlformats.org/drawingml/2006/main">
            <a:r>
              <a:t>Sources:</a:t>
            </a:r>
          </a:p>
          <a:p xmlns:a="http://schemas.openxmlformats.org/drawingml/2006/main">
            <a:r>
              <a:t>[7] Regression suite, freeze manifest, released-label evaluation and aggregate competition records. [8] Phase 2 runtime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Noore Tamanna Orny</a:t>
            </a:r>
          </a:p>
          <a:p xmlns:a="http://schemas.openxmlformats.org/drawingml/2006/main">
            <a:r>
              <a:t>Target time: 65 seconds</a:t>
            </a:r>
          </a:p>
          <a:p xmlns:a="http://schemas.openxmlformats.org/drawingml/2006/main">
            <a:r>
              <a:t/>
            </a:r>
          </a:p>
          <a:p xmlns:a="http://schemas.openxmlformats.org/drawingml/2006/main">
            <a:r>
              <a:t>Script:</a:t>
            </a:r>
          </a:p>
          <a:p xmlns:a="http://schemas.openxmlformats.org/drawingml/2006/main">
            <a:r>
              <a:t>The organizer-run Phase 2 notebook processed exactly 5,000 rows on two Tesla T4 GPUs. The router finished in 73.18 seconds but resolved only 207 rows, or 4.14 percent. The remaining 4,793 rows went to Qwen. The model was ready 171.25 seconds after the notebook started, and the judge stage took 13,747.50 seconds. End-to-end runtime was 13,921.91 seconds, which is 3 hours, 52 minutes, and 1.91 seconds. The output validation cell completed successfully with 5,000 ordered IDs and binary labels. This used 42.97 percent of the nine-hour budget. It is measured runtime evidence, not a Phase 2 accuracy score.</a:t>
            </a:r>
          </a:p>
          <a:p xmlns:a="http://schemas.openxmlformats.org/drawingml/2006/main">
            <a:r>
              <a:t/>
            </a:r>
          </a:p>
          <a:p xmlns:a="http://schemas.openxmlformats.org/drawingml/2006/main">
            <a:r>
              <a:t>Sources:</a:t>
            </a:r>
          </a:p>
          <a:p xmlns:a="http://schemas.openxmlformats.org/drawingml/2006/main">
            <a:r>
              <a:t>[8] Organizer-executed Phase 2 notebook huntrix-1.ipynb and its final runtime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Noore Tamanna Orny</a:t>
            </a:r>
          </a:p>
          <a:p xmlns:a="http://schemas.openxmlformats.org/drawingml/2006/main">
            <a:r>
              <a:t>Target time: 60 seconds</a:t>
            </a:r>
          </a:p>
          <a:p xmlns:a="http://schemas.openxmlformats.org/drawingml/2006/main">
            <a:r>
              <a:t/>
            </a:r>
          </a:p>
          <a:p xmlns:a="http://schemas.openxmlformats.org/drawingml/2006/main">
            <a:r>
              <a:t>Script:</a:t>
            </a:r>
          </a:p>
          <a:p xmlns:a="http://schemas.openxmlformats.org/drawingml/2006/main">
            <a:r>
              <a:t>Phase 2 changed the source distribution as expected. The organizer listed Common Crawl, recent newspapers, Wikipedia, Banglapedia, government service pages, Bangladesh law, NCTB textbooks, and literature. Deterministic coverage fell from 93.72 percent in Phase 1 to 4.14 percent in the held-out run. The router did not compensate by forcing approximate evidence. It abstained, and 95.86 percent of rows reached the fixed judge. That raised runtime to 3 hours and 52 minutes, but the notebook still finished with more than five hours of headroom. Accuracy remains an open question until the organizer provides a score.</a:t>
            </a:r>
          </a:p>
          <a:p xmlns:a="http://schemas.openxmlformats.org/drawingml/2006/main">
            <a:r>
              <a:t/>
            </a:r>
          </a:p>
          <a:p xmlns:a="http://schemas.openxmlformats.org/drawingml/2006/main">
            <a:r>
              <a:t>Sources:</a:t>
            </a:r>
          </a:p>
          <a:p xmlns:a="http://schemas.openxmlformats.org/drawingml/2006/main">
            <a:r>
              <a:t>[2] Organizer Phase 2 source preview. [8] Measured held-out routing and runtime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Noore Tamanna Orny</a:t>
            </a:r>
          </a:p>
          <a:p xmlns:a="http://schemas.openxmlformats.org/drawingml/2006/main">
            <a:r>
              <a:t>Target time: 45 seconds</a:t>
            </a:r>
          </a:p>
          <a:p xmlns:a="http://schemas.openxmlformats.org/drawingml/2006/main">
            <a:r>
              <a:t/>
            </a:r>
          </a:p>
          <a:p xmlns:a="http://schemas.openxmlformats.org/drawingml/2006/main">
            <a:r>
              <a:t>Script:</a:t>
            </a:r>
          </a:p>
          <a:p xmlns:a="http://schemas.openxmlformats.org/drawingml/2006/main">
            <a:r>
              <a:t>We will close by separating supported findings from open questions. The experiments support three design choices: task families benefit from separate policies, predicate alignment reduces relation swaps, and explicit abstention keeps the pipeline safe when deterministic coverage falls. The main limitations are equally important. We had only 299 released labels, aggregate competition scores provide no row-level errors, and the Phase 2 accuracy result is still unknown. When those labels or analyses become available, the next work is to inspect the judged tail, recalibrate uncertain cases, and expand licensed evidence for civic and news domains. What we can already verify is reproducibility and runtime compliance. We are ready for your questions.</a:t>
            </a:r>
          </a:p>
          <a:p xmlns:a="http://schemas.openxmlformats.org/drawingml/2006/main">
            <a:r>
              <a:t/>
            </a:r>
          </a:p>
          <a:p xmlns:a="http://schemas.openxmlformats.org/drawingml/2006/main">
            <a:r>
              <a:t>Sources:</a:t>
            </a:r>
          </a:p>
          <a:p xmlns:a="http://schemas.openxmlformats.org/drawingml/2006/main">
            <a:r>
              <a:t>[7] Team Huntrix experiment and regression records. [8] Measured Phase 2 runtime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Q&amp;A</a:t>
            </a:r>
          </a:p>
          <a:p xmlns:a="http://schemas.openxmlformats.org/drawingml/2006/main">
            <a:r>
              <a:t/>
            </a:r>
          </a:p>
          <a:p xmlns:a="http://schemas.openxmlformats.org/drawingml/2006/main">
            <a:r>
              <a:t>Use when judges ask how one binary label can cover very different task families.</a:t>
            </a:r>
          </a:p>
          <a:p xmlns:a="http://schemas.openxmlformats.org/drawingml/2006/main">
            <a:r>
              <a:t/>
            </a:r>
          </a:p>
          <a:p xmlns:a="http://schemas.openxmlformats.org/drawingml/2006/main">
            <a:r>
              <a:t>The label semantics never changed: zero means hallucinated and one means faithful. What changed was the support test. Context rows require claim-level support from the supplied passage. Closed-form rows require the exact requested calculation or option. Language rows require the requested grammatical form or idiom sense. Knowledge rows require source lineage plus aligned entity, predicate, and typed value. Every branch returns the same typed trace or abstains.</a:t>
            </a:r>
          </a:p>
          <a:p xmlns:a="http://schemas.openxmlformats.org/drawingml/2006/main">
            <a:r>
              <a:t/>
            </a:r>
          </a:p>
          <a:p xmlns:a="http://schemas.openxmlformats.org/drawingml/2006/main">
            <a:r>
              <a:t>Sources:</a:t>
            </a:r>
          </a:p>
          <a:p xmlns:a="http://schemas.openxmlformats.org/drawingml/2006/main">
            <a:r>
              <a:t>[1] Competition label definition. [3,4] Task-family references. [7] Frozen v91 trace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Q&amp;A</a:t>
            </a:r>
          </a:p>
          <a:p xmlns:a="http://schemas.openxmlformats.org/drawingml/2006/main">
            <a:r>
              <a:t/>
            </a:r>
          </a:p>
          <a:p xmlns:a="http://schemas.openxmlformats.org/drawingml/2006/main">
            <a:r>
              <a:t>Use when judges ask which decision wins when evidence disagrees.</a:t>
            </a:r>
          </a:p>
          <a:p xmlns:a="http://schemas.openxmlformats.org/drawingml/2006/main">
            <a:r>
              <a:t/>
            </a:r>
          </a:p>
          <a:p xmlns:a="http://schemas.openxmlformats.org/drawingml/2006/main">
            <a:r>
              <a:t>A direct contradiction is sufficient for label zero. Label one is stricter: every factual claim must be supported and no unsupported addition may remain. Exact typed evidence can decide only when entity, requested predicate, value, and provenance all align. Missing fields, ambiguity, or equal-trust conflict produce null, which is abstention rather than an error. Only that unresolved tail reaches the fixed LLM judge.</a:t>
            </a:r>
          </a:p>
          <a:p xmlns:a="http://schemas.openxmlformats.org/drawingml/2006/main">
            <a:r>
              <a:t/>
            </a:r>
          </a:p>
          <a:p xmlns:a="http://schemas.openxmlformats.org/drawingml/2006/main">
            <a:r>
              <a:t>Source:</a:t>
            </a:r>
          </a:p>
          <a:p xmlns:a="http://schemas.openxmlformats.org/drawingml/2006/main">
            <a:r>
              <a:t>[7] Frozen v91 router, conflict audit, and decision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Q&amp;A</a:t>
            </a:r>
          </a:p>
          <a:p xmlns:a="http://schemas.openxmlformats.org/drawingml/2006/main">
            <a:r>
              <a:t/>
            </a:r>
          </a:p>
          <a:p xmlns:a="http://schemas.openxmlformats.org/drawingml/2006/main">
            <a:r>
              <a:t>Use when judges ask for a concrete trace.</a:t>
            </a:r>
          </a:p>
          <a:p xmlns:a="http://schemas.openxmlformats.org/drawingml/2006/main">
            <a:r>
              <a:t/>
            </a:r>
          </a:p>
          <a:p xmlns:a="http://schemas.openxmlformats.org/drawingml/2006/main">
            <a:r>
              <a:t>The released passage identifies Runway as Tareque Masud's latest feature film and gives 2010 as the release year. The prompt asks for the year, but the response says Runway. The entity is related, yet the requested predicate and observed value type do not align: a title is not a year. The trace therefore records context_verifier, supplied_context, release_year, and verdict zero. This is why semantic similarity alone was unsafe.</a:t>
            </a:r>
          </a:p>
          <a:p xmlns:a="http://schemas.openxmlformats.org/drawingml/2006/main">
            <a:r>
              <a:t/>
            </a:r>
          </a:p>
          <a:p xmlns:a="http://schemas.openxmlformats.org/drawingml/2006/main">
            <a:r>
              <a:t>Sources:</a:t>
            </a:r>
          </a:p>
          <a:p xmlns:a="http://schemas.openxmlformats.org/drawingml/2006/main">
            <a:r>
              <a:t>[1] Released competition sample. [7] Predicate-alignment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Q&amp;A</a:t>
            </a:r>
          </a:p>
          <a:p xmlns:a="http://schemas.openxmlformats.org/drawingml/2006/main">
            <a:r>
              <a:t/>
            </a:r>
          </a:p>
          <a:p xmlns:a="http://schemas.openxmlformats.org/drawingml/2006/main">
            <a:r>
              <a:t>Use when judges ask what each reported number proves.</a:t>
            </a:r>
          </a:p>
          <a:p xmlns:a="http://schemas.openxmlformats.org/drawingml/2006/main">
            <a:r>
              <a:t/>
            </a:r>
          </a:p>
          <a:p xmlns:a="http://schemas.openxmlformats.org/drawingml/2006/main">
            <a:r>
              <a:t>The 299 released labels can measure classification performance. The 249 automated tests show whether documented behavior was preserved. Three byte-identical runs show deterministic execution. Zero schema or ID-order failures show output integrity. The 5,000-row run establishes runtime compliance. The leaderboard gives an aggregate score but no row-level error labels. These are complementary evidence layers, not substitutes for one another.</a:t>
            </a:r>
          </a:p>
          <a:p xmlns:a="http://schemas.openxmlformats.org/drawingml/2006/main">
            <a:r>
              <a:t/>
            </a:r>
          </a:p>
          <a:p xmlns:a="http://schemas.openxmlformats.org/drawingml/2006/main">
            <a:r>
              <a:t>Sources:</a:t>
            </a:r>
          </a:p>
          <a:p xmlns:a="http://schemas.openxmlformats.org/drawingml/2006/main">
            <a:r>
              <a:t>[1] Released labels and leaderboard. [7] Regression ledger. [8] Phase 2 runtime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Q&amp;A</a:t>
            </a:r>
          </a:p>
          <a:p xmlns:a="http://schemas.openxmlformats.org/drawingml/2006/main">
            <a:r>
              <a:t/>
            </a:r>
          </a:p>
          <a:p xmlns:a="http://schemas.openxmlformats.org/drawingml/2006/main">
            <a:r>
              <a:t>Use when judges ask what changes after the held-out runtime run.</a:t>
            </a:r>
          </a:p>
          <a:p xmlns:a="http://schemas.openxmlformats.org/drawingml/2006/main">
            <a:r>
              <a:t/>
            </a:r>
          </a:p>
          <a:p xmlns:a="http://schemas.openxmlformats.org/drawingml/2006/main">
            <a:r>
              <a:t>The source shift reduced deterministic coverage from 93.72 percent to 4.14 percent, so 4,793 of 5,000 rows reached the fixed judge. That does not justify forcing approximate evidence. The next work should begin with labeled Phase 2 errors: cluster the judged tail, recalibrate abstention and vote rules, then add licensed civic and recent-news evidence. We would reject three shortcuts—fuzzy matches that bypass predicate checks, fine-tuning on only 299 released labels, and treating runtime success as accuracy.</a:t>
            </a:r>
          </a:p>
          <a:p xmlns:a="http://schemas.openxmlformats.org/drawingml/2006/main">
            <a:r>
              <a:t/>
            </a:r>
          </a:p>
          <a:p xmlns:a="http://schemas.openxmlformats.org/drawingml/2006/main">
            <a:r>
              <a:t>Sources:</a:t>
            </a:r>
          </a:p>
          <a:p xmlns:a="http://schemas.openxmlformats.org/drawingml/2006/main">
            <a:r>
              <a:t>[7] Frozen v91 system. [8] Organizer-run Phase 2 runtime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11b051fc1645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278f6ea5a64266" /><Relationship Type="http://schemas.openxmlformats.org/officeDocument/2006/relationships/slideLayout" Target="/ppt/slideLayouts/slideLayout1.xml" Id="Rd48b459d908547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8b459d908547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05dd179b2f4eb2" /><Relationship Type="http://schemas.openxmlformats.org/officeDocument/2006/relationships/notesSlide" Target="/ppt/notesSlides/notesSlide1.xml" Id="Re4db4de6026247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83f3ddf3ab4e6b" /><Relationship Type="http://schemas.openxmlformats.org/officeDocument/2006/relationships/notesSlide" Target="/ppt/notesSlides/notesSlide2.xml" Id="R97a5a5c9c63644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09c81edfbd4a9d" /><Relationship Type="http://schemas.openxmlformats.org/officeDocument/2006/relationships/notesSlide" Target="/ppt/notesSlides/notesSlide3.xml" Id="R4a127cb22e9a4b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5150000b584af4" /><Relationship Type="http://schemas.openxmlformats.org/officeDocument/2006/relationships/notesSlide" Target="/ppt/notesSlides/notesSlide4.xml" Id="Reaf2996cd4f248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7ba598e3e54b6b" /><Relationship Type="http://schemas.openxmlformats.org/officeDocument/2006/relationships/notesSlide" Target="/ppt/notesSlides/notesSlide5.xml" Id="R1c88726ce7044c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74d48ac7a2407b" /><Relationship Type="http://schemas.openxmlformats.org/officeDocument/2006/relationships/notesSlide" Target="/ppt/notesSlides/notesSlide6.xml" Id="Rddaaef87960e4b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b4321e61e04086" /><Relationship Type="http://schemas.openxmlformats.org/officeDocument/2006/relationships/notesSlide" Target="/ppt/notesSlides/notesSlide7.xml" Id="Rde155254924945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b1d9ca661834750" /><Relationship Type="http://schemas.openxmlformats.org/officeDocument/2006/relationships/notesSlide" Target="/ppt/notesSlides/notesSlide8.xml" Id="R95279f1fc1ed47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e29cb50f26a4d26" /><Relationship Type="http://schemas.openxmlformats.org/officeDocument/2006/relationships/notesSlide" Target="/ppt/notesSlides/notesSlide9.xml" Id="Raa0ea1e65b884c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39715d64194aa5" /><Relationship Type="http://schemas.openxmlformats.org/officeDocument/2006/relationships/notesSlide" Target="/ppt/notesSlides/notesSlide10.xml" Id="R5ed411a9797c4f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da7e69fa35c470d" /><Relationship Type="http://schemas.openxmlformats.org/officeDocument/2006/relationships/notesSlide" Target="/ppt/notesSlides/notesSlide11.xml" Id="R754ab79885c047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ce210564a5146f3" /><Relationship Type="http://schemas.openxmlformats.org/officeDocument/2006/relationships/notesSlide" Target="/ppt/notesSlides/notesSlide12.xml" Id="Rcbd168dfc5b042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fedaa901c44479a" /><Relationship Type="http://schemas.openxmlformats.org/officeDocument/2006/relationships/notesSlide" Target="/ppt/notesSlides/notesSlide13.xml" Id="R33f0614a302941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a749f77478742fe" /><Relationship Type="http://schemas.openxmlformats.org/officeDocument/2006/relationships/notesSlide" Target="/ppt/notesSlides/notesSlide14.xml" Id="Rc2b36f35606840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06a138b82be4b34" /><Relationship Type="http://schemas.openxmlformats.org/officeDocument/2006/relationships/notesSlide" Target="/ppt/notesSlides/notesSlide15.xml" Id="R28952ea1b1f2429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1c44cf7a7cd4f70" /><Relationship Type="http://schemas.openxmlformats.org/officeDocument/2006/relationships/notesSlide" Target="/ppt/notesSlides/notesSlide16.xml" Id="Rf1f3eaff5bf4434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5906900793b4e2a" /><Relationship Type="http://schemas.openxmlformats.org/officeDocument/2006/relationships/notesSlide" Target="/ppt/notesSlides/notesSlide17.xml" Id="Raf69ae7f8ef547f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dc6b220c4e4480d" /><Relationship Type="http://schemas.openxmlformats.org/officeDocument/2006/relationships/notesSlide" Target="/ppt/notesSlides/notesSlide18.xml" Id="Ra9ec65a01f5a4b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b3540a2b9a4428d" /><Relationship Type="http://schemas.openxmlformats.org/officeDocument/2006/relationships/notesSlide" Target="/ppt/notesSlides/notesSlide19.xml" Id="R7e7b8b9103a64fc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4f8eb8e2ab943b5" /><Relationship Type="http://schemas.openxmlformats.org/officeDocument/2006/relationships/notesSlide" Target="/ppt/notesSlides/notesSlide20.xml" Id="Re83b120cb4c54b9a"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6A8DF26-6BE0-42CF-B3E8-E67F43CFB69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A8C82"/>
          </a:solidFill>
          <a:ln xmlns:a="http://schemas.openxmlformats.org/drawingml/2006/main" w="0">
            <a:solidFill>
              <a:srgbClr val="2A8C82"/>
            </a:solidFill>
            <a:prstDash val="solid"/>
          </a:ln>
        </p:spPr>
      </p:sp>
      <p:sp>
        <p:nvSpPr>
          <p:cNvPr id="2" name="">
            <a:extLst xmlns:a="http://schemas.openxmlformats.org/drawingml/2006/main">
              <a:ext uri="{FF2B5EF4-FFF2-40B4-BE49-F238E27FC236}">
                <a16:creationId xmlns:a16="http://schemas.microsoft.com/office/drawing/2014/main" id="{35EB80A1-2A0C-4F10-B1B1-0CC577C3AEB4}"/>
              </a:ext>
            </a:extLst>
          </p:cNvPr>
          <p:cNvSpPr>
            <a:spLocks xmlns:a="http://schemas.openxmlformats.org/drawingml/2006/main" noGrp="1"/>
          </p:cNvSpPr>
          <p:nvPr/>
        </p:nvSpPr>
        <p:spPr>
          <a:xfrm xmlns:a="http://schemas.openxmlformats.org/drawingml/2006/main">
            <a:off x="876300" y="6667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F5A7A"/>
                </a:solidFill>
              </a:defRPr>
            </a:pPr>
            <a:r>
              <a:rPr sz="1200" b="1">
                <a:solidFill>
                  <a:srgbClr val="1F5A7A"/>
                </a:solidFill>
              </a:rPr>
              <a:t>BENGALI HALLUCINATION DETECTION</a:t>
            </a:r>
          </a:p>
        </p:txBody>
      </p:sp>
      <p:sp>
        <p:nvSpPr>
          <p:cNvPr id="3" name="">
            <a:extLst xmlns:a="http://schemas.openxmlformats.org/drawingml/2006/main">
              <a:ext uri="{FF2B5EF4-FFF2-40B4-BE49-F238E27FC236}">
                <a16:creationId xmlns:a16="http://schemas.microsoft.com/office/drawing/2014/main" id="{CE18E8FE-B679-4334-8E19-DDFA025F5A45}"/>
              </a:ext>
            </a:extLst>
          </p:cNvPr>
          <p:cNvSpPr>
            <a:spLocks xmlns:a="http://schemas.openxmlformats.org/drawingml/2006/main" noGrp="1"/>
          </p:cNvSpPr>
          <p:nvPr/>
        </p:nvSpPr>
        <p:spPr>
          <a:xfrm xmlns:a="http://schemas.openxmlformats.org/drawingml/2006/main">
            <a:off x="876300" y="1162050"/>
            <a:ext cx="8953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525" b="1">
                <a:solidFill>
                  <a:srgbClr val="0F172A"/>
                </a:solidFill>
              </a:defRPr>
            </a:pPr>
            <a:r>
              <a:rPr sz="3525" b="1">
                <a:solidFill>
                  <a:srgbClr val="0F172A"/>
                </a:solidFill>
              </a:rPr>
              <a:t>Evidence-first selective inference</a:t>
            </a:r>
          </a:p>
          <a:p xmlns:a="http://schemas.openxmlformats.org/drawingml/2006/main">
            <a:pPr algn="l">
              <a:buNone/>
              <a:defRPr sz="3525" b="1">
                <a:solidFill>
                  <a:srgbClr val="0F172A"/>
                </a:solidFill>
              </a:defRPr>
            </a:pPr>
            <a:r>
              <a:rPr sz="3525" b="1">
                <a:solidFill>
                  <a:srgbClr val="0F172A"/>
                </a:solidFill>
              </a:rPr>
              <a:t>for Bengali hallucination detection</a:t>
            </a:r>
          </a:p>
        </p:txBody>
      </p:sp>
      <p:sp>
        <p:nvSpPr>
          <p:cNvPr id="4" name="">
            <a:extLst xmlns:a="http://schemas.openxmlformats.org/drawingml/2006/main">
              <a:ext uri="{FF2B5EF4-FFF2-40B4-BE49-F238E27FC236}">
                <a16:creationId xmlns:a16="http://schemas.microsoft.com/office/drawing/2014/main" id="{7B6A14FA-74DF-4F2F-B211-DD00B34642B8}"/>
              </a:ext>
            </a:extLst>
          </p:cNvPr>
          <p:cNvSpPr>
            <a:spLocks xmlns:a="http://schemas.openxmlformats.org/drawingml/2006/main" noGrp="1"/>
          </p:cNvSpPr>
          <p:nvPr/>
        </p:nvSpPr>
        <p:spPr>
          <a:xfrm xmlns:a="http://schemas.openxmlformats.org/drawingml/2006/main">
            <a:off x="914400" y="2762250"/>
            <a:ext cx="828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a:solidFill>
                  <a:srgbClr val="526174"/>
                </a:solidFill>
              </a:defRPr>
            </a:pPr>
            <a:r>
              <a:rPr sz="1800" b="0">
                <a:solidFill>
                  <a:srgbClr val="526174"/>
                </a:solidFill>
              </a:rPr>
              <a:t>A study of routing, abstention, provenance, and domain shift</a:t>
            </a:r>
          </a:p>
        </p:txBody>
      </p:sp>
      <p:sp>
        <p:nvSpPr>
          <p:cNvPr id="5" name="">
            <a:extLst xmlns:a="http://schemas.openxmlformats.org/drawingml/2006/main">
              <a:ext uri="{FF2B5EF4-FFF2-40B4-BE49-F238E27FC236}">
                <a16:creationId xmlns:a16="http://schemas.microsoft.com/office/drawing/2014/main" id="{A7E234C8-EE93-4461-8539-AE508AD455F3}"/>
              </a:ext>
            </a:extLst>
          </p:cNvPr>
          <p:cNvSpPr>
            <a:spLocks xmlns:a="http://schemas.openxmlformats.org/drawingml/2006/main" noGrp="1"/>
          </p:cNvSpPr>
          <p:nvPr/>
        </p:nvSpPr>
        <p:spPr>
          <a:xfrm xmlns:a="http://schemas.openxmlformats.org/drawingml/2006/main">
            <a:off x="914400" y="3390900"/>
            <a:ext cx="99060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6" name="">
            <a:extLst xmlns:a="http://schemas.openxmlformats.org/drawingml/2006/main">
              <a:ext uri="{FF2B5EF4-FFF2-40B4-BE49-F238E27FC236}">
                <a16:creationId xmlns:a16="http://schemas.microsoft.com/office/drawing/2014/main" id="{6A5A1960-7CFE-4B14-8CDF-1DAA66E5EF42}"/>
              </a:ext>
            </a:extLst>
          </p:cNvPr>
          <p:cNvSpPr>
            <a:spLocks xmlns:a="http://schemas.openxmlformats.org/drawingml/2006/main" noGrp="1"/>
          </p:cNvSpPr>
          <p:nvPr/>
        </p:nvSpPr>
        <p:spPr>
          <a:xfrm xmlns:a="http://schemas.openxmlformats.org/drawingml/2006/main">
            <a:off x="914400" y="3714750"/>
            <a:ext cx="8858250" cy="1123950"/>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D8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4042306-E46F-4B58-9D04-D6B0D654154C}"/>
              </a:ext>
            </a:extLst>
          </p:cNvPr>
          <p:cNvSpPr>
            <a:spLocks xmlns:a="http://schemas.openxmlformats.org/drawingml/2006/main" noGrp="1"/>
          </p:cNvSpPr>
          <p:nvPr/>
        </p:nvSpPr>
        <p:spPr>
          <a:xfrm xmlns:a="http://schemas.openxmlformats.org/drawingml/2006/main">
            <a:off x="1200150" y="3943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F5A7A"/>
                </a:solidFill>
              </a:defRPr>
            </a:pPr>
            <a:r>
              <a:rPr sz="1350" b="1">
                <a:solidFill>
                  <a:srgbClr val="1F5A7A"/>
                </a:solidFill>
              </a:rPr>
              <a:t>Research question</a:t>
            </a:r>
          </a:p>
        </p:txBody>
      </p:sp>
      <p:sp>
        <p:nvSpPr>
          <p:cNvPr id="8" name="">
            <a:extLst xmlns:a="http://schemas.openxmlformats.org/drawingml/2006/main">
              <a:ext uri="{FF2B5EF4-FFF2-40B4-BE49-F238E27FC236}">
                <a16:creationId xmlns:a16="http://schemas.microsoft.com/office/drawing/2014/main" id="{A3918071-8E5A-497A-A13F-45323B3D2334}"/>
              </a:ext>
            </a:extLst>
          </p:cNvPr>
          <p:cNvSpPr>
            <a:spLocks xmlns:a="http://schemas.openxmlformats.org/drawingml/2006/main" noGrp="1"/>
          </p:cNvSpPr>
          <p:nvPr/>
        </p:nvSpPr>
        <p:spPr>
          <a:xfrm xmlns:a="http://schemas.openxmlformats.org/drawingml/2006/main">
            <a:off x="3333750" y="3886200"/>
            <a:ext cx="6057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0F172A"/>
                </a:solidFill>
              </a:defRPr>
            </a:pPr>
            <a:r>
              <a:rPr sz="1725" b="1">
                <a:solidFill>
                  <a:srgbClr val="0F172A"/>
                </a:solidFill>
              </a:rPr>
              <a:t>When should exact evidence decide, and when should the system abstain to a language-model judge?</a:t>
            </a:r>
          </a:p>
        </p:txBody>
      </p:sp>
      <p:sp>
        <p:nvSpPr>
          <p:cNvPr id="9" name="">
            <a:extLst xmlns:a="http://schemas.openxmlformats.org/drawingml/2006/main">
              <a:ext uri="{FF2B5EF4-FFF2-40B4-BE49-F238E27FC236}">
                <a16:creationId xmlns:a16="http://schemas.microsoft.com/office/drawing/2014/main" id="{82F4C6A0-B57B-4034-ADA6-2561B683440A}"/>
              </a:ext>
            </a:extLst>
          </p:cNvPr>
          <p:cNvSpPr>
            <a:spLocks xmlns:a="http://schemas.openxmlformats.org/drawingml/2006/main" noGrp="1"/>
          </p:cNvSpPr>
          <p:nvPr/>
        </p:nvSpPr>
        <p:spPr>
          <a:xfrm xmlns:a="http://schemas.openxmlformats.org/drawingml/2006/main">
            <a:off x="1200150" y="44958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174"/>
                </a:solidFill>
              </a:defRPr>
            </a:pPr>
            <a:r>
              <a:rPr sz="1275" b="0">
                <a:solidFill>
                  <a:srgbClr val="526174"/>
                </a:solidFill>
              </a:rPr>
              <a:t>We trace the hypotheses, failed experiments, routing policies, regression gates, and Phase 2 shift.</a:t>
            </a:r>
          </a:p>
        </p:txBody>
      </p:sp>
      <p:sp>
        <p:nvSpPr>
          <p:cNvPr id="10" name="">
            <a:extLst xmlns:a="http://schemas.openxmlformats.org/drawingml/2006/main">
              <a:ext uri="{FF2B5EF4-FFF2-40B4-BE49-F238E27FC236}">
                <a16:creationId xmlns:a16="http://schemas.microsoft.com/office/drawing/2014/main" id="{4DC3A532-DF95-45D8-85FA-958E99802C7C}"/>
              </a:ext>
            </a:extLst>
          </p:cNvPr>
          <p:cNvSpPr>
            <a:spLocks xmlns:a="http://schemas.openxmlformats.org/drawingml/2006/main" noGrp="1"/>
          </p:cNvSpPr>
          <p:nvPr/>
        </p:nvSpPr>
        <p:spPr>
          <a:xfrm xmlns:a="http://schemas.openxmlformats.org/drawingml/2006/main">
            <a:off x="914400" y="5619750"/>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F172A"/>
                </a:solidFill>
              </a:defRPr>
            </a:pPr>
            <a:r>
              <a:rPr sz="1275" b="1">
                <a:solidFill>
                  <a:srgbClr val="0F172A"/>
                </a:solidFill>
              </a:rPr>
              <a:t>Touhidul Alam Seyam  |  MD. Abtahee Kabir  |  Joyeta Barua Moni  |  Noore Tamanna Orny</a:t>
            </a:r>
          </a:p>
        </p:txBody>
      </p:sp>
      <p:sp>
        <p:nvSpPr>
          <p:cNvPr id="11" name="">
            <a:extLst xmlns:a="http://schemas.openxmlformats.org/drawingml/2006/main">
              <a:ext uri="{FF2B5EF4-FFF2-40B4-BE49-F238E27FC236}">
                <a16:creationId xmlns:a16="http://schemas.microsoft.com/office/drawing/2014/main" id="{C67A41FD-3413-45FC-AA7D-E7B5F25C0407}"/>
              </a:ext>
            </a:extLst>
          </p:cNvPr>
          <p:cNvSpPr>
            <a:spLocks xmlns:a="http://schemas.openxmlformats.org/drawingml/2006/main" noGrp="1"/>
          </p:cNvSpPr>
          <p:nvPr/>
        </p:nvSpPr>
        <p:spPr>
          <a:xfrm xmlns:a="http://schemas.openxmlformats.org/drawingml/2006/main">
            <a:off x="914400" y="5953125"/>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26174"/>
                </a:solidFill>
              </a:defRPr>
            </a:pPr>
            <a:r>
              <a:rPr sz="1200" b="0">
                <a:solidFill>
                  <a:srgbClr val="526174"/>
                </a:solidFill>
              </a:rPr>
              <a:t>BGC Trust University Bangladesh  |  Chittagong University of Engineering &amp; Technology</a:t>
            </a:r>
          </a:p>
        </p:txBody>
      </p:sp>
      <p:sp>
        <p:nvSpPr>
          <p:cNvPr id="12" name="">
            <a:extLst xmlns:a="http://schemas.openxmlformats.org/drawingml/2006/main">
              <a:ext uri="{FF2B5EF4-FFF2-40B4-BE49-F238E27FC236}">
                <a16:creationId xmlns:a16="http://schemas.microsoft.com/office/drawing/2014/main" id="{31357488-84AD-44C2-80C8-4D93FAB28305}"/>
              </a:ext>
            </a:extLst>
          </p:cNvPr>
          <p:cNvSpPr>
            <a:spLocks xmlns:a="http://schemas.openxmlformats.org/drawingml/2006/main" noGrp="1"/>
          </p:cNvSpPr>
          <p:nvPr/>
        </p:nvSpPr>
        <p:spPr>
          <a:xfrm xmlns:a="http://schemas.openxmlformats.org/drawingml/2006/main">
            <a:off x="914400" y="6477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[1] Competition task  [3,4] Bengali hallucination and idiom studies  [7] Experiment ledger</a:t>
            </a:r>
          </a:p>
        </p:txBody>
      </p:sp>
      <p:sp>
        <p:nvSpPr>
          <p:cNvPr id="13" name="">
            <a:extLst xmlns:a="http://schemas.openxmlformats.org/drawingml/2006/main">
              <a:ext uri="{FF2B5EF4-FFF2-40B4-BE49-F238E27FC236}">
                <a16:creationId xmlns:a16="http://schemas.microsoft.com/office/drawing/2014/main" id="{C7BEE67A-BC27-41F8-8F6A-82E50970D98B}"/>
              </a:ext>
            </a:extLst>
          </p:cNvPr>
          <p:cNvSpPr>
            <a:spLocks xmlns:a="http://schemas.openxmlformats.org/drawingml/2006/main" noGrp="1"/>
          </p:cNvSpPr>
          <p:nvPr/>
        </p:nvSpPr>
        <p:spPr>
          <a:xfrm xmlns:a="http://schemas.openxmlformats.org/drawingml/2006/main">
            <a:off x="10810875" y="647700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01</a:t>
            </a:r>
          </a:p>
        </p:txBody>
      </p:sp>
    </p:spTree>
    <p:extLst>
      <p:ext uri="{BB962C8B-B14F-4D97-AF65-F5344CB8AC3E}">
        <p14:creationId xmlns:p14="http://schemas.microsoft.com/office/powerpoint/2010/main" val="716758062"/>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0" name="kicker-2">
            <a:extLst xmlns:a="http://schemas.openxmlformats.org/drawingml/2006/main">
              <a:ext uri="{FF2B5EF4-FFF2-40B4-BE49-F238E27FC236}">
                <a16:creationId xmlns:a16="http://schemas.microsoft.com/office/drawing/2014/main" id="{8A1BB54D-40A7-4131-AA8F-94E7A2D7F3CB}"/>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title-2">
            <a:extLst xmlns:a="http://schemas.openxmlformats.org/drawingml/2006/main">
              <a:ext uri="{FF2B5EF4-FFF2-40B4-BE49-F238E27FC236}">
                <a16:creationId xmlns:a16="http://schemas.microsoft.com/office/drawing/2014/main" id="{060DC2FB-6889-42E5-93C7-9FF171D9D7DA}"/>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One binary label hid many different reasoning tasks</a:t>
            </a:r>
          </a:p>
        </p:txBody>
      </p:sp>
      <p:sp>
        <p:nvSpPr>
          <p:cNvPr id="3" name="">
            <a:extLst xmlns:a="http://schemas.openxmlformats.org/drawingml/2006/main">
              <a:ext uri="{FF2B5EF4-FFF2-40B4-BE49-F238E27FC236}">
                <a16:creationId xmlns:a16="http://schemas.microsoft.com/office/drawing/2014/main" id="{EDB27EDC-74EF-4A95-9558-F53C6B6DE7C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09A126D8-0CCA-4EDD-9F5D-B10DE4601137}"/>
              </a:ext>
            </a:extLst>
          </p:cNvPr>
          <p:cNvSpPr>
            <a:spLocks xmlns:a="http://schemas.openxmlformats.org/drawingml/2006/main" noGrp="1"/>
          </p:cNvSpPr>
          <p:nvPr/>
        </p:nvSpPr>
        <p:spPr>
          <a:xfrm xmlns:a="http://schemas.openxmlformats.org/drawingml/2006/main">
            <a:off x="685800" y="14097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26174"/>
                </a:solidFill>
              </a:defRPr>
            </a:pPr>
            <a:r>
              <a:rPr sz="1650" b="0">
                <a:solidFill>
                  <a:srgbClr val="526174"/>
                </a:solidFill>
              </a:rPr>
              <a:t>The same label had to cover context faithfulness, language knowledge, and outside facts.</a:t>
            </a:r>
          </a:p>
        </p:txBody>
      </p:sp>
      <p:sp>
        <p:nvSpPr>
          <p:cNvPr id="5" name="">
            <a:extLst xmlns:a="http://schemas.openxmlformats.org/drawingml/2006/main">
              <a:ext uri="{FF2B5EF4-FFF2-40B4-BE49-F238E27FC236}">
                <a16:creationId xmlns:a16="http://schemas.microsoft.com/office/drawing/2014/main" id="{6143A4ED-172B-4B5C-B499-167E92C9E556}"/>
              </a:ext>
            </a:extLst>
          </p:cNvPr>
          <p:cNvSpPr>
            <a:spLocks xmlns:a="http://schemas.openxmlformats.org/drawingml/2006/main" noGrp="1"/>
          </p:cNvSpPr>
          <p:nvPr/>
        </p:nvSpPr>
        <p:spPr>
          <a:xfrm xmlns:a="http://schemas.openxmlformats.org/drawingml/2006/main">
            <a:off x="1104900" y="2971800"/>
            <a:ext cx="9953625" cy="0"/>
          </a:xfrm>
          <a:prstGeom xmlns:a="http://schemas.openxmlformats.org/drawingml/2006/main" prst="line">
            <a:avLst/>
          </a:prstGeom>
          <a:noFill xmlns:a="http://schemas.openxmlformats.org/drawingml/2006/main"/>
          <a:ln xmlns:a="http://schemas.openxmlformats.org/drawingml/2006/main" w="47625">
            <a:solidFill>
              <a:srgbClr val="D8E0EA"/>
            </a:solidFill>
            <a:prstDash val="solid"/>
          </a:ln>
        </p:spPr>
      </p:sp>
      <p:sp>
        <p:nvSpPr>
          <p:cNvPr id="6" name="">
            <a:extLst xmlns:a="http://schemas.openxmlformats.org/drawingml/2006/main">
              <a:ext uri="{FF2B5EF4-FFF2-40B4-BE49-F238E27FC236}">
                <a16:creationId xmlns:a16="http://schemas.microsoft.com/office/drawing/2014/main" id="{D41AEE24-4490-427E-A8BF-D65DEEE6DEAA}"/>
              </a:ext>
            </a:extLst>
          </p:cNvPr>
          <p:cNvSpPr>
            <a:spLocks xmlns:a="http://schemas.openxmlformats.org/drawingml/2006/main" noGrp="1"/>
          </p:cNvSpPr>
          <p:nvPr/>
        </p:nvSpPr>
        <p:spPr>
          <a:xfrm xmlns:a="http://schemas.openxmlformats.org/drawingml/2006/main">
            <a:off x="1009650" y="2847975"/>
            <a:ext cx="228600" cy="228600"/>
          </a:xfrm>
          <a:prstGeom xmlns:a="http://schemas.openxmlformats.org/drawingml/2006/main" prst="ellipse">
            <a:avLst/>
          </a:prstGeom>
          <a:solidFill xmlns:a="http://schemas.openxmlformats.org/drawingml/2006/main">
            <a:srgbClr val="2A8C82"/>
          </a:solidFill>
          <a:ln xmlns:a="http://schemas.openxmlformats.org/drawingml/2006/main" w="0">
            <a:solidFill>
              <a:srgbClr val="2A8C82"/>
            </a:solidFill>
            <a:prstDash val="solid"/>
          </a:ln>
        </p:spPr>
      </p:sp>
      <p:sp>
        <p:nvSpPr>
          <p:cNvPr id="7" name="">
            <a:extLst xmlns:a="http://schemas.openxmlformats.org/drawingml/2006/main">
              <a:ext uri="{FF2B5EF4-FFF2-40B4-BE49-F238E27FC236}">
                <a16:creationId xmlns:a16="http://schemas.microsoft.com/office/drawing/2014/main" id="{AC6F6B49-4715-459D-9FF5-68AD69FACA12}"/>
              </a:ext>
            </a:extLst>
          </p:cNvPr>
          <p:cNvSpPr>
            <a:spLocks xmlns:a="http://schemas.openxmlformats.org/drawingml/2006/main" noGrp="1"/>
          </p:cNvSpPr>
          <p:nvPr/>
        </p:nvSpPr>
        <p:spPr>
          <a:xfrm xmlns:a="http://schemas.openxmlformats.org/drawingml/2006/main">
            <a:off x="552450" y="21907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0F172A"/>
                </a:solidFill>
              </a:defRPr>
            </a:pPr>
            <a:r>
              <a:rPr sz="1575" b="1">
                <a:solidFill>
                  <a:srgbClr val="0F172A"/>
                </a:solidFill>
              </a:rPr>
              <a:t>Context</a:t>
            </a:r>
          </a:p>
        </p:txBody>
      </p:sp>
      <p:sp>
        <p:nvSpPr>
          <p:cNvPr id="8" name="">
            <a:extLst xmlns:a="http://schemas.openxmlformats.org/drawingml/2006/main">
              <a:ext uri="{FF2B5EF4-FFF2-40B4-BE49-F238E27FC236}">
                <a16:creationId xmlns:a16="http://schemas.microsoft.com/office/drawing/2014/main" id="{4992E8A9-6E74-48F0-8DF7-C045EF311DA8}"/>
              </a:ext>
            </a:extLst>
          </p:cNvPr>
          <p:cNvSpPr>
            <a:spLocks xmlns:a="http://schemas.openxmlformats.org/drawingml/2006/main" noGrp="1"/>
          </p:cNvSpPr>
          <p:nvPr/>
        </p:nvSpPr>
        <p:spPr>
          <a:xfrm xmlns:a="http://schemas.openxmlformats.org/drawingml/2006/main">
            <a:off x="390525" y="2495550"/>
            <a:ext cx="1666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entailment</a:t>
            </a:r>
          </a:p>
        </p:txBody>
      </p:sp>
      <p:sp>
        <p:nvSpPr>
          <p:cNvPr id="9" name="">
            <a:extLst xmlns:a="http://schemas.openxmlformats.org/drawingml/2006/main">
              <a:ext uri="{FF2B5EF4-FFF2-40B4-BE49-F238E27FC236}">
                <a16:creationId xmlns:a16="http://schemas.microsoft.com/office/drawing/2014/main" id="{320B7F74-FF4A-47B0-876E-66FE96C6ED56}"/>
              </a:ext>
            </a:extLst>
          </p:cNvPr>
          <p:cNvSpPr>
            <a:spLocks xmlns:a="http://schemas.openxmlformats.org/drawingml/2006/main" noGrp="1"/>
          </p:cNvSpPr>
          <p:nvPr/>
        </p:nvSpPr>
        <p:spPr>
          <a:xfrm xmlns:a="http://schemas.openxmlformats.org/drawingml/2006/main">
            <a:off x="3000375" y="2847975"/>
            <a:ext cx="228600" cy="228600"/>
          </a:xfrm>
          <a:prstGeom xmlns:a="http://schemas.openxmlformats.org/drawingml/2006/main" prst="ellipse">
            <a:avLst/>
          </a:prstGeom>
          <a:solidFill xmlns:a="http://schemas.openxmlformats.org/drawingml/2006/main">
            <a:srgbClr val="1F5A7A"/>
          </a:solidFill>
          <a:ln xmlns:a="http://schemas.openxmlformats.org/drawingml/2006/main" w="0">
            <a:solidFill>
              <a:srgbClr val="1F5A7A"/>
            </a:solidFill>
            <a:prstDash val="solid"/>
          </a:ln>
        </p:spPr>
      </p:sp>
      <p:sp>
        <p:nvSpPr>
          <p:cNvPr id="10" name="">
            <a:extLst xmlns:a="http://schemas.openxmlformats.org/drawingml/2006/main">
              <a:ext uri="{FF2B5EF4-FFF2-40B4-BE49-F238E27FC236}">
                <a16:creationId xmlns:a16="http://schemas.microsoft.com/office/drawing/2014/main" id="{32FE9981-E1C6-47F2-AE38-42D01F71B9EA}"/>
              </a:ext>
            </a:extLst>
          </p:cNvPr>
          <p:cNvSpPr>
            <a:spLocks xmlns:a="http://schemas.openxmlformats.org/drawingml/2006/main" noGrp="1"/>
          </p:cNvSpPr>
          <p:nvPr/>
        </p:nvSpPr>
        <p:spPr>
          <a:xfrm xmlns:a="http://schemas.openxmlformats.org/drawingml/2006/main">
            <a:off x="2543175" y="32575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0F172A"/>
                </a:solidFill>
              </a:defRPr>
            </a:pPr>
            <a:r>
              <a:rPr sz="1575" b="1">
                <a:solidFill>
                  <a:srgbClr val="0F172A"/>
                </a:solidFill>
              </a:rPr>
              <a:t>Numbers</a:t>
            </a:r>
          </a:p>
        </p:txBody>
      </p:sp>
      <p:sp>
        <p:nvSpPr>
          <p:cNvPr id="11" name="">
            <a:extLst xmlns:a="http://schemas.openxmlformats.org/drawingml/2006/main">
              <a:ext uri="{FF2B5EF4-FFF2-40B4-BE49-F238E27FC236}">
                <a16:creationId xmlns:a16="http://schemas.microsoft.com/office/drawing/2014/main" id="{4A21850A-91D2-4E7B-893D-C329867B3676}"/>
              </a:ext>
            </a:extLst>
          </p:cNvPr>
          <p:cNvSpPr>
            <a:spLocks xmlns:a="http://schemas.openxmlformats.org/drawingml/2006/main" noGrp="1"/>
          </p:cNvSpPr>
          <p:nvPr/>
        </p:nvSpPr>
        <p:spPr>
          <a:xfrm xmlns:a="http://schemas.openxmlformats.org/drawingml/2006/main">
            <a:off x="2381250" y="3581400"/>
            <a:ext cx="1666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dates and ranges</a:t>
            </a:r>
          </a:p>
        </p:txBody>
      </p:sp>
      <p:sp>
        <p:nvSpPr>
          <p:cNvPr id="12" name="">
            <a:extLst xmlns:a="http://schemas.openxmlformats.org/drawingml/2006/main">
              <a:ext uri="{FF2B5EF4-FFF2-40B4-BE49-F238E27FC236}">
                <a16:creationId xmlns:a16="http://schemas.microsoft.com/office/drawing/2014/main" id="{374201EA-216B-4CD8-92B0-E03D008B68F9}"/>
              </a:ext>
            </a:extLst>
          </p:cNvPr>
          <p:cNvSpPr>
            <a:spLocks xmlns:a="http://schemas.openxmlformats.org/drawingml/2006/main" noGrp="1"/>
          </p:cNvSpPr>
          <p:nvPr/>
        </p:nvSpPr>
        <p:spPr>
          <a:xfrm xmlns:a="http://schemas.openxmlformats.org/drawingml/2006/main">
            <a:off x="4991100" y="2847975"/>
            <a:ext cx="228600" cy="228600"/>
          </a:xfrm>
          <a:prstGeom xmlns:a="http://schemas.openxmlformats.org/drawingml/2006/main" prst="ellipse">
            <a:avLst/>
          </a:prstGeom>
          <a:solidFill xmlns:a="http://schemas.openxmlformats.org/drawingml/2006/main">
            <a:srgbClr val="D59B32"/>
          </a:solidFill>
          <a:ln xmlns:a="http://schemas.openxmlformats.org/drawingml/2006/main" w="0">
            <a:solidFill>
              <a:srgbClr val="D59B32"/>
            </a:solidFill>
            <a:prstDash val="solid"/>
          </a:ln>
        </p:spPr>
      </p:sp>
      <p:sp>
        <p:nvSpPr>
          <p:cNvPr id="13" name="">
            <a:extLst xmlns:a="http://schemas.openxmlformats.org/drawingml/2006/main">
              <a:ext uri="{FF2B5EF4-FFF2-40B4-BE49-F238E27FC236}">
                <a16:creationId xmlns:a16="http://schemas.microsoft.com/office/drawing/2014/main" id="{D6667195-88F4-42D3-9089-212D43C279C1}"/>
              </a:ext>
            </a:extLst>
          </p:cNvPr>
          <p:cNvSpPr>
            <a:spLocks xmlns:a="http://schemas.openxmlformats.org/drawingml/2006/main" noGrp="1"/>
          </p:cNvSpPr>
          <p:nvPr/>
        </p:nvSpPr>
        <p:spPr>
          <a:xfrm xmlns:a="http://schemas.openxmlformats.org/drawingml/2006/main">
            <a:off x="4533900" y="21907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0F172A"/>
                </a:solidFill>
              </a:defRPr>
            </a:pPr>
            <a:r>
              <a:rPr sz="1575" b="1">
                <a:solidFill>
                  <a:srgbClr val="0F172A"/>
                </a:solidFill>
              </a:rPr>
              <a:t>MCQ</a:t>
            </a:r>
          </a:p>
        </p:txBody>
      </p:sp>
      <p:sp>
        <p:nvSpPr>
          <p:cNvPr id="14" name="">
            <a:extLst xmlns:a="http://schemas.openxmlformats.org/drawingml/2006/main">
              <a:ext uri="{FF2B5EF4-FFF2-40B4-BE49-F238E27FC236}">
                <a16:creationId xmlns:a16="http://schemas.microsoft.com/office/drawing/2014/main" id="{1587C96D-B992-4EB6-83D5-52416EBF641E}"/>
              </a:ext>
            </a:extLst>
          </p:cNvPr>
          <p:cNvSpPr>
            <a:spLocks xmlns:a="http://schemas.openxmlformats.org/drawingml/2006/main" noGrp="1"/>
          </p:cNvSpPr>
          <p:nvPr/>
        </p:nvSpPr>
        <p:spPr>
          <a:xfrm xmlns:a="http://schemas.openxmlformats.org/drawingml/2006/main">
            <a:off x="4371975" y="2495550"/>
            <a:ext cx="1666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option parsing</a:t>
            </a:r>
          </a:p>
        </p:txBody>
      </p:sp>
      <p:sp>
        <p:nvSpPr>
          <p:cNvPr id="15" name="">
            <a:extLst xmlns:a="http://schemas.openxmlformats.org/drawingml/2006/main">
              <a:ext uri="{FF2B5EF4-FFF2-40B4-BE49-F238E27FC236}">
                <a16:creationId xmlns:a16="http://schemas.microsoft.com/office/drawing/2014/main" id="{76FFA939-AB49-47F6-BFDA-ABD5021665C3}"/>
              </a:ext>
            </a:extLst>
          </p:cNvPr>
          <p:cNvSpPr>
            <a:spLocks xmlns:a="http://schemas.openxmlformats.org/drawingml/2006/main" noGrp="1"/>
          </p:cNvSpPr>
          <p:nvPr/>
        </p:nvSpPr>
        <p:spPr>
          <a:xfrm xmlns:a="http://schemas.openxmlformats.org/drawingml/2006/main">
            <a:off x="6981825" y="2847975"/>
            <a:ext cx="228600" cy="228600"/>
          </a:xfrm>
          <a:prstGeom xmlns:a="http://schemas.openxmlformats.org/drawingml/2006/main" prst="ellipse">
            <a:avLst/>
          </a:prstGeom>
          <a:solidFill xmlns:a="http://schemas.openxmlformats.org/drawingml/2006/main">
            <a:srgbClr val="2A8C82"/>
          </a:solidFill>
          <a:ln xmlns:a="http://schemas.openxmlformats.org/drawingml/2006/main" w="0">
            <a:solidFill>
              <a:srgbClr val="2A8C82"/>
            </a:solidFill>
            <a:prstDash val="solid"/>
          </a:ln>
        </p:spPr>
      </p:sp>
      <p:sp>
        <p:nvSpPr>
          <p:cNvPr id="16" name="">
            <a:extLst xmlns:a="http://schemas.openxmlformats.org/drawingml/2006/main">
              <a:ext uri="{FF2B5EF4-FFF2-40B4-BE49-F238E27FC236}">
                <a16:creationId xmlns:a16="http://schemas.microsoft.com/office/drawing/2014/main" id="{E46BDF94-898E-4674-9B9C-DF712B9BA9E0}"/>
              </a:ext>
            </a:extLst>
          </p:cNvPr>
          <p:cNvSpPr>
            <a:spLocks xmlns:a="http://schemas.openxmlformats.org/drawingml/2006/main" noGrp="1"/>
          </p:cNvSpPr>
          <p:nvPr/>
        </p:nvSpPr>
        <p:spPr>
          <a:xfrm xmlns:a="http://schemas.openxmlformats.org/drawingml/2006/main">
            <a:off x="6524625" y="32575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0F172A"/>
                </a:solidFill>
              </a:defRPr>
            </a:pPr>
            <a:r>
              <a:rPr sz="1575" b="1">
                <a:solidFill>
                  <a:srgbClr val="0F172A"/>
                </a:solidFill>
              </a:rPr>
              <a:t>Language</a:t>
            </a:r>
          </a:p>
        </p:txBody>
      </p:sp>
      <p:sp>
        <p:nvSpPr>
          <p:cNvPr id="17" name="">
            <a:extLst xmlns:a="http://schemas.openxmlformats.org/drawingml/2006/main">
              <a:ext uri="{FF2B5EF4-FFF2-40B4-BE49-F238E27FC236}">
                <a16:creationId xmlns:a16="http://schemas.microsoft.com/office/drawing/2014/main" id="{6C84E3DB-508A-4453-9836-8F88E0BA42D0}"/>
              </a:ext>
            </a:extLst>
          </p:cNvPr>
          <p:cNvSpPr>
            <a:spLocks xmlns:a="http://schemas.openxmlformats.org/drawingml/2006/main" noGrp="1"/>
          </p:cNvSpPr>
          <p:nvPr/>
        </p:nvSpPr>
        <p:spPr>
          <a:xfrm xmlns:a="http://schemas.openxmlformats.org/drawingml/2006/main">
            <a:off x="6362700" y="3581400"/>
            <a:ext cx="1666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morphology</a:t>
            </a:r>
          </a:p>
        </p:txBody>
      </p:sp>
      <p:sp>
        <p:nvSpPr>
          <p:cNvPr id="18" name="">
            <a:extLst xmlns:a="http://schemas.openxmlformats.org/drawingml/2006/main">
              <a:ext uri="{FF2B5EF4-FFF2-40B4-BE49-F238E27FC236}">
                <a16:creationId xmlns:a16="http://schemas.microsoft.com/office/drawing/2014/main" id="{7BEEA1AE-8476-42EF-8289-A342032A6327}"/>
              </a:ext>
            </a:extLst>
          </p:cNvPr>
          <p:cNvSpPr>
            <a:spLocks xmlns:a="http://schemas.openxmlformats.org/drawingml/2006/main" noGrp="1"/>
          </p:cNvSpPr>
          <p:nvPr/>
        </p:nvSpPr>
        <p:spPr>
          <a:xfrm xmlns:a="http://schemas.openxmlformats.org/drawingml/2006/main">
            <a:off x="8972550" y="2847975"/>
            <a:ext cx="228600" cy="228600"/>
          </a:xfrm>
          <a:prstGeom xmlns:a="http://schemas.openxmlformats.org/drawingml/2006/main" prst="ellipse">
            <a:avLst/>
          </a:prstGeom>
          <a:solidFill xmlns:a="http://schemas.openxmlformats.org/drawingml/2006/main">
            <a:srgbClr val="B5483A"/>
          </a:solidFill>
          <a:ln xmlns:a="http://schemas.openxmlformats.org/drawingml/2006/main" w="0">
            <a:solidFill>
              <a:srgbClr val="B5483A"/>
            </a:solidFill>
            <a:prstDash val="solid"/>
          </a:ln>
        </p:spPr>
      </p:sp>
      <p:sp>
        <p:nvSpPr>
          <p:cNvPr id="19" name="">
            <a:extLst xmlns:a="http://schemas.openxmlformats.org/drawingml/2006/main">
              <a:ext uri="{FF2B5EF4-FFF2-40B4-BE49-F238E27FC236}">
                <a16:creationId xmlns:a16="http://schemas.microsoft.com/office/drawing/2014/main" id="{B6D57B8E-E03A-4013-A238-D6A167A3BF1A}"/>
              </a:ext>
            </a:extLst>
          </p:cNvPr>
          <p:cNvSpPr>
            <a:spLocks xmlns:a="http://schemas.openxmlformats.org/drawingml/2006/main" noGrp="1"/>
          </p:cNvSpPr>
          <p:nvPr/>
        </p:nvSpPr>
        <p:spPr>
          <a:xfrm xmlns:a="http://schemas.openxmlformats.org/drawingml/2006/main">
            <a:off x="8515350" y="21907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0F172A"/>
                </a:solidFill>
              </a:defRPr>
            </a:pPr>
            <a:r>
              <a:rPr sz="1575" b="1">
                <a:solidFill>
                  <a:srgbClr val="0F172A"/>
                </a:solidFill>
              </a:rPr>
              <a:t>Idioms</a:t>
            </a:r>
          </a:p>
        </p:txBody>
      </p:sp>
      <p:sp>
        <p:nvSpPr>
          <p:cNvPr id="20" name="">
            <a:extLst xmlns:a="http://schemas.openxmlformats.org/drawingml/2006/main">
              <a:ext uri="{FF2B5EF4-FFF2-40B4-BE49-F238E27FC236}">
                <a16:creationId xmlns:a16="http://schemas.microsoft.com/office/drawing/2014/main" id="{D22F9F81-FB8E-4DF4-9B98-7B8D41E98F78}"/>
              </a:ext>
            </a:extLst>
          </p:cNvPr>
          <p:cNvSpPr>
            <a:spLocks xmlns:a="http://schemas.openxmlformats.org/drawingml/2006/main" noGrp="1"/>
          </p:cNvSpPr>
          <p:nvPr/>
        </p:nvSpPr>
        <p:spPr>
          <a:xfrm xmlns:a="http://schemas.openxmlformats.org/drawingml/2006/main">
            <a:off x="8353425" y="2495550"/>
            <a:ext cx="1666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literal vs figurative</a:t>
            </a:r>
          </a:p>
        </p:txBody>
      </p:sp>
      <p:sp>
        <p:nvSpPr>
          <p:cNvPr id="21" name="">
            <a:extLst xmlns:a="http://schemas.openxmlformats.org/drawingml/2006/main">
              <a:ext uri="{FF2B5EF4-FFF2-40B4-BE49-F238E27FC236}">
                <a16:creationId xmlns:a16="http://schemas.microsoft.com/office/drawing/2014/main" id="{81EC5322-2D30-4D7E-B95B-5C8F6DD955BF}"/>
              </a:ext>
            </a:extLst>
          </p:cNvPr>
          <p:cNvSpPr>
            <a:spLocks xmlns:a="http://schemas.openxmlformats.org/drawingml/2006/main" noGrp="1"/>
          </p:cNvSpPr>
          <p:nvPr/>
        </p:nvSpPr>
        <p:spPr>
          <a:xfrm xmlns:a="http://schemas.openxmlformats.org/drawingml/2006/main">
            <a:off x="10963275" y="2847975"/>
            <a:ext cx="228600" cy="228600"/>
          </a:xfrm>
          <a:prstGeom xmlns:a="http://schemas.openxmlformats.org/drawingml/2006/main" prst="ellipse">
            <a:avLst/>
          </a:prstGeom>
          <a:solidFill xmlns:a="http://schemas.openxmlformats.org/drawingml/2006/main">
            <a:srgbClr val="1F5A7A"/>
          </a:solidFill>
          <a:ln xmlns:a="http://schemas.openxmlformats.org/drawingml/2006/main" w="0">
            <a:solidFill>
              <a:srgbClr val="1F5A7A"/>
            </a:solidFill>
            <a:prstDash val="solid"/>
          </a:ln>
        </p:spPr>
      </p:sp>
      <p:sp>
        <p:nvSpPr>
          <p:cNvPr id="22" name="">
            <a:extLst xmlns:a="http://schemas.openxmlformats.org/drawingml/2006/main">
              <a:ext uri="{FF2B5EF4-FFF2-40B4-BE49-F238E27FC236}">
                <a16:creationId xmlns:a16="http://schemas.microsoft.com/office/drawing/2014/main" id="{F412CAF1-26A9-40F4-B12A-5C3756E349FB}"/>
              </a:ext>
            </a:extLst>
          </p:cNvPr>
          <p:cNvSpPr>
            <a:spLocks xmlns:a="http://schemas.openxmlformats.org/drawingml/2006/main" noGrp="1"/>
          </p:cNvSpPr>
          <p:nvPr/>
        </p:nvSpPr>
        <p:spPr>
          <a:xfrm xmlns:a="http://schemas.openxmlformats.org/drawingml/2006/main">
            <a:off x="10506075" y="32575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0F172A"/>
                </a:solidFill>
              </a:defRPr>
            </a:pPr>
            <a:r>
              <a:rPr sz="1575" b="1">
                <a:solidFill>
                  <a:srgbClr val="0F172A"/>
                </a:solidFill>
              </a:rPr>
              <a:t>Facts</a:t>
            </a:r>
          </a:p>
        </p:txBody>
      </p:sp>
      <p:sp>
        <p:nvSpPr>
          <p:cNvPr id="23" name="">
            <a:extLst xmlns:a="http://schemas.openxmlformats.org/drawingml/2006/main">
              <a:ext uri="{FF2B5EF4-FFF2-40B4-BE49-F238E27FC236}">
                <a16:creationId xmlns:a16="http://schemas.microsoft.com/office/drawing/2014/main" id="{CA05B86D-0377-4D0C-9038-E0680F05CF80}"/>
              </a:ext>
            </a:extLst>
          </p:cNvPr>
          <p:cNvSpPr>
            <a:spLocks xmlns:a="http://schemas.openxmlformats.org/drawingml/2006/main" noGrp="1"/>
          </p:cNvSpPr>
          <p:nvPr/>
        </p:nvSpPr>
        <p:spPr>
          <a:xfrm xmlns:a="http://schemas.openxmlformats.org/drawingml/2006/main">
            <a:off x="10344150" y="3581400"/>
            <a:ext cx="1666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history and law</a:t>
            </a:r>
          </a:p>
        </p:txBody>
      </p:sp>
      <p:sp>
        <p:nvSpPr>
          <p:cNvPr id="24" name="">
            <a:extLst xmlns:a="http://schemas.openxmlformats.org/drawingml/2006/main">
              <a:ext uri="{FF2B5EF4-FFF2-40B4-BE49-F238E27FC236}">
                <a16:creationId xmlns:a16="http://schemas.microsoft.com/office/drawing/2014/main" id="{D56080C3-CF35-4B55-9639-3E2776C3C9C4}"/>
              </a:ext>
            </a:extLst>
          </p:cNvPr>
          <p:cNvSpPr>
            <a:spLocks xmlns:a="http://schemas.openxmlformats.org/drawingml/2006/main" noGrp="1"/>
          </p:cNvSpPr>
          <p:nvPr/>
        </p:nvSpPr>
        <p:spPr>
          <a:xfrm xmlns:a="http://schemas.openxmlformats.org/drawingml/2006/main">
            <a:off x="1657350" y="4648200"/>
            <a:ext cx="8877300" cy="1028700"/>
          </a:xfrm>
          <a:prstGeom xmlns:a="http://schemas.openxmlformats.org/drawingml/2006/main" prst="roundRect">
            <a:avLst>
              <a:gd name="adj" fmla="val 12963"/>
            </a:avLst>
          </a:prstGeom>
          <a:solidFill xmlns:a="http://schemas.openxmlformats.org/drawingml/2006/main">
            <a:srgbClr val="FFFFFF"/>
          </a:solidFill>
          <a:ln xmlns:a="http://schemas.openxmlformats.org/drawingml/2006/main" w="9525">
            <a:solidFill>
              <a:srgbClr val="D8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D2A535F5-EB34-4C5B-985D-9B257F9AA4FC}"/>
              </a:ext>
            </a:extLst>
          </p:cNvPr>
          <p:cNvSpPr>
            <a:spLocks xmlns:a="http://schemas.openxmlformats.org/drawingml/2006/main" noGrp="1"/>
          </p:cNvSpPr>
          <p:nvPr/>
        </p:nvSpPr>
        <p:spPr>
          <a:xfrm xmlns:a="http://schemas.openxmlformats.org/drawingml/2006/main">
            <a:off x="2057400" y="485775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F172A"/>
                </a:solidFill>
              </a:defRPr>
            </a:pPr>
            <a:r>
              <a:rPr sz="1950" b="1">
                <a:solidFill>
                  <a:srgbClr val="0F172A"/>
                </a:solidFill>
              </a:rPr>
              <a:t>A single judge prompt treated all six as the same problem.</a:t>
            </a:r>
          </a:p>
        </p:txBody>
      </p:sp>
      <p:sp>
        <p:nvSpPr>
          <p:cNvPr id="26" name="">
            <a:extLst xmlns:a="http://schemas.openxmlformats.org/drawingml/2006/main">
              <a:ext uri="{FF2B5EF4-FFF2-40B4-BE49-F238E27FC236}">
                <a16:creationId xmlns:a16="http://schemas.microsoft.com/office/drawing/2014/main" id="{BD307A9F-B5EB-417D-8907-D4BAF2600034}"/>
              </a:ext>
            </a:extLst>
          </p:cNvPr>
          <p:cNvSpPr>
            <a:spLocks xmlns:a="http://schemas.openxmlformats.org/drawingml/2006/main" noGrp="1"/>
          </p:cNvSpPr>
          <p:nvPr/>
        </p:nvSpPr>
        <p:spPr>
          <a:xfrm xmlns:a="http://schemas.openxmlformats.org/drawingml/2006/main">
            <a:off x="2057400" y="525780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526174"/>
                </a:solidFill>
              </a:defRPr>
            </a:pPr>
            <a:r>
              <a:rPr sz="1350" b="0">
                <a:solidFill>
                  <a:srgbClr val="526174"/>
                </a:solidFill>
              </a:rPr>
              <a:t>That worked as a baseline, but it was prompt-sensitive and weak on culturally specific relations.</a:t>
            </a:r>
          </a:p>
        </p:txBody>
      </p:sp>
      <p:sp>
        <p:nvSpPr>
          <p:cNvPr id="27" name="">
            <a:extLst xmlns:a="http://schemas.openxmlformats.org/drawingml/2006/main">
              <a:ext uri="{FF2B5EF4-FFF2-40B4-BE49-F238E27FC236}">
                <a16:creationId xmlns:a16="http://schemas.microsoft.com/office/drawing/2014/main" id="{7F0C4C40-3F59-44C4-B185-9D0119689C2C}"/>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8" name="source-2">
            <a:extLst xmlns:a="http://schemas.openxmlformats.org/drawingml/2006/main">
              <a:ext uri="{FF2B5EF4-FFF2-40B4-BE49-F238E27FC236}">
                <a16:creationId xmlns:a16="http://schemas.microsoft.com/office/drawing/2014/main" id="{0F979E75-7588-4B51-B64C-055E8C570851}"/>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[1] Competition task definition  [3] BenHalluEval task taxonomy  [4] Bengali idiom benchmark</a:t>
            </a:r>
          </a:p>
        </p:txBody>
      </p:sp>
      <p:sp>
        <p:nvSpPr>
          <p:cNvPr id="29" name="page-2">
            <a:extLst xmlns:a="http://schemas.openxmlformats.org/drawingml/2006/main">
              <a:ext uri="{FF2B5EF4-FFF2-40B4-BE49-F238E27FC236}">
                <a16:creationId xmlns:a16="http://schemas.microsoft.com/office/drawing/2014/main" id="{D99FF97B-59FE-470A-86EE-87C88F7A5130}"/>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02</a:t>
            </a:r>
          </a:p>
        </p:txBody>
      </p:sp>
    </p:spTree>
    <p:extLst>
      <p:ext uri="{BB962C8B-B14F-4D97-AF65-F5344CB8AC3E}">
        <p14:creationId xmlns:p14="http://schemas.microsoft.com/office/powerpoint/2010/main" val="2118966615"/>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0" name="kicker-3">
            <a:extLst xmlns:a="http://schemas.openxmlformats.org/drawingml/2006/main">
              <a:ext uri="{FF2B5EF4-FFF2-40B4-BE49-F238E27FC236}">
                <a16:creationId xmlns:a16="http://schemas.microsoft.com/office/drawing/2014/main" id="{B61467C4-E471-42F4-B02A-78A4F4875D79}"/>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title-3">
            <a:extLst xmlns:a="http://schemas.openxmlformats.org/drawingml/2006/main">
              <a:ext uri="{FF2B5EF4-FFF2-40B4-BE49-F238E27FC236}">
                <a16:creationId xmlns:a16="http://schemas.microsoft.com/office/drawing/2014/main" id="{BE17C739-6F38-4040-B03A-1D3284D95192}"/>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The working hypothesis became a selective cascade</a:t>
            </a:r>
          </a:p>
        </p:txBody>
      </p:sp>
      <p:sp>
        <p:nvSpPr>
          <p:cNvPr id="3" name="">
            <a:extLst xmlns:a="http://schemas.openxmlformats.org/drawingml/2006/main">
              <a:ext uri="{FF2B5EF4-FFF2-40B4-BE49-F238E27FC236}">
                <a16:creationId xmlns:a16="http://schemas.microsoft.com/office/drawing/2014/main" id="{FD940233-DFD4-4E34-8BC1-CF38F0B9C2F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7BD6C581-8B52-4CC4-8E2D-4C81093CEB70}"/>
              </a:ext>
            </a:extLst>
          </p:cNvPr>
          <p:cNvSpPr>
            <a:spLocks xmlns:a="http://schemas.openxmlformats.org/drawingml/2006/main" noGrp="1"/>
          </p:cNvSpPr>
          <p:nvPr/>
        </p:nvSpPr>
        <p:spPr>
          <a:xfrm xmlns:a="http://schemas.openxmlformats.org/drawingml/2006/main">
            <a:off x="685800" y="13811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26174"/>
                </a:solidFill>
              </a:defRPr>
            </a:pPr>
            <a:r>
              <a:rPr sz="1650" b="0">
                <a:solidFill>
                  <a:srgbClr val="526174"/>
                </a:solidFill>
              </a:rPr>
              <a:t>Every stage could answer, or abstain. Abstention was a normal outcome, not a failure.</a:t>
            </a:r>
          </a:p>
        </p:txBody>
      </p:sp>
      <p:sp>
        <p:nvSpPr>
          <p:cNvPr id="5" name="">
            <a:extLst xmlns:a="http://schemas.openxmlformats.org/drawingml/2006/main">
              <a:ext uri="{FF2B5EF4-FFF2-40B4-BE49-F238E27FC236}">
                <a16:creationId xmlns:a16="http://schemas.microsoft.com/office/drawing/2014/main" id="{685AB5A2-68E5-488C-8288-AEDE338C88E1}"/>
              </a:ext>
            </a:extLst>
          </p:cNvPr>
          <p:cNvSpPr>
            <a:spLocks xmlns:a="http://schemas.openxmlformats.org/drawingml/2006/main" noGrp="1"/>
          </p:cNvSpPr>
          <p:nvPr/>
        </p:nvSpPr>
        <p:spPr>
          <a:xfrm xmlns:a="http://schemas.openxmlformats.org/drawingml/2006/main">
            <a:off x="2362200" y="2990850"/>
            <a:ext cx="619125"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6" name="">
            <a:extLst xmlns:a="http://schemas.openxmlformats.org/drawingml/2006/main">
              <a:ext uri="{FF2B5EF4-FFF2-40B4-BE49-F238E27FC236}">
                <a16:creationId xmlns:a16="http://schemas.microsoft.com/office/drawing/2014/main" id="{2DDF67A9-B0A2-42BC-8B79-123C49302AFD}"/>
              </a:ext>
            </a:extLst>
          </p:cNvPr>
          <p:cNvSpPr>
            <a:spLocks xmlns:a="http://schemas.openxmlformats.org/drawingml/2006/main" noGrp="1"/>
          </p:cNvSpPr>
          <p:nvPr/>
        </p:nvSpPr>
        <p:spPr>
          <a:xfrm xmlns:a="http://schemas.openxmlformats.org/drawingml/2006/main">
            <a:off x="4762500" y="2990850"/>
            <a:ext cx="619125"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7" name="">
            <a:extLst xmlns:a="http://schemas.openxmlformats.org/drawingml/2006/main">
              <a:ext uri="{FF2B5EF4-FFF2-40B4-BE49-F238E27FC236}">
                <a16:creationId xmlns:a16="http://schemas.microsoft.com/office/drawing/2014/main" id="{47489E50-1A45-4FCD-A5E4-5571C534C006}"/>
              </a:ext>
            </a:extLst>
          </p:cNvPr>
          <p:cNvSpPr>
            <a:spLocks xmlns:a="http://schemas.openxmlformats.org/drawingml/2006/main" noGrp="1"/>
          </p:cNvSpPr>
          <p:nvPr/>
        </p:nvSpPr>
        <p:spPr>
          <a:xfrm xmlns:a="http://schemas.openxmlformats.org/drawingml/2006/main">
            <a:off x="7162800" y="2990850"/>
            <a:ext cx="619125"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8" name="">
            <a:extLst xmlns:a="http://schemas.openxmlformats.org/drawingml/2006/main">
              <a:ext uri="{FF2B5EF4-FFF2-40B4-BE49-F238E27FC236}">
                <a16:creationId xmlns:a16="http://schemas.microsoft.com/office/drawing/2014/main" id="{F2243D48-28D8-45CB-82AF-44634B38DDB8}"/>
              </a:ext>
            </a:extLst>
          </p:cNvPr>
          <p:cNvSpPr>
            <a:spLocks xmlns:a="http://schemas.openxmlformats.org/drawingml/2006/main" noGrp="1"/>
          </p:cNvSpPr>
          <p:nvPr/>
        </p:nvSpPr>
        <p:spPr>
          <a:xfrm xmlns:a="http://schemas.openxmlformats.org/drawingml/2006/main">
            <a:off x="9563100" y="2990850"/>
            <a:ext cx="619125"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9" name="pipeline-0">
            <a:extLst xmlns:a="http://schemas.openxmlformats.org/drawingml/2006/main">
              <a:ext uri="{FF2B5EF4-FFF2-40B4-BE49-F238E27FC236}">
                <a16:creationId xmlns:a16="http://schemas.microsoft.com/office/drawing/2014/main" id="{47FEA968-353B-4191-A3E2-3F4C2EC3E746}"/>
              </a:ext>
            </a:extLst>
          </p:cNvPr>
          <p:cNvSpPr>
            <a:spLocks xmlns:a="http://schemas.openxmlformats.org/drawingml/2006/main" noGrp="1"/>
          </p:cNvSpPr>
          <p:nvPr/>
        </p:nvSpPr>
        <p:spPr>
          <a:xfrm xmlns:a="http://schemas.openxmlformats.org/drawingml/2006/main">
            <a:off x="762000" y="2324100"/>
            <a:ext cx="1619250" cy="16002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3CEE776C-FE6F-4032-BA74-BA7EB81BC73C}"/>
              </a:ext>
            </a:extLst>
          </p:cNvPr>
          <p:cNvSpPr>
            <a:spLocks xmlns:a="http://schemas.openxmlformats.org/drawingml/2006/main" noGrp="1"/>
          </p:cNvSpPr>
          <p:nvPr/>
        </p:nvSpPr>
        <p:spPr>
          <a:xfrm xmlns:a="http://schemas.openxmlformats.org/drawingml/2006/main">
            <a:off x="933450" y="25717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F5A7A"/>
                </a:solidFill>
              </a:defRPr>
            </a:pPr>
            <a:r>
              <a:rPr sz="1575" b="1">
                <a:solidFill>
                  <a:srgbClr val="1F5A7A"/>
                </a:solidFill>
              </a:rPr>
              <a:t>Normalize</a:t>
            </a:r>
          </a:p>
        </p:txBody>
      </p:sp>
      <p:sp>
        <p:nvSpPr>
          <p:cNvPr id="11" name="">
            <a:extLst xmlns:a="http://schemas.openxmlformats.org/drawingml/2006/main">
              <a:ext uri="{FF2B5EF4-FFF2-40B4-BE49-F238E27FC236}">
                <a16:creationId xmlns:a16="http://schemas.microsoft.com/office/drawing/2014/main" id="{CD660309-BEF3-470B-97A5-4CC7652B1C04}"/>
              </a:ext>
            </a:extLst>
          </p:cNvPr>
          <p:cNvSpPr>
            <a:spLocks xmlns:a="http://schemas.openxmlformats.org/drawingml/2006/main" noGrp="1"/>
          </p:cNvSpPr>
          <p:nvPr/>
        </p:nvSpPr>
        <p:spPr>
          <a:xfrm xmlns:a="http://schemas.openxmlformats.org/drawingml/2006/main">
            <a:off x="933450" y="30480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526174"/>
                </a:solidFill>
              </a:defRPr>
            </a:pPr>
            <a:r>
              <a:rPr sz="1275" b="0">
                <a:solidFill>
                  <a:srgbClr val="526174"/>
                </a:solidFill>
              </a:rPr>
              <a:t>digits, options,</a:t>
            </a:r>
          </a:p>
          <a:p xmlns:a="http://schemas.openxmlformats.org/drawingml/2006/main">
            <a:pPr algn="ctr">
              <a:buNone/>
              <a:defRPr sz="1275" b="0">
                <a:solidFill>
                  <a:srgbClr val="526174"/>
                </a:solidFill>
              </a:defRPr>
            </a:pPr>
            <a:r>
              <a:rPr sz="1275" b="0">
                <a:solidFill>
                  <a:srgbClr val="526174"/>
                </a:solidFill>
              </a:rPr>
              <a:t>aliases</a:t>
            </a:r>
          </a:p>
        </p:txBody>
      </p:sp>
      <p:sp>
        <p:nvSpPr>
          <p:cNvPr id="12" name="pipeline-1">
            <a:extLst xmlns:a="http://schemas.openxmlformats.org/drawingml/2006/main">
              <a:ext uri="{FF2B5EF4-FFF2-40B4-BE49-F238E27FC236}">
                <a16:creationId xmlns:a16="http://schemas.microsoft.com/office/drawing/2014/main" id="{25A0EDE7-5784-4941-93A2-288CD83DCE5D}"/>
              </a:ext>
            </a:extLst>
          </p:cNvPr>
          <p:cNvSpPr>
            <a:spLocks xmlns:a="http://schemas.openxmlformats.org/drawingml/2006/main" noGrp="1"/>
          </p:cNvSpPr>
          <p:nvPr/>
        </p:nvSpPr>
        <p:spPr>
          <a:xfrm xmlns:a="http://schemas.openxmlformats.org/drawingml/2006/main">
            <a:off x="3143250" y="2324100"/>
            <a:ext cx="1619250" cy="16002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66EC480-DE8D-4EFF-8EA0-51DE31B183D2}"/>
              </a:ext>
            </a:extLst>
          </p:cNvPr>
          <p:cNvSpPr>
            <a:spLocks xmlns:a="http://schemas.openxmlformats.org/drawingml/2006/main" noGrp="1"/>
          </p:cNvSpPr>
          <p:nvPr/>
        </p:nvSpPr>
        <p:spPr>
          <a:xfrm xmlns:a="http://schemas.openxmlformats.org/drawingml/2006/main">
            <a:off x="3314700" y="25717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F5A7A"/>
                </a:solidFill>
              </a:defRPr>
            </a:pPr>
            <a:r>
              <a:rPr sz="1800" b="1">
                <a:solidFill>
                  <a:srgbClr val="1F5A7A"/>
                </a:solidFill>
              </a:rPr>
              <a:t>Route</a:t>
            </a:r>
          </a:p>
        </p:txBody>
      </p:sp>
      <p:sp>
        <p:nvSpPr>
          <p:cNvPr id="14" name="">
            <a:extLst xmlns:a="http://schemas.openxmlformats.org/drawingml/2006/main">
              <a:ext uri="{FF2B5EF4-FFF2-40B4-BE49-F238E27FC236}">
                <a16:creationId xmlns:a16="http://schemas.microsoft.com/office/drawing/2014/main" id="{BE3D061D-371C-4228-8399-5EE383A7071F}"/>
              </a:ext>
            </a:extLst>
          </p:cNvPr>
          <p:cNvSpPr>
            <a:spLocks xmlns:a="http://schemas.openxmlformats.org/drawingml/2006/main" noGrp="1"/>
          </p:cNvSpPr>
          <p:nvPr/>
        </p:nvSpPr>
        <p:spPr>
          <a:xfrm xmlns:a="http://schemas.openxmlformats.org/drawingml/2006/main">
            <a:off x="3314700" y="30480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526174"/>
                </a:solidFill>
              </a:defRPr>
            </a:pPr>
            <a:r>
              <a:rPr sz="1275" b="0">
                <a:solidFill>
                  <a:srgbClr val="526174"/>
                </a:solidFill>
              </a:rPr>
              <a:t>context, numeric,</a:t>
            </a:r>
          </a:p>
          <a:p xmlns:a="http://schemas.openxmlformats.org/drawingml/2006/main">
            <a:pPr algn="ctr">
              <a:buNone/>
              <a:defRPr sz="1275" b="0">
                <a:solidFill>
                  <a:srgbClr val="526174"/>
                </a:solidFill>
              </a:defRPr>
            </a:pPr>
            <a:r>
              <a:rPr sz="1275" b="0">
                <a:solidFill>
                  <a:srgbClr val="526174"/>
                </a:solidFill>
              </a:rPr>
              <a:t>lexical, factual</a:t>
            </a:r>
          </a:p>
        </p:txBody>
      </p:sp>
      <p:sp>
        <p:nvSpPr>
          <p:cNvPr id="15" name="pipeline-2">
            <a:extLst xmlns:a="http://schemas.openxmlformats.org/drawingml/2006/main">
              <a:ext uri="{FF2B5EF4-FFF2-40B4-BE49-F238E27FC236}">
                <a16:creationId xmlns:a16="http://schemas.microsoft.com/office/drawing/2014/main" id="{4296F9FA-D919-4E2E-8DC5-C36D8AF60870}"/>
              </a:ext>
            </a:extLst>
          </p:cNvPr>
          <p:cNvSpPr>
            <a:spLocks xmlns:a="http://schemas.openxmlformats.org/drawingml/2006/main" noGrp="1"/>
          </p:cNvSpPr>
          <p:nvPr/>
        </p:nvSpPr>
        <p:spPr>
          <a:xfrm xmlns:a="http://schemas.openxmlformats.org/drawingml/2006/main">
            <a:off x="5543550" y="2324100"/>
            <a:ext cx="1619250" cy="16002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6CB89BF5-4C97-42FF-A318-94A19E118EC9}"/>
              </a:ext>
            </a:extLst>
          </p:cNvPr>
          <p:cNvSpPr>
            <a:spLocks xmlns:a="http://schemas.openxmlformats.org/drawingml/2006/main" noGrp="1"/>
          </p:cNvSpPr>
          <p:nvPr/>
        </p:nvSpPr>
        <p:spPr>
          <a:xfrm xmlns:a="http://schemas.openxmlformats.org/drawingml/2006/main">
            <a:off x="5715000" y="25717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F5A7A"/>
                </a:solidFill>
              </a:defRPr>
            </a:pPr>
            <a:r>
              <a:rPr sz="1800" b="1">
                <a:solidFill>
                  <a:srgbClr val="1F5A7A"/>
                </a:solidFill>
              </a:rPr>
              <a:t>Verify</a:t>
            </a:r>
          </a:p>
        </p:txBody>
      </p:sp>
      <p:sp>
        <p:nvSpPr>
          <p:cNvPr id="17" name="">
            <a:extLst xmlns:a="http://schemas.openxmlformats.org/drawingml/2006/main">
              <a:ext uri="{FF2B5EF4-FFF2-40B4-BE49-F238E27FC236}">
                <a16:creationId xmlns:a16="http://schemas.microsoft.com/office/drawing/2014/main" id="{CFA43481-11BC-415A-8132-02E185B25D0A}"/>
              </a:ext>
            </a:extLst>
          </p:cNvPr>
          <p:cNvSpPr>
            <a:spLocks xmlns:a="http://schemas.openxmlformats.org/drawingml/2006/main" noGrp="1"/>
          </p:cNvSpPr>
          <p:nvPr/>
        </p:nvSpPr>
        <p:spPr>
          <a:xfrm xmlns:a="http://schemas.openxmlformats.org/drawingml/2006/main">
            <a:off x="5715000" y="30480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526174"/>
                </a:solidFill>
              </a:defRPr>
            </a:pPr>
            <a:r>
              <a:rPr sz="1275" b="0">
                <a:solidFill>
                  <a:srgbClr val="526174"/>
                </a:solidFill>
              </a:rPr>
              <a:t>exact lineage and</a:t>
            </a:r>
          </a:p>
          <a:p xmlns:a="http://schemas.openxmlformats.org/drawingml/2006/main">
            <a:pPr algn="ctr">
              <a:buNone/>
              <a:defRPr sz="1275" b="0">
                <a:solidFill>
                  <a:srgbClr val="526174"/>
                </a:solidFill>
              </a:defRPr>
            </a:pPr>
            <a:r>
              <a:rPr sz="1275" b="0">
                <a:solidFill>
                  <a:srgbClr val="526174"/>
                </a:solidFill>
              </a:rPr>
              <a:t>typed evidence</a:t>
            </a:r>
          </a:p>
        </p:txBody>
      </p:sp>
      <p:sp>
        <p:nvSpPr>
          <p:cNvPr id="18" name="pipeline-3">
            <a:extLst xmlns:a="http://schemas.openxmlformats.org/drawingml/2006/main">
              <a:ext uri="{FF2B5EF4-FFF2-40B4-BE49-F238E27FC236}">
                <a16:creationId xmlns:a16="http://schemas.microsoft.com/office/drawing/2014/main" id="{70B442B2-7888-4C5F-8CEE-C5F5F6A025EF}"/>
              </a:ext>
            </a:extLst>
          </p:cNvPr>
          <p:cNvSpPr>
            <a:spLocks xmlns:a="http://schemas.openxmlformats.org/drawingml/2006/main" noGrp="1"/>
          </p:cNvSpPr>
          <p:nvPr/>
        </p:nvSpPr>
        <p:spPr>
          <a:xfrm xmlns:a="http://schemas.openxmlformats.org/drawingml/2006/main">
            <a:off x="7943850" y="2324100"/>
            <a:ext cx="1619250" cy="1600200"/>
          </a:xfrm>
          <a:prstGeom xmlns:a="http://schemas.openxmlformats.org/drawingml/2006/main" prst="roundRect">
            <a:avLst>
              <a:gd name="adj" fmla="val 10714"/>
            </a:avLst>
          </a:prstGeom>
          <a:solidFill xmlns:a="http://schemas.openxmlformats.org/drawingml/2006/main">
            <a:srgbClr val="E7EEF4"/>
          </a:solidFill>
          <a:ln xmlns:a="http://schemas.openxmlformats.org/drawingml/2006/main" w="9525">
            <a:solidFill>
              <a:srgbClr val="1F5A7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5E83B1DB-E7E9-4494-819A-8E961AE447BD}"/>
              </a:ext>
            </a:extLst>
          </p:cNvPr>
          <p:cNvSpPr>
            <a:spLocks xmlns:a="http://schemas.openxmlformats.org/drawingml/2006/main" noGrp="1"/>
          </p:cNvSpPr>
          <p:nvPr/>
        </p:nvSpPr>
        <p:spPr>
          <a:xfrm xmlns:a="http://schemas.openxmlformats.org/drawingml/2006/main">
            <a:off x="8115300" y="25717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F5A7A"/>
                </a:solidFill>
              </a:defRPr>
            </a:pPr>
            <a:r>
              <a:rPr sz="1800" b="1">
                <a:solidFill>
                  <a:srgbClr val="1F5A7A"/>
                </a:solidFill>
              </a:rPr>
              <a:t>Abstain?</a:t>
            </a:r>
          </a:p>
        </p:txBody>
      </p:sp>
      <p:sp>
        <p:nvSpPr>
          <p:cNvPr id="20" name="">
            <a:extLst xmlns:a="http://schemas.openxmlformats.org/drawingml/2006/main">
              <a:ext uri="{FF2B5EF4-FFF2-40B4-BE49-F238E27FC236}">
                <a16:creationId xmlns:a16="http://schemas.microsoft.com/office/drawing/2014/main" id="{47D17432-AA13-4E40-8E7D-D03F45CEB7A6}"/>
              </a:ext>
            </a:extLst>
          </p:cNvPr>
          <p:cNvSpPr>
            <a:spLocks xmlns:a="http://schemas.openxmlformats.org/drawingml/2006/main" noGrp="1"/>
          </p:cNvSpPr>
          <p:nvPr/>
        </p:nvSpPr>
        <p:spPr>
          <a:xfrm xmlns:a="http://schemas.openxmlformats.org/drawingml/2006/main">
            <a:off x="8115300" y="30480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526174"/>
                </a:solidFill>
              </a:defRPr>
            </a:pPr>
            <a:r>
              <a:rPr sz="1275" b="0">
                <a:solidFill>
                  <a:srgbClr val="526174"/>
                </a:solidFill>
              </a:rPr>
              <a:t>resolved label or</a:t>
            </a:r>
          </a:p>
          <a:p xmlns:a="http://schemas.openxmlformats.org/drawingml/2006/main">
            <a:pPr algn="ctr">
              <a:buNone/>
              <a:defRPr sz="1275" b="0">
                <a:solidFill>
                  <a:srgbClr val="526174"/>
                </a:solidFill>
              </a:defRPr>
            </a:pPr>
            <a:r>
              <a:rPr sz="1275" b="0">
                <a:solidFill>
                  <a:srgbClr val="526174"/>
                </a:solidFill>
              </a:rPr>
              <a:t>uncertain tail</a:t>
            </a:r>
          </a:p>
        </p:txBody>
      </p:sp>
      <p:sp>
        <p:nvSpPr>
          <p:cNvPr id="21" name="pipeline-4">
            <a:extLst xmlns:a="http://schemas.openxmlformats.org/drawingml/2006/main">
              <a:ext uri="{FF2B5EF4-FFF2-40B4-BE49-F238E27FC236}">
                <a16:creationId xmlns:a16="http://schemas.microsoft.com/office/drawing/2014/main" id="{724903D4-28F7-4213-B923-105D9BC4C634}"/>
              </a:ext>
            </a:extLst>
          </p:cNvPr>
          <p:cNvSpPr>
            <a:spLocks xmlns:a="http://schemas.openxmlformats.org/drawingml/2006/main" noGrp="1"/>
          </p:cNvSpPr>
          <p:nvPr/>
        </p:nvSpPr>
        <p:spPr>
          <a:xfrm xmlns:a="http://schemas.openxmlformats.org/drawingml/2006/main">
            <a:off x="10344150" y="2324100"/>
            <a:ext cx="1619250" cy="1600200"/>
          </a:xfrm>
          <a:prstGeom xmlns:a="http://schemas.openxmlformats.org/drawingml/2006/main" prst="roundRect">
            <a:avLst>
              <a:gd name="adj" fmla="val 10714"/>
            </a:avLst>
          </a:prstGeom>
          <a:solidFill xmlns:a="http://schemas.openxmlformats.org/drawingml/2006/main">
            <a:srgbClr val="FBF0D8"/>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63376F8C-DBCF-4DE1-97D2-94A840AB3C35}"/>
              </a:ext>
            </a:extLst>
          </p:cNvPr>
          <p:cNvSpPr>
            <a:spLocks xmlns:a="http://schemas.openxmlformats.org/drawingml/2006/main" noGrp="1"/>
          </p:cNvSpPr>
          <p:nvPr/>
        </p:nvSpPr>
        <p:spPr>
          <a:xfrm xmlns:a="http://schemas.openxmlformats.org/drawingml/2006/main">
            <a:off x="10515600" y="25717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D59B32"/>
                </a:solidFill>
              </a:defRPr>
            </a:pPr>
            <a:r>
              <a:rPr sz="1800" b="1">
                <a:solidFill>
                  <a:srgbClr val="D59B32"/>
                </a:solidFill>
              </a:rPr>
              <a:t>Judge</a:t>
            </a:r>
          </a:p>
        </p:txBody>
      </p:sp>
      <p:sp>
        <p:nvSpPr>
          <p:cNvPr id="23" name="">
            <a:extLst xmlns:a="http://schemas.openxmlformats.org/drawingml/2006/main">
              <a:ext uri="{FF2B5EF4-FFF2-40B4-BE49-F238E27FC236}">
                <a16:creationId xmlns:a16="http://schemas.microsoft.com/office/drawing/2014/main" id="{5B56EDAA-ED8B-4836-B539-E6F033CC9798}"/>
              </a:ext>
            </a:extLst>
          </p:cNvPr>
          <p:cNvSpPr>
            <a:spLocks xmlns:a="http://schemas.openxmlformats.org/drawingml/2006/main" noGrp="1"/>
          </p:cNvSpPr>
          <p:nvPr/>
        </p:nvSpPr>
        <p:spPr>
          <a:xfrm xmlns:a="http://schemas.openxmlformats.org/drawingml/2006/main">
            <a:off x="10515600" y="30480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526174"/>
                </a:solidFill>
              </a:defRPr>
            </a:pPr>
            <a:r>
              <a:rPr sz="1275" b="0">
                <a:solidFill>
                  <a:srgbClr val="526174"/>
                </a:solidFill>
              </a:rPr>
              <a:t>Qwen binary</a:t>
            </a:r>
          </a:p>
          <a:p xmlns:a="http://schemas.openxmlformats.org/drawingml/2006/main">
            <a:pPr algn="ctr">
              <a:buNone/>
              <a:defRPr sz="1275" b="0">
                <a:solidFill>
                  <a:srgbClr val="526174"/>
                </a:solidFill>
              </a:defRPr>
            </a:pPr>
            <a:r>
              <a:rPr sz="1275" b="0">
                <a:solidFill>
                  <a:srgbClr val="526174"/>
                </a:solidFill>
              </a:rPr>
              <a:t>decision</a:t>
            </a:r>
          </a:p>
        </p:txBody>
      </p:sp>
      <p:sp>
        <p:nvSpPr>
          <p:cNvPr id="24" name="">
            <a:extLst xmlns:a="http://schemas.openxmlformats.org/drawingml/2006/main">
              <a:ext uri="{FF2B5EF4-FFF2-40B4-BE49-F238E27FC236}">
                <a16:creationId xmlns:a16="http://schemas.microsoft.com/office/drawing/2014/main" id="{0CCBD389-74E3-4439-953B-B768C89E7775}"/>
              </a:ext>
            </a:extLst>
          </p:cNvPr>
          <p:cNvSpPr>
            <a:spLocks xmlns:a="http://schemas.openxmlformats.org/drawingml/2006/main" noGrp="1"/>
          </p:cNvSpPr>
          <p:nvPr/>
        </p:nvSpPr>
        <p:spPr>
          <a:xfrm xmlns:a="http://schemas.openxmlformats.org/drawingml/2006/main">
            <a:off x="1428750" y="4476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F5A7A"/>
                </a:solidFill>
              </a:defRPr>
            </a:pPr>
            <a:r>
              <a:rPr sz="1650" b="1">
                <a:solidFill>
                  <a:srgbClr val="1F5A7A"/>
                </a:solidFill>
              </a:rPr>
              <a:t>Technical contributions</a:t>
            </a:r>
          </a:p>
        </p:txBody>
      </p:sp>
      <p:sp>
        <p:nvSpPr>
          <p:cNvPr id="25" name="">
            <a:extLst xmlns:a="http://schemas.openxmlformats.org/drawingml/2006/main">
              <a:ext uri="{FF2B5EF4-FFF2-40B4-BE49-F238E27FC236}">
                <a16:creationId xmlns:a16="http://schemas.microsoft.com/office/drawing/2014/main" id="{43568C9F-D533-4920-BD48-4FD3A4A25067}"/>
              </a:ext>
            </a:extLst>
          </p:cNvPr>
          <p:cNvSpPr>
            <a:spLocks xmlns:a="http://schemas.openxmlformats.org/drawingml/2006/main" noGrp="1"/>
          </p:cNvSpPr>
          <p:nvPr/>
        </p:nvSpPr>
        <p:spPr>
          <a:xfrm xmlns:a="http://schemas.openxmlformats.org/drawingml/2006/main">
            <a:off x="1066800" y="4972050"/>
            <a:ext cx="1005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0F172A"/>
                </a:solidFill>
              </a:defRPr>
            </a:pPr>
            <a:r>
              <a:rPr sz="1425" b="1">
                <a:solidFill>
                  <a:srgbClr val="0F172A"/>
                </a:solidFill>
              </a:rPr>
              <a:t>Selective routing  •  task solvers  •  claim verification  •  typed provenance  •  offline T4×2</a:t>
            </a:r>
          </a:p>
        </p:txBody>
      </p:sp>
      <p:sp>
        <p:nvSpPr>
          <p:cNvPr id="26" name="">
            <a:extLst xmlns:a="http://schemas.openxmlformats.org/drawingml/2006/main">
              <a:ext uri="{FF2B5EF4-FFF2-40B4-BE49-F238E27FC236}">
                <a16:creationId xmlns:a16="http://schemas.microsoft.com/office/drawing/2014/main" id="{FD30615A-7D2C-4B2B-8107-41F5C8456A4A}"/>
              </a:ext>
            </a:extLst>
          </p:cNvPr>
          <p:cNvSpPr>
            <a:spLocks xmlns:a="http://schemas.openxmlformats.org/drawingml/2006/main" noGrp="1"/>
          </p:cNvSpPr>
          <p:nvPr/>
        </p:nvSpPr>
        <p:spPr>
          <a:xfrm xmlns:a="http://schemas.openxmlformats.org/drawingml/2006/main">
            <a:off x="1809750" y="54673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526174"/>
                </a:solidFill>
              </a:defRPr>
            </a:pPr>
            <a:r>
              <a:rPr sz="1350" b="0">
                <a:solidFill>
                  <a:srgbClr val="526174"/>
                </a:solidFill>
              </a:rPr>
              <a:t>Every deterministic decision records its source family and requested relation.</a:t>
            </a:r>
          </a:p>
        </p:txBody>
      </p:sp>
      <p:sp>
        <p:nvSpPr>
          <p:cNvPr id="27" name="">
            <a:extLst xmlns:a="http://schemas.openxmlformats.org/drawingml/2006/main">
              <a:ext uri="{FF2B5EF4-FFF2-40B4-BE49-F238E27FC236}">
                <a16:creationId xmlns:a16="http://schemas.microsoft.com/office/drawing/2014/main" id="{34BA0A81-6071-464E-B633-6B5E1055B518}"/>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8" name="source-3">
            <a:extLst xmlns:a="http://schemas.openxmlformats.org/drawingml/2006/main">
              <a:ext uri="{FF2B5EF4-FFF2-40B4-BE49-F238E27FC236}">
                <a16:creationId xmlns:a16="http://schemas.microsoft.com/office/drawing/2014/main" id="{F93DD858-C72B-41D2-8A67-DD21C12DC3D5}"/>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[3] BenHalluEval  [4] Bengali idiom benchmark  [7] Frozen v91 architecture</a:t>
            </a:r>
          </a:p>
        </p:txBody>
      </p:sp>
      <p:sp>
        <p:nvSpPr>
          <p:cNvPr id="29" name="page-3">
            <a:extLst xmlns:a="http://schemas.openxmlformats.org/drawingml/2006/main">
              <a:ext uri="{FF2B5EF4-FFF2-40B4-BE49-F238E27FC236}">
                <a16:creationId xmlns:a16="http://schemas.microsoft.com/office/drawing/2014/main" id="{8DC4715B-0E33-4CB6-9900-8C70CE3D97E0}"/>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03</a:t>
            </a:r>
          </a:p>
        </p:txBody>
      </p:sp>
    </p:spTree>
    <p:extLst>
      <p:ext uri="{BB962C8B-B14F-4D97-AF65-F5344CB8AC3E}">
        <p14:creationId xmlns:p14="http://schemas.microsoft.com/office/powerpoint/2010/main" val="731911166"/>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9" name="kicker-4">
            <a:extLst xmlns:a="http://schemas.openxmlformats.org/drawingml/2006/main">
              <a:ext uri="{FF2B5EF4-FFF2-40B4-BE49-F238E27FC236}">
                <a16:creationId xmlns:a16="http://schemas.microsoft.com/office/drawing/2014/main" id="{9F3A29E2-1221-4468-9114-7CE5D9E89E55}"/>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title-4">
            <a:extLst xmlns:a="http://schemas.openxmlformats.org/drawingml/2006/main">
              <a:ext uri="{FF2B5EF4-FFF2-40B4-BE49-F238E27FC236}">
                <a16:creationId xmlns:a16="http://schemas.microsoft.com/office/drawing/2014/main" id="{2B0C3459-5559-4C4D-A634-289E195EFC5D}"/>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Routing made abstention an explicit state</a:t>
            </a:r>
          </a:p>
        </p:txBody>
      </p:sp>
      <p:sp>
        <p:nvSpPr>
          <p:cNvPr id="3" name="">
            <a:extLst xmlns:a="http://schemas.openxmlformats.org/drawingml/2006/main">
              <a:ext uri="{FF2B5EF4-FFF2-40B4-BE49-F238E27FC236}">
                <a16:creationId xmlns:a16="http://schemas.microsoft.com/office/drawing/2014/main" id="{7FF0CF03-89CE-4D31-97E5-90C4D541528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042CFD87-2786-49E4-9E4F-E650B08F9E42}"/>
              </a:ext>
            </a:extLst>
          </p:cNvPr>
          <p:cNvSpPr>
            <a:spLocks xmlns:a="http://schemas.openxmlformats.org/drawingml/2006/main" noGrp="1"/>
          </p:cNvSpPr>
          <p:nvPr/>
        </p:nvSpPr>
        <p:spPr>
          <a:xfrm xmlns:a="http://schemas.openxmlformats.org/drawingml/2006/main">
            <a:off x="685800" y="1381125"/>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26174"/>
                </a:solidFill>
              </a:defRPr>
            </a:pPr>
            <a:r>
              <a:rPr sz="1575" b="0">
                <a:solidFill>
                  <a:srgbClr val="526174"/>
                </a:solidFill>
              </a:rPr>
              <a:t>A branch could return 0, 1, or abstain. Only abstentions moved to the next branch.</a:t>
            </a:r>
          </a:p>
        </p:txBody>
      </p:sp>
      <p:sp>
        <p:nvSpPr>
          <p:cNvPr id="5" name="">
            <a:extLst xmlns:a="http://schemas.openxmlformats.org/drawingml/2006/main">
              <a:ext uri="{FF2B5EF4-FFF2-40B4-BE49-F238E27FC236}">
                <a16:creationId xmlns:a16="http://schemas.microsoft.com/office/drawing/2014/main" id="{D34C3FE4-5F11-47A0-AA4E-BADE0B3DB655}"/>
              </a:ext>
            </a:extLst>
          </p:cNvPr>
          <p:cNvSpPr>
            <a:spLocks xmlns:a="http://schemas.openxmlformats.org/drawingml/2006/main" noGrp="1"/>
          </p:cNvSpPr>
          <p:nvPr/>
        </p:nvSpPr>
        <p:spPr>
          <a:xfrm xmlns:a="http://schemas.openxmlformats.org/drawingml/2006/main">
            <a:off x="184785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6" name="">
            <a:extLst xmlns:a="http://schemas.openxmlformats.org/drawingml/2006/main">
              <a:ext uri="{FF2B5EF4-FFF2-40B4-BE49-F238E27FC236}">
                <a16:creationId xmlns:a16="http://schemas.microsoft.com/office/drawing/2014/main" id="{F11245FD-0B7E-4D70-81A9-3DEB252C7FCF}"/>
              </a:ext>
            </a:extLst>
          </p:cNvPr>
          <p:cNvSpPr>
            <a:spLocks xmlns:a="http://schemas.openxmlformats.org/drawingml/2006/main" noGrp="1"/>
          </p:cNvSpPr>
          <p:nvPr/>
        </p:nvSpPr>
        <p:spPr>
          <a:xfrm xmlns:a="http://schemas.openxmlformats.org/drawingml/2006/main">
            <a:off x="354330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7" name="">
            <a:extLst xmlns:a="http://schemas.openxmlformats.org/drawingml/2006/main">
              <a:ext uri="{FF2B5EF4-FFF2-40B4-BE49-F238E27FC236}">
                <a16:creationId xmlns:a16="http://schemas.microsoft.com/office/drawing/2014/main" id="{38B47B91-D37D-46CE-B12E-0FA40E89D44F}"/>
              </a:ext>
            </a:extLst>
          </p:cNvPr>
          <p:cNvSpPr>
            <a:spLocks xmlns:a="http://schemas.openxmlformats.org/drawingml/2006/main" noGrp="1"/>
          </p:cNvSpPr>
          <p:nvPr/>
        </p:nvSpPr>
        <p:spPr>
          <a:xfrm xmlns:a="http://schemas.openxmlformats.org/drawingml/2006/main">
            <a:off x="546735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8" name="">
            <a:extLst xmlns:a="http://schemas.openxmlformats.org/drawingml/2006/main">
              <a:ext uri="{FF2B5EF4-FFF2-40B4-BE49-F238E27FC236}">
                <a16:creationId xmlns:a16="http://schemas.microsoft.com/office/drawing/2014/main" id="{527E705D-5DC8-42B1-8C3D-A1790195D05A}"/>
              </a:ext>
            </a:extLst>
          </p:cNvPr>
          <p:cNvSpPr>
            <a:spLocks xmlns:a="http://schemas.openxmlformats.org/drawingml/2006/main" noGrp="1"/>
          </p:cNvSpPr>
          <p:nvPr/>
        </p:nvSpPr>
        <p:spPr>
          <a:xfrm xmlns:a="http://schemas.openxmlformats.org/drawingml/2006/main">
            <a:off x="739140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9" name="">
            <a:extLst xmlns:a="http://schemas.openxmlformats.org/drawingml/2006/main">
              <a:ext uri="{FF2B5EF4-FFF2-40B4-BE49-F238E27FC236}">
                <a16:creationId xmlns:a16="http://schemas.microsoft.com/office/drawing/2014/main" id="{3615CE5E-20BA-411A-B9F4-8155EB90FEEF}"/>
              </a:ext>
            </a:extLst>
          </p:cNvPr>
          <p:cNvSpPr>
            <a:spLocks xmlns:a="http://schemas.openxmlformats.org/drawingml/2006/main" noGrp="1"/>
          </p:cNvSpPr>
          <p:nvPr/>
        </p:nvSpPr>
        <p:spPr>
          <a:xfrm xmlns:a="http://schemas.openxmlformats.org/drawingml/2006/main">
            <a:off x="918210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0" name="">
            <a:extLst xmlns:a="http://schemas.openxmlformats.org/drawingml/2006/main">
              <a:ext uri="{FF2B5EF4-FFF2-40B4-BE49-F238E27FC236}">
                <a16:creationId xmlns:a16="http://schemas.microsoft.com/office/drawing/2014/main" id="{FF512F77-0CC5-44B8-B192-E4568CB4ABF1}"/>
              </a:ext>
            </a:extLst>
          </p:cNvPr>
          <p:cNvSpPr>
            <a:spLocks xmlns:a="http://schemas.openxmlformats.org/drawingml/2006/main" noGrp="1"/>
          </p:cNvSpPr>
          <p:nvPr/>
        </p:nvSpPr>
        <p:spPr>
          <a:xfrm xmlns:a="http://schemas.openxmlformats.org/drawingml/2006/main">
            <a:off x="2695575" y="3114675"/>
            <a:ext cx="209550" cy="533400"/>
          </a:xfrm>
          <a:prstGeom xmlns:a="http://schemas.openxmlformats.org/drawingml/2006/main" prst="downArrow">
            <a:avLst/>
          </a:prstGeom>
          <a:solidFill xmlns:a="http://schemas.openxmlformats.org/drawingml/2006/main">
            <a:srgbClr val="D8E0EA"/>
          </a:solidFill>
          <a:ln xmlns:a="http://schemas.openxmlformats.org/drawingml/2006/main" w="0">
            <a:solidFill>
              <a:srgbClr val="D8E0EA"/>
            </a:solidFill>
            <a:prstDash val="solid"/>
          </a:ln>
        </p:spPr>
      </p:sp>
      <p:sp>
        <p:nvSpPr>
          <p:cNvPr id="11" name="">
            <a:extLst xmlns:a="http://schemas.openxmlformats.org/drawingml/2006/main">
              <a:ext uri="{FF2B5EF4-FFF2-40B4-BE49-F238E27FC236}">
                <a16:creationId xmlns:a16="http://schemas.microsoft.com/office/drawing/2014/main" id="{59B66290-E55E-44E6-A36D-A205887DD27D}"/>
              </a:ext>
            </a:extLst>
          </p:cNvPr>
          <p:cNvSpPr>
            <a:spLocks xmlns:a="http://schemas.openxmlformats.org/drawingml/2006/main" noGrp="1"/>
          </p:cNvSpPr>
          <p:nvPr/>
        </p:nvSpPr>
        <p:spPr>
          <a:xfrm xmlns:a="http://schemas.openxmlformats.org/drawingml/2006/main">
            <a:off x="4619625" y="3114675"/>
            <a:ext cx="209550" cy="533400"/>
          </a:xfrm>
          <a:prstGeom xmlns:a="http://schemas.openxmlformats.org/drawingml/2006/main" prst="downArrow">
            <a:avLst/>
          </a:prstGeom>
          <a:solidFill xmlns:a="http://schemas.openxmlformats.org/drawingml/2006/main">
            <a:srgbClr val="D8E0EA"/>
          </a:solidFill>
          <a:ln xmlns:a="http://schemas.openxmlformats.org/drawingml/2006/main" w="0">
            <a:solidFill>
              <a:srgbClr val="D8E0EA"/>
            </a:solidFill>
            <a:prstDash val="solid"/>
          </a:ln>
        </p:spPr>
      </p:sp>
      <p:sp>
        <p:nvSpPr>
          <p:cNvPr id="12" name="">
            <a:extLst xmlns:a="http://schemas.openxmlformats.org/drawingml/2006/main">
              <a:ext uri="{FF2B5EF4-FFF2-40B4-BE49-F238E27FC236}">
                <a16:creationId xmlns:a16="http://schemas.microsoft.com/office/drawing/2014/main" id="{8369D14A-B57F-40D3-AE7B-D10869BBBE2E}"/>
              </a:ext>
            </a:extLst>
          </p:cNvPr>
          <p:cNvSpPr>
            <a:spLocks xmlns:a="http://schemas.openxmlformats.org/drawingml/2006/main" noGrp="1"/>
          </p:cNvSpPr>
          <p:nvPr/>
        </p:nvSpPr>
        <p:spPr>
          <a:xfrm xmlns:a="http://schemas.openxmlformats.org/drawingml/2006/main">
            <a:off x="6543675" y="3114675"/>
            <a:ext cx="209550" cy="533400"/>
          </a:xfrm>
          <a:prstGeom xmlns:a="http://schemas.openxmlformats.org/drawingml/2006/main" prst="downArrow">
            <a:avLst/>
          </a:prstGeom>
          <a:solidFill xmlns:a="http://schemas.openxmlformats.org/drawingml/2006/main">
            <a:srgbClr val="D8E0EA"/>
          </a:solidFill>
          <a:ln xmlns:a="http://schemas.openxmlformats.org/drawingml/2006/main" w="0">
            <a:solidFill>
              <a:srgbClr val="D8E0EA"/>
            </a:solidFill>
            <a:prstDash val="solid"/>
          </a:ln>
        </p:spPr>
      </p:sp>
      <p:sp>
        <p:nvSpPr>
          <p:cNvPr id="13" name="">
            <a:extLst xmlns:a="http://schemas.openxmlformats.org/drawingml/2006/main">
              <a:ext uri="{FF2B5EF4-FFF2-40B4-BE49-F238E27FC236}">
                <a16:creationId xmlns:a16="http://schemas.microsoft.com/office/drawing/2014/main" id="{1A0133B5-F642-4C94-9E94-5E1A68C21DA8}"/>
              </a:ext>
            </a:extLst>
          </p:cNvPr>
          <p:cNvSpPr>
            <a:spLocks xmlns:a="http://schemas.openxmlformats.org/drawingml/2006/main" noGrp="1"/>
          </p:cNvSpPr>
          <p:nvPr/>
        </p:nvSpPr>
        <p:spPr>
          <a:xfrm xmlns:a="http://schemas.openxmlformats.org/drawingml/2006/main">
            <a:off x="742950" y="2209800"/>
            <a:ext cx="11049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1F5A7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E880372-1C2D-4CB8-9DCC-7002FD4715DE}"/>
              </a:ext>
            </a:extLst>
          </p:cNvPr>
          <p:cNvSpPr>
            <a:spLocks xmlns:a="http://schemas.openxmlformats.org/drawingml/2006/main" noGrp="1"/>
          </p:cNvSpPr>
          <p:nvPr/>
        </p:nvSpPr>
        <p:spPr>
          <a:xfrm xmlns:a="http://schemas.openxmlformats.org/drawingml/2006/main">
            <a:off x="933450" y="24003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F5A7A"/>
                </a:solidFill>
              </a:defRPr>
            </a:pPr>
            <a:r>
              <a:rPr sz="1800" b="1">
                <a:solidFill>
                  <a:srgbClr val="1F5A7A"/>
                </a:solidFill>
              </a:rPr>
              <a:t>Row</a:t>
            </a:r>
          </a:p>
        </p:txBody>
      </p:sp>
      <p:sp>
        <p:nvSpPr>
          <p:cNvPr id="15" name="">
            <a:extLst xmlns:a="http://schemas.openxmlformats.org/drawingml/2006/main">
              <a:ext uri="{FF2B5EF4-FFF2-40B4-BE49-F238E27FC236}">
                <a16:creationId xmlns:a16="http://schemas.microsoft.com/office/drawing/2014/main" id="{DEB854DF-94FC-49B0-AE7F-5A76B79B7293}"/>
              </a:ext>
            </a:extLst>
          </p:cNvPr>
          <p:cNvSpPr>
            <a:spLocks xmlns:a="http://schemas.openxmlformats.org/drawingml/2006/main" noGrp="1"/>
          </p:cNvSpPr>
          <p:nvPr/>
        </p:nvSpPr>
        <p:spPr>
          <a:xfrm xmlns:a="http://schemas.openxmlformats.org/drawingml/2006/main">
            <a:off x="933450" y="268605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input</a:t>
            </a:r>
          </a:p>
        </p:txBody>
      </p:sp>
      <p:sp>
        <p:nvSpPr>
          <p:cNvPr id="16" name="">
            <a:extLst xmlns:a="http://schemas.openxmlformats.org/drawingml/2006/main">
              <a:ext uri="{FF2B5EF4-FFF2-40B4-BE49-F238E27FC236}">
                <a16:creationId xmlns:a16="http://schemas.microsoft.com/office/drawing/2014/main" id="{CE5C03C8-AACB-45E3-9306-D6A9D9CDF95C}"/>
              </a:ext>
            </a:extLst>
          </p:cNvPr>
          <p:cNvSpPr>
            <a:spLocks xmlns:a="http://schemas.openxmlformats.org/drawingml/2006/main" noGrp="1"/>
          </p:cNvSpPr>
          <p:nvPr/>
        </p:nvSpPr>
        <p:spPr>
          <a:xfrm xmlns:a="http://schemas.openxmlformats.org/drawingml/2006/main">
            <a:off x="2266950" y="2076450"/>
            <a:ext cx="1276350" cy="1104900"/>
          </a:xfrm>
          <a:prstGeom xmlns:a="http://schemas.openxmlformats.org/drawingml/2006/main" prst="diamond">
            <a:avLst/>
          </a:prstGeom>
          <a:solidFill xmlns:a="http://schemas.openxmlformats.org/drawingml/2006/main">
            <a:srgbClr val="E7EEF4"/>
          </a:solidFill>
          <a:ln xmlns:a="http://schemas.openxmlformats.org/drawingml/2006/main" w="11430">
            <a:solidFill>
              <a:srgbClr val="1F5A7A"/>
            </a:solidFill>
            <a:prstDash val="solid"/>
          </a:ln>
        </p:spPr>
      </p:sp>
      <p:sp>
        <p:nvSpPr>
          <p:cNvPr id="17" name="">
            <a:extLst xmlns:a="http://schemas.openxmlformats.org/drawingml/2006/main">
              <a:ext uri="{FF2B5EF4-FFF2-40B4-BE49-F238E27FC236}">
                <a16:creationId xmlns:a16="http://schemas.microsoft.com/office/drawing/2014/main" id="{664F09DA-B9C6-49E4-8464-006A551A00D1}"/>
              </a:ext>
            </a:extLst>
          </p:cNvPr>
          <p:cNvSpPr>
            <a:spLocks xmlns:a="http://schemas.openxmlformats.org/drawingml/2006/main" noGrp="1"/>
          </p:cNvSpPr>
          <p:nvPr/>
        </p:nvSpPr>
        <p:spPr>
          <a:xfrm xmlns:a="http://schemas.openxmlformats.org/drawingml/2006/main">
            <a:off x="2371725" y="2362200"/>
            <a:ext cx="1066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0F172A"/>
                </a:solidFill>
              </a:defRPr>
            </a:pPr>
            <a:r>
              <a:rPr sz="1200" b="1">
                <a:solidFill>
                  <a:srgbClr val="0F172A"/>
                </a:solidFill>
              </a:rPr>
              <a:t>Context</a:t>
            </a:r>
          </a:p>
          <a:p xmlns:a="http://schemas.openxmlformats.org/drawingml/2006/main">
            <a:pPr algn="ctr">
              <a:buNone/>
              <a:defRPr sz="1200" b="1">
                <a:solidFill>
                  <a:srgbClr val="0F172A"/>
                </a:solidFill>
              </a:defRPr>
            </a:pPr>
            <a:r>
              <a:rPr sz="1200" b="1">
                <a:solidFill>
                  <a:srgbClr val="0F172A"/>
                </a:solidFill>
              </a:rPr>
              <a:t>present?</a:t>
            </a:r>
          </a:p>
        </p:txBody>
      </p:sp>
      <p:sp>
        <p:nvSpPr>
          <p:cNvPr id="18" name="">
            <a:extLst xmlns:a="http://schemas.openxmlformats.org/drawingml/2006/main">
              <a:ext uri="{FF2B5EF4-FFF2-40B4-BE49-F238E27FC236}">
                <a16:creationId xmlns:a16="http://schemas.microsoft.com/office/drawing/2014/main" id="{36488B1E-5E64-4D66-82A3-0349A8B5FDA3}"/>
              </a:ext>
            </a:extLst>
          </p:cNvPr>
          <p:cNvSpPr>
            <a:spLocks xmlns:a="http://schemas.openxmlformats.org/drawingml/2006/main" noGrp="1"/>
          </p:cNvSpPr>
          <p:nvPr/>
        </p:nvSpPr>
        <p:spPr>
          <a:xfrm xmlns:a="http://schemas.openxmlformats.org/drawingml/2006/main">
            <a:off x="3962400" y="2076450"/>
            <a:ext cx="1276350" cy="1104900"/>
          </a:xfrm>
          <a:prstGeom xmlns:a="http://schemas.openxmlformats.org/drawingml/2006/main" prst="diamond">
            <a:avLst/>
          </a:prstGeom>
          <a:solidFill xmlns:a="http://schemas.openxmlformats.org/drawingml/2006/main">
            <a:srgbClr val="E7EEF4"/>
          </a:solidFill>
          <a:ln xmlns:a="http://schemas.openxmlformats.org/drawingml/2006/main" w="11430">
            <a:solidFill>
              <a:srgbClr val="1F5A7A"/>
            </a:solidFill>
            <a:prstDash val="solid"/>
          </a:ln>
        </p:spPr>
      </p:sp>
      <p:sp>
        <p:nvSpPr>
          <p:cNvPr id="19" name="">
            <a:extLst xmlns:a="http://schemas.openxmlformats.org/drawingml/2006/main">
              <a:ext uri="{FF2B5EF4-FFF2-40B4-BE49-F238E27FC236}">
                <a16:creationId xmlns:a16="http://schemas.microsoft.com/office/drawing/2014/main" id="{851D6612-13E6-45A2-9F0D-12BCD8724060}"/>
              </a:ext>
            </a:extLst>
          </p:cNvPr>
          <p:cNvSpPr>
            <a:spLocks xmlns:a="http://schemas.openxmlformats.org/drawingml/2006/main" noGrp="1"/>
          </p:cNvSpPr>
          <p:nvPr/>
        </p:nvSpPr>
        <p:spPr>
          <a:xfrm xmlns:a="http://schemas.openxmlformats.org/drawingml/2006/main">
            <a:off x="4067175" y="2362200"/>
            <a:ext cx="1066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0F172A"/>
                </a:solidFill>
              </a:defRPr>
            </a:pPr>
            <a:r>
              <a:rPr sz="1200" b="1">
                <a:solidFill>
                  <a:srgbClr val="0F172A"/>
                </a:solidFill>
              </a:rPr>
              <a:t>Structured</a:t>
            </a:r>
          </a:p>
          <a:p xmlns:a="http://schemas.openxmlformats.org/drawingml/2006/main">
            <a:pPr algn="ctr">
              <a:buNone/>
              <a:defRPr sz="1200" b="1">
                <a:solidFill>
                  <a:srgbClr val="0F172A"/>
                </a:solidFill>
              </a:defRPr>
            </a:pPr>
            <a:r>
              <a:rPr sz="1200" b="1">
                <a:solidFill>
                  <a:srgbClr val="0F172A"/>
                </a:solidFill>
              </a:rPr>
              <a:t>task?</a:t>
            </a:r>
          </a:p>
        </p:txBody>
      </p:sp>
      <p:sp>
        <p:nvSpPr>
          <p:cNvPr id="20" name="">
            <a:extLst xmlns:a="http://schemas.openxmlformats.org/drawingml/2006/main">
              <a:ext uri="{FF2B5EF4-FFF2-40B4-BE49-F238E27FC236}">
                <a16:creationId xmlns:a16="http://schemas.microsoft.com/office/drawing/2014/main" id="{D04359D0-40A4-4ABA-8957-FFF1B78FD945}"/>
              </a:ext>
            </a:extLst>
          </p:cNvPr>
          <p:cNvSpPr>
            <a:spLocks xmlns:a="http://schemas.openxmlformats.org/drawingml/2006/main" noGrp="1"/>
          </p:cNvSpPr>
          <p:nvPr/>
        </p:nvSpPr>
        <p:spPr>
          <a:xfrm xmlns:a="http://schemas.openxmlformats.org/drawingml/2006/main">
            <a:off x="5886450" y="2076450"/>
            <a:ext cx="1276350" cy="1104900"/>
          </a:xfrm>
          <a:prstGeom xmlns:a="http://schemas.openxmlformats.org/drawingml/2006/main" prst="diamond">
            <a:avLst/>
          </a:prstGeom>
          <a:solidFill xmlns:a="http://schemas.openxmlformats.org/drawingml/2006/main">
            <a:srgbClr val="E7EEF4"/>
          </a:solidFill>
          <a:ln xmlns:a="http://schemas.openxmlformats.org/drawingml/2006/main" w="11430">
            <a:solidFill>
              <a:srgbClr val="1F5A7A"/>
            </a:solidFill>
            <a:prstDash val="solid"/>
          </a:ln>
        </p:spPr>
      </p:sp>
      <p:sp>
        <p:nvSpPr>
          <p:cNvPr id="21" name="">
            <a:extLst xmlns:a="http://schemas.openxmlformats.org/drawingml/2006/main">
              <a:ext uri="{FF2B5EF4-FFF2-40B4-BE49-F238E27FC236}">
                <a16:creationId xmlns:a16="http://schemas.microsoft.com/office/drawing/2014/main" id="{5BA6E8FF-30EB-403D-8BE1-8910960A68E9}"/>
              </a:ext>
            </a:extLst>
          </p:cNvPr>
          <p:cNvSpPr>
            <a:spLocks xmlns:a="http://schemas.openxmlformats.org/drawingml/2006/main" noGrp="1"/>
          </p:cNvSpPr>
          <p:nvPr/>
        </p:nvSpPr>
        <p:spPr>
          <a:xfrm xmlns:a="http://schemas.openxmlformats.org/drawingml/2006/main">
            <a:off x="5991225" y="2362200"/>
            <a:ext cx="1066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0F172A"/>
                </a:solidFill>
              </a:defRPr>
            </a:pPr>
            <a:r>
              <a:rPr sz="1200" b="1">
                <a:solidFill>
                  <a:srgbClr val="0F172A"/>
                </a:solidFill>
              </a:rPr>
              <a:t>Exact source</a:t>
            </a:r>
          </a:p>
          <a:p xmlns:a="http://schemas.openxmlformats.org/drawingml/2006/main">
            <a:pPr algn="ctr">
              <a:buNone/>
              <a:defRPr sz="1200" b="1">
                <a:solidFill>
                  <a:srgbClr val="0F172A"/>
                </a:solidFill>
              </a:defRPr>
            </a:pPr>
            <a:r>
              <a:rPr sz="1200" b="1">
                <a:solidFill>
                  <a:srgbClr val="0F172A"/>
                </a:solidFill>
              </a:rPr>
              <a:t>lineage?</a:t>
            </a:r>
          </a:p>
        </p:txBody>
      </p:sp>
      <p:sp>
        <p:nvSpPr>
          <p:cNvPr id="22" name="">
            <a:extLst xmlns:a="http://schemas.openxmlformats.org/drawingml/2006/main">
              <a:ext uri="{FF2B5EF4-FFF2-40B4-BE49-F238E27FC236}">
                <a16:creationId xmlns:a16="http://schemas.microsoft.com/office/drawing/2014/main" id="{73A21A85-17BE-4FE5-A061-673601D29F31}"/>
              </a:ext>
            </a:extLst>
          </p:cNvPr>
          <p:cNvSpPr>
            <a:spLocks xmlns:a="http://schemas.openxmlformats.org/drawingml/2006/main" noGrp="1"/>
          </p:cNvSpPr>
          <p:nvPr/>
        </p:nvSpPr>
        <p:spPr>
          <a:xfrm xmlns:a="http://schemas.openxmlformats.org/drawingml/2006/main">
            <a:off x="3562350" y="22479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526174"/>
                </a:solidFill>
              </a:defRPr>
            </a:pPr>
            <a:r>
              <a:rPr sz="1200" b="1">
                <a:solidFill>
                  <a:srgbClr val="526174"/>
                </a:solidFill>
              </a:rPr>
              <a:t>no</a:t>
            </a:r>
          </a:p>
        </p:txBody>
      </p:sp>
      <p:sp>
        <p:nvSpPr>
          <p:cNvPr id="23" name="">
            <a:extLst xmlns:a="http://schemas.openxmlformats.org/drawingml/2006/main">
              <a:ext uri="{FF2B5EF4-FFF2-40B4-BE49-F238E27FC236}">
                <a16:creationId xmlns:a16="http://schemas.microsoft.com/office/drawing/2014/main" id="{A1327364-6007-4F9D-87EF-CFDA47E15BC9}"/>
              </a:ext>
            </a:extLst>
          </p:cNvPr>
          <p:cNvSpPr>
            <a:spLocks xmlns:a="http://schemas.openxmlformats.org/drawingml/2006/main" noGrp="1"/>
          </p:cNvSpPr>
          <p:nvPr/>
        </p:nvSpPr>
        <p:spPr>
          <a:xfrm xmlns:a="http://schemas.openxmlformats.org/drawingml/2006/main">
            <a:off x="5486400" y="22479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526174"/>
                </a:solidFill>
              </a:defRPr>
            </a:pPr>
            <a:r>
              <a:rPr sz="1200" b="1">
                <a:solidFill>
                  <a:srgbClr val="526174"/>
                </a:solidFill>
              </a:rPr>
              <a:t>no</a:t>
            </a:r>
          </a:p>
        </p:txBody>
      </p:sp>
      <p:sp>
        <p:nvSpPr>
          <p:cNvPr id="24" name="">
            <a:extLst xmlns:a="http://schemas.openxmlformats.org/drawingml/2006/main">
              <a:ext uri="{FF2B5EF4-FFF2-40B4-BE49-F238E27FC236}">
                <a16:creationId xmlns:a16="http://schemas.microsoft.com/office/drawing/2014/main" id="{51263DDE-1994-4FCA-9E86-7B71F11993E5}"/>
              </a:ext>
            </a:extLst>
          </p:cNvPr>
          <p:cNvSpPr>
            <a:spLocks xmlns:a="http://schemas.openxmlformats.org/drawingml/2006/main" noGrp="1"/>
          </p:cNvSpPr>
          <p:nvPr/>
        </p:nvSpPr>
        <p:spPr>
          <a:xfrm xmlns:a="http://schemas.openxmlformats.org/drawingml/2006/main">
            <a:off x="7410450" y="22479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526174"/>
                </a:solidFill>
              </a:defRPr>
            </a:pPr>
            <a:r>
              <a:rPr sz="1200" b="1">
                <a:solidFill>
                  <a:srgbClr val="526174"/>
                </a:solidFill>
              </a:rPr>
              <a:t>no</a:t>
            </a:r>
          </a:p>
        </p:txBody>
      </p:sp>
      <p:sp>
        <p:nvSpPr>
          <p:cNvPr id="25" name="">
            <a:extLst xmlns:a="http://schemas.openxmlformats.org/drawingml/2006/main">
              <a:ext uri="{FF2B5EF4-FFF2-40B4-BE49-F238E27FC236}">
                <a16:creationId xmlns:a16="http://schemas.microsoft.com/office/drawing/2014/main" id="{558718BA-9EC3-453C-A9F2-E35D7945EA27}"/>
              </a:ext>
            </a:extLst>
          </p:cNvPr>
          <p:cNvSpPr>
            <a:spLocks xmlns:a="http://schemas.openxmlformats.org/drawingml/2006/main" noGrp="1"/>
          </p:cNvSpPr>
          <p:nvPr/>
        </p:nvSpPr>
        <p:spPr>
          <a:xfrm xmlns:a="http://schemas.openxmlformats.org/drawingml/2006/main">
            <a:off x="2828925" y="32575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A8C82"/>
                </a:solidFill>
              </a:defRPr>
            </a:pPr>
            <a:r>
              <a:rPr sz="1200" b="1">
                <a:solidFill>
                  <a:srgbClr val="2A8C82"/>
                </a:solidFill>
              </a:rPr>
              <a:t>yes</a:t>
            </a:r>
          </a:p>
        </p:txBody>
      </p:sp>
      <p:sp>
        <p:nvSpPr>
          <p:cNvPr id="26" name="">
            <a:extLst xmlns:a="http://schemas.openxmlformats.org/drawingml/2006/main">
              <a:ext uri="{FF2B5EF4-FFF2-40B4-BE49-F238E27FC236}">
                <a16:creationId xmlns:a16="http://schemas.microsoft.com/office/drawing/2014/main" id="{1613C312-C23D-4BBD-BC20-539BB89BF4C5}"/>
              </a:ext>
            </a:extLst>
          </p:cNvPr>
          <p:cNvSpPr>
            <a:spLocks xmlns:a="http://schemas.openxmlformats.org/drawingml/2006/main" noGrp="1"/>
          </p:cNvSpPr>
          <p:nvPr/>
        </p:nvSpPr>
        <p:spPr>
          <a:xfrm xmlns:a="http://schemas.openxmlformats.org/drawingml/2006/main">
            <a:off x="4752975" y="32575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A8C82"/>
                </a:solidFill>
              </a:defRPr>
            </a:pPr>
            <a:r>
              <a:rPr sz="1200" b="1">
                <a:solidFill>
                  <a:srgbClr val="2A8C82"/>
                </a:solidFill>
              </a:rPr>
              <a:t>yes</a:t>
            </a:r>
          </a:p>
        </p:txBody>
      </p:sp>
      <p:sp>
        <p:nvSpPr>
          <p:cNvPr id="27" name="">
            <a:extLst xmlns:a="http://schemas.openxmlformats.org/drawingml/2006/main">
              <a:ext uri="{FF2B5EF4-FFF2-40B4-BE49-F238E27FC236}">
                <a16:creationId xmlns:a16="http://schemas.microsoft.com/office/drawing/2014/main" id="{ED5A6609-CA18-4390-8A74-3B017871116B}"/>
              </a:ext>
            </a:extLst>
          </p:cNvPr>
          <p:cNvSpPr>
            <a:spLocks xmlns:a="http://schemas.openxmlformats.org/drawingml/2006/main" noGrp="1"/>
          </p:cNvSpPr>
          <p:nvPr/>
        </p:nvSpPr>
        <p:spPr>
          <a:xfrm xmlns:a="http://schemas.openxmlformats.org/drawingml/2006/main">
            <a:off x="6677025" y="32575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A8C82"/>
                </a:solidFill>
              </a:defRPr>
            </a:pPr>
            <a:r>
              <a:rPr sz="1200" b="1">
                <a:solidFill>
                  <a:srgbClr val="2A8C82"/>
                </a:solidFill>
              </a:rPr>
              <a:t>yes</a:t>
            </a:r>
          </a:p>
        </p:txBody>
      </p:sp>
      <p:sp>
        <p:nvSpPr>
          <p:cNvPr id="28" name="">
            <a:extLst xmlns:a="http://schemas.openxmlformats.org/drawingml/2006/main">
              <a:ext uri="{FF2B5EF4-FFF2-40B4-BE49-F238E27FC236}">
                <a16:creationId xmlns:a16="http://schemas.microsoft.com/office/drawing/2014/main" id="{EE05702A-0C67-420F-80D9-4479CE0C2442}"/>
              </a:ext>
            </a:extLst>
          </p:cNvPr>
          <p:cNvSpPr>
            <a:spLocks xmlns:a="http://schemas.openxmlformats.org/drawingml/2006/main" noGrp="1"/>
          </p:cNvSpPr>
          <p:nvPr/>
        </p:nvSpPr>
        <p:spPr>
          <a:xfrm xmlns:a="http://schemas.openxmlformats.org/drawingml/2006/main">
            <a:off x="2038350" y="3733800"/>
            <a:ext cx="1676400" cy="1428750"/>
          </a:xfrm>
          <a:prstGeom xmlns:a="http://schemas.openxmlformats.org/drawingml/2006/main" prst="roundRect">
            <a:avLst>
              <a:gd name="adj" fmla="val 9333"/>
            </a:avLst>
          </a:prstGeom>
          <a:solidFill xmlns:a="http://schemas.openxmlformats.org/drawingml/2006/main">
            <a:srgbClr val="DDF2EE"/>
          </a:solidFill>
          <a:ln xmlns:a="http://schemas.openxmlformats.org/drawingml/2006/main" w="9525">
            <a:solidFill>
              <a:srgbClr val="2A8C82"/>
            </a:solidFill>
            <a:prstDash val="solid"/>
          </a:ln>
        </p:spPr>
      </p:sp>
      <p:sp>
        <p:nvSpPr>
          <p:cNvPr id="29" name="">
            <a:extLst xmlns:a="http://schemas.openxmlformats.org/drawingml/2006/main">
              <a:ext uri="{FF2B5EF4-FFF2-40B4-BE49-F238E27FC236}">
                <a16:creationId xmlns:a16="http://schemas.microsoft.com/office/drawing/2014/main" id="{288650ED-888C-4EDF-A74A-FB6D22CD71ED}"/>
              </a:ext>
            </a:extLst>
          </p:cNvPr>
          <p:cNvSpPr>
            <a:spLocks xmlns:a="http://schemas.openxmlformats.org/drawingml/2006/main" noGrp="1"/>
          </p:cNvSpPr>
          <p:nvPr/>
        </p:nvSpPr>
        <p:spPr>
          <a:xfrm xmlns:a="http://schemas.openxmlformats.org/drawingml/2006/main">
            <a:off x="2171700" y="3848100"/>
            <a:ext cx="140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F172A"/>
                </a:solidFill>
              </a:defRPr>
            </a:pPr>
            <a:r>
              <a:rPr sz="1350" b="1">
                <a:solidFill>
                  <a:srgbClr val="0F172A"/>
                </a:solidFill>
              </a:rPr>
              <a:t>Context</a:t>
            </a:r>
          </a:p>
          <a:p xmlns:a="http://schemas.openxmlformats.org/drawingml/2006/main">
            <a:pPr algn="ctr">
              <a:buNone/>
              <a:defRPr sz="1350" b="1">
                <a:solidFill>
                  <a:srgbClr val="0F172A"/>
                </a:solidFill>
              </a:defRPr>
            </a:pPr>
            <a:r>
              <a:rPr sz="1350" b="1">
                <a:solidFill>
                  <a:srgbClr val="0F172A"/>
                </a:solidFill>
              </a:rPr>
              <a:t>verifier</a:t>
            </a:r>
          </a:p>
        </p:txBody>
      </p:sp>
      <p:sp>
        <p:nvSpPr>
          <p:cNvPr id="30" name="">
            <a:extLst xmlns:a="http://schemas.openxmlformats.org/drawingml/2006/main">
              <a:ext uri="{FF2B5EF4-FFF2-40B4-BE49-F238E27FC236}">
                <a16:creationId xmlns:a16="http://schemas.microsoft.com/office/drawing/2014/main" id="{D6CE71F1-8CB5-4444-950C-8D6B01BB390C}"/>
              </a:ext>
            </a:extLst>
          </p:cNvPr>
          <p:cNvSpPr>
            <a:spLocks xmlns:a="http://schemas.openxmlformats.org/drawingml/2006/main" noGrp="1"/>
          </p:cNvSpPr>
          <p:nvPr/>
        </p:nvSpPr>
        <p:spPr>
          <a:xfrm xmlns:a="http://schemas.openxmlformats.org/drawingml/2006/main">
            <a:off x="2171700" y="4438650"/>
            <a:ext cx="1409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support or contradict</a:t>
            </a:r>
          </a:p>
          <a:p xmlns:a="http://schemas.openxmlformats.org/drawingml/2006/main">
            <a:pPr algn="ctr">
              <a:buNone/>
              <a:defRPr sz="1200" b="0">
                <a:solidFill>
                  <a:srgbClr val="526174"/>
                </a:solidFill>
              </a:defRPr>
            </a:pPr>
            <a:r>
              <a:rPr sz="1200" b="0">
                <a:solidFill>
                  <a:srgbClr val="526174"/>
                </a:solidFill>
              </a:rPr>
              <a:t>extra-claim check</a:t>
            </a:r>
          </a:p>
        </p:txBody>
      </p:sp>
      <p:sp>
        <p:nvSpPr>
          <p:cNvPr id="31" name="">
            <a:extLst xmlns:a="http://schemas.openxmlformats.org/drawingml/2006/main">
              <a:ext uri="{FF2B5EF4-FFF2-40B4-BE49-F238E27FC236}">
                <a16:creationId xmlns:a16="http://schemas.microsoft.com/office/drawing/2014/main" id="{0F415C97-59F0-476F-B107-0AA5D8405279}"/>
              </a:ext>
            </a:extLst>
          </p:cNvPr>
          <p:cNvSpPr>
            <a:spLocks xmlns:a="http://schemas.openxmlformats.org/drawingml/2006/main" noGrp="1"/>
          </p:cNvSpPr>
          <p:nvPr/>
        </p:nvSpPr>
        <p:spPr>
          <a:xfrm xmlns:a="http://schemas.openxmlformats.org/drawingml/2006/main">
            <a:off x="3962400" y="3733800"/>
            <a:ext cx="1676400" cy="1428750"/>
          </a:xfrm>
          <a:prstGeom xmlns:a="http://schemas.openxmlformats.org/drawingml/2006/main" prst="roundRect">
            <a:avLst>
              <a:gd name="adj" fmla="val 9333"/>
            </a:avLst>
          </a:prstGeom>
          <a:solidFill xmlns:a="http://schemas.openxmlformats.org/drawingml/2006/main">
            <a:srgbClr val="DDF2EE"/>
          </a:solidFill>
          <a:ln xmlns:a="http://schemas.openxmlformats.org/drawingml/2006/main" w="9525">
            <a:solidFill>
              <a:srgbClr val="2A8C82"/>
            </a:solidFill>
            <a:prstDash val="solid"/>
          </a:ln>
        </p:spPr>
      </p:sp>
      <p:sp>
        <p:nvSpPr>
          <p:cNvPr id="32" name="">
            <a:extLst xmlns:a="http://schemas.openxmlformats.org/drawingml/2006/main">
              <a:ext uri="{FF2B5EF4-FFF2-40B4-BE49-F238E27FC236}">
                <a16:creationId xmlns:a16="http://schemas.microsoft.com/office/drawing/2014/main" id="{73FD6DAE-0D6D-4490-AC83-0B81E2F0F129}"/>
              </a:ext>
            </a:extLst>
          </p:cNvPr>
          <p:cNvSpPr>
            <a:spLocks xmlns:a="http://schemas.openxmlformats.org/drawingml/2006/main" noGrp="1"/>
          </p:cNvSpPr>
          <p:nvPr/>
        </p:nvSpPr>
        <p:spPr>
          <a:xfrm xmlns:a="http://schemas.openxmlformats.org/drawingml/2006/main">
            <a:off x="4095750" y="3848100"/>
            <a:ext cx="140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F172A"/>
                </a:solidFill>
              </a:defRPr>
            </a:pPr>
            <a:r>
              <a:rPr sz="1350" b="1">
                <a:solidFill>
                  <a:srgbClr val="0F172A"/>
                </a:solidFill>
              </a:rPr>
              <a:t>Structured</a:t>
            </a:r>
          </a:p>
          <a:p xmlns:a="http://schemas.openxmlformats.org/drawingml/2006/main">
            <a:pPr algn="ctr">
              <a:buNone/>
              <a:defRPr sz="1350" b="1">
                <a:solidFill>
                  <a:srgbClr val="0F172A"/>
                </a:solidFill>
              </a:defRPr>
            </a:pPr>
            <a:r>
              <a:rPr sz="1350" b="1">
                <a:solidFill>
                  <a:srgbClr val="0F172A"/>
                </a:solidFill>
              </a:rPr>
              <a:t>solver</a:t>
            </a:r>
          </a:p>
        </p:txBody>
      </p:sp>
      <p:sp>
        <p:nvSpPr>
          <p:cNvPr id="33" name="">
            <a:extLst xmlns:a="http://schemas.openxmlformats.org/drawingml/2006/main">
              <a:ext uri="{FF2B5EF4-FFF2-40B4-BE49-F238E27FC236}">
                <a16:creationId xmlns:a16="http://schemas.microsoft.com/office/drawing/2014/main" id="{37360508-0719-4A8D-9580-68C0CF5158BA}"/>
              </a:ext>
            </a:extLst>
          </p:cNvPr>
          <p:cNvSpPr>
            <a:spLocks xmlns:a="http://schemas.openxmlformats.org/drawingml/2006/main" noGrp="1"/>
          </p:cNvSpPr>
          <p:nvPr/>
        </p:nvSpPr>
        <p:spPr>
          <a:xfrm xmlns:a="http://schemas.openxmlformats.org/drawingml/2006/main">
            <a:off x="4095750" y="4438650"/>
            <a:ext cx="1409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numeric / MCQ</a:t>
            </a:r>
          </a:p>
          <a:p xmlns:a="http://schemas.openxmlformats.org/drawingml/2006/main">
            <a:pPr algn="ctr">
              <a:buNone/>
              <a:defRPr sz="1200" b="0">
                <a:solidFill>
                  <a:srgbClr val="526174"/>
                </a:solidFill>
              </a:defRPr>
            </a:pPr>
            <a:r>
              <a:rPr sz="1200" b="0">
                <a:solidFill>
                  <a:srgbClr val="526174"/>
                </a:solidFill>
              </a:rPr>
              <a:t>morphology</a:t>
            </a:r>
          </a:p>
        </p:txBody>
      </p:sp>
      <p:sp>
        <p:nvSpPr>
          <p:cNvPr id="34" name="">
            <a:extLst xmlns:a="http://schemas.openxmlformats.org/drawingml/2006/main">
              <a:ext uri="{FF2B5EF4-FFF2-40B4-BE49-F238E27FC236}">
                <a16:creationId xmlns:a16="http://schemas.microsoft.com/office/drawing/2014/main" id="{35727961-A64C-46A8-B5AD-4D3DB00E40E6}"/>
              </a:ext>
            </a:extLst>
          </p:cNvPr>
          <p:cNvSpPr>
            <a:spLocks xmlns:a="http://schemas.openxmlformats.org/drawingml/2006/main" noGrp="1"/>
          </p:cNvSpPr>
          <p:nvPr/>
        </p:nvSpPr>
        <p:spPr>
          <a:xfrm xmlns:a="http://schemas.openxmlformats.org/drawingml/2006/main">
            <a:off x="5886450" y="3733800"/>
            <a:ext cx="1676400" cy="1428750"/>
          </a:xfrm>
          <a:prstGeom xmlns:a="http://schemas.openxmlformats.org/drawingml/2006/main" prst="roundRect">
            <a:avLst>
              <a:gd name="adj" fmla="val 9333"/>
            </a:avLst>
          </a:prstGeom>
          <a:solidFill xmlns:a="http://schemas.openxmlformats.org/drawingml/2006/main">
            <a:srgbClr val="FBF0D8"/>
          </a:solidFill>
          <a:ln xmlns:a="http://schemas.openxmlformats.org/drawingml/2006/main" w="9525">
            <a:solidFill>
              <a:srgbClr val="D59B32"/>
            </a:solidFill>
            <a:prstDash val="solid"/>
          </a:ln>
        </p:spPr>
      </p:sp>
      <p:sp>
        <p:nvSpPr>
          <p:cNvPr id="35" name="">
            <a:extLst xmlns:a="http://schemas.openxmlformats.org/drawingml/2006/main">
              <a:ext uri="{FF2B5EF4-FFF2-40B4-BE49-F238E27FC236}">
                <a16:creationId xmlns:a16="http://schemas.microsoft.com/office/drawing/2014/main" id="{B6A9D03F-EA33-4C78-B06B-A80E5E9B1CE8}"/>
              </a:ext>
            </a:extLst>
          </p:cNvPr>
          <p:cNvSpPr>
            <a:spLocks xmlns:a="http://schemas.openxmlformats.org/drawingml/2006/main" noGrp="1"/>
          </p:cNvSpPr>
          <p:nvPr/>
        </p:nvSpPr>
        <p:spPr>
          <a:xfrm xmlns:a="http://schemas.openxmlformats.org/drawingml/2006/main">
            <a:off x="6019800" y="3848100"/>
            <a:ext cx="140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F172A"/>
                </a:solidFill>
              </a:defRPr>
            </a:pPr>
            <a:r>
              <a:rPr sz="1350" b="1">
                <a:solidFill>
                  <a:srgbClr val="0F172A"/>
                </a:solidFill>
              </a:rPr>
              <a:t>Typed</a:t>
            </a:r>
          </a:p>
          <a:p xmlns:a="http://schemas.openxmlformats.org/drawingml/2006/main">
            <a:pPr algn="ctr">
              <a:buNone/>
              <a:defRPr sz="1350" b="1">
                <a:solidFill>
                  <a:srgbClr val="0F172A"/>
                </a:solidFill>
              </a:defRPr>
            </a:pPr>
            <a:r>
              <a:rPr sz="1350" b="1">
                <a:solidFill>
                  <a:srgbClr val="0F172A"/>
                </a:solidFill>
              </a:rPr>
              <a:t>evidence</a:t>
            </a:r>
          </a:p>
        </p:txBody>
      </p:sp>
      <p:sp>
        <p:nvSpPr>
          <p:cNvPr id="36" name="">
            <a:extLst xmlns:a="http://schemas.openxmlformats.org/drawingml/2006/main">
              <a:ext uri="{FF2B5EF4-FFF2-40B4-BE49-F238E27FC236}">
                <a16:creationId xmlns:a16="http://schemas.microsoft.com/office/drawing/2014/main" id="{DD58D856-F908-4FE3-988D-1F310A84837F}"/>
              </a:ext>
            </a:extLst>
          </p:cNvPr>
          <p:cNvSpPr>
            <a:spLocks xmlns:a="http://schemas.openxmlformats.org/drawingml/2006/main" noGrp="1"/>
          </p:cNvSpPr>
          <p:nvPr/>
        </p:nvSpPr>
        <p:spPr>
          <a:xfrm xmlns:a="http://schemas.openxmlformats.org/drawingml/2006/main">
            <a:off x="6019800" y="4438650"/>
            <a:ext cx="1409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entity + predicate</a:t>
            </a:r>
          </a:p>
          <a:p xmlns:a="http://schemas.openxmlformats.org/drawingml/2006/main">
            <a:pPr algn="ctr">
              <a:buNone/>
              <a:defRPr sz="1200" b="0">
                <a:solidFill>
                  <a:srgbClr val="526174"/>
                </a:solidFill>
              </a:defRPr>
            </a:pPr>
            <a:r>
              <a:rPr sz="1200" b="0">
                <a:solidFill>
                  <a:srgbClr val="526174"/>
                </a:solidFill>
              </a:rPr>
              <a:t>value + provenance</a:t>
            </a:r>
          </a:p>
        </p:txBody>
      </p:sp>
      <p:sp>
        <p:nvSpPr>
          <p:cNvPr id="37" name="">
            <a:extLst xmlns:a="http://schemas.openxmlformats.org/drawingml/2006/main">
              <a:ext uri="{FF2B5EF4-FFF2-40B4-BE49-F238E27FC236}">
                <a16:creationId xmlns:a16="http://schemas.microsoft.com/office/drawing/2014/main" id="{54ECC40C-34ED-4F4F-9CAE-A63396500667}"/>
              </a:ext>
            </a:extLst>
          </p:cNvPr>
          <p:cNvSpPr>
            <a:spLocks xmlns:a="http://schemas.openxmlformats.org/drawingml/2006/main" noGrp="1"/>
          </p:cNvSpPr>
          <p:nvPr/>
        </p:nvSpPr>
        <p:spPr>
          <a:xfrm xmlns:a="http://schemas.openxmlformats.org/drawingml/2006/main">
            <a:off x="7810500" y="2209800"/>
            <a:ext cx="13716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6D63C5D2-571E-4814-BCD7-119021C6703F}"/>
              </a:ext>
            </a:extLst>
          </p:cNvPr>
          <p:cNvSpPr>
            <a:spLocks xmlns:a="http://schemas.openxmlformats.org/drawingml/2006/main" noGrp="1"/>
          </p:cNvSpPr>
          <p:nvPr/>
        </p:nvSpPr>
        <p:spPr>
          <a:xfrm xmlns:a="http://schemas.openxmlformats.org/drawingml/2006/main">
            <a:off x="7924800" y="23431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D59B32"/>
                </a:solidFill>
              </a:defRPr>
            </a:pPr>
            <a:r>
              <a:rPr sz="1350" b="1">
                <a:solidFill>
                  <a:srgbClr val="D59B32"/>
                </a:solidFill>
              </a:rPr>
              <a:t>Fallback</a:t>
            </a:r>
          </a:p>
        </p:txBody>
      </p:sp>
      <p:sp>
        <p:nvSpPr>
          <p:cNvPr id="39" name="">
            <a:extLst xmlns:a="http://schemas.openxmlformats.org/drawingml/2006/main">
              <a:ext uri="{FF2B5EF4-FFF2-40B4-BE49-F238E27FC236}">
                <a16:creationId xmlns:a16="http://schemas.microsoft.com/office/drawing/2014/main" id="{B0CF0BF7-017A-47DE-9258-A0FA95711CA1}"/>
              </a:ext>
            </a:extLst>
          </p:cNvPr>
          <p:cNvSpPr>
            <a:spLocks xmlns:a="http://schemas.openxmlformats.org/drawingml/2006/main" noGrp="1"/>
          </p:cNvSpPr>
          <p:nvPr/>
        </p:nvSpPr>
        <p:spPr>
          <a:xfrm xmlns:a="http://schemas.openxmlformats.org/drawingml/2006/main">
            <a:off x="7924800" y="2638425"/>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no rule or conflict</a:t>
            </a:r>
          </a:p>
        </p:txBody>
      </p:sp>
      <p:sp>
        <p:nvSpPr>
          <p:cNvPr id="40" name="">
            <a:extLst xmlns:a="http://schemas.openxmlformats.org/drawingml/2006/main">
              <a:ext uri="{FF2B5EF4-FFF2-40B4-BE49-F238E27FC236}">
                <a16:creationId xmlns:a16="http://schemas.microsoft.com/office/drawing/2014/main" id="{DB69F0D2-2055-4FD8-81D1-473530B16FE0}"/>
              </a:ext>
            </a:extLst>
          </p:cNvPr>
          <p:cNvSpPr>
            <a:spLocks xmlns:a="http://schemas.openxmlformats.org/drawingml/2006/main" noGrp="1"/>
          </p:cNvSpPr>
          <p:nvPr/>
        </p:nvSpPr>
        <p:spPr>
          <a:xfrm xmlns:a="http://schemas.openxmlformats.org/drawingml/2006/main">
            <a:off x="9601200" y="2076450"/>
            <a:ext cx="1676400" cy="1104900"/>
          </a:xfrm>
          <a:prstGeom xmlns:a="http://schemas.openxmlformats.org/drawingml/2006/main" prst="roundRect">
            <a:avLst>
              <a:gd name="adj" fmla="val 13793"/>
            </a:avLst>
          </a:prstGeom>
          <a:solidFill xmlns:a="http://schemas.openxmlformats.org/drawingml/2006/main">
            <a:srgbClr val="FBF0D8"/>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46A7AE90-E3ED-4CBF-A7F6-1F6523577072}"/>
              </a:ext>
            </a:extLst>
          </p:cNvPr>
          <p:cNvSpPr>
            <a:spLocks xmlns:a="http://schemas.openxmlformats.org/drawingml/2006/main" noGrp="1"/>
          </p:cNvSpPr>
          <p:nvPr/>
        </p:nvSpPr>
        <p:spPr>
          <a:xfrm xmlns:a="http://schemas.openxmlformats.org/drawingml/2006/main">
            <a:off x="9772650" y="231457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D59B32"/>
                </a:solidFill>
              </a:defRPr>
            </a:pPr>
            <a:r>
              <a:rPr sz="1500" b="1">
                <a:solidFill>
                  <a:srgbClr val="D59B32"/>
                </a:solidFill>
              </a:rPr>
              <a:t>LLM judge</a:t>
            </a:r>
          </a:p>
        </p:txBody>
      </p:sp>
      <p:sp>
        <p:nvSpPr>
          <p:cNvPr id="42" name="">
            <a:extLst xmlns:a="http://schemas.openxmlformats.org/drawingml/2006/main">
              <a:ext uri="{FF2B5EF4-FFF2-40B4-BE49-F238E27FC236}">
                <a16:creationId xmlns:a16="http://schemas.microsoft.com/office/drawing/2014/main" id="{A42723E5-DD2F-42AC-AEF8-819A612D311A}"/>
              </a:ext>
            </a:extLst>
          </p:cNvPr>
          <p:cNvSpPr>
            <a:spLocks xmlns:a="http://schemas.openxmlformats.org/drawingml/2006/main" noGrp="1"/>
          </p:cNvSpPr>
          <p:nvPr/>
        </p:nvSpPr>
        <p:spPr>
          <a:xfrm xmlns:a="http://schemas.openxmlformats.org/drawingml/2006/main">
            <a:off x="9791700" y="268605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unresolved tail</a:t>
            </a:r>
          </a:p>
          <a:p xmlns:a="http://schemas.openxmlformats.org/drawingml/2006/main">
            <a:pPr algn="ctr">
              <a:buNone/>
              <a:defRPr sz="1200" b="0">
                <a:solidFill>
                  <a:srgbClr val="526174"/>
                </a:solidFill>
              </a:defRPr>
            </a:pPr>
            <a:r>
              <a:rPr sz="1200" b="0">
                <a:solidFill>
                  <a:srgbClr val="526174"/>
                </a:solidFill>
              </a:rPr>
              <a:t>only</a:t>
            </a:r>
          </a:p>
        </p:txBody>
      </p:sp>
      <p:sp>
        <p:nvSpPr>
          <p:cNvPr id="43" name="">
            <a:extLst xmlns:a="http://schemas.openxmlformats.org/drawingml/2006/main">
              <a:ext uri="{FF2B5EF4-FFF2-40B4-BE49-F238E27FC236}">
                <a16:creationId xmlns:a16="http://schemas.microsoft.com/office/drawing/2014/main" id="{6D222451-F7BC-4BAB-BABB-E10DCB7F95D1}"/>
              </a:ext>
            </a:extLst>
          </p:cNvPr>
          <p:cNvSpPr>
            <a:spLocks xmlns:a="http://schemas.openxmlformats.org/drawingml/2006/main" noGrp="1"/>
          </p:cNvSpPr>
          <p:nvPr/>
        </p:nvSpPr>
        <p:spPr>
          <a:xfrm xmlns:a="http://schemas.openxmlformats.org/drawingml/2006/main">
            <a:off x="1562100" y="5391150"/>
            <a:ext cx="9067800" cy="590550"/>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9525">
            <a:solidFill>
              <a:srgbClr val="D8E0EA"/>
            </a:solidFill>
            <a:prstDash val="solid"/>
          </a:ln>
        </p:spPr>
      </p:sp>
      <p:sp>
        <p:nvSpPr>
          <p:cNvPr id="44" name="">
            <a:extLst xmlns:a="http://schemas.openxmlformats.org/drawingml/2006/main">
              <a:ext uri="{FF2B5EF4-FFF2-40B4-BE49-F238E27FC236}">
                <a16:creationId xmlns:a16="http://schemas.microsoft.com/office/drawing/2014/main" id="{D10C1A1C-5300-4A4E-BF97-B162438F21E0}"/>
              </a:ext>
            </a:extLst>
          </p:cNvPr>
          <p:cNvSpPr>
            <a:spLocks xmlns:a="http://schemas.openxmlformats.org/drawingml/2006/main" noGrp="1"/>
          </p:cNvSpPr>
          <p:nvPr/>
        </p:nvSpPr>
        <p:spPr>
          <a:xfrm xmlns:a="http://schemas.openxmlformats.org/drawingml/2006/main">
            <a:off x="1790700" y="55530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F5A7A"/>
                </a:solidFill>
              </a:defRPr>
            </a:pPr>
            <a:r>
              <a:rPr sz="1350" b="1">
                <a:solidFill>
                  <a:srgbClr val="1F5A7A"/>
                </a:solidFill>
              </a:rPr>
              <a:t>Decision contract</a:t>
            </a:r>
          </a:p>
        </p:txBody>
      </p:sp>
      <p:sp>
        <p:nvSpPr>
          <p:cNvPr id="45" name="">
            <a:extLst xmlns:a="http://schemas.openxmlformats.org/drawingml/2006/main">
              <a:ext uri="{FF2B5EF4-FFF2-40B4-BE49-F238E27FC236}">
                <a16:creationId xmlns:a16="http://schemas.microsoft.com/office/drawing/2014/main" id="{128EBB01-95D5-4B32-BACF-C6ABE50B4FFD}"/>
              </a:ext>
            </a:extLst>
          </p:cNvPr>
          <p:cNvSpPr>
            <a:spLocks xmlns:a="http://schemas.openxmlformats.org/drawingml/2006/main" noGrp="1"/>
          </p:cNvSpPr>
          <p:nvPr/>
        </p:nvSpPr>
        <p:spPr>
          <a:xfrm xmlns:a="http://schemas.openxmlformats.org/drawingml/2006/main">
            <a:off x="3562350" y="5553075"/>
            <a:ext cx="674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F172A"/>
                </a:solidFill>
              </a:defRPr>
            </a:pPr>
            <a:r>
              <a:rPr sz="1350" b="0">
                <a:solidFill>
                  <a:srgbClr val="0F172A"/>
                </a:solidFill>
              </a:rPr>
              <a:t>branch(row) -&gt; {0, 1, null};  null means abstain, never a guessed label</a:t>
            </a:r>
          </a:p>
        </p:txBody>
      </p:sp>
      <p:sp>
        <p:nvSpPr>
          <p:cNvPr id="46" name="">
            <a:extLst xmlns:a="http://schemas.openxmlformats.org/drawingml/2006/main">
              <a:ext uri="{FF2B5EF4-FFF2-40B4-BE49-F238E27FC236}">
                <a16:creationId xmlns:a16="http://schemas.microsoft.com/office/drawing/2014/main" id="{D229B867-44D1-47ED-B0A8-16AB8F4EFBF1}"/>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7" name="source-4">
            <a:extLst xmlns:a="http://schemas.openxmlformats.org/drawingml/2006/main">
              <a:ext uri="{FF2B5EF4-FFF2-40B4-BE49-F238E27FC236}">
                <a16:creationId xmlns:a16="http://schemas.microsoft.com/office/drawing/2014/main" id="{30A32FBD-7239-42BE-A526-C57BC5392971}"/>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[3] Task decomposition  [7] v91 router implementation and trace schema</a:t>
            </a:r>
          </a:p>
        </p:txBody>
      </p:sp>
      <p:sp>
        <p:nvSpPr>
          <p:cNvPr id="48" name="page-4">
            <a:extLst xmlns:a="http://schemas.openxmlformats.org/drawingml/2006/main">
              <a:ext uri="{FF2B5EF4-FFF2-40B4-BE49-F238E27FC236}">
                <a16:creationId xmlns:a16="http://schemas.microsoft.com/office/drawing/2014/main" id="{C2A1892B-BBE5-435E-BBA7-2ECD4120E2B4}"/>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04</a:t>
            </a:r>
          </a:p>
        </p:txBody>
      </p:sp>
    </p:spTree>
    <p:extLst>
      <p:ext uri="{BB962C8B-B14F-4D97-AF65-F5344CB8AC3E}">
        <p14:creationId xmlns:p14="http://schemas.microsoft.com/office/powerpoint/2010/main" val="471816339"/>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3" name="kicker-5">
            <a:extLst xmlns:a="http://schemas.openxmlformats.org/drawingml/2006/main">
              <a:ext uri="{FF2B5EF4-FFF2-40B4-BE49-F238E27FC236}">
                <a16:creationId xmlns:a16="http://schemas.microsoft.com/office/drawing/2014/main" id="{618A35C3-47C4-48F6-A39A-BF7540858594}"/>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title-5">
            <a:extLst xmlns:a="http://schemas.openxmlformats.org/drawingml/2006/main">
              <a:ext uri="{FF2B5EF4-FFF2-40B4-BE49-F238E27FC236}">
                <a16:creationId xmlns:a16="http://schemas.microsoft.com/office/drawing/2014/main" id="{929C1CE2-E695-47E4-A694-83011D1A8763}"/>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Structured solvers shared one decision contract</a:t>
            </a:r>
          </a:p>
        </p:txBody>
      </p:sp>
      <p:sp>
        <p:nvSpPr>
          <p:cNvPr id="3" name="">
            <a:extLst xmlns:a="http://schemas.openxmlformats.org/drawingml/2006/main">
              <a:ext uri="{FF2B5EF4-FFF2-40B4-BE49-F238E27FC236}">
                <a16:creationId xmlns:a16="http://schemas.microsoft.com/office/drawing/2014/main" id="{042A1347-FE9D-43D3-893B-5EAD4AA415B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FA5E9D00-EF1F-4D55-9AE4-D81B295C68DB}"/>
              </a:ext>
            </a:extLst>
          </p:cNvPr>
          <p:cNvSpPr>
            <a:spLocks xmlns:a="http://schemas.openxmlformats.org/drawingml/2006/main" noGrp="1"/>
          </p:cNvSpPr>
          <p:nvPr/>
        </p:nvSpPr>
        <p:spPr>
          <a:xfrm xmlns:a="http://schemas.openxmlformats.org/drawingml/2006/main">
            <a:off x="685800" y="1381125"/>
            <a:ext cx="1028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26174"/>
                </a:solidFill>
              </a:defRPr>
            </a:pPr>
            <a:r>
              <a:rPr sz="1575" b="0">
                <a:solidFill>
                  <a:srgbClr val="526174"/>
                </a:solidFill>
              </a:rPr>
              <a:t>Each solver parsed a task-specific representation, verified the requested relation, then answered or abstained.</a:t>
            </a:r>
          </a:p>
        </p:txBody>
      </p:sp>
      <p:sp>
        <p:nvSpPr>
          <p:cNvPr id="5" name="">
            <a:extLst xmlns:a="http://schemas.openxmlformats.org/drawingml/2006/main">
              <a:ext uri="{FF2B5EF4-FFF2-40B4-BE49-F238E27FC236}">
                <a16:creationId xmlns:a16="http://schemas.microsoft.com/office/drawing/2014/main" id="{EED90EB8-F55C-4460-8A13-A501F78E0060}"/>
              </a:ext>
            </a:extLst>
          </p:cNvPr>
          <p:cNvSpPr>
            <a:spLocks xmlns:a="http://schemas.openxmlformats.org/drawingml/2006/main" noGrp="1"/>
          </p:cNvSpPr>
          <p:nvPr/>
        </p:nvSpPr>
        <p:spPr>
          <a:xfrm xmlns:a="http://schemas.openxmlformats.org/drawingml/2006/main">
            <a:off x="838200" y="2133600"/>
            <a:ext cx="2324100" cy="27241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1F5A7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10B8C89-8FC4-4790-8C34-84172DB5FE54}"/>
              </a:ext>
            </a:extLst>
          </p:cNvPr>
          <p:cNvSpPr>
            <a:spLocks xmlns:a="http://schemas.openxmlformats.org/drawingml/2006/main" noGrp="1"/>
          </p:cNvSpPr>
          <p:nvPr/>
        </p:nvSpPr>
        <p:spPr>
          <a:xfrm xmlns:a="http://schemas.openxmlformats.org/drawingml/2006/main">
            <a:off x="1028700" y="234315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F5A7A"/>
                </a:solidFill>
              </a:defRPr>
            </a:pPr>
            <a:r>
              <a:rPr sz="1650" b="1">
                <a:solidFill>
                  <a:srgbClr val="1F5A7A"/>
                </a:solidFill>
              </a:rPr>
              <a:t>Numbers</a:t>
            </a:r>
          </a:p>
        </p:txBody>
      </p:sp>
      <p:sp>
        <p:nvSpPr>
          <p:cNvPr id="7" name="">
            <a:extLst xmlns:a="http://schemas.openxmlformats.org/drawingml/2006/main">
              <a:ext uri="{FF2B5EF4-FFF2-40B4-BE49-F238E27FC236}">
                <a16:creationId xmlns:a16="http://schemas.microsoft.com/office/drawing/2014/main" id="{1355E712-AC15-4DED-9D35-25A08FF1B3E0}"/>
              </a:ext>
            </a:extLst>
          </p:cNvPr>
          <p:cNvSpPr>
            <a:spLocks xmlns:a="http://schemas.openxmlformats.org/drawingml/2006/main" noGrp="1"/>
          </p:cNvSpPr>
          <p:nvPr/>
        </p:nvSpPr>
        <p:spPr>
          <a:xfrm xmlns:a="http://schemas.openxmlformats.org/drawingml/2006/main">
            <a:off x="1028700" y="285750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8" name="">
            <a:extLst xmlns:a="http://schemas.openxmlformats.org/drawingml/2006/main">
              <a:ext uri="{FF2B5EF4-FFF2-40B4-BE49-F238E27FC236}">
                <a16:creationId xmlns:a16="http://schemas.microsoft.com/office/drawing/2014/main" id="{6E507E20-8586-46A7-836E-4C0B73834D68}"/>
              </a:ext>
            </a:extLst>
          </p:cNvPr>
          <p:cNvSpPr>
            <a:spLocks xmlns:a="http://schemas.openxmlformats.org/drawingml/2006/main" noGrp="1"/>
          </p:cNvSpPr>
          <p:nvPr/>
        </p:nvSpPr>
        <p:spPr>
          <a:xfrm xmlns:a="http://schemas.openxmlformats.org/drawingml/2006/main">
            <a:off x="1123950" y="29527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normalize Bengali digits</a:t>
            </a:r>
          </a:p>
        </p:txBody>
      </p:sp>
      <p:sp>
        <p:nvSpPr>
          <p:cNvPr id="9" name="">
            <a:extLst xmlns:a="http://schemas.openxmlformats.org/drawingml/2006/main">
              <a:ext uri="{FF2B5EF4-FFF2-40B4-BE49-F238E27FC236}">
                <a16:creationId xmlns:a16="http://schemas.microsoft.com/office/drawing/2014/main" id="{AE467811-FC93-4158-9BA3-3781BFC53D49}"/>
              </a:ext>
            </a:extLst>
          </p:cNvPr>
          <p:cNvSpPr>
            <a:spLocks xmlns:a="http://schemas.openxmlformats.org/drawingml/2006/main" noGrp="1"/>
          </p:cNvSpPr>
          <p:nvPr/>
        </p:nvSpPr>
        <p:spPr>
          <a:xfrm xmlns:a="http://schemas.openxmlformats.org/drawingml/2006/main">
            <a:off x="1028700" y="344805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10" name="">
            <a:extLst xmlns:a="http://schemas.openxmlformats.org/drawingml/2006/main">
              <a:ext uri="{FF2B5EF4-FFF2-40B4-BE49-F238E27FC236}">
                <a16:creationId xmlns:a16="http://schemas.microsoft.com/office/drawing/2014/main" id="{A75D73B8-BA07-4BE0-A075-93BB10F7773A}"/>
              </a:ext>
            </a:extLst>
          </p:cNvPr>
          <p:cNvSpPr>
            <a:spLocks xmlns:a="http://schemas.openxmlformats.org/drawingml/2006/main" noGrp="1"/>
          </p:cNvSpPr>
          <p:nvPr/>
        </p:nvSpPr>
        <p:spPr>
          <a:xfrm xmlns:a="http://schemas.openxmlformats.org/drawingml/2006/main">
            <a:off x="1123950" y="35433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units / dates / ranges</a:t>
            </a:r>
          </a:p>
        </p:txBody>
      </p:sp>
      <p:sp>
        <p:nvSpPr>
          <p:cNvPr id="11" name="">
            <a:extLst xmlns:a="http://schemas.openxmlformats.org/drawingml/2006/main">
              <a:ext uri="{FF2B5EF4-FFF2-40B4-BE49-F238E27FC236}">
                <a16:creationId xmlns:a16="http://schemas.microsoft.com/office/drawing/2014/main" id="{7C524ADE-CD38-4284-AF6B-41DB71A46F1D}"/>
              </a:ext>
            </a:extLst>
          </p:cNvPr>
          <p:cNvSpPr>
            <a:spLocks xmlns:a="http://schemas.openxmlformats.org/drawingml/2006/main" noGrp="1"/>
          </p:cNvSpPr>
          <p:nvPr/>
        </p:nvSpPr>
        <p:spPr>
          <a:xfrm xmlns:a="http://schemas.openxmlformats.org/drawingml/2006/main">
            <a:off x="1028700" y="4038600"/>
            <a:ext cx="1943100" cy="419100"/>
          </a:xfrm>
          <a:prstGeom xmlns:a="http://schemas.openxmlformats.org/drawingml/2006/main" prst="roundRect">
            <a:avLst>
              <a:gd name="adj" fmla="val 22727"/>
            </a:avLst>
          </a:prstGeom>
          <a:solidFill xmlns:a="http://schemas.openxmlformats.org/drawingml/2006/main">
            <a:srgbClr val="E7EEF4"/>
          </a:solidFill>
          <a:ln xmlns:a="http://schemas.openxmlformats.org/drawingml/2006/main" w="9525">
            <a:solidFill>
              <a:srgbClr val="D8E0EA"/>
            </a:solidFill>
            <a:prstDash val="solid"/>
          </a:ln>
        </p:spPr>
      </p:sp>
      <p:sp>
        <p:nvSpPr>
          <p:cNvPr id="12" name="">
            <a:extLst xmlns:a="http://schemas.openxmlformats.org/drawingml/2006/main">
              <a:ext uri="{FF2B5EF4-FFF2-40B4-BE49-F238E27FC236}">
                <a16:creationId xmlns:a16="http://schemas.microsoft.com/office/drawing/2014/main" id="{FC7CCE28-F4AB-4028-A3A5-24A9A3FAC690}"/>
              </a:ext>
            </a:extLst>
          </p:cNvPr>
          <p:cNvSpPr>
            <a:spLocks xmlns:a="http://schemas.openxmlformats.org/drawingml/2006/main" noGrp="1"/>
          </p:cNvSpPr>
          <p:nvPr/>
        </p:nvSpPr>
        <p:spPr>
          <a:xfrm xmlns:a="http://schemas.openxmlformats.org/drawingml/2006/main">
            <a:off x="1123950" y="41338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0F172A"/>
                </a:solidFill>
              </a:defRPr>
            </a:pPr>
            <a:r>
              <a:rPr sz="1125" b="1">
                <a:solidFill>
                  <a:srgbClr val="0F172A"/>
                </a:solidFill>
              </a:rPr>
              <a:t>compare requested relation</a:t>
            </a:r>
          </a:p>
        </p:txBody>
      </p:sp>
      <p:sp>
        <p:nvSpPr>
          <p:cNvPr id="13" name="">
            <a:extLst xmlns:a="http://schemas.openxmlformats.org/drawingml/2006/main">
              <a:ext uri="{FF2B5EF4-FFF2-40B4-BE49-F238E27FC236}">
                <a16:creationId xmlns:a16="http://schemas.microsoft.com/office/drawing/2014/main" id="{A07B4E95-ACEB-489F-8094-78BE2AD71B1B}"/>
              </a:ext>
            </a:extLst>
          </p:cNvPr>
          <p:cNvSpPr>
            <a:spLocks xmlns:a="http://schemas.openxmlformats.org/drawingml/2006/main" noGrp="1"/>
          </p:cNvSpPr>
          <p:nvPr/>
        </p:nvSpPr>
        <p:spPr>
          <a:xfrm xmlns:a="http://schemas.openxmlformats.org/drawingml/2006/main">
            <a:off x="3676650" y="2133600"/>
            <a:ext cx="2324100" cy="27241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FD4B71B-9175-4345-ACBB-7B4DA70FBD1C}"/>
              </a:ext>
            </a:extLst>
          </p:cNvPr>
          <p:cNvSpPr>
            <a:spLocks xmlns:a="http://schemas.openxmlformats.org/drawingml/2006/main" noGrp="1"/>
          </p:cNvSpPr>
          <p:nvPr/>
        </p:nvSpPr>
        <p:spPr>
          <a:xfrm xmlns:a="http://schemas.openxmlformats.org/drawingml/2006/main">
            <a:off x="3867150" y="234315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A8C82"/>
                </a:solidFill>
              </a:defRPr>
            </a:pPr>
            <a:r>
              <a:rPr sz="1650" b="1">
                <a:solidFill>
                  <a:srgbClr val="2A8C82"/>
                </a:solidFill>
              </a:rPr>
              <a:t>MCQ</a:t>
            </a:r>
          </a:p>
        </p:txBody>
      </p:sp>
      <p:sp>
        <p:nvSpPr>
          <p:cNvPr id="15" name="">
            <a:extLst xmlns:a="http://schemas.openxmlformats.org/drawingml/2006/main">
              <a:ext uri="{FF2B5EF4-FFF2-40B4-BE49-F238E27FC236}">
                <a16:creationId xmlns:a16="http://schemas.microsoft.com/office/drawing/2014/main" id="{187FB47C-845B-45E6-84ED-964B06B639B6}"/>
              </a:ext>
            </a:extLst>
          </p:cNvPr>
          <p:cNvSpPr>
            <a:spLocks xmlns:a="http://schemas.openxmlformats.org/drawingml/2006/main" noGrp="1"/>
          </p:cNvSpPr>
          <p:nvPr/>
        </p:nvSpPr>
        <p:spPr>
          <a:xfrm xmlns:a="http://schemas.openxmlformats.org/drawingml/2006/main">
            <a:off x="3867150" y="285750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16" name="">
            <a:extLst xmlns:a="http://schemas.openxmlformats.org/drawingml/2006/main">
              <a:ext uri="{FF2B5EF4-FFF2-40B4-BE49-F238E27FC236}">
                <a16:creationId xmlns:a16="http://schemas.microsoft.com/office/drawing/2014/main" id="{3DDB91DA-D18D-4292-BB47-E5641A7945F4}"/>
              </a:ext>
            </a:extLst>
          </p:cNvPr>
          <p:cNvSpPr>
            <a:spLocks xmlns:a="http://schemas.openxmlformats.org/drawingml/2006/main" noGrp="1"/>
          </p:cNvSpPr>
          <p:nvPr/>
        </p:nvSpPr>
        <p:spPr>
          <a:xfrm xmlns:a="http://schemas.openxmlformats.org/drawingml/2006/main">
            <a:off x="3962400" y="29527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extract option set</a:t>
            </a:r>
          </a:p>
        </p:txBody>
      </p:sp>
      <p:sp>
        <p:nvSpPr>
          <p:cNvPr id="17" name="">
            <a:extLst xmlns:a="http://schemas.openxmlformats.org/drawingml/2006/main">
              <a:ext uri="{FF2B5EF4-FFF2-40B4-BE49-F238E27FC236}">
                <a16:creationId xmlns:a16="http://schemas.microsoft.com/office/drawing/2014/main" id="{7E1E3E31-74EC-4429-B379-9B3D415BC0FF}"/>
              </a:ext>
            </a:extLst>
          </p:cNvPr>
          <p:cNvSpPr>
            <a:spLocks xmlns:a="http://schemas.openxmlformats.org/drawingml/2006/main" noGrp="1"/>
          </p:cNvSpPr>
          <p:nvPr/>
        </p:nvSpPr>
        <p:spPr>
          <a:xfrm xmlns:a="http://schemas.openxmlformats.org/drawingml/2006/main">
            <a:off x="3867150" y="344805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18" name="">
            <a:extLst xmlns:a="http://schemas.openxmlformats.org/drawingml/2006/main">
              <a:ext uri="{FF2B5EF4-FFF2-40B4-BE49-F238E27FC236}">
                <a16:creationId xmlns:a16="http://schemas.microsoft.com/office/drawing/2014/main" id="{F0FC9A51-4584-4AC8-803A-96348FA59FD3}"/>
              </a:ext>
            </a:extLst>
          </p:cNvPr>
          <p:cNvSpPr>
            <a:spLocks xmlns:a="http://schemas.openxmlformats.org/drawingml/2006/main" noGrp="1"/>
          </p:cNvSpPr>
          <p:nvPr/>
        </p:nvSpPr>
        <p:spPr>
          <a:xfrm xmlns:a="http://schemas.openxmlformats.org/drawingml/2006/main">
            <a:off x="3962400" y="35433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map aliases to options</a:t>
            </a:r>
          </a:p>
        </p:txBody>
      </p:sp>
      <p:sp>
        <p:nvSpPr>
          <p:cNvPr id="19" name="">
            <a:extLst xmlns:a="http://schemas.openxmlformats.org/drawingml/2006/main">
              <a:ext uri="{FF2B5EF4-FFF2-40B4-BE49-F238E27FC236}">
                <a16:creationId xmlns:a16="http://schemas.microsoft.com/office/drawing/2014/main" id="{0E3C90E9-3DBD-4E2F-B683-4AC4F32FED35}"/>
              </a:ext>
            </a:extLst>
          </p:cNvPr>
          <p:cNvSpPr>
            <a:spLocks xmlns:a="http://schemas.openxmlformats.org/drawingml/2006/main" noGrp="1"/>
          </p:cNvSpPr>
          <p:nvPr/>
        </p:nvSpPr>
        <p:spPr>
          <a:xfrm xmlns:a="http://schemas.openxmlformats.org/drawingml/2006/main">
            <a:off x="3867150" y="4038600"/>
            <a:ext cx="1943100" cy="419100"/>
          </a:xfrm>
          <a:prstGeom xmlns:a="http://schemas.openxmlformats.org/drawingml/2006/main" prst="roundRect">
            <a:avLst>
              <a:gd name="adj" fmla="val 22727"/>
            </a:avLst>
          </a:prstGeom>
          <a:solidFill xmlns:a="http://schemas.openxmlformats.org/drawingml/2006/main">
            <a:srgbClr val="E7EEF4"/>
          </a:solidFill>
          <a:ln xmlns:a="http://schemas.openxmlformats.org/drawingml/2006/main" w="9525">
            <a:solidFill>
              <a:srgbClr val="D8E0EA"/>
            </a:solidFill>
            <a:prstDash val="solid"/>
          </a:ln>
        </p:spPr>
      </p:sp>
      <p:sp>
        <p:nvSpPr>
          <p:cNvPr id="20" name="">
            <a:extLst xmlns:a="http://schemas.openxmlformats.org/drawingml/2006/main">
              <a:ext uri="{FF2B5EF4-FFF2-40B4-BE49-F238E27FC236}">
                <a16:creationId xmlns:a16="http://schemas.microsoft.com/office/drawing/2014/main" id="{C2313B14-671F-4421-BE8C-E5C3DDED62DB}"/>
              </a:ext>
            </a:extLst>
          </p:cNvPr>
          <p:cNvSpPr>
            <a:spLocks xmlns:a="http://schemas.openxmlformats.org/drawingml/2006/main" noGrp="1"/>
          </p:cNvSpPr>
          <p:nvPr/>
        </p:nvSpPr>
        <p:spPr>
          <a:xfrm xmlns:a="http://schemas.openxmlformats.org/drawingml/2006/main">
            <a:off x="3962400" y="41338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0F172A"/>
                </a:solidFill>
              </a:defRPr>
            </a:pPr>
            <a:r>
              <a:rPr sz="1125" b="1">
                <a:solidFill>
                  <a:srgbClr val="0F172A"/>
                </a:solidFill>
              </a:rPr>
              <a:t>validate selected option</a:t>
            </a:r>
          </a:p>
        </p:txBody>
      </p:sp>
      <p:sp>
        <p:nvSpPr>
          <p:cNvPr id="21" name="">
            <a:extLst xmlns:a="http://schemas.openxmlformats.org/drawingml/2006/main">
              <a:ext uri="{FF2B5EF4-FFF2-40B4-BE49-F238E27FC236}">
                <a16:creationId xmlns:a16="http://schemas.microsoft.com/office/drawing/2014/main" id="{CECB8BC6-F6BA-4ED8-AD90-EE7CEBCCCB2C}"/>
              </a:ext>
            </a:extLst>
          </p:cNvPr>
          <p:cNvSpPr>
            <a:spLocks xmlns:a="http://schemas.openxmlformats.org/drawingml/2006/main" noGrp="1"/>
          </p:cNvSpPr>
          <p:nvPr/>
        </p:nvSpPr>
        <p:spPr>
          <a:xfrm xmlns:a="http://schemas.openxmlformats.org/drawingml/2006/main">
            <a:off x="6515100" y="2133600"/>
            <a:ext cx="2324100" cy="27241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D598A079-97B4-4730-B30A-6139C0D571ED}"/>
              </a:ext>
            </a:extLst>
          </p:cNvPr>
          <p:cNvSpPr>
            <a:spLocks xmlns:a="http://schemas.openxmlformats.org/drawingml/2006/main" noGrp="1"/>
          </p:cNvSpPr>
          <p:nvPr/>
        </p:nvSpPr>
        <p:spPr>
          <a:xfrm xmlns:a="http://schemas.openxmlformats.org/drawingml/2006/main">
            <a:off x="6705600" y="234315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D59B32"/>
                </a:solidFill>
              </a:defRPr>
            </a:pPr>
            <a:r>
              <a:rPr sz="1650" b="1">
                <a:solidFill>
                  <a:srgbClr val="D59B32"/>
                </a:solidFill>
              </a:rPr>
              <a:t>Morphology</a:t>
            </a:r>
          </a:p>
        </p:txBody>
      </p:sp>
      <p:sp>
        <p:nvSpPr>
          <p:cNvPr id="23" name="">
            <a:extLst xmlns:a="http://schemas.openxmlformats.org/drawingml/2006/main">
              <a:ext uri="{FF2B5EF4-FFF2-40B4-BE49-F238E27FC236}">
                <a16:creationId xmlns:a16="http://schemas.microsoft.com/office/drawing/2014/main" id="{25B6E4C2-6906-488F-9E0F-41703D94AC62}"/>
              </a:ext>
            </a:extLst>
          </p:cNvPr>
          <p:cNvSpPr>
            <a:spLocks xmlns:a="http://schemas.openxmlformats.org/drawingml/2006/main" noGrp="1"/>
          </p:cNvSpPr>
          <p:nvPr/>
        </p:nvSpPr>
        <p:spPr>
          <a:xfrm xmlns:a="http://schemas.openxmlformats.org/drawingml/2006/main">
            <a:off x="6705600" y="285750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24" name="">
            <a:extLst xmlns:a="http://schemas.openxmlformats.org/drawingml/2006/main">
              <a:ext uri="{FF2B5EF4-FFF2-40B4-BE49-F238E27FC236}">
                <a16:creationId xmlns:a16="http://schemas.microsoft.com/office/drawing/2014/main" id="{75EE1D62-4C42-427E-9798-1AF849425FCC}"/>
              </a:ext>
            </a:extLst>
          </p:cNvPr>
          <p:cNvSpPr>
            <a:spLocks xmlns:a="http://schemas.openxmlformats.org/drawingml/2006/main" noGrp="1"/>
          </p:cNvSpPr>
          <p:nvPr/>
        </p:nvSpPr>
        <p:spPr>
          <a:xfrm xmlns:a="http://schemas.openxmlformats.org/drawingml/2006/main">
            <a:off x="6800850" y="29527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identify requested form</a:t>
            </a:r>
          </a:p>
        </p:txBody>
      </p:sp>
      <p:sp>
        <p:nvSpPr>
          <p:cNvPr id="25" name="">
            <a:extLst xmlns:a="http://schemas.openxmlformats.org/drawingml/2006/main">
              <a:ext uri="{FF2B5EF4-FFF2-40B4-BE49-F238E27FC236}">
                <a16:creationId xmlns:a16="http://schemas.microsoft.com/office/drawing/2014/main" id="{624A71BB-5E7A-42E2-8688-04E42520BF1E}"/>
              </a:ext>
            </a:extLst>
          </p:cNvPr>
          <p:cNvSpPr>
            <a:spLocks xmlns:a="http://schemas.openxmlformats.org/drawingml/2006/main" noGrp="1"/>
          </p:cNvSpPr>
          <p:nvPr/>
        </p:nvSpPr>
        <p:spPr>
          <a:xfrm xmlns:a="http://schemas.openxmlformats.org/drawingml/2006/main">
            <a:off x="6705600" y="344805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26" name="">
            <a:extLst xmlns:a="http://schemas.openxmlformats.org/drawingml/2006/main">
              <a:ext uri="{FF2B5EF4-FFF2-40B4-BE49-F238E27FC236}">
                <a16:creationId xmlns:a16="http://schemas.microsoft.com/office/drawing/2014/main" id="{3263A4C6-AE77-4C2D-9562-A621B395F31D}"/>
              </a:ext>
            </a:extLst>
          </p:cNvPr>
          <p:cNvSpPr>
            <a:spLocks xmlns:a="http://schemas.openxmlformats.org/drawingml/2006/main" noGrp="1"/>
          </p:cNvSpPr>
          <p:nvPr/>
        </p:nvSpPr>
        <p:spPr>
          <a:xfrm xmlns:a="http://schemas.openxmlformats.org/drawingml/2006/main">
            <a:off x="6800850" y="35433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parse root / suffix / class</a:t>
            </a:r>
          </a:p>
        </p:txBody>
      </p:sp>
      <p:sp>
        <p:nvSpPr>
          <p:cNvPr id="27" name="">
            <a:extLst xmlns:a="http://schemas.openxmlformats.org/drawingml/2006/main">
              <a:ext uri="{FF2B5EF4-FFF2-40B4-BE49-F238E27FC236}">
                <a16:creationId xmlns:a16="http://schemas.microsoft.com/office/drawing/2014/main" id="{0C3DE6BF-071E-451A-9FBF-C039E5379692}"/>
              </a:ext>
            </a:extLst>
          </p:cNvPr>
          <p:cNvSpPr>
            <a:spLocks xmlns:a="http://schemas.openxmlformats.org/drawingml/2006/main" noGrp="1"/>
          </p:cNvSpPr>
          <p:nvPr/>
        </p:nvSpPr>
        <p:spPr>
          <a:xfrm xmlns:a="http://schemas.openxmlformats.org/drawingml/2006/main">
            <a:off x="6705600" y="4038600"/>
            <a:ext cx="1943100" cy="419100"/>
          </a:xfrm>
          <a:prstGeom xmlns:a="http://schemas.openxmlformats.org/drawingml/2006/main" prst="roundRect">
            <a:avLst>
              <a:gd name="adj" fmla="val 22727"/>
            </a:avLst>
          </a:prstGeom>
          <a:solidFill xmlns:a="http://schemas.openxmlformats.org/drawingml/2006/main">
            <a:srgbClr val="E7EEF4"/>
          </a:solidFill>
          <a:ln xmlns:a="http://schemas.openxmlformats.org/drawingml/2006/main" w="9525">
            <a:solidFill>
              <a:srgbClr val="D8E0EA"/>
            </a:solidFill>
            <a:prstDash val="solid"/>
          </a:ln>
        </p:spPr>
      </p:sp>
      <p:sp>
        <p:nvSpPr>
          <p:cNvPr id="28" name="">
            <a:extLst xmlns:a="http://schemas.openxmlformats.org/drawingml/2006/main">
              <a:ext uri="{FF2B5EF4-FFF2-40B4-BE49-F238E27FC236}">
                <a16:creationId xmlns:a16="http://schemas.microsoft.com/office/drawing/2014/main" id="{DB4D1CFC-5FBB-4639-B5A2-2C159D2A5864}"/>
              </a:ext>
            </a:extLst>
          </p:cNvPr>
          <p:cNvSpPr>
            <a:spLocks xmlns:a="http://schemas.openxmlformats.org/drawingml/2006/main" noGrp="1"/>
          </p:cNvSpPr>
          <p:nvPr/>
        </p:nvSpPr>
        <p:spPr>
          <a:xfrm xmlns:a="http://schemas.openxmlformats.org/drawingml/2006/main">
            <a:off x="6800850" y="41338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0F172A"/>
                </a:solidFill>
              </a:defRPr>
            </a:pPr>
            <a:r>
              <a:rPr sz="1125" b="1">
                <a:solidFill>
                  <a:srgbClr val="0F172A"/>
                </a:solidFill>
              </a:rPr>
              <a:t>compare analysis</a:t>
            </a:r>
          </a:p>
        </p:txBody>
      </p:sp>
      <p:sp>
        <p:nvSpPr>
          <p:cNvPr id="29" name="">
            <a:extLst xmlns:a="http://schemas.openxmlformats.org/drawingml/2006/main">
              <a:ext uri="{FF2B5EF4-FFF2-40B4-BE49-F238E27FC236}">
                <a16:creationId xmlns:a16="http://schemas.microsoft.com/office/drawing/2014/main" id="{B2715886-AFE9-4E27-B173-9C55CA1795ED}"/>
              </a:ext>
            </a:extLst>
          </p:cNvPr>
          <p:cNvSpPr>
            <a:spLocks xmlns:a="http://schemas.openxmlformats.org/drawingml/2006/main" noGrp="1"/>
          </p:cNvSpPr>
          <p:nvPr/>
        </p:nvSpPr>
        <p:spPr>
          <a:xfrm xmlns:a="http://schemas.openxmlformats.org/drawingml/2006/main">
            <a:off x="9353550" y="2133600"/>
            <a:ext cx="2324100" cy="27241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B5483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2B7EB13F-123E-4A63-952C-11D03B164556}"/>
              </a:ext>
            </a:extLst>
          </p:cNvPr>
          <p:cNvSpPr>
            <a:spLocks xmlns:a="http://schemas.openxmlformats.org/drawingml/2006/main" noGrp="1"/>
          </p:cNvSpPr>
          <p:nvPr/>
        </p:nvSpPr>
        <p:spPr>
          <a:xfrm xmlns:a="http://schemas.openxmlformats.org/drawingml/2006/main">
            <a:off x="9544050" y="234315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B5483A"/>
                </a:solidFill>
              </a:defRPr>
            </a:pPr>
            <a:r>
              <a:rPr sz="1650" b="1">
                <a:solidFill>
                  <a:srgbClr val="B5483A"/>
                </a:solidFill>
              </a:rPr>
              <a:t>Idiom &amp; lexical</a:t>
            </a:r>
          </a:p>
        </p:txBody>
      </p:sp>
      <p:sp>
        <p:nvSpPr>
          <p:cNvPr id="31" name="">
            <a:extLst xmlns:a="http://schemas.openxmlformats.org/drawingml/2006/main">
              <a:ext uri="{FF2B5EF4-FFF2-40B4-BE49-F238E27FC236}">
                <a16:creationId xmlns:a16="http://schemas.microsoft.com/office/drawing/2014/main" id="{7388AA65-AB7B-4A90-8617-D29FB6F7F84B}"/>
              </a:ext>
            </a:extLst>
          </p:cNvPr>
          <p:cNvSpPr>
            <a:spLocks xmlns:a="http://schemas.openxmlformats.org/drawingml/2006/main" noGrp="1"/>
          </p:cNvSpPr>
          <p:nvPr/>
        </p:nvSpPr>
        <p:spPr>
          <a:xfrm xmlns:a="http://schemas.openxmlformats.org/drawingml/2006/main">
            <a:off x="9544050" y="285750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32" name="">
            <a:extLst xmlns:a="http://schemas.openxmlformats.org/drawingml/2006/main">
              <a:ext uri="{FF2B5EF4-FFF2-40B4-BE49-F238E27FC236}">
                <a16:creationId xmlns:a16="http://schemas.microsoft.com/office/drawing/2014/main" id="{4A14B5C4-943A-46B9-8766-6D0187E36836}"/>
              </a:ext>
            </a:extLst>
          </p:cNvPr>
          <p:cNvSpPr>
            <a:spLocks xmlns:a="http://schemas.openxmlformats.org/drawingml/2006/main" noGrp="1"/>
          </p:cNvSpPr>
          <p:nvPr/>
        </p:nvSpPr>
        <p:spPr>
          <a:xfrm xmlns:a="http://schemas.openxmlformats.org/drawingml/2006/main">
            <a:off x="9639300" y="29527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select literal or figurative</a:t>
            </a:r>
          </a:p>
        </p:txBody>
      </p:sp>
      <p:sp>
        <p:nvSpPr>
          <p:cNvPr id="33" name="">
            <a:extLst xmlns:a="http://schemas.openxmlformats.org/drawingml/2006/main">
              <a:ext uri="{FF2B5EF4-FFF2-40B4-BE49-F238E27FC236}">
                <a16:creationId xmlns:a16="http://schemas.microsoft.com/office/drawing/2014/main" id="{85493658-E4EF-4AD9-A95F-629AE027FB4F}"/>
              </a:ext>
            </a:extLst>
          </p:cNvPr>
          <p:cNvSpPr>
            <a:spLocks xmlns:a="http://schemas.openxmlformats.org/drawingml/2006/main" noGrp="1"/>
          </p:cNvSpPr>
          <p:nvPr/>
        </p:nvSpPr>
        <p:spPr>
          <a:xfrm xmlns:a="http://schemas.openxmlformats.org/drawingml/2006/main">
            <a:off x="9544050" y="344805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34" name="">
            <a:extLst xmlns:a="http://schemas.openxmlformats.org/drawingml/2006/main">
              <a:ext uri="{FF2B5EF4-FFF2-40B4-BE49-F238E27FC236}">
                <a16:creationId xmlns:a16="http://schemas.microsoft.com/office/drawing/2014/main" id="{98FCB2CF-1EE7-497A-B286-045814546142}"/>
              </a:ext>
            </a:extLst>
          </p:cNvPr>
          <p:cNvSpPr>
            <a:spLocks xmlns:a="http://schemas.openxmlformats.org/drawingml/2006/main" noGrp="1"/>
          </p:cNvSpPr>
          <p:nvPr/>
        </p:nvSpPr>
        <p:spPr>
          <a:xfrm xmlns:a="http://schemas.openxmlformats.org/drawingml/2006/main">
            <a:off x="9639300" y="35433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retrieve exact sense</a:t>
            </a:r>
          </a:p>
        </p:txBody>
      </p:sp>
      <p:sp>
        <p:nvSpPr>
          <p:cNvPr id="35" name="">
            <a:extLst xmlns:a="http://schemas.openxmlformats.org/drawingml/2006/main">
              <a:ext uri="{FF2B5EF4-FFF2-40B4-BE49-F238E27FC236}">
                <a16:creationId xmlns:a16="http://schemas.microsoft.com/office/drawing/2014/main" id="{BB1014E1-2CAF-4C22-90C5-68763CD5C692}"/>
              </a:ext>
            </a:extLst>
          </p:cNvPr>
          <p:cNvSpPr>
            <a:spLocks xmlns:a="http://schemas.openxmlformats.org/drawingml/2006/main" noGrp="1"/>
          </p:cNvSpPr>
          <p:nvPr/>
        </p:nvSpPr>
        <p:spPr>
          <a:xfrm xmlns:a="http://schemas.openxmlformats.org/drawingml/2006/main">
            <a:off x="9544050" y="4038600"/>
            <a:ext cx="1943100" cy="419100"/>
          </a:xfrm>
          <a:prstGeom xmlns:a="http://schemas.openxmlformats.org/drawingml/2006/main" prst="roundRect">
            <a:avLst>
              <a:gd name="adj" fmla="val 22727"/>
            </a:avLst>
          </a:prstGeom>
          <a:solidFill xmlns:a="http://schemas.openxmlformats.org/drawingml/2006/main">
            <a:srgbClr val="E7EEF4"/>
          </a:solidFill>
          <a:ln xmlns:a="http://schemas.openxmlformats.org/drawingml/2006/main" w="9525">
            <a:solidFill>
              <a:srgbClr val="D8E0EA"/>
            </a:solidFill>
            <a:prstDash val="solid"/>
          </a:ln>
        </p:spPr>
      </p:sp>
      <p:sp>
        <p:nvSpPr>
          <p:cNvPr id="36" name="">
            <a:extLst xmlns:a="http://schemas.openxmlformats.org/drawingml/2006/main">
              <a:ext uri="{FF2B5EF4-FFF2-40B4-BE49-F238E27FC236}">
                <a16:creationId xmlns:a16="http://schemas.microsoft.com/office/drawing/2014/main" id="{7143EFC3-B83B-4C0F-B1F6-2A038B37FE08}"/>
              </a:ext>
            </a:extLst>
          </p:cNvPr>
          <p:cNvSpPr>
            <a:spLocks xmlns:a="http://schemas.openxmlformats.org/drawingml/2006/main" noGrp="1"/>
          </p:cNvSpPr>
          <p:nvPr/>
        </p:nvSpPr>
        <p:spPr>
          <a:xfrm xmlns:a="http://schemas.openxmlformats.org/drawingml/2006/main">
            <a:off x="9639300" y="41338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0F172A"/>
                </a:solidFill>
              </a:defRPr>
            </a:pPr>
            <a:r>
              <a:rPr sz="1125" b="1">
                <a:solidFill>
                  <a:srgbClr val="0F172A"/>
                </a:solidFill>
              </a:rPr>
              <a:t>compare requested meaning</a:t>
            </a:r>
          </a:p>
        </p:txBody>
      </p:sp>
      <p:sp>
        <p:nvSpPr>
          <p:cNvPr id="37" name="">
            <a:extLst xmlns:a="http://schemas.openxmlformats.org/drawingml/2006/main">
              <a:ext uri="{FF2B5EF4-FFF2-40B4-BE49-F238E27FC236}">
                <a16:creationId xmlns:a16="http://schemas.microsoft.com/office/drawing/2014/main" id="{82C9C97A-FA13-44C0-88EA-E7CB3D941CC1}"/>
              </a:ext>
            </a:extLst>
          </p:cNvPr>
          <p:cNvSpPr>
            <a:spLocks xmlns:a="http://schemas.openxmlformats.org/drawingml/2006/main" noGrp="1"/>
          </p:cNvSpPr>
          <p:nvPr/>
        </p:nvSpPr>
        <p:spPr>
          <a:xfrm xmlns:a="http://schemas.openxmlformats.org/drawingml/2006/main">
            <a:off x="1714500" y="5295900"/>
            <a:ext cx="8763000" cy="685800"/>
          </a:xfrm>
          <a:prstGeom xmlns:a="http://schemas.openxmlformats.org/drawingml/2006/main" prst="roundRect">
            <a:avLst>
              <a:gd name="adj" fmla="val 19444"/>
            </a:avLst>
          </a:prstGeom>
          <a:solidFill xmlns:a="http://schemas.openxmlformats.org/drawingml/2006/main">
            <a:srgbClr val="E7EEF4"/>
          </a:solidFill>
          <a:ln xmlns:a="http://schemas.openxmlformats.org/drawingml/2006/main" w="9525">
            <a:solidFill>
              <a:srgbClr val="1F5A7A"/>
            </a:solidFill>
            <a:prstDash val="solid"/>
          </a:ln>
        </p:spPr>
      </p:sp>
      <p:sp>
        <p:nvSpPr>
          <p:cNvPr id="38" name="">
            <a:extLst xmlns:a="http://schemas.openxmlformats.org/drawingml/2006/main">
              <a:ext uri="{FF2B5EF4-FFF2-40B4-BE49-F238E27FC236}">
                <a16:creationId xmlns:a16="http://schemas.microsoft.com/office/drawing/2014/main" id="{8936C3D0-A7A2-4B99-AAED-96BB4E6E1D18}"/>
              </a:ext>
            </a:extLst>
          </p:cNvPr>
          <p:cNvSpPr>
            <a:spLocks xmlns:a="http://schemas.openxmlformats.org/drawingml/2006/main" noGrp="1"/>
          </p:cNvSpPr>
          <p:nvPr/>
        </p:nvSpPr>
        <p:spPr>
          <a:xfrm xmlns:a="http://schemas.openxmlformats.org/drawingml/2006/main">
            <a:off x="1981200" y="54864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F5A7A"/>
                </a:solidFill>
              </a:defRPr>
            </a:pPr>
            <a:r>
              <a:rPr sz="1275" b="1">
                <a:solidFill>
                  <a:srgbClr val="1F5A7A"/>
                </a:solidFill>
              </a:rPr>
              <a:t>Common output</a:t>
            </a:r>
          </a:p>
        </p:txBody>
      </p:sp>
      <p:sp>
        <p:nvSpPr>
          <p:cNvPr id="39" name="">
            <a:extLst xmlns:a="http://schemas.openxmlformats.org/drawingml/2006/main">
              <a:ext uri="{FF2B5EF4-FFF2-40B4-BE49-F238E27FC236}">
                <a16:creationId xmlns:a16="http://schemas.microsoft.com/office/drawing/2014/main" id="{CD973F10-E094-4278-8BC6-AFABB4541FBC}"/>
              </a:ext>
            </a:extLst>
          </p:cNvPr>
          <p:cNvSpPr>
            <a:spLocks xmlns:a="http://schemas.openxmlformats.org/drawingml/2006/main" noGrp="1"/>
          </p:cNvSpPr>
          <p:nvPr/>
        </p:nvSpPr>
        <p:spPr>
          <a:xfrm xmlns:a="http://schemas.openxmlformats.org/drawingml/2006/main">
            <a:off x="3600450" y="5467350"/>
            <a:ext cx="657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F172A"/>
                </a:solidFill>
              </a:defRPr>
            </a:pPr>
            <a:r>
              <a:rPr sz="1275" b="0">
                <a:solidFill>
                  <a:srgbClr val="0F172A"/>
                </a:solidFill>
              </a:rPr>
              <a:t>{entity, predicate, parsed value, source, verdict}  —  incomplete or conflicting fields return null</a:t>
            </a:r>
          </a:p>
        </p:txBody>
      </p:sp>
      <p:sp>
        <p:nvSpPr>
          <p:cNvPr id="40" name="">
            <a:extLst xmlns:a="http://schemas.openxmlformats.org/drawingml/2006/main">
              <a:ext uri="{FF2B5EF4-FFF2-40B4-BE49-F238E27FC236}">
                <a16:creationId xmlns:a16="http://schemas.microsoft.com/office/drawing/2014/main" id="{CB798A52-0FFA-4905-998A-47D62BA2A5AA}"/>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1" name="source-5">
            <a:extLst xmlns:a="http://schemas.openxmlformats.org/drawingml/2006/main">
              <a:ext uri="{FF2B5EF4-FFF2-40B4-BE49-F238E27FC236}">
                <a16:creationId xmlns:a16="http://schemas.microsoft.com/office/drawing/2014/main" id="{58B1EABB-07CA-4A7D-BF3A-158969B1B08F}"/>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[7] v91 structured solvers, relation schema, and regression cases</a:t>
            </a:r>
          </a:p>
        </p:txBody>
      </p:sp>
      <p:sp>
        <p:nvSpPr>
          <p:cNvPr id="42" name="page-5">
            <a:extLst xmlns:a="http://schemas.openxmlformats.org/drawingml/2006/main">
              <a:ext uri="{FF2B5EF4-FFF2-40B4-BE49-F238E27FC236}">
                <a16:creationId xmlns:a16="http://schemas.microsoft.com/office/drawing/2014/main" id="{F98A9595-74B4-418D-A2AB-9414F3B855F5}"/>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05</a:t>
            </a:r>
          </a:p>
        </p:txBody>
      </p:sp>
    </p:spTree>
    <p:extLst>
      <p:ext uri="{BB962C8B-B14F-4D97-AF65-F5344CB8AC3E}">
        <p14:creationId xmlns:p14="http://schemas.microsoft.com/office/powerpoint/2010/main" val="1248703227"/>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6" name="kicker-6">
            <a:extLst xmlns:a="http://schemas.openxmlformats.org/drawingml/2006/main">
              <a:ext uri="{FF2B5EF4-FFF2-40B4-BE49-F238E27FC236}">
                <a16:creationId xmlns:a16="http://schemas.microsoft.com/office/drawing/2014/main" id="{42801365-F285-45DD-8B42-D668DEFF3FA9}"/>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title-6">
            <a:extLst xmlns:a="http://schemas.openxmlformats.org/drawingml/2006/main">
              <a:ext uri="{FF2B5EF4-FFF2-40B4-BE49-F238E27FC236}">
                <a16:creationId xmlns:a16="http://schemas.microsoft.com/office/drawing/2014/main" id="{8F6851D2-DB83-451B-BE05-8F2A496193EF}"/>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A correct fact can still answer the wrong relation</a:t>
            </a:r>
          </a:p>
        </p:txBody>
      </p:sp>
      <p:sp>
        <p:nvSpPr>
          <p:cNvPr id="3" name="">
            <a:extLst xmlns:a="http://schemas.openxmlformats.org/drawingml/2006/main">
              <a:ext uri="{FF2B5EF4-FFF2-40B4-BE49-F238E27FC236}">
                <a16:creationId xmlns:a16="http://schemas.microsoft.com/office/drawing/2014/main" id="{79AF736C-198F-41D0-84B1-1B79BD7BDE9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7DB4089A-AC56-4A7F-8546-B04A8294C5C0}"/>
              </a:ext>
            </a:extLst>
          </p:cNvPr>
          <p:cNvSpPr>
            <a:spLocks xmlns:a="http://schemas.openxmlformats.org/drawingml/2006/main" noGrp="1"/>
          </p:cNvSpPr>
          <p:nvPr/>
        </p:nvSpPr>
        <p:spPr>
          <a:xfrm xmlns:a="http://schemas.openxmlformats.org/drawingml/2006/main">
            <a:off x="685800" y="1381125"/>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26174"/>
                </a:solidFill>
              </a:defRPr>
            </a:pPr>
            <a:r>
              <a:rPr sz="1575" b="0">
                <a:solidFill>
                  <a:srgbClr val="526174"/>
                </a:solidFill>
              </a:rPr>
              <a:t>Released sample 4 contains both the film title and year; the prompt asks specifically for the year.</a:t>
            </a:r>
          </a:p>
        </p:txBody>
      </p:sp>
      <p:sp>
        <p:nvSpPr>
          <p:cNvPr id="5" name="">
            <a:extLst xmlns:a="http://schemas.openxmlformats.org/drawingml/2006/main">
              <a:ext uri="{FF2B5EF4-FFF2-40B4-BE49-F238E27FC236}">
                <a16:creationId xmlns:a16="http://schemas.microsoft.com/office/drawing/2014/main" id="{FB4470C1-1CEE-4AAA-ABCC-A3AAB88BA8CF}"/>
              </a:ext>
            </a:extLst>
          </p:cNvPr>
          <p:cNvSpPr>
            <a:spLocks xmlns:a="http://schemas.openxmlformats.org/drawingml/2006/main" noGrp="1"/>
          </p:cNvSpPr>
          <p:nvPr/>
        </p:nvSpPr>
        <p:spPr>
          <a:xfrm xmlns:a="http://schemas.openxmlformats.org/drawingml/2006/main">
            <a:off x="6048375" y="3429000"/>
            <a:ext cx="666750" cy="30480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6" name="">
            <a:extLst xmlns:a="http://schemas.openxmlformats.org/drawingml/2006/main">
              <a:ext uri="{FF2B5EF4-FFF2-40B4-BE49-F238E27FC236}">
                <a16:creationId xmlns:a16="http://schemas.microsoft.com/office/drawing/2014/main" id="{36CF15EE-62AC-4DB2-844C-664FA9DE7A47}"/>
              </a:ext>
            </a:extLst>
          </p:cNvPr>
          <p:cNvSpPr>
            <a:spLocks xmlns:a="http://schemas.openxmlformats.org/drawingml/2006/main" noGrp="1"/>
          </p:cNvSpPr>
          <p:nvPr/>
        </p:nvSpPr>
        <p:spPr>
          <a:xfrm xmlns:a="http://schemas.openxmlformats.org/drawingml/2006/main">
            <a:off x="742950" y="2076450"/>
            <a:ext cx="5314950" cy="3657600"/>
          </a:xfrm>
          <a:prstGeom xmlns:a="http://schemas.openxmlformats.org/drawingml/2006/main" prst="roundRect">
            <a:avLst>
              <a:gd name="adj" fmla="val 4167"/>
            </a:avLst>
          </a:prstGeom>
          <a:solidFill xmlns:a="http://schemas.openxmlformats.org/drawingml/2006/main">
            <a:srgbClr val="FFFFFF"/>
          </a:solidFill>
          <a:ln xmlns:a="http://schemas.openxmlformats.org/drawingml/2006/main" w="9525">
            <a:solidFill>
              <a:srgbClr val="1F5A7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3737E8B-B18B-4387-9BA8-3FADDB4D103B}"/>
              </a:ext>
            </a:extLst>
          </p:cNvPr>
          <p:cNvSpPr>
            <a:spLocks xmlns:a="http://schemas.openxmlformats.org/drawingml/2006/main" noGrp="1"/>
          </p:cNvSpPr>
          <p:nvPr/>
        </p:nvSpPr>
        <p:spPr>
          <a:xfrm xmlns:a="http://schemas.openxmlformats.org/drawingml/2006/main">
            <a:off x="1028700" y="22860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F5A7A"/>
                </a:solidFill>
              </a:defRPr>
            </a:pPr>
            <a:r>
              <a:rPr sz="1650" b="1">
                <a:solidFill>
                  <a:srgbClr val="1F5A7A"/>
                </a:solidFill>
              </a:rPr>
              <a:t>Released labeled example</a:t>
            </a:r>
          </a:p>
        </p:txBody>
      </p:sp>
      <p:sp>
        <p:nvSpPr>
          <p:cNvPr id="8" name="">
            <a:extLst xmlns:a="http://schemas.openxmlformats.org/drawingml/2006/main">
              <a:ext uri="{FF2B5EF4-FFF2-40B4-BE49-F238E27FC236}">
                <a16:creationId xmlns:a16="http://schemas.microsoft.com/office/drawing/2014/main" id="{7423D10F-44DC-4823-A5CF-77AD5D0C12DF}"/>
              </a:ext>
            </a:extLst>
          </p:cNvPr>
          <p:cNvSpPr>
            <a:spLocks xmlns:a="http://schemas.openxmlformats.org/drawingml/2006/main" noGrp="1"/>
          </p:cNvSpPr>
          <p:nvPr/>
        </p:nvSpPr>
        <p:spPr>
          <a:xfrm xmlns:a="http://schemas.openxmlformats.org/drawingml/2006/main">
            <a:off x="1028700" y="27622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2A8C82"/>
                </a:solidFill>
              </a:defRPr>
            </a:pPr>
            <a:r>
              <a:rPr sz="1275" b="1">
                <a:solidFill>
                  <a:srgbClr val="2A8C82"/>
                </a:solidFill>
              </a:rPr>
              <a:t>Context excerpt</a:t>
            </a:r>
          </a:p>
        </p:txBody>
      </p:sp>
      <p:sp>
        <p:nvSpPr>
          <p:cNvPr id="9" name="">
            <a:extLst xmlns:a="http://schemas.openxmlformats.org/drawingml/2006/main">
              <a:ext uri="{FF2B5EF4-FFF2-40B4-BE49-F238E27FC236}">
                <a16:creationId xmlns:a16="http://schemas.microsoft.com/office/drawing/2014/main" id="{8A3C3A45-5959-4F2D-BD1D-4016EB31B563}"/>
              </a:ext>
            </a:extLst>
          </p:cNvPr>
          <p:cNvSpPr>
            <a:spLocks xmlns:a="http://schemas.openxmlformats.org/drawingml/2006/main" noGrp="1"/>
          </p:cNvSpPr>
          <p:nvPr/>
        </p:nvSpPr>
        <p:spPr>
          <a:xfrm xmlns:a="http://schemas.openxmlformats.org/drawingml/2006/main">
            <a:off x="1028700" y="3067050"/>
            <a:ext cx="457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0F172A"/>
                </a:solidFill>
              </a:defRPr>
            </a:pPr>
            <a:r>
              <a:rPr sz="1575" b="0">
                <a:solidFill>
                  <a:srgbClr val="0F172A"/>
                </a:solidFill>
              </a:rPr>
              <a:t>তারেক মাসুদের সর্বশেষ পূর্ণদৈর্ঘ্য চলচ্চিত্র ‘রানওয়ে’ মুক্তি পায় ২০১০ সালে।</a:t>
            </a:r>
          </a:p>
        </p:txBody>
      </p:sp>
      <p:sp>
        <p:nvSpPr>
          <p:cNvPr id="10" name="">
            <a:extLst xmlns:a="http://schemas.openxmlformats.org/drawingml/2006/main">
              <a:ext uri="{FF2B5EF4-FFF2-40B4-BE49-F238E27FC236}">
                <a16:creationId xmlns:a16="http://schemas.microsoft.com/office/drawing/2014/main" id="{960123F4-2BED-4500-8C62-9FE703E5186D}"/>
              </a:ext>
            </a:extLst>
          </p:cNvPr>
          <p:cNvSpPr>
            <a:spLocks xmlns:a="http://schemas.openxmlformats.org/drawingml/2006/main" noGrp="1"/>
          </p:cNvSpPr>
          <p:nvPr/>
        </p:nvSpPr>
        <p:spPr>
          <a:xfrm xmlns:a="http://schemas.openxmlformats.org/drawingml/2006/main">
            <a:off x="1028700" y="3790950"/>
            <a:ext cx="45529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1" name="">
            <a:extLst xmlns:a="http://schemas.openxmlformats.org/drawingml/2006/main">
              <a:ext uri="{FF2B5EF4-FFF2-40B4-BE49-F238E27FC236}">
                <a16:creationId xmlns:a16="http://schemas.microsoft.com/office/drawing/2014/main" id="{39270B24-E48A-4AFB-945B-8F14EE8E1816}"/>
              </a:ext>
            </a:extLst>
          </p:cNvPr>
          <p:cNvSpPr>
            <a:spLocks xmlns:a="http://schemas.openxmlformats.org/drawingml/2006/main" noGrp="1"/>
          </p:cNvSpPr>
          <p:nvPr/>
        </p:nvSpPr>
        <p:spPr>
          <a:xfrm xmlns:a="http://schemas.openxmlformats.org/drawingml/2006/main">
            <a:off x="1028700" y="40005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2A8C82"/>
                </a:solidFill>
              </a:defRPr>
            </a:pPr>
            <a:r>
              <a:rPr sz="1275" b="1">
                <a:solidFill>
                  <a:srgbClr val="2A8C82"/>
                </a:solidFill>
              </a:rPr>
              <a:t>Prompt</a:t>
            </a:r>
          </a:p>
        </p:txBody>
      </p:sp>
      <p:sp>
        <p:nvSpPr>
          <p:cNvPr id="12" name="">
            <a:extLst xmlns:a="http://schemas.openxmlformats.org/drawingml/2006/main">
              <a:ext uri="{FF2B5EF4-FFF2-40B4-BE49-F238E27FC236}">
                <a16:creationId xmlns:a16="http://schemas.microsoft.com/office/drawing/2014/main" id="{D996BB65-A02B-467D-A329-2D889970A8FE}"/>
              </a:ext>
            </a:extLst>
          </p:cNvPr>
          <p:cNvSpPr>
            <a:spLocks xmlns:a="http://schemas.openxmlformats.org/drawingml/2006/main" noGrp="1"/>
          </p:cNvSpPr>
          <p:nvPr/>
        </p:nvSpPr>
        <p:spPr>
          <a:xfrm xmlns:a="http://schemas.openxmlformats.org/drawingml/2006/main">
            <a:off x="1028700" y="4305300"/>
            <a:ext cx="457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সর্বশেষ চলচ্চিত্রটি কত সালে মুক্তি পায়?</a:t>
            </a:r>
          </a:p>
        </p:txBody>
      </p:sp>
      <p:sp>
        <p:nvSpPr>
          <p:cNvPr id="13" name="">
            <a:extLst xmlns:a="http://schemas.openxmlformats.org/drawingml/2006/main">
              <a:ext uri="{FF2B5EF4-FFF2-40B4-BE49-F238E27FC236}">
                <a16:creationId xmlns:a16="http://schemas.microsoft.com/office/drawing/2014/main" id="{1A39E986-BF7C-4DC8-B5F1-6D8958069A21}"/>
              </a:ext>
            </a:extLst>
          </p:cNvPr>
          <p:cNvSpPr>
            <a:spLocks xmlns:a="http://schemas.openxmlformats.org/drawingml/2006/main" noGrp="1"/>
          </p:cNvSpPr>
          <p:nvPr/>
        </p:nvSpPr>
        <p:spPr>
          <a:xfrm xmlns:a="http://schemas.openxmlformats.org/drawingml/2006/main">
            <a:off x="1028700" y="48768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B5483A"/>
                </a:solidFill>
              </a:defRPr>
            </a:pPr>
            <a:r>
              <a:rPr sz="1275" b="1">
                <a:solidFill>
                  <a:srgbClr val="B5483A"/>
                </a:solidFill>
              </a:rPr>
              <a:t>Response</a:t>
            </a:r>
          </a:p>
        </p:txBody>
      </p:sp>
      <p:sp>
        <p:nvSpPr>
          <p:cNvPr id="14" name="">
            <a:extLst xmlns:a="http://schemas.openxmlformats.org/drawingml/2006/main">
              <a:ext uri="{FF2B5EF4-FFF2-40B4-BE49-F238E27FC236}">
                <a16:creationId xmlns:a16="http://schemas.microsoft.com/office/drawing/2014/main" id="{8DBCA879-03F9-4FDF-844D-459169FDFA9A}"/>
              </a:ext>
            </a:extLst>
          </p:cNvPr>
          <p:cNvSpPr>
            <a:spLocks xmlns:a="http://schemas.openxmlformats.org/drawingml/2006/main" noGrp="1"/>
          </p:cNvSpPr>
          <p:nvPr/>
        </p:nvSpPr>
        <p:spPr>
          <a:xfrm xmlns:a="http://schemas.openxmlformats.org/drawingml/2006/main">
            <a:off x="2247900" y="481965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B5483A"/>
                </a:solidFill>
              </a:defRPr>
            </a:pPr>
            <a:r>
              <a:rPr sz="1800" b="1">
                <a:solidFill>
                  <a:srgbClr val="B5483A"/>
                </a:solidFill>
              </a:rPr>
              <a:t>রানওয়ে</a:t>
            </a:r>
          </a:p>
        </p:txBody>
      </p:sp>
      <p:sp>
        <p:nvSpPr>
          <p:cNvPr id="15" name="">
            <a:extLst xmlns:a="http://schemas.openxmlformats.org/drawingml/2006/main">
              <a:ext uri="{FF2B5EF4-FFF2-40B4-BE49-F238E27FC236}">
                <a16:creationId xmlns:a16="http://schemas.microsoft.com/office/drawing/2014/main" id="{43BF0021-9A4A-4A3E-B404-E503066C0004}"/>
              </a:ext>
            </a:extLst>
          </p:cNvPr>
          <p:cNvSpPr>
            <a:spLocks xmlns:a="http://schemas.openxmlformats.org/drawingml/2006/main" noGrp="1"/>
          </p:cNvSpPr>
          <p:nvPr/>
        </p:nvSpPr>
        <p:spPr>
          <a:xfrm xmlns:a="http://schemas.openxmlformats.org/drawingml/2006/main">
            <a:off x="1028700" y="53149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B5483A"/>
                </a:solidFill>
              </a:defRPr>
            </a:pPr>
            <a:r>
              <a:rPr sz="1350" b="1">
                <a:solidFill>
                  <a:srgbClr val="B5483A"/>
                </a:solidFill>
              </a:rPr>
              <a:t>Released label: 0</a:t>
            </a:r>
          </a:p>
        </p:txBody>
      </p:sp>
      <p:sp>
        <p:nvSpPr>
          <p:cNvPr id="16" name="">
            <a:extLst xmlns:a="http://schemas.openxmlformats.org/drawingml/2006/main">
              <a:ext uri="{FF2B5EF4-FFF2-40B4-BE49-F238E27FC236}">
                <a16:creationId xmlns:a16="http://schemas.microsoft.com/office/drawing/2014/main" id="{5052D6A4-E502-4C1C-B2CC-729143491A66}"/>
              </a:ext>
            </a:extLst>
          </p:cNvPr>
          <p:cNvSpPr>
            <a:spLocks xmlns:a="http://schemas.openxmlformats.org/drawingml/2006/main" noGrp="1"/>
          </p:cNvSpPr>
          <p:nvPr/>
        </p:nvSpPr>
        <p:spPr>
          <a:xfrm xmlns:a="http://schemas.openxmlformats.org/drawingml/2006/main">
            <a:off x="6705600" y="2076450"/>
            <a:ext cx="4762500" cy="3657600"/>
          </a:xfrm>
          <a:prstGeom xmlns:a="http://schemas.openxmlformats.org/drawingml/2006/main" prst="roundRect">
            <a:avLst>
              <a:gd name="adj" fmla="val 4167"/>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161519CA-BB45-49E4-A1D0-1F93147C92DE}"/>
              </a:ext>
            </a:extLst>
          </p:cNvPr>
          <p:cNvSpPr>
            <a:spLocks xmlns:a="http://schemas.openxmlformats.org/drawingml/2006/main" noGrp="1"/>
          </p:cNvSpPr>
          <p:nvPr/>
        </p:nvSpPr>
        <p:spPr>
          <a:xfrm xmlns:a="http://schemas.openxmlformats.org/drawingml/2006/main">
            <a:off x="7010400" y="2286000"/>
            <a:ext cx="415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A8C82"/>
                </a:solidFill>
              </a:defRPr>
            </a:pPr>
            <a:r>
              <a:rPr sz="1650" b="1">
                <a:solidFill>
                  <a:srgbClr val="2A8C82"/>
                </a:solidFill>
              </a:rPr>
              <a:t>Relation check</a:t>
            </a:r>
          </a:p>
        </p:txBody>
      </p:sp>
      <p:sp>
        <p:nvSpPr>
          <p:cNvPr id="18" name="">
            <a:extLst xmlns:a="http://schemas.openxmlformats.org/drawingml/2006/main">
              <a:ext uri="{FF2B5EF4-FFF2-40B4-BE49-F238E27FC236}">
                <a16:creationId xmlns:a16="http://schemas.microsoft.com/office/drawing/2014/main" id="{25F7D93A-4495-42C5-A1F8-19C1F34CBAAF}"/>
              </a:ext>
            </a:extLst>
          </p:cNvPr>
          <p:cNvSpPr>
            <a:spLocks xmlns:a="http://schemas.openxmlformats.org/drawingml/2006/main" noGrp="1"/>
          </p:cNvSpPr>
          <p:nvPr/>
        </p:nvSpPr>
        <p:spPr>
          <a:xfrm xmlns:a="http://schemas.openxmlformats.org/drawingml/2006/main">
            <a:off x="7029450" y="2800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26174"/>
                </a:solidFill>
              </a:defRPr>
            </a:pPr>
            <a:r>
              <a:rPr sz="1275" b="1">
                <a:solidFill>
                  <a:srgbClr val="526174"/>
                </a:solidFill>
              </a:rPr>
              <a:t>Entity</a:t>
            </a:r>
          </a:p>
        </p:txBody>
      </p:sp>
      <p:sp>
        <p:nvSpPr>
          <p:cNvPr id="19" name="">
            <a:extLst xmlns:a="http://schemas.openxmlformats.org/drawingml/2006/main">
              <a:ext uri="{FF2B5EF4-FFF2-40B4-BE49-F238E27FC236}">
                <a16:creationId xmlns:a16="http://schemas.microsoft.com/office/drawing/2014/main" id="{63E4F18B-9580-4962-825C-BF513DE0A8AD}"/>
              </a:ext>
            </a:extLst>
          </p:cNvPr>
          <p:cNvSpPr>
            <a:spLocks xmlns:a="http://schemas.openxmlformats.org/drawingml/2006/main" noGrp="1"/>
          </p:cNvSpPr>
          <p:nvPr/>
        </p:nvSpPr>
        <p:spPr>
          <a:xfrm xmlns:a="http://schemas.openxmlformats.org/drawingml/2006/main">
            <a:off x="8782050" y="28003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Runway</a:t>
            </a:r>
          </a:p>
        </p:txBody>
      </p:sp>
      <p:sp>
        <p:nvSpPr>
          <p:cNvPr id="20" name="">
            <a:extLst xmlns:a="http://schemas.openxmlformats.org/drawingml/2006/main">
              <a:ext uri="{FF2B5EF4-FFF2-40B4-BE49-F238E27FC236}">
                <a16:creationId xmlns:a16="http://schemas.microsoft.com/office/drawing/2014/main" id="{704B4357-5E18-4E2A-B885-1239977DFD5F}"/>
              </a:ext>
            </a:extLst>
          </p:cNvPr>
          <p:cNvSpPr>
            <a:spLocks xmlns:a="http://schemas.openxmlformats.org/drawingml/2006/main" noGrp="1"/>
          </p:cNvSpPr>
          <p:nvPr/>
        </p:nvSpPr>
        <p:spPr>
          <a:xfrm xmlns:a="http://schemas.openxmlformats.org/drawingml/2006/main">
            <a:off x="10191750" y="2800350"/>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1">
                <a:solidFill>
                  <a:srgbClr val="2A8C82"/>
                </a:solidFill>
              </a:defRPr>
            </a:pPr>
            <a:r>
              <a:rPr sz="1200" b="1">
                <a:solidFill>
                  <a:srgbClr val="2A8C82"/>
                </a:solidFill>
              </a:rPr>
              <a:t>matches</a:t>
            </a:r>
          </a:p>
        </p:txBody>
      </p:sp>
      <p:sp>
        <p:nvSpPr>
          <p:cNvPr id="21" name="">
            <a:extLst xmlns:a="http://schemas.openxmlformats.org/drawingml/2006/main">
              <a:ext uri="{FF2B5EF4-FFF2-40B4-BE49-F238E27FC236}">
                <a16:creationId xmlns:a16="http://schemas.microsoft.com/office/drawing/2014/main" id="{58D65BA3-BEC0-478E-930D-F55FB5F0CE76}"/>
              </a:ext>
            </a:extLst>
          </p:cNvPr>
          <p:cNvSpPr>
            <a:spLocks xmlns:a="http://schemas.openxmlformats.org/drawingml/2006/main" noGrp="1"/>
          </p:cNvSpPr>
          <p:nvPr/>
        </p:nvSpPr>
        <p:spPr>
          <a:xfrm xmlns:a="http://schemas.openxmlformats.org/drawingml/2006/main">
            <a:off x="7029450" y="3181350"/>
            <a:ext cx="4152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2" name="">
            <a:extLst xmlns:a="http://schemas.openxmlformats.org/drawingml/2006/main">
              <a:ext uri="{FF2B5EF4-FFF2-40B4-BE49-F238E27FC236}">
                <a16:creationId xmlns:a16="http://schemas.microsoft.com/office/drawing/2014/main" id="{35F87DDA-027D-474F-9F94-A890D5B80CD8}"/>
              </a:ext>
            </a:extLst>
          </p:cNvPr>
          <p:cNvSpPr>
            <a:spLocks xmlns:a="http://schemas.openxmlformats.org/drawingml/2006/main" noGrp="1"/>
          </p:cNvSpPr>
          <p:nvPr/>
        </p:nvSpPr>
        <p:spPr>
          <a:xfrm xmlns:a="http://schemas.openxmlformats.org/drawingml/2006/main">
            <a:off x="7029450" y="34671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26174"/>
                </a:solidFill>
              </a:defRPr>
            </a:pPr>
            <a:r>
              <a:rPr sz="1275" b="1">
                <a:solidFill>
                  <a:srgbClr val="526174"/>
                </a:solidFill>
              </a:rPr>
              <a:t>Requested predicate</a:t>
            </a:r>
          </a:p>
        </p:txBody>
      </p:sp>
      <p:sp>
        <p:nvSpPr>
          <p:cNvPr id="23" name="">
            <a:extLst xmlns:a="http://schemas.openxmlformats.org/drawingml/2006/main">
              <a:ext uri="{FF2B5EF4-FFF2-40B4-BE49-F238E27FC236}">
                <a16:creationId xmlns:a16="http://schemas.microsoft.com/office/drawing/2014/main" id="{BD62F074-F446-481B-BA64-1D7DCF101FAC}"/>
              </a:ext>
            </a:extLst>
          </p:cNvPr>
          <p:cNvSpPr>
            <a:spLocks xmlns:a="http://schemas.openxmlformats.org/drawingml/2006/main" noGrp="1"/>
          </p:cNvSpPr>
          <p:nvPr/>
        </p:nvSpPr>
        <p:spPr>
          <a:xfrm xmlns:a="http://schemas.openxmlformats.org/drawingml/2006/main">
            <a:off x="8782050" y="34671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release_year</a:t>
            </a:r>
          </a:p>
        </p:txBody>
      </p:sp>
      <p:sp>
        <p:nvSpPr>
          <p:cNvPr id="24" name="">
            <a:extLst xmlns:a="http://schemas.openxmlformats.org/drawingml/2006/main">
              <a:ext uri="{FF2B5EF4-FFF2-40B4-BE49-F238E27FC236}">
                <a16:creationId xmlns:a16="http://schemas.microsoft.com/office/drawing/2014/main" id="{01468A19-A986-4314-A5C9-E38BC14BEC35}"/>
              </a:ext>
            </a:extLst>
          </p:cNvPr>
          <p:cNvSpPr>
            <a:spLocks xmlns:a="http://schemas.openxmlformats.org/drawingml/2006/main" noGrp="1"/>
          </p:cNvSpPr>
          <p:nvPr/>
        </p:nvSpPr>
        <p:spPr>
          <a:xfrm xmlns:a="http://schemas.openxmlformats.org/drawingml/2006/main">
            <a:off x="10191750" y="3467100"/>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1">
                <a:solidFill>
                  <a:srgbClr val="1F5A7A"/>
                </a:solidFill>
              </a:defRPr>
            </a:pPr>
            <a:r>
              <a:rPr sz="1200" b="1">
                <a:solidFill>
                  <a:srgbClr val="1F5A7A"/>
                </a:solidFill>
              </a:rPr>
              <a:t>expected</a:t>
            </a:r>
          </a:p>
        </p:txBody>
      </p:sp>
      <p:sp>
        <p:nvSpPr>
          <p:cNvPr id="25" name="">
            <a:extLst xmlns:a="http://schemas.openxmlformats.org/drawingml/2006/main">
              <a:ext uri="{FF2B5EF4-FFF2-40B4-BE49-F238E27FC236}">
                <a16:creationId xmlns:a16="http://schemas.microsoft.com/office/drawing/2014/main" id="{BCDB3E40-EA8B-4CE7-AD52-F46BCF025575}"/>
              </a:ext>
            </a:extLst>
          </p:cNvPr>
          <p:cNvSpPr>
            <a:spLocks xmlns:a="http://schemas.openxmlformats.org/drawingml/2006/main" noGrp="1"/>
          </p:cNvSpPr>
          <p:nvPr/>
        </p:nvSpPr>
        <p:spPr>
          <a:xfrm xmlns:a="http://schemas.openxmlformats.org/drawingml/2006/main">
            <a:off x="7029450" y="3848100"/>
            <a:ext cx="4152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6" name="">
            <a:extLst xmlns:a="http://schemas.openxmlformats.org/drawingml/2006/main">
              <a:ext uri="{FF2B5EF4-FFF2-40B4-BE49-F238E27FC236}">
                <a16:creationId xmlns:a16="http://schemas.microsoft.com/office/drawing/2014/main" id="{AF8D649F-2C2E-4D17-A627-134C9078B2A6}"/>
              </a:ext>
            </a:extLst>
          </p:cNvPr>
          <p:cNvSpPr>
            <a:spLocks xmlns:a="http://schemas.openxmlformats.org/drawingml/2006/main" noGrp="1"/>
          </p:cNvSpPr>
          <p:nvPr/>
        </p:nvSpPr>
        <p:spPr>
          <a:xfrm xmlns:a="http://schemas.openxmlformats.org/drawingml/2006/main">
            <a:off x="7029450" y="41338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26174"/>
                </a:solidFill>
              </a:defRPr>
            </a:pPr>
            <a:r>
              <a:rPr sz="1275" b="1">
                <a:solidFill>
                  <a:srgbClr val="526174"/>
                </a:solidFill>
              </a:rPr>
              <a:t>Response type</a:t>
            </a:r>
          </a:p>
        </p:txBody>
      </p:sp>
      <p:sp>
        <p:nvSpPr>
          <p:cNvPr id="27" name="">
            <a:extLst xmlns:a="http://schemas.openxmlformats.org/drawingml/2006/main">
              <a:ext uri="{FF2B5EF4-FFF2-40B4-BE49-F238E27FC236}">
                <a16:creationId xmlns:a16="http://schemas.microsoft.com/office/drawing/2014/main" id="{6A3C62A6-9CBF-474A-BE4A-D9E6B1166B0D}"/>
              </a:ext>
            </a:extLst>
          </p:cNvPr>
          <p:cNvSpPr>
            <a:spLocks xmlns:a="http://schemas.openxmlformats.org/drawingml/2006/main" noGrp="1"/>
          </p:cNvSpPr>
          <p:nvPr/>
        </p:nvSpPr>
        <p:spPr>
          <a:xfrm xmlns:a="http://schemas.openxmlformats.org/drawingml/2006/main">
            <a:off x="8782050" y="41338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film_title</a:t>
            </a:r>
          </a:p>
        </p:txBody>
      </p:sp>
      <p:sp>
        <p:nvSpPr>
          <p:cNvPr id="28" name="">
            <a:extLst xmlns:a="http://schemas.openxmlformats.org/drawingml/2006/main">
              <a:ext uri="{FF2B5EF4-FFF2-40B4-BE49-F238E27FC236}">
                <a16:creationId xmlns:a16="http://schemas.microsoft.com/office/drawing/2014/main" id="{B6E67E58-3D35-4880-AC67-62EFF8B2D227}"/>
              </a:ext>
            </a:extLst>
          </p:cNvPr>
          <p:cNvSpPr>
            <a:spLocks xmlns:a="http://schemas.openxmlformats.org/drawingml/2006/main" noGrp="1"/>
          </p:cNvSpPr>
          <p:nvPr/>
        </p:nvSpPr>
        <p:spPr>
          <a:xfrm xmlns:a="http://schemas.openxmlformats.org/drawingml/2006/main">
            <a:off x="10191750" y="4133850"/>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1">
                <a:solidFill>
                  <a:srgbClr val="D59B32"/>
                </a:solidFill>
              </a:defRPr>
            </a:pPr>
            <a:r>
              <a:rPr sz="1200" b="1">
                <a:solidFill>
                  <a:srgbClr val="D59B32"/>
                </a:solidFill>
              </a:rPr>
              <a:t>observed</a:t>
            </a:r>
          </a:p>
        </p:txBody>
      </p:sp>
      <p:sp>
        <p:nvSpPr>
          <p:cNvPr id="29" name="">
            <a:extLst xmlns:a="http://schemas.openxmlformats.org/drawingml/2006/main">
              <a:ext uri="{FF2B5EF4-FFF2-40B4-BE49-F238E27FC236}">
                <a16:creationId xmlns:a16="http://schemas.microsoft.com/office/drawing/2014/main" id="{857F2D87-E453-4B9D-9213-8AE73D5B264F}"/>
              </a:ext>
            </a:extLst>
          </p:cNvPr>
          <p:cNvSpPr>
            <a:spLocks xmlns:a="http://schemas.openxmlformats.org/drawingml/2006/main" noGrp="1"/>
          </p:cNvSpPr>
          <p:nvPr/>
        </p:nvSpPr>
        <p:spPr>
          <a:xfrm xmlns:a="http://schemas.openxmlformats.org/drawingml/2006/main">
            <a:off x="7029450" y="4514850"/>
            <a:ext cx="4152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0" name="">
            <a:extLst xmlns:a="http://schemas.openxmlformats.org/drawingml/2006/main">
              <a:ext uri="{FF2B5EF4-FFF2-40B4-BE49-F238E27FC236}">
                <a16:creationId xmlns:a16="http://schemas.microsoft.com/office/drawing/2014/main" id="{3CE59EA0-4A49-4400-AAA3-8EAF95457DFC}"/>
              </a:ext>
            </a:extLst>
          </p:cNvPr>
          <p:cNvSpPr>
            <a:spLocks xmlns:a="http://schemas.openxmlformats.org/drawingml/2006/main" noGrp="1"/>
          </p:cNvSpPr>
          <p:nvPr/>
        </p:nvSpPr>
        <p:spPr>
          <a:xfrm xmlns:a="http://schemas.openxmlformats.org/drawingml/2006/main">
            <a:off x="7124700" y="4914900"/>
            <a:ext cx="3924300" cy="590550"/>
          </a:xfrm>
          <a:prstGeom xmlns:a="http://schemas.openxmlformats.org/drawingml/2006/main" prst="roundRect">
            <a:avLst>
              <a:gd name="adj" fmla="val 19355"/>
            </a:avLst>
          </a:prstGeom>
          <a:solidFill xmlns:a="http://schemas.openxmlformats.org/drawingml/2006/main">
            <a:srgbClr val="F7E5E1"/>
          </a:solidFill>
          <a:ln xmlns:a="http://schemas.openxmlformats.org/drawingml/2006/main" w="9525">
            <a:solidFill>
              <a:srgbClr val="B5483A"/>
            </a:solidFill>
            <a:prstDash val="solid"/>
          </a:ln>
        </p:spPr>
      </p:sp>
      <p:sp>
        <p:nvSpPr>
          <p:cNvPr id="31" name="">
            <a:extLst xmlns:a="http://schemas.openxmlformats.org/drawingml/2006/main">
              <a:ext uri="{FF2B5EF4-FFF2-40B4-BE49-F238E27FC236}">
                <a16:creationId xmlns:a16="http://schemas.microsoft.com/office/drawing/2014/main" id="{4B16FD4E-6963-42F1-973A-A6429703465F}"/>
              </a:ext>
            </a:extLst>
          </p:cNvPr>
          <p:cNvSpPr>
            <a:spLocks xmlns:a="http://schemas.openxmlformats.org/drawingml/2006/main" noGrp="1"/>
          </p:cNvSpPr>
          <p:nvPr/>
        </p:nvSpPr>
        <p:spPr>
          <a:xfrm xmlns:a="http://schemas.openxmlformats.org/drawingml/2006/main">
            <a:off x="7353300" y="5076825"/>
            <a:ext cx="3467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B5483A"/>
                </a:solidFill>
              </a:defRPr>
            </a:pPr>
            <a:r>
              <a:rPr sz="1650" b="1">
                <a:solidFill>
                  <a:srgbClr val="B5483A"/>
                </a:solidFill>
              </a:rPr>
              <a:t>predicate mismatch  →  label 0</a:t>
            </a:r>
          </a:p>
        </p:txBody>
      </p:sp>
      <p:sp>
        <p:nvSpPr>
          <p:cNvPr id="32" name="">
            <a:extLst xmlns:a="http://schemas.openxmlformats.org/drawingml/2006/main">
              <a:ext uri="{FF2B5EF4-FFF2-40B4-BE49-F238E27FC236}">
                <a16:creationId xmlns:a16="http://schemas.microsoft.com/office/drawing/2014/main" id="{07FCBF51-C3E5-4A84-B769-2AA74ABEC560}"/>
              </a:ext>
            </a:extLst>
          </p:cNvPr>
          <p:cNvSpPr>
            <a:spLocks xmlns:a="http://schemas.openxmlformats.org/drawingml/2006/main" noGrp="1"/>
          </p:cNvSpPr>
          <p:nvPr/>
        </p:nvSpPr>
        <p:spPr>
          <a:xfrm xmlns:a="http://schemas.openxmlformats.org/drawingml/2006/main">
            <a:off x="6858000" y="58674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F5A7A"/>
                </a:solidFill>
              </a:defRPr>
            </a:pPr>
            <a:r>
              <a:rPr sz="1350" b="1">
                <a:solidFill>
                  <a:srgbClr val="1F5A7A"/>
                </a:solidFill>
              </a:rPr>
              <a:t>Similarity finds a related answer. The relation gate rejects it.</a:t>
            </a:r>
          </a:p>
        </p:txBody>
      </p:sp>
      <p:sp>
        <p:nvSpPr>
          <p:cNvPr id="33" name="">
            <a:extLst xmlns:a="http://schemas.openxmlformats.org/drawingml/2006/main">
              <a:ext uri="{FF2B5EF4-FFF2-40B4-BE49-F238E27FC236}">
                <a16:creationId xmlns:a16="http://schemas.microsoft.com/office/drawing/2014/main" id="{30000E33-A0DE-4A14-8011-7041E2980313}"/>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4" name="source-6">
            <a:extLst xmlns:a="http://schemas.openxmlformats.org/drawingml/2006/main">
              <a:ext uri="{FF2B5EF4-FFF2-40B4-BE49-F238E27FC236}">
                <a16:creationId xmlns:a16="http://schemas.microsoft.com/office/drawing/2014/main" id="{A4DB96C9-64F6-4880-8856-D71217AA6D3D}"/>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[1] Competition-released labeled sample 4  [7] v91 predicate gate</a:t>
            </a:r>
          </a:p>
        </p:txBody>
      </p:sp>
      <p:sp>
        <p:nvSpPr>
          <p:cNvPr id="35" name="page-6">
            <a:extLst xmlns:a="http://schemas.openxmlformats.org/drawingml/2006/main">
              <a:ext uri="{FF2B5EF4-FFF2-40B4-BE49-F238E27FC236}">
                <a16:creationId xmlns:a16="http://schemas.microsoft.com/office/drawing/2014/main" id="{E61EBC4D-4E30-4C20-95C3-4FF50712265D}"/>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06</a:t>
            </a:r>
          </a:p>
        </p:txBody>
      </p:sp>
    </p:spTree>
    <p:extLst>
      <p:ext uri="{BB962C8B-B14F-4D97-AF65-F5344CB8AC3E}">
        <p14:creationId xmlns:p14="http://schemas.microsoft.com/office/powerpoint/2010/main" val="1822816628"/>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0" name="kicker-7">
            <a:extLst xmlns:a="http://schemas.openxmlformats.org/drawingml/2006/main">
              <a:ext uri="{FF2B5EF4-FFF2-40B4-BE49-F238E27FC236}">
                <a16:creationId xmlns:a16="http://schemas.microsoft.com/office/drawing/2014/main" id="{7D7A4F50-4021-4493-89C5-44922ADC2290}"/>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title-7">
            <a:extLst xmlns:a="http://schemas.openxmlformats.org/drawingml/2006/main">
              <a:ext uri="{FF2B5EF4-FFF2-40B4-BE49-F238E27FC236}">
                <a16:creationId xmlns:a16="http://schemas.microsoft.com/office/drawing/2014/main" id="{EDED1E81-0260-4C0A-824D-29800D6E6F59}"/>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Context rows were reduced to claim-level entailment tests</a:t>
            </a:r>
          </a:p>
        </p:txBody>
      </p:sp>
      <p:sp>
        <p:nvSpPr>
          <p:cNvPr id="3" name="">
            <a:extLst xmlns:a="http://schemas.openxmlformats.org/drawingml/2006/main">
              <a:ext uri="{FF2B5EF4-FFF2-40B4-BE49-F238E27FC236}">
                <a16:creationId xmlns:a16="http://schemas.microsoft.com/office/drawing/2014/main" id="{00DF7FDC-B97E-4D81-878F-9D718FC60A3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4DDC0752-2554-4B47-B863-F4F234CF8CA4}"/>
              </a:ext>
            </a:extLst>
          </p:cNvPr>
          <p:cNvSpPr>
            <a:spLocks xmlns:a="http://schemas.openxmlformats.org/drawingml/2006/main" noGrp="1"/>
          </p:cNvSpPr>
          <p:nvPr/>
        </p:nvSpPr>
        <p:spPr>
          <a:xfrm xmlns:a="http://schemas.openxmlformats.org/drawingml/2006/main">
            <a:off x="685800" y="138112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26174"/>
                </a:solidFill>
              </a:defRPr>
            </a:pPr>
            <a:r>
              <a:rPr sz="1575" b="0">
                <a:solidFill>
                  <a:srgbClr val="526174"/>
                </a:solidFill>
              </a:rPr>
              <a:t>The verifier compared atomic response claims against the relevant context clause, not against global word overlap.</a:t>
            </a:r>
          </a:p>
        </p:txBody>
      </p:sp>
      <p:sp>
        <p:nvSpPr>
          <p:cNvPr id="5" name="">
            <a:extLst xmlns:a="http://schemas.openxmlformats.org/drawingml/2006/main">
              <a:ext uri="{FF2B5EF4-FFF2-40B4-BE49-F238E27FC236}">
                <a16:creationId xmlns:a16="http://schemas.microsoft.com/office/drawing/2014/main" id="{A30FFEAA-D089-46D3-8740-3C5E26236F8B}"/>
              </a:ext>
            </a:extLst>
          </p:cNvPr>
          <p:cNvSpPr>
            <a:spLocks xmlns:a="http://schemas.openxmlformats.org/drawingml/2006/main" noGrp="1"/>
          </p:cNvSpPr>
          <p:nvPr/>
        </p:nvSpPr>
        <p:spPr>
          <a:xfrm xmlns:a="http://schemas.openxmlformats.org/drawingml/2006/main">
            <a:off x="2324100" y="2581275"/>
            <a:ext cx="495300" cy="22860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6" name="">
            <a:extLst xmlns:a="http://schemas.openxmlformats.org/drawingml/2006/main">
              <a:ext uri="{FF2B5EF4-FFF2-40B4-BE49-F238E27FC236}">
                <a16:creationId xmlns:a16="http://schemas.microsoft.com/office/drawing/2014/main" id="{D10DD7F2-F8C5-4BA9-8C68-7191BFB3870A}"/>
              </a:ext>
            </a:extLst>
          </p:cNvPr>
          <p:cNvSpPr>
            <a:spLocks xmlns:a="http://schemas.openxmlformats.org/drawingml/2006/main" noGrp="1"/>
          </p:cNvSpPr>
          <p:nvPr/>
        </p:nvSpPr>
        <p:spPr>
          <a:xfrm xmlns:a="http://schemas.openxmlformats.org/drawingml/2006/main">
            <a:off x="4552950" y="2581275"/>
            <a:ext cx="495300" cy="22860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7" name="">
            <a:extLst xmlns:a="http://schemas.openxmlformats.org/drawingml/2006/main">
              <a:ext uri="{FF2B5EF4-FFF2-40B4-BE49-F238E27FC236}">
                <a16:creationId xmlns:a16="http://schemas.microsoft.com/office/drawing/2014/main" id="{291149CA-9347-49D1-9FDB-7A1130944FF1}"/>
              </a:ext>
            </a:extLst>
          </p:cNvPr>
          <p:cNvSpPr>
            <a:spLocks xmlns:a="http://schemas.openxmlformats.org/drawingml/2006/main" noGrp="1"/>
          </p:cNvSpPr>
          <p:nvPr/>
        </p:nvSpPr>
        <p:spPr>
          <a:xfrm xmlns:a="http://schemas.openxmlformats.org/drawingml/2006/main">
            <a:off x="6781800" y="2581275"/>
            <a:ext cx="495300" cy="22860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8" name="">
            <a:extLst xmlns:a="http://schemas.openxmlformats.org/drawingml/2006/main">
              <a:ext uri="{FF2B5EF4-FFF2-40B4-BE49-F238E27FC236}">
                <a16:creationId xmlns:a16="http://schemas.microsoft.com/office/drawing/2014/main" id="{DA09B373-81A0-41C0-B69D-6BF24E70B7F5}"/>
              </a:ext>
            </a:extLst>
          </p:cNvPr>
          <p:cNvSpPr>
            <a:spLocks xmlns:a="http://schemas.openxmlformats.org/drawingml/2006/main" noGrp="1"/>
          </p:cNvSpPr>
          <p:nvPr/>
        </p:nvSpPr>
        <p:spPr>
          <a:xfrm xmlns:a="http://schemas.openxmlformats.org/drawingml/2006/main">
            <a:off x="9010650" y="2581275"/>
            <a:ext cx="495300" cy="22860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9" name="">
            <a:extLst xmlns:a="http://schemas.openxmlformats.org/drawingml/2006/main">
              <a:ext uri="{FF2B5EF4-FFF2-40B4-BE49-F238E27FC236}">
                <a16:creationId xmlns:a16="http://schemas.microsoft.com/office/drawing/2014/main" id="{51BF6E31-CFF4-4395-B31D-4C671365F92D}"/>
              </a:ext>
            </a:extLst>
          </p:cNvPr>
          <p:cNvSpPr>
            <a:spLocks xmlns:a="http://schemas.openxmlformats.org/drawingml/2006/main" noGrp="1"/>
          </p:cNvSpPr>
          <p:nvPr/>
        </p:nvSpPr>
        <p:spPr>
          <a:xfrm xmlns:a="http://schemas.openxmlformats.org/drawingml/2006/main">
            <a:off x="723900" y="2057400"/>
            <a:ext cx="1600200" cy="1295400"/>
          </a:xfrm>
          <a:prstGeom xmlns:a="http://schemas.openxmlformats.org/drawingml/2006/main" prst="roundRect">
            <a:avLst>
              <a:gd name="adj" fmla="val 11029"/>
            </a:avLst>
          </a:prstGeom>
          <a:solidFill xmlns:a="http://schemas.openxmlformats.org/drawingml/2006/main">
            <a:srgbClr val="FFFFFF"/>
          </a:solidFill>
          <a:ln xmlns:a="http://schemas.openxmlformats.org/drawingml/2006/main" w="9525">
            <a:solidFill>
              <a:srgbClr val="2A8C82"/>
            </a:solidFill>
            <a:prstDash val="solid"/>
          </a:ln>
        </p:spPr>
      </p:sp>
      <p:sp>
        <p:nvSpPr>
          <p:cNvPr id="10" name="">
            <a:extLst xmlns:a="http://schemas.openxmlformats.org/drawingml/2006/main">
              <a:ext uri="{FF2B5EF4-FFF2-40B4-BE49-F238E27FC236}">
                <a16:creationId xmlns:a16="http://schemas.microsoft.com/office/drawing/2014/main" id="{BE40A079-ACAE-4FEE-B8B9-83513ADE6F0F}"/>
              </a:ext>
            </a:extLst>
          </p:cNvPr>
          <p:cNvSpPr>
            <a:spLocks xmlns:a="http://schemas.openxmlformats.org/drawingml/2006/main" noGrp="1"/>
          </p:cNvSpPr>
          <p:nvPr/>
        </p:nvSpPr>
        <p:spPr>
          <a:xfrm xmlns:a="http://schemas.openxmlformats.org/drawingml/2006/main">
            <a:off x="895350" y="22764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F5A7A"/>
                </a:solidFill>
              </a:defRPr>
            </a:pPr>
            <a:r>
              <a:rPr sz="1650" b="1">
                <a:solidFill>
                  <a:srgbClr val="1F5A7A"/>
                </a:solidFill>
              </a:rPr>
              <a:t>Context</a:t>
            </a:r>
          </a:p>
        </p:txBody>
      </p:sp>
      <p:sp>
        <p:nvSpPr>
          <p:cNvPr id="11" name="">
            <a:extLst xmlns:a="http://schemas.openxmlformats.org/drawingml/2006/main">
              <a:ext uri="{FF2B5EF4-FFF2-40B4-BE49-F238E27FC236}">
                <a16:creationId xmlns:a16="http://schemas.microsoft.com/office/drawing/2014/main" id="{10E81093-FB89-48CC-B02F-C331F12FB1E4}"/>
              </a:ext>
            </a:extLst>
          </p:cNvPr>
          <p:cNvSpPr>
            <a:spLocks xmlns:a="http://schemas.openxmlformats.org/drawingml/2006/main" noGrp="1"/>
          </p:cNvSpPr>
          <p:nvPr/>
        </p:nvSpPr>
        <p:spPr>
          <a:xfrm xmlns:a="http://schemas.openxmlformats.org/drawingml/2006/main">
            <a:off x="895350" y="268605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segment into</a:t>
            </a:r>
          </a:p>
          <a:p xmlns:a="http://schemas.openxmlformats.org/drawingml/2006/main">
            <a:pPr algn="ctr">
              <a:buNone/>
              <a:defRPr sz="1200" b="0">
                <a:solidFill>
                  <a:srgbClr val="526174"/>
                </a:solidFill>
              </a:defRPr>
            </a:pPr>
            <a:r>
              <a:rPr sz="1200" b="0">
                <a:solidFill>
                  <a:srgbClr val="526174"/>
                </a:solidFill>
              </a:rPr>
              <a:t>clauses</a:t>
            </a:r>
          </a:p>
        </p:txBody>
      </p:sp>
      <p:sp>
        <p:nvSpPr>
          <p:cNvPr id="12" name="">
            <a:extLst xmlns:a="http://schemas.openxmlformats.org/drawingml/2006/main">
              <a:ext uri="{FF2B5EF4-FFF2-40B4-BE49-F238E27FC236}">
                <a16:creationId xmlns:a16="http://schemas.microsoft.com/office/drawing/2014/main" id="{4FFD879C-7ECD-4C1B-8BA3-CBE950E84CF2}"/>
              </a:ext>
            </a:extLst>
          </p:cNvPr>
          <p:cNvSpPr>
            <a:spLocks xmlns:a="http://schemas.openxmlformats.org/drawingml/2006/main" noGrp="1"/>
          </p:cNvSpPr>
          <p:nvPr/>
        </p:nvSpPr>
        <p:spPr>
          <a:xfrm xmlns:a="http://schemas.openxmlformats.org/drawingml/2006/main">
            <a:off x="2952750" y="2057400"/>
            <a:ext cx="1600200" cy="1295400"/>
          </a:xfrm>
          <a:prstGeom xmlns:a="http://schemas.openxmlformats.org/drawingml/2006/main" prst="roundRect">
            <a:avLst>
              <a:gd name="adj" fmla="val 11029"/>
            </a:avLst>
          </a:prstGeom>
          <a:solidFill xmlns:a="http://schemas.openxmlformats.org/drawingml/2006/main">
            <a:srgbClr val="FFFFFF"/>
          </a:solidFill>
          <a:ln xmlns:a="http://schemas.openxmlformats.org/drawingml/2006/main" w="9525">
            <a:solidFill>
              <a:srgbClr val="2A8C82"/>
            </a:solidFill>
            <a:prstDash val="solid"/>
          </a:ln>
        </p:spPr>
      </p:sp>
      <p:sp>
        <p:nvSpPr>
          <p:cNvPr id="13" name="">
            <a:extLst xmlns:a="http://schemas.openxmlformats.org/drawingml/2006/main">
              <a:ext uri="{FF2B5EF4-FFF2-40B4-BE49-F238E27FC236}">
                <a16:creationId xmlns:a16="http://schemas.microsoft.com/office/drawing/2014/main" id="{7737D56E-467C-4AB0-8668-B7CAD7DFE92F}"/>
              </a:ext>
            </a:extLst>
          </p:cNvPr>
          <p:cNvSpPr>
            <a:spLocks xmlns:a="http://schemas.openxmlformats.org/drawingml/2006/main" noGrp="1"/>
          </p:cNvSpPr>
          <p:nvPr/>
        </p:nvSpPr>
        <p:spPr>
          <a:xfrm xmlns:a="http://schemas.openxmlformats.org/drawingml/2006/main">
            <a:off x="3124200" y="22764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F5A7A"/>
                </a:solidFill>
              </a:defRPr>
            </a:pPr>
            <a:r>
              <a:rPr sz="1650" b="1">
                <a:solidFill>
                  <a:srgbClr val="1F5A7A"/>
                </a:solidFill>
              </a:rPr>
              <a:t>Response</a:t>
            </a:r>
          </a:p>
        </p:txBody>
      </p:sp>
      <p:sp>
        <p:nvSpPr>
          <p:cNvPr id="14" name="">
            <a:extLst xmlns:a="http://schemas.openxmlformats.org/drawingml/2006/main">
              <a:ext uri="{FF2B5EF4-FFF2-40B4-BE49-F238E27FC236}">
                <a16:creationId xmlns:a16="http://schemas.microsoft.com/office/drawing/2014/main" id="{D01BEED4-34B0-4961-B94F-54016421078E}"/>
              </a:ext>
            </a:extLst>
          </p:cNvPr>
          <p:cNvSpPr>
            <a:spLocks xmlns:a="http://schemas.openxmlformats.org/drawingml/2006/main" noGrp="1"/>
          </p:cNvSpPr>
          <p:nvPr/>
        </p:nvSpPr>
        <p:spPr>
          <a:xfrm xmlns:a="http://schemas.openxmlformats.org/drawingml/2006/main">
            <a:off x="3124200" y="268605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extract atomic</a:t>
            </a:r>
          </a:p>
          <a:p xmlns:a="http://schemas.openxmlformats.org/drawingml/2006/main">
            <a:pPr algn="ctr">
              <a:buNone/>
              <a:defRPr sz="1200" b="0">
                <a:solidFill>
                  <a:srgbClr val="526174"/>
                </a:solidFill>
              </a:defRPr>
            </a:pPr>
            <a:r>
              <a:rPr sz="1200" b="0">
                <a:solidFill>
                  <a:srgbClr val="526174"/>
                </a:solidFill>
              </a:rPr>
              <a:t>claims</a:t>
            </a:r>
          </a:p>
        </p:txBody>
      </p:sp>
      <p:sp>
        <p:nvSpPr>
          <p:cNvPr id="15" name="">
            <a:extLst xmlns:a="http://schemas.openxmlformats.org/drawingml/2006/main">
              <a:ext uri="{FF2B5EF4-FFF2-40B4-BE49-F238E27FC236}">
                <a16:creationId xmlns:a16="http://schemas.microsoft.com/office/drawing/2014/main" id="{4ED1ACAF-C688-4069-991C-E4FFA8B68499}"/>
              </a:ext>
            </a:extLst>
          </p:cNvPr>
          <p:cNvSpPr>
            <a:spLocks xmlns:a="http://schemas.openxmlformats.org/drawingml/2006/main" noGrp="1"/>
          </p:cNvSpPr>
          <p:nvPr/>
        </p:nvSpPr>
        <p:spPr>
          <a:xfrm xmlns:a="http://schemas.openxmlformats.org/drawingml/2006/main">
            <a:off x="5181600" y="2057400"/>
            <a:ext cx="1600200" cy="1295400"/>
          </a:xfrm>
          <a:prstGeom xmlns:a="http://schemas.openxmlformats.org/drawingml/2006/main" prst="roundRect">
            <a:avLst>
              <a:gd name="adj" fmla="val 11029"/>
            </a:avLst>
          </a:prstGeom>
          <a:solidFill xmlns:a="http://schemas.openxmlformats.org/drawingml/2006/main">
            <a:srgbClr val="FFFFFF"/>
          </a:solidFill>
          <a:ln xmlns:a="http://schemas.openxmlformats.org/drawingml/2006/main" w="9525">
            <a:solidFill>
              <a:srgbClr val="2A8C82"/>
            </a:solidFill>
            <a:prstDash val="solid"/>
          </a:ln>
        </p:spPr>
      </p:sp>
      <p:sp>
        <p:nvSpPr>
          <p:cNvPr id="16" name="">
            <a:extLst xmlns:a="http://schemas.openxmlformats.org/drawingml/2006/main">
              <a:ext uri="{FF2B5EF4-FFF2-40B4-BE49-F238E27FC236}">
                <a16:creationId xmlns:a16="http://schemas.microsoft.com/office/drawing/2014/main" id="{E3A2FA5F-D8A2-4233-AEE3-F99C9D68DE86}"/>
              </a:ext>
            </a:extLst>
          </p:cNvPr>
          <p:cNvSpPr>
            <a:spLocks xmlns:a="http://schemas.openxmlformats.org/drawingml/2006/main" noGrp="1"/>
          </p:cNvSpPr>
          <p:nvPr/>
        </p:nvSpPr>
        <p:spPr>
          <a:xfrm xmlns:a="http://schemas.openxmlformats.org/drawingml/2006/main">
            <a:off x="5353050" y="22764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F5A7A"/>
                </a:solidFill>
              </a:defRPr>
            </a:pPr>
            <a:r>
              <a:rPr sz="1650" b="1">
                <a:solidFill>
                  <a:srgbClr val="1F5A7A"/>
                </a:solidFill>
              </a:rPr>
              <a:t>Anchor</a:t>
            </a:r>
          </a:p>
        </p:txBody>
      </p:sp>
      <p:sp>
        <p:nvSpPr>
          <p:cNvPr id="17" name="">
            <a:extLst xmlns:a="http://schemas.openxmlformats.org/drawingml/2006/main">
              <a:ext uri="{FF2B5EF4-FFF2-40B4-BE49-F238E27FC236}">
                <a16:creationId xmlns:a16="http://schemas.microsoft.com/office/drawing/2014/main" id="{15A6EDA6-51C8-42BD-97A4-1362D177227A}"/>
              </a:ext>
            </a:extLst>
          </p:cNvPr>
          <p:cNvSpPr>
            <a:spLocks xmlns:a="http://schemas.openxmlformats.org/drawingml/2006/main" noGrp="1"/>
          </p:cNvSpPr>
          <p:nvPr/>
        </p:nvSpPr>
        <p:spPr>
          <a:xfrm xmlns:a="http://schemas.openxmlformats.org/drawingml/2006/main">
            <a:off x="5353050" y="268605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entity, number,</a:t>
            </a:r>
          </a:p>
          <a:p xmlns:a="http://schemas.openxmlformats.org/drawingml/2006/main">
            <a:pPr algn="ctr">
              <a:buNone/>
              <a:defRPr sz="1200" b="0">
                <a:solidFill>
                  <a:srgbClr val="526174"/>
                </a:solidFill>
              </a:defRPr>
            </a:pPr>
            <a:r>
              <a:rPr sz="1200" b="0">
                <a:solidFill>
                  <a:srgbClr val="526174"/>
                </a:solidFill>
              </a:rPr>
              <a:t>negation, relation</a:t>
            </a:r>
          </a:p>
        </p:txBody>
      </p:sp>
      <p:sp>
        <p:nvSpPr>
          <p:cNvPr id="18" name="">
            <a:extLst xmlns:a="http://schemas.openxmlformats.org/drawingml/2006/main">
              <a:ext uri="{FF2B5EF4-FFF2-40B4-BE49-F238E27FC236}">
                <a16:creationId xmlns:a16="http://schemas.microsoft.com/office/drawing/2014/main" id="{44EAAF04-8907-4E4F-AD3C-ADBF85942358}"/>
              </a:ext>
            </a:extLst>
          </p:cNvPr>
          <p:cNvSpPr>
            <a:spLocks xmlns:a="http://schemas.openxmlformats.org/drawingml/2006/main" noGrp="1"/>
          </p:cNvSpPr>
          <p:nvPr/>
        </p:nvSpPr>
        <p:spPr>
          <a:xfrm xmlns:a="http://schemas.openxmlformats.org/drawingml/2006/main">
            <a:off x="7410450" y="2057400"/>
            <a:ext cx="1600200" cy="1295400"/>
          </a:xfrm>
          <a:prstGeom xmlns:a="http://schemas.openxmlformats.org/drawingml/2006/main" prst="roundRect">
            <a:avLst>
              <a:gd name="adj" fmla="val 11029"/>
            </a:avLst>
          </a:prstGeom>
          <a:solidFill xmlns:a="http://schemas.openxmlformats.org/drawingml/2006/main">
            <a:srgbClr val="FFFFFF"/>
          </a:solidFill>
          <a:ln xmlns:a="http://schemas.openxmlformats.org/drawingml/2006/main" w="9525">
            <a:solidFill>
              <a:srgbClr val="2A8C82"/>
            </a:solidFill>
            <a:prstDash val="solid"/>
          </a:ln>
        </p:spPr>
      </p:sp>
      <p:sp>
        <p:nvSpPr>
          <p:cNvPr id="19" name="">
            <a:extLst xmlns:a="http://schemas.openxmlformats.org/drawingml/2006/main">
              <a:ext uri="{FF2B5EF4-FFF2-40B4-BE49-F238E27FC236}">
                <a16:creationId xmlns:a16="http://schemas.microsoft.com/office/drawing/2014/main" id="{67AC4948-4EAA-41C2-86F7-AE3DE7AFE462}"/>
              </a:ext>
            </a:extLst>
          </p:cNvPr>
          <p:cNvSpPr>
            <a:spLocks xmlns:a="http://schemas.openxmlformats.org/drawingml/2006/main" noGrp="1"/>
          </p:cNvSpPr>
          <p:nvPr/>
        </p:nvSpPr>
        <p:spPr>
          <a:xfrm xmlns:a="http://schemas.openxmlformats.org/drawingml/2006/main">
            <a:off x="7581900" y="22764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F5A7A"/>
                </a:solidFill>
              </a:defRPr>
            </a:pPr>
            <a:r>
              <a:rPr sz="1650" b="1">
                <a:solidFill>
                  <a:srgbClr val="1F5A7A"/>
                </a:solidFill>
              </a:rPr>
              <a:t>Alignment</a:t>
            </a:r>
          </a:p>
        </p:txBody>
      </p:sp>
      <p:sp>
        <p:nvSpPr>
          <p:cNvPr id="20" name="">
            <a:extLst xmlns:a="http://schemas.openxmlformats.org/drawingml/2006/main">
              <a:ext uri="{FF2B5EF4-FFF2-40B4-BE49-F238E27FC236}">
                <a16:creationId xmlns:a16="http://schemas.microsoft.com/office/drawing/2014/main" id="{4424736B-165B-4143-B347-FA609ADF0CB1}"/>
              </a:ext>
            </a:extLst>
          </p:cNvPr>
          <p:cNvSpPr>
            <a:spLocks xmlns:a="http://schemas.openxmlformats.org/drawingml/2006/main" noGrp="1"/>
          </p:cNvSpPr>
          <p:nvPr/>
        </p:nvSpPr>
        <p:spPr>
          <a:xfrm xmlns:a="http://schemas.openxmlformats.org/drawingml/2006/main">
            <a:off x="7581900" y="268605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best applicable</a:t>
            </a:r>
          </a:p>
          <a:p xmlns:a="http://schemas.openxmlformats.org/drawingml/2006/main">
            <a:pPr algn="ctr">
              <a:buNone/>
              <a:defRPr sz="1200" b="0">
                <a:solidFill>
                  <a:srgbClr val="526174"/>
                </a:solidFill>
              </a:defRPr>
            </a:pPr>
            <a:r>
              <a:rPr sz="1200" b="0">
                <a:solidFill>
                  <a:srgbClr val="526174"/>
                </a:solidFill>
              </a:rPr>
              <a:t>clause only</a:t>
            </a:r>
          </a:p>
        </p:txBody>
      </p:sp>
      <p:sp>
        <p:nvSpPr>
          <p:cNvPr id="21" name="">
            <a:extLst xmlns:a="http://schemas.openxmlformats.org/drawingml/2006/main">
              <a:ext uri="{FF2B5EF4-FFF2-40B4-BE49-F238E27FC236}">
                <a16:creationId xmlns:a16="http://schemas.microsoft.com/office/drawing/2014/main" id="{7F7B1DD6-CB80-4C60-B020-B93463C6169A}"/>
              </a:ext>
            </a:extLst>
          </p:cNvPr>
          <p:cNvSpPr>
            <a:spLocks xmlns:a="http://schemas.openxmlformats.org/drawingml/2006/main" noGrp="1"/>
          </p:cNvSpPr>
          <p:nvPr/>
        </p:nvSpPr>
        <p:spPr>
          <a:xfrm xmlns:a="http://schemas.openxmlformats.org/drawingml/2006/main">
            <a:off x="9639300" y="2057400"/>
            <a:ext cx="1600200" cy="1295400"/>
          </a:xfrm>
          <a:prstGeom xmlns:a="http://schemas.openxmlformats.org/drawingml/2006/main" prst="roundRect">
            <a:avLst>
              <a:gd name="adj" fmla="val 11029"/>
            </a:avLst>
          </a:prstGeom>
          <a:solidFill xmlns:a="http://schemas.openxmlformats.org/drawingml/2006/main">
            <a:srgbClr val="FBF0D8"/>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A73AE4B8-27B0-4458-8481-071DE62236FF}"/>
              </a:ext>
            </a:extLst>
          </p:cNvPr>
          <p:cNvSpPr>
            <a:spLocks xmlns:a="http://schemas.openxmlformats.org/drawingml/2006/main" noGrp="1"/>
          </p:cNvSpPr>
          <p:nvPr/>
        </p:nvSpPr>
        <p:spPr>
          <a:xfrm xmlns:a="http://schemas.openxmlformats.org/drawingml/2006/main">
            <a:off x="9810750" y="22764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D59B32"/>
                </a:solidFill>
              </a:defRPr>
            </a:pPr>
            <a:r>
              <a:rPr sz="1650" b="1">
                <a:solidFill>
                  <a:srgbClr val="D59B32"/>
                </a:solidFill>
              </a:rPr>
              <a:t>State</a:t>
            </a:r>
          </a:p>
        </p:txBody>
      </p:sp>
      <p:sp>
        <p:nvSpPr>
          <p:cNvPr id="23" name="">
            <a:extLst xmlns:a="http://schemas.openxmlformats.org/drawingml/2006/main">
              <a:ext uri="{FF2B5EF4-FFF2-40B4-BE49-F238E27FC236}">
                <a16:creationId xmlns:a16="http://schemas.microsoft.com/office/drawing/2014/main" id="{9C90B000-FC96-407D-A12F-08DCF1D7E833}"/>
              </a:ext>
            </a:extLst>
          </p:cNvPr>
          <p:cNvSpPr>
            <a:spLocks xmlns:a="http://schemas.openxmlformats.org/drawingml/2006/main" noGrp="1"/>
          </p:cNvSpPr>
          <p:nvPr/>
        </p:nvSpPr>
        <p:spPr>
          <a:xfrm xmlns:a="http://schemas.openxmlformats.org/drawingml/2006/main">
            <a:off x="9810750" y="268605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S support / C contradict</a:t>
            </a:r>
          </a:p>
          <a:p xmlns:a="http://schemas.openxmlformats.org/drawingml/2006/main">
            <a:pPr algn="ctr">
              <a:buNone/>
              <a:defRPr sz="1200" b="0">
                <a:solidFill>
                  <a:srgbClr val="526174"/>
                </a:solidFill>
              </a:defRPr>
            </a:pPr>
            <a:r>
              <a:rPr sz="1200" b="0">
                <a:solidFill>
                  <a:srgbClr val="526174"/>
                </a:solidFill>
              </a:rPr>
              <a:t>/ U unknown</a:t>
            </a:r>
          </a:p>
        </p:txBody>
      </p:sp>
      <p:sp>
        <p:nvSpPr>
          <p:cNvPr id="24" name="">
            <a:extLst xmlns:a="http://schemas.openxmlformats.org/drawingml/2006/main">
              <a:ext uri="{FF2B5EF4-FFF2-40B4-BE49-F238E27FC236}">
                <a16:creationId xmlns:a16="http://schemas.microsoft.com/office/drawing/2014/main" id="{87EBA29B-EF82-4340-BF4B-3F555F45E900}"/>
              </a:ext>
            </a:extLst>
          </p:cNvPr>
          <p:cNvSpPr>
            <a:spLocks xmlns:a="http://schemas.openxmlformats.org/drawingml/2006/main" noGrp="1"/>
          </p:cNvSpPr>
          <p:nvPr/>
        </p:nvSpPr>
        <p:spPr>
          <a:xfrm xmlns:a="http://schemas.openxmlformats.org/drawingml/2006/main">
            <a:off x="895350" y="37814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0F172A"/>
                </a:solidFill>
              </a:defRPr>
            </a:pPr>
            <a:r>
              <a:rPr sz="1725" b="1">
                <a:solidFill>
                  <a:srgbClr val="0F172A"/>
                </a:solidFill>
              </a:rPr>
              <a:t>Decision rule over response claims c1 ... cn</a:t>
            </a:r>
          </a:p>
        </p:txBody>
      </p:sp>
      <p:sp>
        <p:nvSpPr>
          <p:cNvPr id="25" name="">
            <a:extLst xmlns:a="http://schemas.openxmlformats.org/drawingml/2006/main">
              <a:ext uri="{FF2B5EF4-FFF2-40B4-BE49-F238E27FC236}">
                <a16:creationId xmlns:a16="http://schemas.microsoft.com/office/drawing/2014/main" id="{B897D94A-C1B2-4A5D-B222-8081E6E0AA11}"/>
              </a:ext>
            </a:extLst>
          </p:cNvPr>
          <p:cNvSpPr>
            <a:spLocks xmlns:a="http://schemas.openxmlformats.org/drawingml/2006/main" noGrp="1"/>
          </p:cNvSpPr>
          <p:nvPr/>
        </p:nvSpPr>
        <p:spPr>
          <a:xfrm xmlns:a="http://schemas.openxmlformats.org/drawingml/2006/main">
            <a:off x="895350" y="4238625"/>
            <a:ext cx="1040130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8E0EA"/>
            </a:solidFill>
            <a:prstDash val="solid"/>
          </a:ln>
        </p:spPr>
      </p:sp>
      <p:sp>
        <p:nvSpPr>
          <p:cNvPr id="26" name="">
            <a:extLst xmlns:a="http://schemas.openxmlformats.org/drawingml/2006/main">
              <a:ext uri="{FF2B5EF4-FFF2-40B4-BE49-F238E27FC236}">
                <a16:creationId xmlns:a16="http://schemas.microsoft.com/office/drawing/2014/main" id="{A5843389-38D1-41D4-8CEF-E17C42001002}"/>
              </a:ext>
            </a:extLst>
          </p:cNvPr>
          <p:cNvSpPr>
            <a:spLocks xmlns:a="http://schemas.openxmlformats.org/drawingml/2006/main" noGrp="1"/>
          </p:cNvSpPr>
          <p:nvPr/>
        </p:nvSpPr>
        <p:spPr>
          <a:xfrm xmlns:a="http://schemas.openxmlformats.org/drawingml/2006/main">
            <a:off x="1143000" y="44005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B5483A"/>
                </a:solidFill>
              </a:defRPr>
            </a:pPr>
            <a:r>
              <a:rPr sz="1350" b="1">
                <a:solidFill>
                  <a:srgbClr val="B5483A"/>
                </a:solidFill>
              </a:rPr>
              <a:t>Any contradiction</a:t>
            </a:r>
          </a:p>
        </p:txBody>
      </p:sp>
      <p:sp>
        <p:nvSpPr>
          <p:cNvPr id="27" name="">
            <a:extLst xmlns:a="http://schemas.openxmlformats.org/drawingml/2006/main">
              <a:ext uri="{FF2B5EF4-FFF2-40B4-BE49-F238E27FC236}">
                <a16:creationId xmlns:a16="http://schemas.microsoft.com/office/drawing/2014/main" id="{CFDA2308-FEED-4A16-ADD4-8FAA159FF915}"/>
              </a:ext>
            </a:extLst>
          </p:cNvPr>
          <p:cNvSpPr>
            <a:spLocks xmlns:a="http://schemas.openxmlformats.org/drawingml/2006/main" noGrp="1"/>
          </p:cNvSpPr>
          <p:nvPr/>
        </p:nvSpPr>
        <p:spPr>
          <a:xfrm xmlns:a="http://schemas.openxmlformats.org/drawingml/2006/main">
            <a:off x="3524250" y="440055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F172A"/>
                </a:solidFill>
              </a:defRPr>
            </a:pPr>
            <a:r>
              <a:rPr sz="1275" b="0">
                <a:solidFill>
                  <a:srgbClr val="0F172A"/>
                </a:solidFill>
              </a:rPr>
              <a:t>exists i: state(ci) = C</a:t>
            </a:r>
          </a:p>
        </p:txBody>
      </p:sp>
      <p:sp>
        <p:nvSpPr>
          <p:cNvPr id="28" name="">
            <a:extLst xmlns:a="http://schemas.openxmlformats.org/drawingml/2006/main">
              <a:ext uri="{FF2B5EF4-FFF2-40B4-BE49-F238E27FC236}">
                <a16:creationId xmlns:a16="http://schemas.microsoft.com/office/drawing/2014/main" id="{D98C57F3-6C17-4DE1-95C3-72FB6E1E7B95}"/>
              </a:ext>
            </a:extLst>
          </p:cNvPr>
          <p:cNvSpPr>
            <a:spLocks xmlns:a="http://schemas.openxmlformats.org/drawingml/2006/main" noGrp="1"/>
          </p:cNvSpPr>
          <p:nvPr/>
        </p:nvSpPr>
        <p:spPr>
          <a:xfrm xmlns:a="http://schemas.openxmlformats.org/drawingml/2006/main">
            <a:off x="9525000" y="44005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B5483A"/>
                </a:solidFill>
              </a:defRPr>
            </a:pPr>
            <a:r>
              <a:rPr sz="1350" b="1">
                <a:solidFill>
                  <a:srgbClr val="B5483A"/>
                </a:solidFill>
              </a:rPr>
              <a:t>label 0</a:t>
            </a:r>
          </a:p>
        </p:txBody>
      </p:sp>
      <p:sp>
        <p:nvSpPr>
          <p:cNvPr id="29" name="">
            <a:extLst xmlns:a="http://schemas.openxmlformats.org/drawingml/2006/main">
              <a:ext uri="{FF2B5EF4-FFF2-40B4-BE49-F238E27FC236}">
                <a16:creationId xmlns:a16="http://schemas.microsoft.com/office/drawing/2014/main" id="{F51D6580-B2FF-4920-9F27-F9960A74FBCD}"/>
              </a:ext>
            </a:extLst>
          </p:cNvPr>
          <p:cNvSpPr>
            <a:spLocks xmlns:a="http://schemas.openxmlformats.org/drawingml/2006/main" noGrp="1"/>
          </p:cNvSpPr>
          <p:nvPr/>
        </p:nvSpPr>
        <p:spPr>
          <a:xfrm xmlns:a="http://schemas.openxmlformats.org/drawingml/2006/main">
            <a:off x="1066800" y="4705350"/>
            <a:ext cx="10058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0" name="">
            <a:extLst xmlns:a="http://schemas.openxmlformats.org/drawingml/2006/main">
              <a:ext uri="{FF2B5EF4-FFF2-40B4-BE49-F238E27FC236}">
                <a16:creationId xmlns:a16="http://schemas.microsoft.com/office/drawing/2014/main" id="{B419A719-B8AC-49F0-8183-3A084F96BC78}"/>
              </a:ext>
            </a:extLst>
          </p:cNvPr>
          <p:cNvSpPr>
            <a:spLocks xmlns:a="http://schemas.openxmlformats.org/drawingml/2006/main" noGrp="1"/>
          </p:cNvSpPr>
          <p:nvPr/>
        </p:nvSpPr>
        <p:spPr>
          <a:xfrm xmlns:a="http://schemas.openxmlformats.org/drawingml/2006/main">
            <a:off x="1143000" y="47625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A8C82"/>
                </a:solidFill>
              </a:defRPr>
            </a:pPr>
            <a:r>
              <a:rPr sz="1350" b="1">
                <a:solidFill>
                  <a:srgbClr val="2A8C82"/>
                </a:solidFill>
              </a:rPr>
              <a:t>Complete support</a:t>
            </a:r>
          </a:p>
        </p:txBody>
      </p:sp>
      <p:sp>
        <p:nvSpPr>
          <p:cNvPr id="31" name="">
            <a:extLst xmlns:a="http://schemas.openxmlformats.org/drawingml/2006/main">
              <a:ext uri="{FF2B5EF4-FFF2-40B4-BE49-F238E27FC236}">
                <a16:creationId xmlns:a16="http://schemas.microsoft.com/office/drawing/2014/main" id="{898074B9-975B-4E38-8660-F9332CA55179}"/>
              </a:ext>
            </a:extLst>
          </p:cNvPr>
          <p:cNvSpPr>
            <a:spLocks xmlns:a="http://schemas.openxmlformats.org/drawingml/2006/main" noGrp="1"/>
          </p:cNvSpPr>
          <p:nvPr/>
        </p:nvSpPr>
        <p:spPr>
          <a:xfrm xmlns:a="http://schemas.openxmlformats.org/drawingml/2006/main">
            <a:off x="3524250" y="476250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F172A"/>
                </a:solidFill>
              </a:defRPr>
            </a:pPr>
            <a:r>
              <a:rPr sz="1275" b="0">
                <a:solidFill>
                  <a:srgbClr val="0F172A"/>
                </a:solidFill>
              </a:rPr>
              <a:t>for all i: state(ci) = S; no extra factual claim</a:t>
            </a:r>
          </a:p>
        </p:txBody>
      </p:sp>
      <p:sp>
        <p:nvSpPr>
          <p:cNvPr id="32" name="">
            <a:extLst xmlns:a="http://schemas.openxmlformats.org/drawingml/2006/main">
              <a:ext uri="{FF2B5EF4-FFF2-40B4-BE49-F238E27FC236}">
                <a16:creationId xmlns:a16="http://schemas.microsoft.com/office/drawing/2014/main" id="{E3C00D96-6D01-4109-8FC9-0FC2B9213737}"/>
              </a:ext>
            </a:extLst>
          </p:cNvPr>
          <p:cNvSpPr>
            <a:spLocks xmlns:a="http://schemas.openxmlformats.org/drawingml/2006/main" noGrp="1"/>
          </p:cNvSpPr>
          <p:nvPr/>
        </p:nvSpPr>
        <p:spPr>
          <a:xfrm xmlns:a="http://schemas.openxmlformats.org/drawingml/2006/main">
            <a:off x="9525000" y="47625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A8C82"/>
                </a:solidFill>
              </a:defRPr>
            </a:pPr>
            <a:r>
              <a:rPr sz="1350" b="1">
                <a:solidFill>
                  <a:srgbClr val="2A8C82"/>
                </a:solidFill>
              </a:rPr>
              <a:t>label 1</a:t>
            </a:r>
          </a:p>
        </p:txBody>
      </p:sp>
      <p:sp>
        <p:nvSpPr>
          <p:cNvPr id="33" name="">
            <a:extLst xmlns:a="http://schemas.openxmlformats.org/drawingml/2006/main">
              <a:ext uri="{FF2B5EF4-FFF2-40B4-BE49-F238E27FC236}">
                <a16:creationId xmlns:a16="http://schemas.microsoft.com/office/drawing/2014/main" id="{4F2F9C0C-1DC6-4375-ADAE-D70731BA1587}"/>
              </a:ext>
            </a:extLst>
          </p:cNvPr>
          <p:cNvSpPr>
            <a:spLocks xmlns:a="http://schemas.openxmlformats.org/drawingml/2006/main" noGrp="1"/>
          </p:cNvSpPr>
          <p:nvPr/>
        </p:nvSpPr>
        <p:spPr>
          <a:xfrm xmlns:a="http://schemas.openxmlformats.org/drawingml/2006/main">
            <a:off x="1066800" y="5067300"/>
            <a:ext cx="10058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4" name="">
            <a:extLst xmlns:a="http://schemas.openxmlformats.org/drawingml/2006/main">
              <a:ext uri="{FF2B5EF4-FFF2-40B4-BE49-F238E27FC236}">
                <a16:creationId xmlns:a16="http://schemas.microsoft.com/office/drawing/2014/main" id="{B7CE9F4D-F433-441C-96A8-34D673675D12}"/>
              </a:ext>
            </a:extLst>
          </p:cNvPr>
          <p:cNvSpPr>
            <a:spLocks xmlns:a="http://schemas.openxmlformats.org/drawingml/2006/main" noGrp="1"/>
          </p:cNvSpPr>
          <p:nvPr/>
        </p:nvSpPr>
        <p:spPr>
          <a:xfrm xmlns:a="http://schemas.openxmlformats.org/drawingml/2006/main">
            <a:off x="1143000" y="51244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D59B32"/>
                </a:solidFill>
              </a:defRPr>
            </a:pPr>
            <a:r>
              <a:rPr sz="1350" b="1">
                <a:solidFill>
                  <a:srgbClr val="D59B32"/>
                </a:solidFill>
              </a:rPr>
              <a:t>Incomplete alignment</a:t>
            </a:r>
          </a:p>
        </p:txBody>
      </p:sp>
      <p:sp>
        <p:nvSpPr>
          <p:cNvPr id="35" name="">
            <a:extLst xmlns:a="http://schemas.openxmlformats.org/drawingml/2006/main">
              <a:ext uri="{FF2B5EF4-FFF2-40B4-BE49-F238E27FC236}">
                <a16:creationId xmlns:a16="http://schemas.microsoft.com/office/drawing/2014/main" id="{C83E159B-A90E-4919-ACFE-90D8C19FA99F}"/>
              </a:ext>
            </a:extLst>
          </p:cNvPr>
          <p:cNvSpPr>
            <a:spLocks xmlns:a="http://schemas.openxmlformats.org/drawingml/2006/main" noGrp="1"/>
          </p:cNvSpPr>
          <p:nvPr/>
        </p:nvSpPr>
        <p:spPr>
          <a:xfrm xmlns:a="http://schemas.openxmlformats.org/drawingml/2006/main">
            <a:off x="3524250" y="512445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F172A"/>
                </a:solidFill>
              </a:defRPr>
            </a:pPr>
            <a:r>
              <a:rPr sz="1275" b="0">
                <a:solidFill>
                  <a:srgbClr val="0F172A"/>
                </a:solidFill>
              </a:rPr>
              <a:t>otherwise</a:t>
            </a:r>
          </a:p>
        </p:txBody>
      </p:sp>
      <p:sp>
        <p:nvSpPr>
          <p:cNvPr id="36" name="">
            <a:extLst xmlns:a="http://schemas.openxmlformats.org/drawingml/2006/main">
              <a:ext uri="{FF2B5EF4-FFF2-40B4-BE49-F238E27FC236}">
                <a16:creationId xmlns:a16="http://schemas.microsoft.com/office/drawing/2014/main" id="{9183107D-F567-4281-9A76-9557A44C0C5E}"/>
              </a:ext>
            </a:extLst>
          </p:cNvPr>
          <p:cNvSpPr>
            <a:spLocks xmlns:a="http://schemas.openxmlformats.org/drawingml/2006/main" noGrp="1"/>
          </p:cNvSpPr>
          <p:nvPr/>
        </p:nvSpPr>
        <p:spPr>
          <a:xfrm xmlns:a="http://schemas.openxmlformats.org/drawingml/2006/main">
            <a:off x="9525000" y="5124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D59B32"/>
                </a:solidFill>
              </a:defRPr>
            </a:pPr>
            <a:r>
              <a:rPr sz="1350" b="1">
                <a:solidFill>
                  <a:srgbClr val="D59B32"/>
                </a:solidFill>
              </a:rPr>
              <a:t>abstain</a:t>
            </a:r>
          </a:p>
        </p:txBody>
      </p:sp>
      <p:sp>
        <p:nvSpPr>
          <p:cNvPr id="37" name="">
            <a:extLst xmlns:a="http://schemas.openxmlformats.org/drawingml/2006/main">
              <a:ext uri="{FF2B5EF4-FFF2-40B4-BE49-F238E27FC236}">
                <a16:creationId xmlns:a16="http://schemas.microsoft.com/office/drawing/2014/main" id="{44D3C8B9-5B59-47A1-8318-AE71EA0C9A2C}"/>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8" name="source-7">
            <a:extLst xmlns:a="http://schemas.openxmlformats.org/drawingml/2006/main">
              <a:ext uri="{FF2B5EF4-FFF2-40B4-BE49-F238E27FC236}">
                <a16:creationId xmlns:a16="http://schemas.microsoft.com/office/drawing/2014/main" id="{E5B9D1A5-D4CC-4F4E-A871-C828120885AF}"/>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Report Fig. 2a  |  [3] Context-faithfulness design  [7] v91 clause and claim verifier</a:t>
            </a:r>
          </a:p>
        </p:txBody>
      </p:sp>
      <p:sp>
        <p:nvSpPr>
          <p:cNvPr id="39" name="page-7">
            <a:extLst xmlns:a="http://schemas.openxmlformats.org/drawingml/2006/main">
              <a:ext uri="{FF2B5EF4-FFF2-40B4-BE49-F238E27FC236}">
                <a16:creationId xmlns:a16="http://schemas.microsoft.com/office/drawing/2014/main" id="{8FFB5AD0-C52C-4DF5-B44D-6877374BC840}"/>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07</a:t>
            </a:r>
          </a:p>
        </p:txBody>
      </p:sp>
    </p:spTree>
    <p:extLst>
      <p:ext uri="{BB962C8B-B14F-4D97-AF65-F5344CB8AC3E}">
        <p14:creationId xmlns:p14="http://schemas.microsoft.com/office/powerpoint/2010/main" val="1424654819"/>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kicker-8">
            <a:extLst xmlns:a="http://schemas.openxmlformats.org/drawingml/2006/main">
              <a:ext uri="{FF2B5EF4-FFF2-40B4-BE49-F238E27FC236}">
                <a16:creationId xmlns:a16="http://schemas.microsoft.com/office/drawing/2014/main" id="{D85C6EC4-40CF-4EE8-A91B-4914215D9AB8}"/>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title-8">
            <a:extLst xmlns:a="http://schemas.openxmlformats.org/drawingml/2006/main">
              <a:ext uri="{FF2B5EF4-FFF2-40B4-BE49-F238E27FC236}">
                <a16:creationId xmlns:a16="http://schemas.microsoft.com/office/drawing/2014/main" id="{0C72DA74-6FA3-4637-AA13-95E5237E96CE}"/>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Qwen judged 158 rows, not the whole test set</a:t>
            </a:r>
          </a:p>
        </p:txBody>
      </p:sp>
      <p:sp>
        <p:nvSpPr>
          <p:cNvPr id="3" name="">
            <a:extLst xmlns:a="http://schemas.openxmlformats.org/drawingml/2006/main">
              <a:ext uri="{FF2B5EF4-FFF2-40B4-BE49-F238E27FC236}">
                <a16:creationId xmlns:a16="http://schemas.microsoft.com/office/drawing/2014/main" id="{FABD7773-F378-46D6-A376-D7FE19545DB9}"/>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20ED478E-2C8E-4015-97E1-2EB8E8DD4DD5}"/>
              </a:ext>
            </a:extLst>
          </p:cNvPr>
          <p:cNvSpPr>
            <a:spLocks xmlns:a="http://schemas.openxmlformats.org/drawingml/2006/main" noGrp="1"/>
          </p:cNvSpPr>
          <p:nvPr/>
        </p:nvSpPr>
        <p:spPr>
          <a:xfrm xmlns:a="http://schemas.openxmlformats.org/drawingml/2006/main">
            <a:off x="685800" y="139065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26174"/>
                </a:solidFill>
              </a:defRPr>
            </a:pPr>
            <a:r>
              <a:rPr sz="1650" b="0">
                <a:solidFill>
                  <a:srgbClr val="526174"/>
                </a:solidFill>
              </a:rPr>
              <a:t>The fallback was short, deterministic, and biased toward catching hallucinations.</a:t>
            </a:r>
          </a:p>
        </p:txBody>
      </p:sp>
      <p:sp>
        <p:nvSpPr>
          <p:cNvPr id="5" name="">
            <a:extLst xmlns:a="http://schemas.openxmlformats.org/drawingml/2006/main">
              <a:ext uri="{FF2B5EF4-FFF2-40B4-BE49-F238E27FC236}">
                <a16:creationId xmlns:a16="http://schemas.microsoft.com/office/drawing/2014/main" id="{ACAA3E6F-7202-402E-9092-49BFE2D4B776}"/>
              </a:ext>
            </a:extLst>
          </p:cNvPr>
          <p:cNvSpPr>
            <a:spLocks xmlns:a="http://schemas.openxmlformats.org/drawingml/2006/main" noGrp="1"/>
          </p:cNvSpPr>
          <p:nvPr/>
        </p:nvSpPr>
        <p:spPr>
          <a:xfrm xmlns:a="http://schemas.openxmlformats.org/drawingml/2006/main">
            <a:off x="914400" y="2114550"/>
            <a:ext cx="4648200" cy="2857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A967460-6F3E-48C0-8907-12F9C8A2EBB9}"/>
              </a:ext>
            </a:extLst>
          </p:cNvPr>
          <p:cNvSpPr>
            <a:spLocks xmlns:a="http://schemas.openxmlformats.org/drawingml/2006/main" noGrp="1"/>
          </p:cNvSpPr>
          <p:nvPr/>
        </p:nvSpPr>
        <p:spPr>
          <a:xfrm xmlns:a="http://schemas.openxmlformats.org/drawingml/2006/main">
            <a:off x="1257300" y="2381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2A8C82"/>
                </a:solidFill>
              </a:defRPr>
            </a:pPr>
            <a:r>
              <a:rPr sz="2025" b="1">
                <a:solidFill>
                  <a:srgbClr val="2A8C82"/>
                </a:solidFill>
              </a:rPr>
              <a:t>Context row</a:t>
            </a:r>
          </a:p>
        </p:txBody>
      </p:sp>
      <p:sp>
        <p:nvSpPr>
          <p:cNvPr id="7" name="">
            <a:extLst xmlns:a="http://schemas.openxmlformats.org/drawingml/2006/main">
              <a:ext uri="{FF2B5EF4-FFF2-40B4-BE49-F238E27FC236}">
                <a16:creationId xmlns:a16="http://schemas.microsoft.com/office/drawing/2014/main" id="{0D2019EA-A1D7-47B6-9BB7-1D63A227B0D1}"/>
              </a:ext>
            </a:extLst>
          </p:cNvPr>
          <p:cNvSpPr>
            <a:spLocks xmlns:a="http://schemas.openxmlformats.org/drawingml/2006/main" noGrp="1"/>
          </p:cNvSpPr>
          <p:nvPr/>
        </p:nvSpPr>
        <p:spPr>
          <a:xfrm xmlns:a="http://schemas.openxmlformats.org/drawingml/2006/main">
            <a:off x="1257300" y="295275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F172A"/>
                </a:solidFill>
              </a:defRPr>
            </a:pPr>
            <a:r>
              <a:rPr sz="2550" b="1">
                <a:solidFill>
                  <a:srgbClr val="0F172A"/>
                </a:solidFill>
              </a:rPr>
              <a:t>1 entailment view</a:t>
            </a:r>
          </a:p>
        </p:txBody>
      </p:sp>
      <p:sp>
        <p:nvSpPr>
          <p:cNvPr id="8" name="">
            <a:extLst xmlns:a="http://schemas.openxmlformats.org/drawingml/2006/main">
              <a:ext uri="{FF2B5EF4-FFF2-40B4-BE49-F238E27FC236}">
                <a16:creationId xmlns:a16="http://schemas.microsoft.com/office/drawing/2014/main" id="{FC59DB85-1346-4518-9C51-D4DD4FCFEEEE}"/>
              </a:ext>
            </a:extLst>
          </p:cNvPr>
          <p:cNvSpPr>
            <a:spLocks xmlns:a="http://schemas.openxmlformats.org/drawingml/2006/main" noGrp="1"/>
          </p:cNvSpPr>
          <p:nvPr/>
        </p:nvSpPr>
        <p:spPr>
          <a:xfrm xmlns:a="http://schemas.openxmlformats.org/drawingml/2006/main">
            <a:off x="1257300" y="3562350"/>
            <a:ext cx="361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26174"/>
                </a:solidFill>
              </a:defRPr>
            </a:pPr>
            <a:r>
              <a:rPr sz="1425" b="0">
                <a:solidFill>
                  <a:srgbClr val="526174"/>
                </a:solidFill>
              </a:rPr>
              <a:t>Compare the response against the supplied passage.</a:t>
            </a:r>
          </a:p>
        </p:txBody>
      </p:sp>
      <p:sp>
        <p:nvSpPr>
          <p:cNvPr id="9" name="">
            <a:extLst xmlns:a="http://schemas.openxmlformats.org/drawingml/2006/main">
              <a:ext uri="{FF2B5EF4-FFF2-40B4-BE49-F238E27FC236}">
                <a16:creationId xmlns:a16="http://schemas.microsoft.com/office/drawing/2014/main" id="{1D5C912B-36EF-4AE5-899F-B35527818B9F}"/>
              </a:ext>
            </a:extLst>
          </p:cNvPr>
          <p:cNvSpPr>
            <a:spLocks xmlns:a="http://schemas.openxmlformats.org/drawingml/2006/main" noGrp="1"/>
          </p:cNvSpPr>
          <p:nvPr/>
        </p:nvSpPr>
        <p:spPr>
          <a:xfrm xmlns:a="http://schemas.openxmlformats.org/drawingml/2006/main">
            <a:off x="1257300" y="4324350"/>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B5483A"/>
                </a:solidFill>
              </a:defRPr>
            </a:pPr>
            <a:r>
              <a:rPr sz="1350" b="1">
                <a:solidFill>
                  <a:srgbClr val="B5483A"/>
                </a:solidFill>
              </a:rPr>
              <a:t>Any contradiction returns 0.</a:t>
            </a:r>
          </a:p>
        </p:txBody>
      </p:sp>
      <p:sp>
        <p:nvSpPr>
          <p:cNvPr id="10" name="">
            <a:extLst xmlns:a="http://schemas.openxmlformats.org/drawingml/2006/main">
              <a:ext uri="{FF2B5EF4-FFF2-40B4-BE49-F238E27FC236}">
                <a16:creationId xmlns:a16="http://schemas.microsoft.com/office/drawing/2014/main" id="{0EE2EEEF-3CE9-427D-84EA-D47A4615AF39}"/>
              </a:ext>
            </a:extLst>
          </p:cNvPr>
          <p:cNvSpPr>
            <a:spLocks xmlns:a="http://schemas.openxmlformats.org/drawingml/2006/main" noGrp="1"/>
          </p:cNvSpPr>
          <p:nvPr/>
        </p:nvSpPr>
        <p:spPr>
          <a:xfrm xmlns:a="http://schemas.openxmlformats.org/drawingml/2006/main">
            <a:off x="6629400" y="2114550"/>
            <a:ext cx="4648200" cy="2857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81641F71-C01B-4179-915E-C6ECB777DE6A}"/>
              </a:ext>
            </a:extLst>
          </p:cNvPr>
          <p:cNvSpPr>
            <a:spLocks xmlns:a="http://schemas.openxmlformats.org/drawingml/2006/main" noGrp="1"/>
          </p:cNvSpPr>
          <p:nvPr/>
        </p:nvSpPr>
        <p:spPr>
          <a:xfrm xmlns:a="http://schemas.openxmlformats.org/drawingml/2006/main">
            <a:off x="6972300" y="2381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D59B32"/>
                </a:solidFill>
              </a:defRPr>
            </a:pPr>
            <a:r>
              <a:rPr sz="2025" b="1">
                <a:solidFill>
                  <a:srgbClr val="D59B32"/>
                </a:solidFill>
              </a:rPr>
              <a:t>No-context row</a:t>
            </a:r>
          </a:p>
        </p:txBody>
      </p:sp>
      <p:sp>
        <p:nvSpPr>
          <p:cNvPr id="12" name="">
            <a:extLst xmlns:a="http://schemas.openxmlformats.org/drawingml/2006/main">
              <a:ext uri="{FF2B5EF4-FFF2-40B4-BE49-F238E27FC236}">
                <a16:creationId xmlns:a16="http://schemas.microsoft.com/office/drawing/2014/main" id="{194D14D8-44C3-466D-82A0-8073C7F64941}"/>
              </a:ext>
            </a:extLst>
          </p:cNvPr>
          <p:cNvSpPr>
            <a:spLocks xmlns:a="http://schemas.openxmlformats.org/drawingml/2006/main" noGrp="1"/>
          </p:cNvSpPr>
          <p:nvPr/>
        </p:nvSpPr>
        <p:spPr>
          <a:xfrm xmlns:a="http://schemas.openxmlformats.org/drawingml/2006/main">
            <a:off x="6972300" y="295275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F172A"/>
                </a:solidFill>
              </a:defRPr>
            </a:pPr>
            <a:r>
              <a:rPr sz="2550" b="1">
                <a:solidFill>
                  <a:srgbClr val="0F172A"/>
                </a:solidFill>
              </a:rPr>
              <a:t>Up to 3 short views</a:t>
            </a:r>
          </a:p>
        </p:txBody>
      </p:sp>
      <p:sp>
        <p:nvSpPr>
          <p:cNvPr id="13" name="">
            <a:extLst xmlns:a="http://schemas.openxmlformats.org/drawingml/2006/main">
              <a:ext uri="{FF2B5EF4-FFF2-40B4-BE49-F238E27FC236}">
                <a16:creationId xmlns:a16="http://schemas.microsoft.com/office/drawing/2014/main" id="{36F4F052-AD63-47FA-AD45-8D015AB47A5E}"/>
              </a:ext>
            </a:extLst>
          </p:cNvPr>
          <p:cNvSpPr>
            <a:spLocks xmlns:a="http://schemas.openxmlformats.org/drawingml/2006/main" noGrp="1"/>
          </p:cNvSpPr>
          <p:nvPr/>
        </p:nvSpPr>
        <p:spPr>
          <a:xfrm xmlns:a="http://schemas.openxmlformats.org/drawingml/2006/main">
            <a:off x="6972300" y="3562350"/>
            <a:ext cx="3905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526174"/>
                </a:solidFill>
              </a:defRPr>
            </a:pPr>
            <a:r>
              <a:rPr sz="1350" b="0">
                <a:solidFill>
                  <a:srgbClr val="526174"/>
                </a:solidFill>
              </a:rPr>
              <a:t>Fact check  |  exam grading  |  zero-bias check</a:t>
            </a:r>
          </a:p>
        </p:txBody>
      </p:sp>
      <p:sp>
        <p:nvSpPr>
          <p:cNvPr id="14" name="">
            <a:extLst xmlns:a="http://schemas.openxmlformats.org/drawingml/2006/main">
              <a:ext uri="{FF2B5EF4-FFF2-40B4-BE49-F238E27FC236}">
                <a16:creationId xmlns:a16="http://schemas.microsoft.com/office/drawing/2014/main" id="{C0B3EEC1-D034-4C64-92B5-DEE5C554854E}"/>
              </a:ext>
            </a:extLst>
          </p:cNvPr>
          <p:cNvSpPr>
            <a:spLocks xmlns:a="http://schemas.openxmlformats.org/drawingml/2006/main" noGrp="1"/>
          </p:cNvSpPr>
          <p:nvPr/>
        </p:nvSpPr>
        <p:spPr>
          <a:xfrm xmlns:a="http://schemas.openxmlformats.org/drawingml/2006/main">
            <a:off x="6972300" y="43243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B5483A"/>
                </a:solidFill>
              </a:defRPr>
            </a:pPr>
            <a:r>
              <a:rPr sz="1350" b="1">
                <a:solidFill>
                  <a:srgbClr val="B5483A"/>
                </a:solidFill>
              </a:rPr>
              <a:t>Label 1 requires unanimous positive votes.</a:t>
            </a:r>
          </a:p>
        </p:txBody>
      </p:sp>
      <p:sp>
        <p:nvSpPr>
          <p:cNvPr id="15" name="">
            <a:extLst xmlns:a="http://schemas.openxmlformats.org/drawingml/2006/main">
              <a:ext uri="{FF2B5EF4-FFF2-40B4-BE49-F238E27FC236}">
                <a16:creationId xmlns:a16="http://schemas.microsoft.com/office/drawing/2014/main" id="{D36B03E2-464E-4D7B-BE11-46409B2A8474}"/>
              </a:ext>
            </a:extLst>
          </p:cNvPr>
          <p:cNvSpPr>
            <a:spLocks xmlns:a="http://schemas.openxmlformats.org/drawingml/2006/main" noGrp="1"/>
          </p:cNvSpPr>
          <p:nvPr/>
        </p:nvSpPr>
        <p:spPr>
          <a:xfrm xmlns:a="http://schemas.openxmlformats.org/drawingml/2006/main">
            <a:off x="2381250" y="5391150"/>
            <a:ext cx="7429500" cy="590550"/>
          </a:xfrm>
          <a:prstGeom xmlns:a="http://schemas.openxmlformats.org/drawingml/2006/main" prst="roundRect">
            <a:avLst>
              <a:gd name="adj" fmla="val 22581"/>
            </a:avLst>
          </a:prstGeom>
          <a:solidFill xmlns:a="http://schemas.openxmlformats.org/drawingml/2006/main">
            <a:srgbClr val="E7EEF4"/>
          </a:solidFill>
          <a:ln xmlns:a="http://schemas.openxmlformats.org/drawingml/2006/main" w="9525">
            <a:solidFill>
              <a:srgbClr val="1F5A7A"/>
            </a:solidFill>
            <a:prstDash val="solid"/>
          </a:ln>
        </p:spPr>
      </p:sp>
      <p:sp>
        <p:nvSpPr>
          <p:cNvPr id="16" name="">
            <a:extLst xmlns:a="http://schemas.openxmlformats.org/drawingml/2006/main">
              <a:ext uri="{FF2B5EF4-FFF2-40B4-BE49-F238E27FC236}">
                <a16:creationId xmlns:a16="http://schemas.microsoft.com/office/drawing/2014/main" id="{2C11FE44-4481-4EB3-AA33-FE3630A910C0}"/>
              </a:ext>
            </a:extLst>
          </p:cNvPr>
          <p:cNvSpPr>
            <a:spLocks xmlns:a="http://schemas.openxmlformats.org/drawingml/2006/main" noGrp="1"/>
          </p:cNvSpPr>
          <p:nvPr/>
        </p:nvSpPr>
        <p:spPr>
          <a:xfrm xmlns:a="http://schemas.openxmlformats.org/drawingml/2006/main">
            <a:off x="2667000" y="5553075"/>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F5A7A"/>
                </a:solidFill>
              </a:defRPr>
            </a:pPr>
            <a:r>
              <a:rPr sz="1275" b="1">
                <a:solidFill>
                  <a:srgbClr val="1F5A7A"/>
                </a:solidFill>
              </a:rPr>
              <a:t>Qwen3.6-27B Q4_K_P  |  one-token grammar  |  fixed seeds and batches</a:t>
            </a:r>
          </a:p>
        </p:txBody>
      </p:sp>
      <p:sp>
        <p:nvSpPr>
          <p:cNvPr id="17" name="">
            <a:extLst xmlns:a="http://schemas.openxmlformats.org/drawingml/2006/main">
              <a:ext uri="{FF2B5EF4-FFF2-40B4-BE49-F238E27FC236}">
                <a16:creationId xmlns:a16="http://schemas.microsoft.com/office/drawing/2014/main" id="{4F3E40AC-F69B-483F-873D-8DAFC1A3434C}"/>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8" name="source-8">
            <a:extLst xmlns:a="http://schemas.openxmlformats.org/drawingml/2006/main">
              <a:ext uri="{FF2B5EF4-FFF2-40B4-BE49-F238E27FC236}">
                <a16:creationId xmlns:a16="http://schemas.microsoft.com/office/drawing/2014/main" id="{B7A848B1-D2D3-4947-A71B-9F0728DC1F65}"/>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[5] Qwen3.6 model card  [6] llama.cpp b9637  [7] Frozen judge configuration</a:t>
            </a:r>
          </a:p>
        </p:txBody>
      </p:sp>
      <p:sp>
        <p:nvSpPr>
          <p:cNvPr id="19" name="page-8">
            <a:extLst xmlns:a="http://schemas.openxmlformats.org/drawingml/2006/main">
              <a:ext uri="{FF2B5EF4-FFF2-40B4-BE49-F238E27FC236}">
                <a16:creationId xmlns:a16="http://schemas.microsoft.com/office/drawing/2014/main" id="{BB6FBEA7-B029-4374-8F9A-F189E13622BB}"/>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08</a:t>
            </a:r>
          </a:p>
        </p:txBody>
      </p:sp>
    </p:spTree>
    <p:extLst>
      <p:ext uri="{BB962C8B-B14F-4D97-AF65-F5344CB8AC3E}">
        <p14:creationId xmlns:p14="http://schemas.microsoft.com/office/powerpoint/2010/main" val="175299940"/>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3" name="kicker-9">
            <a:extLst xmlns:a="http://schemas.openxmlformats.org/drawingml/2006/main">
              <a:ext uri="{FF2B5EF4-FFF2-40B4-BE49-F238E27FC236}">
                <a16:creationId xmlns:a16="http://schemas.microsoft.com/office/drawing/2014/main" id="{FD4F8904-FDEF-425C-BF0E-468CED389002}"/>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title-9">
            <a:extLst xmlns:a="http://schemas.openxmlformats.org/drawingml/2006/main">
              <a:ext uri="{FF2B5EF4-FFF2-40B4-BE49-F238E27FC236}">
                <a16:creationId xmlns:a16="http://schemas.microsoft.com/office/drawing/2014/main" id="{E7EB26C2-5775-4AB0-B293-137EBE47D67F}"/>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A source record was accepted only after four fields aligned</a:t>
            </a:r>
          </a:p>
        </p:txBody>
      </p:sp>
      <p:sp>
        <p:nvSpPr>
          <p:cNvPr id="3" name="">
            <a:extLst xmlns:a="http://schemas.openxmlformats.org/drawingml/2006/main">
              <a:ext uri="{FF2B5EF4-FFF2-40B4-BE49-F238E27FC236}">
                <a16:creationId xmlns:a16="http://schemas.microsoft.com/office/drawing/2014/main" id="{A0EB5D59-35D0-4815-A45D-5AAAE1E342F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4B259D92-7CD9-41EC-A78E-9D9F608D8939}"/>
              </a:ext>
            </a:extLst>
          </p:cNvPr>
          <p:cNvSpPr>
            <a:spLocks xmlns:a="http://schemas.openxmlformats.org/drawingml/2006/main" noGrp="1"/>
          </p:cNvSpPr>
          <p:nvPr/>
        </p:nvSpPr>
        <p:spPr>
          <a:xfrm xmlns:a="http://schemas.openxmlformats.org/drawingml/2006/main">
            <a:off x="685800" y="138112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26174"/>
                </a:solidFill>
              </a:defRPr>
            </a:pPr>
            <a:r>
              <a:rPr sz="1575" b="0">
                <a:solidFill>
                  <a:srgbClr val="526174"/>
                </a:solidFill>
              </a:rPr>
              <a:t>The trace records why a row was resolved, its source, and the relation that was tested.</a:t>
            </a:r>
          </a:p>
        </p:txBody>
      </p:sp>
      <p:sp>
        <p:nvSpPr>
          <p:cNvPr id="5" name="">
            <a:extLst xmlns:a="http://schemas.openxmlformats.org/drawingml/2006/main">
              <a:ext uri="{FF2B5EF4-FFF2-40B4-BE49-F238E27FC236}">
                <a16:creationId xmlns:a16="http://schemas.microsoft.com/office/drawing/2014/main" id="{BFFB90A3-84FF-4531-9E8F-5C8823A440B2}"/>
              </a:ext>
            </a:extLst>
          </p:cNvPr>
          <p:cNvSpPr>
            <a:spLocks xmlns:a="http://schemas.openxmlformats.org/drawingml/2006/main" noGrp="1"/>
          </p:cNvSpPr>
          <p:nvPr/>
        </p:nvSpPr>
        <p:spPr>
          <a:xfrm xmlns:a="http://schemas.openxmlformats.org/drawingml/2006/main">
            <a:off x="3276600" y="3352800"/>
            <a:ext cx="590550"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6" name="">
            <a:extLst xmlns:a="http://schemas.openxmlformats.org/drawingml/2006/main">
              <a:ext uri="{FF2B5EF4-FFF2-40B4-BE49-F238E27FC236}">
                <a16:creationId xmlns:a16="http://schemas.microsoft.com/office/drawing/2014/main" id="{9D837823-B34C-463A-AEF5-2C921A493580}"/>
              </a:ext>
            </a:extLst>
          </p:cNvPr>
          <p:cNvSpPr>
            <a:spLocks xmlns:a="http://schemas.openxmlformats.org/drawingml/2006/main" noGrp="1"/>
          </p:cNvSpPr>
          <p:nvPr/>
        </p:nvSpPr>
        <p:spPr>
          <a:xfrm xmlns:a="http://schemas.openxmlformats.org/drawingml/2006/main">
            <a:off x="7810500" y="3352800"/>
            <a:ext cx="590550"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7" name="">
            <a:extLst xmlns:a="http://schemas.openxmlformats.org/drawingml/2006/main">
              <a:ext uri="{FF2B5EF4-FFF2-40B4-BE49-F238E27FC236}">
                <a16:creationId xmlns:a16="http://schemas.microsoft.com/office/drawing/2014/main" id="{3798B6E4-865C-4753-B194-8506BC670E34}"/>
              </a:ext>
            </a:extLst>
          </p:cNvPr>
          <p:cNvSpPr>
            <a:spLocks xmlns:a="http://schemas.openxmlformats.org/drawingml/2006/main" noGrp="1"/>
          </p:cNvSpPr>
          <p:nvPr/>
        </p:nvSpPr>
        <p:spPr>
          <a:xfrm xmlns:a="http://schemas.openxmlformats.org/drawingml/2006/main">
            <a:off x="781050" y="2076450"/>
            <a:ext cx="2590800" cy="31051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1F5A7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4C73B597-FD6E-4FAC-B210-7B5DCF4C5936}"/>
              </a:ext>
            </a:extLst>
          </p:cNvPr>
          <p:cNvSpPr>
            <a:spLocks xmlns:a="http://schemas.openxmlformats.org/drawingml/2006/main" noGrp="1"/>
          </p:cNvSpPr>
          <p:nvPr/>
        </p:nvSpPr>
        <p:spPr>
          <a:xfrm xmlns:a="http://schemas.openxmlformats.org/drawingml/2006/main">
            <a:off x="1066800" y="2247900"/>
            <a:ext cx="2019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F5A7A"/>
                </a:solidFill>
              </a:defRPr>
            </a:pPr>
            <a:r>
              <a:rPr sz="1575" b="1">
                <a:solidFill>
                  <a:srgbClr val="1F5A7A"/>
                </a:solidFill>
              </a:rPr>
              <a:t>Typed evidence</a:t>
            </a:r>
          </a:p>
          <a:p xmlns:a="http://schemas.openxmlformats.org/drawingml/2006/main">
            <a:pPr algn="ctr">
              <a:buNone/>
              <a:defRPr sz="1575" b="1">
                <a:solidFill>
                  <a:srgbClr val="1F5A7A"/>
                </a:solidFill>
              </a:defRPr>
            </a:pPr>
            <a:r>
              <a:rPr sz="1575" b="1">
                <a:solidFill>
                  <a:srgbClr val="1F5A7A"/>
                </a:solidFill>
              </a:rPr>
              <a:t>record</a:t>
            </a:r>
          </a:p>
        </p:txBody>
      </p:sp>
      <p:sp>
        <p:nvSpPr>
          <p:cNvPr id="9" name="">
            <a:extLst xmlns:a="http://schemas.openxmlformats.org/drawingml/2006/main">
              <a:ext uri="{FF2B5EF4-FFF2-40B4-BE49-F238E27FC236}">
                <a16:creationId xmlns:a16="http://schemas.microsoft.com/office/drawing/2014/main" id="{8E0C503D-8A45-449A-9505-15B7FDE62E5F}"/>
              </a:ext>
            </a:extLst>
          </p:cNvPr>
          <p:cNvSpPr>
            <a:spLocks xmlns:a="http://schemas.openxmlformats.org/drawingml/2006/main" noGrp="1"/>
          </p:cNvSpPr>
          <p:nvPr/>
        </p:nvSpPr>
        <p:spPr>
          <a:xfrm xmlns:a="http://schemas.openxmlformats.org/drawingml/2006/main">
            <a:off x="971550" y="2781300"/>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source_id</a:t>
            </a:r>
          </a:p>
        </p:txBody>
      </p:sp>
      <p:sp>
        <p:nvSpPr>
          <p:cNvPr id="10" name="">
            <a:extLst xmlns:a="http://schemas.openxmlformats.org/drawingml/2006/main">
              <a:ext uri="{FF2B5EF4-FFF2-40B4-BE49-F238E27FC236}">
                <a16:creationId xmlns:a16="http://schemas.microsoft.com/office/drawing/2014/main" id="{A3CD7114-594C-4C21-B564-93FDD58C0458}"/>
              </a:ext>
            </a:extLst>
          </p:cNvPr>
          <p:cNvSpPr>
            <a:spLocks xmlns:a="http://schemas.openxmlformats.org/drawingml/2006/main" noGrp="1"/>
          </p:cNvSpPr>
          <p:nvPr/>
        </p:nvSpPr>
        <p:spPr>
          <a:xfrm xmlns:a="http://schemas.openxmlformats.org/drawingml/2006/main">
            <a:off x="2114550" y="27813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stable row or URL</a:t>
            </a:r>
          </a:p>
        </p:txBody>
      </p:sp>
      <p:sp>
        <p:nvSpPr>
          <p:cNvPr id="11" name="">
            <a:extLst xmlns:a="http://schemas.openxmlformats.org/drawingml/2006/main">
              <a:ext uri="{FF2B5EF4-FFF2-40B4-BE49-F238E27FC236}">
                <a16:creationId xmlns:a16="http://schemas.microsoft.com/office/drawing/2014/main" id="{037399B5-B7E8-4AE0-A434-341B6DF5B1F4}"/>
              </a:ext>
            </a:extLst>
          </p:cNvPr>
          <p:cNvSpPr>
            <a:spLocks xmlns:a="http://schemas.openxmlformats.org/drawingml/2006/main" noGrp="1"/>
          </p:cNvSpPr>
          <p:nvPr/>
        </p:nvSpPr>
        <p:spPr>
          <a:xfrm xmlns:a="http://schemas.openxmlformats.org/drawingml/2006/main">
            <a:off x="971550" y="3143250"/>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family</a:t>
            </a:r>
          </a:p>
        </p:txBody>
      </p:sp>
      <p:sp>
        <p:nvSpPr>
          <p:cNvPr id="12" name="">
            <a:extLst xmlns:a="http://schemas.openxmlformats.org/drawingml/2006/main">
              <a:ext uri="{FF2B5EF4-FFF2-40B4-BE49-F238E27FC236}">
                <a16:creationId xmlns:a16="http://schemas.microsoft.com/office/drawing/2014/main" id="{539C45A1-5AD9-4752-A7C2-F8C7F5A11A0B}"/>
              </a:ext>
            </a:extLst>
          </p:cNvPr>
          <p:cNvSpPr>
            <a:spLocks xmlns:a="http://schemas.openxmlformats.org/drawingml/2006/main" noGrp="1"/>
          </p:cNvSpPr>
          <p:nvPr/>
        </p:nvSpPr>
        <p:spPr>
          <a:xfrm xmlns:a="http://schemas.openxmlformats.org/drawingml/2006/main">
            <a:off x="2114550" y="3143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law / idiom / QA / fact</a:t>
            </a:r>
          </a:p>
        </p:txBody>
      </p:sp>
      <p:sp>
        <p:nvSpPr>
          <p:cNvPr id="13" name="">
            <a:extLst xmlns:a="http://schemas.openxmlformats.org/drawingml/2006/main">
              <a:ext uri="{FF2B5EF4-FFF2-40B4-BE49-F238E27FC236}">
                <a16:creationId xmlns:a16="http://schemas.microsoft.com/office/drawing/2014/main" id="{31D9D124-62F9-4D2C-BEBD-08F87079FD45}"/>
              </a:ext>
            </a:extLst>
          </p:cNvPr>
          <p:cNvSpPr>
            <a:spLocks xmlns:a="http://schemas.openxmlformats.org/drawingml/2006/main" noGrp="1"/>
          </p:cNvSpPr>
          <p:nvPr/>
        </p:nvSpPr>
        <p:spPr>
          <a:xfrm xmlns:a="http://schemas.openxmlformats.org/drawingml/2006/main">
            <a:off x="971550" y="3505200"/>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entity</a:t>
            </a:r>
          </a:p>
        </p:txBody>
      </p:sp>
      <p:sp>
        <p:nvSpPr>
          <p:cNvPr id="14" name="">
            <a:extLst xmlns:a="http://schemas.openxmlformats.org/drawingml/2006/main">
              <a:ext uri="{FF2B5EF4-FFF2-40B4-BE49-F238E27FC236}">
                <a16:creationId xmlns:a16="http://schemas.microsoft.com/office/drawing/2014/main" id="{26578B0F-E77B-41E4-BCB1-B7966D4397CA}"/>
              </a:ext>
            </a:extLst>
          </p:cNvPr>
          <p:cNvSpPr>
            <a:spLocks xmlns:a="http://schemas.openxmlformats.org/drawingml/2006/main" noGrp="1"/>
          </p:cNvSpPr>
          <p:nvPr/>
        </p:nvSpPr>
        <p:spPr>
          <a:xfrm xmlns:a="http://schemas.openxmlformats.org/drawingml/2006/main">
            <a:off x="2114550" y="35052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normalized subject</a:t>
            </a:r>
          </a:p>
        </p:txBody>
      </p:sp>
      <p:sp>
        <p:nvSpPr>
          <p:cNvPr id="15" name="">
            <a:extLst xmlns:a="http://schemas.openxmlformats.org/drawingml/2006/main">
              <a:ext uri="{FF2B5EF4-FFF2-40B4-BE49-F238E27FC236}">
                <a16:creationId xmlns:a16="http://schemas.microsoft.com/office/drawing/2014/main" id="{6110DCF0-0612-42C6-8154-E42FEB27E457}"/>
              </a:ext>
            </a:extLst>
          </p:cNvPr>
          <p:cNvSpPr>
            <a:spLocks xmlns:a="http://schemas.openxmlformats.org/drawingml/2006/main" noGrp="1"/>
          </p:cNvSpPr>
          <p:nvPr/>
        </p:nvSpPr>
        <p:spPr>
          <a:xfrm xmlns:a="http://schemas.openxmlformats.org/drawingml/2006/main">
            <a:off x="971550" y="3867150"/>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predicate</a:t>
            </a:r>
          </a:p>
        </p:txBody>
      </p:sp>
      <p:sp>
        <p:nvSpPr>
          <p:cNvPr id="16" name="">
            <a:extLst xmlns:a="http://schemas.openxmlformats.org/drawingml/2006/main">
              <a:ext uri="{FF2B5EF4-FFF2-40B4-BE49-F238E27FC236}">
                <a16:creationId xmlns:a16="http://schemas.microsoft.com/office/drawing/2014/main" id="{A712A859-9040-4990-AB35-D8E0D177C8C6}"/>
              </a:ext>
            </a:extLst>
          </p:cNvPr>
          <p:cNvSpPr>
            <a:spLocks xmlns:a="http://schemas.openxmlformats.org/drawingml/2006/main" noGrp="1"/>
          </p:cNvSpPr>
          <p:nvPr/>
        </p:nvSpPr>
        <p:spPr>
          <a:xfrm xmlns:a="http://schemas.openxmlformats.org/drawingml/2006/main">
            <a:off x="2114550" y="38671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requested relation</a:t>
            </a:r>
          </a:p>
        </p:txBody>
      </p:sp>
      <p:sp>
        <p:nvSpPr>
          <p:cNvPr id="17" name="">
            <a:extLst xmlns:a="http://schemas.openxmlformats.org/drawingml/2006/main">
              <a:ext uri="{FF2B5EF4-FFF2-40B4-BE49-F238E27FC236}">
                <a16:creationId xmlns:a16="http://schemas.microsoft.com/office/drawing/2014/main" id="{65A3423E-4738-402F-AEDC-C2349387C68A}"/>
              </a:ext>
            </a:extLst>
          </p:cNvPr>
          <p:cNvSpPr>
            <a:spLocks xmlns:a="http://schemas.openxmlformats.org/drawingml/2006/main" noGrp="1"/>
          </p:cNvSpPr>
          <p:nvPr/>
        </p:nvSpPr>
        <p:spPr>
          <a:xfrm xmlns:a="http://schemas.openxmlformats.org/drawingml/2006/main">
            <a:off x="971550" y="4229100"/>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value</a:t>
            </a:r>
          </a:p>
        </p:txBody>
      </p:sp>
      <p:sp>
        <p:nvSpPr>
          <p:cNvPr id="18" name="">
            <a:extLst xmlns:a="http://schemas.openxmlformats.org/drawingml/2006/main">
              <a:ext uri="{FF2B5EF4-FFF2-40B4-BE49-F238E27FC236}">
                <a16:creationId xmlns:a16="http://schemas.microsoft.com/office/drawing/2014/main" id="{2D5A5E45-D642-482A-8DC1-0549C94459D8}"/>
              </a:ext>
            </a:extLst>
          </p:cNvPr>
          <p:cNvSpPr>
            <a:spLocks xmlns:a="http://schemas.openxmlformats.org/drawingml/2006/main" noGrp="1"/>
          </p:cNvSpPr>
          <p:nvPr/>
        </p:nvSpPr>
        <p:spPr>
          <a:xfrm xmlns:a="http://schemas.openxmlformats.org/drawingml/2006/main">
            <a:off x="2114550" y="42291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answer or claim</a:t>
            </a:r>
          </a:p>
        </p:txBody>
      </p:sp>
      <p:sp>
        <p:nvSpPr>
          <p:cNvPr id="19" name="">
            <a:extLst xmlns:a="http://schemas.openxmlformats.org/drawingml/2006/main">
              <a:ext uri="{FF2B5EF4-FFF2-40B4-BE49-F238E27FC236}">
                <a16:creationId xmlns:a16="http://schemas.microsoft.com/office/drawing/2014/main" id="{A90400D4-CD85-42A3-B214-A49FB259DFA1}"/>
              </a:ext>
            </a:extLst>
          </p:cNvPr>
          <p:cNvSpPr>
            <a:spLocks xmlns:a="http://schemas.openxmlformats.org/drawingml/2006/main" noGrp="1"/>
          </p:cNvSpPr>
          <p:nvPr/>
        </p:nvSpPr>
        <p:spPr>
          <a:xfrm xmlns:a="http://schemas.openxmlformats.org/drawingml/2006/main">
            <a:off x="971550" y="4591050"/>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provenance</a:t>
            </a:r>
          </a:p>
        </p:txBody>
      </p:sp>
      <p:sp>
        <p:nvSpPr>
          <p:cNvPr id="20" name="">
            <a:extLst xmlns:a="http://schemas.openxmlformats.org/drawingml/2006/main">
              <a:ext uri="{FF2B5EF4-FFF2-40B4-BE49-F238E27FC236}">
                <a16:creationId xmlns:a16="http://schemas.microsoft.com/office/drawing/2014/main" id="{B2D37EA2-B2C7-4956-A8FE-00BC39BF52B5}"/>
              </a:ext>
            </a:extLst>
          </p:cNvPr>
          <p:cNvSpPr>
            <a:spLocks xmlns:a="http://schemas.openxmlformats.org/drawingml/2006/main" noGrp="1"/>
          </p:cNvSpPr>
          <p:nvPr/>
        </p:nvSpPr>
        <p:spPr>
          <a:xfrm xmlns:a="http://schemas.openxmlformats.org/drawingml/2006/main">
            <a:off x="2114550" y="45910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dataset + citation</a:t>
            </a:r>
          </a:p>
        </p:txBody>
      </p:sp>
      <p:sp>
        <p:nvSpPr>
          <p:cNvPr id="21" name="">
            <a:extLst xmlns:a="http://schemas.openxmlformats.org/drawingml/2006/main">
              <a:ext uri="{FF2B5EF4-FFF2-40B4-BE49-F238E27FC236}">
                <a16:creationId xmlns:a16="http://schemas.microsoft.com/office/drawing/2014/main" id="{2A885726-8256-43EC-8312-7EED0137FA10}"/>
              </a:ext>
            </a:extLst>
          </p:cNvPr>
          <p:cNvSpPr>
            <a:spLocks xmlns:a="http://schemas.openxmlformats.org/drawingml/2006/main" noGrp="1"/>
          </p:cNvSpPr>
          <p:nvPr/>
        </p:nvSpPr>
        <p:spPr>
          <a:xfrm xmlns:a="http://schemas.openxmlformats.org/drawingml/2006/main">
            <a:off x="4229100" y="20955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F172A"/>
                </a:solidFill>
              </a:defRPr>
            </a:pPr>
            <a:r>
              <a:rPr sz="1725" b="1">
                <a:solidFill>
                  <a:srgbClr val="0F172A"/>
                </a:solidFill>
              </a:rPr>
              <a:t>Admission gate</a:t>
            </a:r>
          </a:p>
        </p:txBody>
      </p:sp>
      <p:sp>
        <p:nvSpPr>
          <p:cNvPr id="22" name="">
            <a:extLst xmlns:a="http://schemas.openxmlformats.org/drawingml/2006/main">
              <a:ext uri="{FF2B5EF4-FFF2-40B4-BE49-F238E27FC236}">
                <a16:creationId xmlns:a16="http://schemas.microsoft.com/office/drawing/2014/main" id="{B479C039-487A-4B6D-BBC1-4D55D56A7B4A}"/>
              </a:ext>
            </a:extLst>
          </p:cNvPr>
          <p:cNvSpPr>
            <a:spLocks xmlns:a="http://schemas.openxmlformats.org/drawingml/2006/main" noGrp="1"/>
          </p:cNvSpPr>
          <p:nvPr/>
        </p:nvSpPr>
        <p:spPr>
          <a:xfrm xmlns:a="http://schemas.openxmlformats.org/drawingml/2006/main">
            <a:off x="3981450" y="2609850"/>
            <a:ext cx="1752600" cy="990600"/>
          </a:xfrm>
          <a:prstGeom xmlns:a="http://schemas.openxmlformats.org/drawingml/2006/main" prst="roundRect">
            <a:avLst>
              <a:gd name="adj" fmla="val 13462"/>
            </a:avLst>
          </a:prstGeom>
          <a:solidFill xmlns:a="http://schemas.openxmlformats.org/drawingml/2006/main">
            <a:srgbClr val="DDF2EE"/>
          </a:solidFill>
          <a:ln xmlns:a="http://schemas.openxmlformats.org/drawingml/2006/main" w="9525">
            <a:solidFill>
              <a:srgbClr val="2A8C82"/>
            </a:solidFill>
            <a:prstDash val="solid"/>
          </a:ln>
        </p:spPr>
      </p:sp>
      <p:sp>
        <p:nvSpPr>
          <p:cNvPr id="23" name="">
            <a:extLst xmlns:a="http://schemas.openxmlformats.org/drawingml/2006/main">
              <a:ext uri="{FF2B5EF4-FFF2-40B4-BE49-F238E27FC236}">
                <a16:creationId xmlns:a16="http://schemas.microsoft.com/office/drawing/2014/main" id="{9C3A9493-E36E-4E94-A189-ECF56BA4C7CC}"/>
              </a:ext>
            </a:extLst>
          </p:cNvPr>
          <p:cNvSpPr>
            <a:spLocks xmlns:a="http://schemas.openxmlformats.org/drawingml/2006/main" noGrp="1"/>
          </p:cNvSpPr>
          <p:nvPr/>
        </p:nvSpPr>
        <p:spPr>
          <a:xfrm xmlns:a="http://schemas.openxmlformats.org/drawingml/2006/main">
            <a:off x="4114800" y="27432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A8C82"/>
                </a:solidFill>
              </a:defRPr>
            </a:pPr>
            <a:r>
              <a:rPr sz="1200" b="1">
                <a:solidFill>
                  <a:srgbClr val="2A8C82"/>
                </a:solidFill>
              </a:rPr>
              <a:t>1</a:t>
            </a:r>
          </a:p>
        </p:txBody>
      </p:sp>
      <p:sp>
        <p:nvSpPr>
          <p:cNvPr id="24" name="">
            <a:extLst xmlns:a="http://schemas.openxmlformats.org/drawingml/2006/main">
              <a:ext uri="{FF2B5EF4-FFF2-40B4-BE49-F238E27FC236}">
                <a16:creationId xmlns:a16="http://schemas.microsoft.com/office/drawing/2014/main" id="{39CECD32-B24A-4DF4-A909-35DA87D37995}"/>
              </a:ext>
            </a:extLst>
          </p:cNvPr>
          <p:cNvSpPr>
            <a:spLocks xmlns:a="http://schemas.openxmlformats.org/drawingml/2006/main" noGrp="1"/>
          </p:cNvSpPr>
          <p:nvPr/>
        </p:nvSpPr>
        <p:spPr>
          <a:xfrm xmlns:a="http://schemas.openxmlformats.org/drawingml/2006/main">
            <a:off x="4419600" y="2724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Entity</a:t>
            </a:r>
          </a:p>
        </p:txBody>
      </p:sp>
      <p:sp>
        <p:nvSpPr>
          <p:cNvPr id="25" name="">
            <a:extLst xmlns:a="http://schemas.openxmlformats.org/drawingml/2006/main">
              <a:ext uri="{FF2B5EF4-FFF2-40B4-BE49-F238E27FC236}">
                <a16:creationId xmlns:a16="http://schemas.microsoft.com/office/drawing/2014/main" id="{0B7EC195-D941-4E15-A6AF-6C80EF179BAB}"/>
              </a:ext>
            </a:extLst>
          </p:cNvPr>
          <p:cNvSpPr>
            <a:spLocks xmlns:a="http://schemas.openxmlformats.org/drawingml/2006/main" noGrp="1"/>
          </p:cNvSpPr>
          <p:nvPr/>
        </p:nvSpPr>
        <p:spPr>
          <a:xfrm xmlns:a="http://schemas.openxmlformats.org/drawingml/2006/main">
            <a:off x="4152900" y="308610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same normalized subject</a:t>
            </a:r>
          </a:p>
        </p:txBody>
      </p:sp>
      <p:sp>
        <p:nvSpPr>
          <p:cNvPr id="26" name="">
            <a:extLst xmlns:a="http://schemas.openxmlformats.org/drawingml/2006/main">
              <a:ext uri="{FF2B5EF4-FFF2-40B4-BE49-F238E27FC236}">
                <a16:creationId xmlns:a16="http://schemas.microsoft.com/office/drawing/2014/main" id="{3FFBB91E-F55A-4964-9480-83AC5BFE1B26}"/>
              </a:ext>
            </a:extLst>
          </p:cNvPr>
          <p:cNvSpPr>
            <a:spLocks xmlns:a="http://schemas.openxmlformats.org/drawingml/2006/main" noGrp="1"/>
          </p:cNvSpPr>
          <p:nvPr/>
        </p:nvSpPr>
        <p:spPr>
          <a:xfrm xmlns:a="http://schemas.openxmlformats.org/drawingml/2006/main">
            <a:off x="5962650" y="2609850"/>
            <a:ext cx="1752600" cy="990600"/>
          </a:xfrm>
          <a:prstGeom xmlns:a="http://schemas.openxmlformats.org/drawingml/2006/main" prst="roundRect">
            <a:avLst>
              <a:gd name="adj" fmla="val 13462"/>
            </a:avLst>
          </a:prstGeom>
          <a:solidFill xmlns:a="http://schemas.openxmlformats.org/drawingml/2006/main">
            <a:srgbClr val="DDF2EE"/>
          </a:solidFill>
          <a:ln xmlns:a="http://schemas.openxmlformats.org/drawingml/2006/main" w="9525">
            <a:solidFill>
              <a:srgbClr val="2A8C82"/>
            </a:solidFill>
            <a:prstDash val="solid"/>
          </a:ln>
        </p:spPr>
      </p:sp>
      <p:sp>
        <p:nvSpPr>
          <p:cNvPr id="27" name="">
            <a:extLst xmlns:a="http://schemas.openxmlformats.org/drawingml/2006/main">
              <a:ext uri="{FF2B5EF4-FFF2-40B4-BE49-F238E27FC236}">
                <a16:creationId xmlns:a16="http://schemas.microsoft.com/office/drawing/2014/main" id="{47791DBE-9170-4E0D-8082-95138C83A9A8}"/>
              </a:ext>
            </a:extLst>
          </p:cNvPr>
          <p:cNvSpPr>
            <a:spLocks xmlns:a="http://schemas.openxmlformats.org/drawingml/2006/main" noGrp="1"/>
          </p:cNvSpPr>
          <p:nvPr/>
        </p:nvSpPr>
        <p:spPr>
          <a:xfrm xmlns:a="http://schemas.openxmlformats.org/drawingml/2006/main">
            <a:off x="6096000" y="27432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A8C82"/>
                </a:solidFill>
              </a:defRPr>
            </a:pPr>
            <a:r>
              <a:rPr sz="1200" b="1">
                <a:solidFill>
                  <a:srgbClr val="2A8C82"/>
                </a:solidFill>
              </a:rPr>
              <a:t>2</a:t>
            </a:r>
          </a:p>
        </p:txBody>
      </p:sp>
      <p:sp>
        <p:nvSpPr>
          <p:cNvPr id="28" name="">
            <a:extLst xmlns:a="http://schemas.openxmlformats.org/drawingml/2006/main">
              <a:ext uri="{FF2B5EF4-FFF2-40B4-BE49-F238E27FC236}">
                <a16:creationId xmlns:a16="http://schemas.microsoft.com/office/drawing/2014/main" id="{FE7BCCDA-E71B-4FF5-A836-DFD261B778A9}"/>
              </a:ext>
            </a:extLst>
          </p:cNvPr>
          <p:cNvSpPr>
            <a:spLocks xmlns:a="http://schemas.openxmlformats.org/drawingml/2006/main" noGrp="1"/>
          </p:cNvSpPr>
          <p:nvPr/>
        </p:nvSpPr>
        <p:spPr>
          <a:xfrm xmlns:a="http://schemas.openxmlformats.org/drawingml/2006/main">
            <a:off x="6400800" y="2724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Predicate</a:t>
            </a:r>
          </a:p>
        </p:txBody>
      </p:sp>
      <p:sp>
        <p:nvSpPr>
          <p:cNvPr id="29" name="">
            <a:extLst xmlns:a="http://schemas.openxmlformats.org/drawingml/2006/main">
              <a:ext uri="{FF2B5EF4-FFF2-40B4-BE49-F238E27FC236}">
                <a16:creationId xmlns:a16="http://schemas.microsoft.com/office/drawing/2014/main" id="{0F6B292F-19EB-434C-B90B-98EB7607B13D}"/>
              </a:ext>
            </a:extLst>
          </p:cNvPr>
          <p:cNvSpPr>
            <a:spLocks xmlns:a="http://schemas.openxmlformats.org/drawingml/2006/main" noGrp="1"/>
          </p:cNvSpPr>
          <p:nvPr/>
        </p:nvSpPr>
        <p:spPr>
          <a:xfrm xmlns:a="http://schemas.openxmlformats.org/drawingml/2006/main">
            <a:off x="6134100" y="308610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same requested relation</a:t>
            </a:r>
          </a:p>
        </p:txBody>
      </p:sp>
      <p:sp>
        <p:nvSpPr>
          <p:cNvPr id="30" name="">
            <a:extLst xmlns:a="http://schemas.openxmlformats.org/drawingml/2006/main">
              <a:ext uri="{FF2B5EF4-FFF2-40B4-BE49-F238E27FC236}">
                <a16:creationId xmlns:a16="http://schemas.microsoft.com/office/drawing/2014/main" id="{D9215995-2AE3-43C5-A1D6-37CB1CB7ABCF}"/>
              </a:ext>
            </a:extLst>
          </p:cNvPr>
          <p:cNvSpPr>
            <a:spLocks xmlns:a="http://schemas.openxmlformats.org/drawingml/2006/main" noGrp="1"/>
          </p:cNvSpPr>
          <p:nvPr/>
        </p:nvSpPr>
        <p:spPr>
          <a:xfrm xmlns:a="http://schemas.openxmlformats.org/drawingml/2006/main">
            <a:off x="3981450" y="3848100"/>
            <a:ext cx="1752600" cy="990600"/>
          </a:xfrm>
          <a:prstGeom xmlns:a="http://schemas.openxmlformats.org/drawingml/2006/main" prst="roundRect">
            <a:avLst>
              <a:gd name="adj" fmla="val 13462"/>
            </a:avLst>
          </a:prstGeom>
          <a:solidFill xmlns:a="http://schemas.openxmlformats.org/drawingml/2006/main">
            <a:srgbClr val="DDF2EE"/>
          </a:solidFill>
          <a:ln xmlns:a="http://schemas.openxmlformats.org/drawingml/2006/main" w="9525">
            <a:solidFill>
              <a:srgbClr val="2A8C82"/>
            </a:solidFill>
            <a:prstDash val="solid"/>
          </a:ln>
        </p:spPr>
      </p:sp>
      <p:sp>
        <p:nvSpPr>
          <p:cNvPr id="31" name="">
            <a:extLst xmlns:a="http://schemas.openxmlformats.org/drawingml/2006/main">
              <a:ext uri="{FF2B5EF4-FFF2-40B4-BE49-F238E27FC236}">
                <a16:creationId xmlns:a16="http://schemas.microsoft.com/office/drawing/2014/main" id="{4224C003-782E-4265-BD94-0998CF314423}"/>
              </a:ext>
            </a:extLst>
          </p:cNvPr>
          <p:cNvSpPr>
            <a:spLocks xmlns:a="http://schemas.openxmlformats.org/drawingml/2006/main" noGrp="1"/>
          </p:cNvSpPr>
          <p:nvPr/>
        </p:nvSpPr>
        <p:spPr>
          <a:xfrm xmlns:a="http://schemas.openxmlformats.org/drawingml/2006/main">
            <a:off x="4114800" y="39814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A8C82"/>
                </a:solidFill>
              </a:defRPr>
            </a:pPr>
            <a:r>
              <a:rPr sz="1200" b="1">
                <a:solidFill>
                  <a:srgbClr val="2A8C82"/>
                </a:solidFill>
              </a:rPr>
              <a:t>3</a:t>
            </a:r>
          </a:p>
        </p:txBody>
      </p:sp>
      <p:sp>
        <p:nvSpPr>
          <p:cNvPr id="32" name="">
            <a:extLst xmlns:a="http://schemas.openxmlformats.org/drawingml/2006/main">
              <a:ext uri="{FF2B5EF4-FFF2-40B4-BE49-F238E27FC236}">
                <a16:creationId xmlns:a16="http://schemas.microsoft.com/office/drawing/2014/main" id="{3533A3F9-B210-4C8B-9CC8-39C376DDDB0D}"/>
              </a:ext>
            </a:extLst>
          </p:cNvPr>
          <p:cNvSpPr>
            <a:spLocks xmlns:a="http://schemas.openxmlformats.org/drawingml/2006/main" noGrp="1"/>
          </p:cNvSpPr>
          <p:nvPr/>
        </p:nvSpPr>
        <p:spPr>
          <a:xfrm xmlns:a="http://schemas.openxmlformats.org/drawingml/2006/main">
            <a:off x="4419600" y="39624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Value</a:t>
            </a:r>
          </a:p>
        </p:txBody>
      </p:sp>
      <p:sp>
        <p:nvSpPr>
          <p:cNvPr id="33" name="">
            <a:extLst xmlns:a="http://schemas.openxmlformats.org/drawingml/2006/main">
              <a:ext uri="{FF2B5EF4-FFF2-40B4-BE49-F238E27FC236}">
                <a16:creationId xmlns:a16="http://schemas.microsoft.com/office/drawing/2014/main" id="{80D4CF0A-7F0B-4D51-A864-63A788D57534}"/>
              </a:ext>
            </a:extLst>
          </p:cNvPr>
          <p:cNvSpPr>
            <a:spLocks xmlns:a="http://schemas.openxmlformats.org/drawingml/2006/main" noGrp="1"/>
          </p:cNvSpPr>
          <p:nvPr/>
        </p:nvSpPr>
        <p:spPr>
          <a:xfrm xmlns:a="http://schemas.openxmlformats.org/drawingml/2006/main">
            <a:off x="4152900" y="43243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exact or typed equivalence</a:t>
            </a:r>
          </a:p>
        </p:txBody>
      </p:sp>
      <p:sp>
        <p:nvSpPr>
          <p:cNvPr id="34" name="">
            <a:extLst xmlns:a="http://schemas.openxmlformats.org/drawingml/2006/main">
              <a:ext uri="{FF2B5EF4-FFF2-40B4-BE49-F238E27FC236}">
                <a16:creationId xmlns:a16="http://schemas.microsoft.com/office/drawing/2014/main" id="{F31A5AEB-4924-482C-B0F7-C0A3E10D4AF7}"/>
              </a:ext>
            </a:extLst>
          </p:cNvPr>
          <p:cNvSpPr>
            <a:spLocks xmlns:a="http://schemas.openxmlformats.org/drawingml/2006/main" noGrp="1"/>
          </p:cNvSpPr>
          <p:nvPr/>
        </p:nvSpPr>
        <p:spPr>
          <a:xfrm xmlns:a="http://schemas.openxmlformats.org/drawingml/2006/main">
            <a:off x="5962650" y="3848100"/>
            <a:ext cx="1752600" cy="990600"/>
          </a:xfrm>
          <a:prstGeom xmlns:a="http://schemas.openxmlformats.org/drawingml/2006/main" prst="roundRect">
            <a:avLst>
              <a:gd name="adj" fmla="val 13462"/>
            </a:avLst>
          </a:prstGeom>
          <a:solidFill xmlns:a="http://schemas.openxmlformats.org/drawingml/2006/main">
            <a:srgbClr val="FBF0D8"/>
          </a:solidFill>
          <a:ln xmlns:a="http://schemas.openxmlformats.org/drawingml/2006/main" w="9525">
            <a:solidFill>
              <a:srgbClr val="D59B32"/>
            </a:solidFill>
            <a:prstDash val="solid"/>
          </a:ln>
        </p:spPr>
      </p:sp>
      <p:sp>
        <p:nvSpPr>
          <p:cNvPr id="35" name="">
            <a:extLst xmlns:a="http://schemas.openxmlformats.org/drawingml/2006/main">
              <a:ext uri="{FF2B5EF4-FFF2-40B4-BE49-F238E27FC236}">
                <a16:creationId xmlns:a16="http://schemas.microsoft.com/office/drawing/2014/main" id="{4BA607CD-7F77-4168-9B05-64A1D9CFEDA9}"/>
              </a:ext>
            </a:extLst>
          </p:cNvPr>
          <p:cNvSpPr>
            <a:spLocks xmlns:a="http://schemas.openxmlformats.org/drawingml/2006/main" noGrp="1"/>
          </p:cNvSpPr>
          <p:nvPr/>
        </p:nvSpPr>
        <p:spPr>
          <a:xfrm xmlns:a="http://schemas.openxmlformats.org/drawingml/2006/main">
            <a:off x="6096000" y="39814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D59B32"/>
                </a:solidFill>
              </a:defRPr>
            </a:pPr>
            <a:r>
              <a:rPr sz="1200" b="1">
                <a:solidFill>
                  <a:srgbClr val="D59B32"/>
                </a:solidFill>
              </a:rPr>
              <a:t>4</a:t>
            </a:r>
          </a:p>
        </p:txBody>
      </p:sp>
      <p:sp>
        <p:nvSpPr>
          <p:cNvPr id="36" name="">
            <a:extLst xmlns:a="http://schemas.openxmlformats.org/drawingml/2006/main">
              <a:ext uri="{FF2B5EF4-FFF2-40B4-BE49-F238E27FC236}">
                <a16:creationId xmlns:a16="http://schemas.microsoft.com/office/drawing/2014/main" id="{B014E69B-04A2-4072-8BAA-CE80552DB8BF}"/>
              </a:ext>
            </a:extLst>
          </p:cNvPr>
          <p:cNvSpPr>
            <a:spLocks xmlns:a="http://schemas.openxmlformats.org/drawingml/2006/main" noGrp="1"/>
          </p:cNvSpPr>
          <p:nvPr/>
        </p:nvSpPr>
        <p:spPr>
          <a:xfrm xmlns:a="http://schemas.openxmlformats.org/drawingml/2006/main">
            <a:off x="6400800" y="39624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Conflict</a:t>
            </a:r>
          </a:p>
        </p:txBody>
      </p:sp>
      <p:sp>
        <p:nvSpPr>
          <p:cNvPr id="37" name="">
            <a:extLst xmlns:a="http://schemas.openxmlformats.org/drawingml/2006/main">
              <a:ext uri="{FF2B5EF4-FFF2-40B4-BE49-F238E27FC236}">
                <a16:creationId xmlns:a16="http://schemas.microsoft.com/office/drawing/2014/main" id="{EDDE125B-F49E-435F-9BF6-76B85996B193}"/>
              </a:ext>
            </a:extLst>
          </p:cNvPr>
          <p:cNvSpPr>
            <a:spLocks xmlns:a="http://schemas.openxmlformats.org/drawingml/2006/main" noGrp="1"/>
          </p:cNvSpPr>
          <p:nvPr/>
        </p:nvSpPr>
        <p:spPr>
          <a:xfrm xmlns:a="http://schemas.openxmlformats.org/drawingml/2006/main">
            <a:off x="6134100" y="43243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no equal-trust contradiction</a:t>
            </a:r>
          </a:p>
        </p:txBody>
      </p:sp>
      <p:sp>
        <p:nvSpPr>
          <p:cNvPr id="38" name="">
            <a:extLst xmlns:a="http://schemas.openxmlformats.org/drawingml/2006/main">
              <a:ext uri="{FF2B5EF4-FFF2-40B4-BE49-F238E27FC236}">
                <a16:creationId xmlns:a16="http://schemas.microsoft.com/office/drawing/2014/main" id="{90B11AF7-04D8-45F0-8010-678165A0AB62}"/>
              </a:ext>
            </a:extLst>
          </p:cNvPr>
          <p:cNvSpPr>
            <a:spLocks xmlns:a="http://schemas.openxmlformats.org/drawingml/2006/main" noGrp="1"/>
          </p:cNvSpPr>
          <p:nvPr/>
        </p:nvSpPr>
        <p:spPr>
          <a:xfrm xmlns:a="http://schemas.openxmlformats.org/drawingml/2006/main">
            <a:off x="4000500" y="5105400"/>
            <a:ext cx="3676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F5A7A"/>
                </a:solidFill>
              </a:defRPr>
            </a:pPr>
            <a:r>
              <a:rPr sz="1275" b="1">
                <a:solidFill>
                  <a:srgbClr val="1F5A7A"/>
                </a:solidFill>
              </a:rPr>
              <a:t>accept = entity AND predicate AND value AND no_conflict</a:t>
            </a:r>
          </a:p>
        </p:txBody>
      </p:sp>
      <p:sp>
        <p:nvSpPr>
          <p:cNvPr id="39" name="">
            <a:extLst xmlns:a="http://schemas.openxmlformats.org/drawingml/2006/main">
              <a:ext uri="{FF2B5EF4-FFF2-40B4-BE49-F238E27FC236}">
                <a16:creationId xmlns:a16="http://schemas.microsoft.com/office/drawing/2014/main" id="{B507EBC2-B869-4B51-86F1-D1A3DAA56D75}"/>
              </a:ext>
            </a:extLst>
          </p:cNvPr>
          <p:cNvSpPr>
            <a:spLocks xmlns:a="http://schemas.openxmlformats.org/drawingml/2006/main" noGrp="1"/>
          </p:cNvSpPr>
          <p:nvPr/>
        </p:nvSpPr>
        <p:spPr>
          <a:xfrm xmlns:a="http://schemas.openxmlformats.org/drawingml/2006/main">
            <a:off x="8401050" y="2076450"/>
            <a:ext cx="3009900" cy="3105150"/>
          </a:xfrm>
          <a:prstGeom xmlns:a="http://schemas.openxmlformats.org/drawingml/2006/main" prst="roundRect">
            <a:avLst>
              <a:gd name="adj" fmla="val 5063"/>
            </a:avLst>
          </a:prstGeom>
          <a:solidFill xmlns:a="http://schemas.openxmlformats.org/drawingml/2006/main">
            <a:srgbClr val="FFFFFF"/>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
            <a:extLst xmlns:a="http://schemas.openxmlformats.org/drawingml/2006/main">
              <a:ext uri="{FF2B5EF4-FFF2-40B4-BE49-F238E27FC236}">
                <a16:creationId xmlns:a16="http://schemas.microsoft.com/office/drawing/2014/main" id="{6F021255-AA67-465D-8792-FDE63762A1E6}"/>
              </a:ext>
            </a:extLst>
          </p:cNvPr>
          <p:cNvSpPr>
            <a:spLocks xmlns:a="http://schemas.openxmlformats.org/drawingml/2006/main" noGrp="1"/>
          </p:cNvSpPr>
          <p:nvPr/>
        </p:nvSpPr>
        <p:spPr>
          <a:xfrm xmlns:a="http://schemas.openxmlformats.org/drawingml/2006/main">
            <a:off x="8705850" y="228600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D59B32"/>
                </a:solidFill>
              </a:defRPr>
            </a:pPr>
            <a:r>
              <a:rPr sz="1725" b="1">
                <a:solidFill>
                  <a:srgbClr val="D59B32"/>
                </a:solidFill>
              </a:rPr>
              <a:t>Decision trace</a:t>
            </a:r>
          </a:p>
        </p:txBody>
      </p:sp>
      <p:sp>
        <p:nvSpPr>
          <p:cNvPr id="41" name="">
            <a:extLst xmlns:a="http://schemas.openxmlformats.org/drawingml/2006/main">
              <a:ext uri="{FF2B5EF4-FFF2-40B4-BE49-F238E27FC236}">
                <a16:creationId xmlns:a16="http://schemas.microsoft.com/office/drawing/2014/main" id="{471FC09E-66FF-41AF-B8E5-35D7EC9A5827}"/>
              </a:ext>
            </a:extLst>
          </p:cNvPr>
          <p:cNvSpPr>
            <a:spLocks xmlns:a="http://schemas.openxmlformats.org/drawingml/2006/main" noGrp="1"/>
          </p:cNvSpPr>
          <p:nvPr/>
        </p:nvSpPr>
        <p:spPr>
          <a:xfrm xmlns:a="http://schemas.openxmlformats.org/drawingml/2006/main">
            <a:off x="8610600" y="281940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route</a:t>
            </a:r>
          </a:p>
        </p:txBody>
      </p:sp>
      <p:sp>
        <p:nvSpPr>
          <p:cNvPr id="42" name="">
            <a:extLst xmlns:a="http://schemas.openxmlformats.org/drawingml/2006/main">
              <a:ext uri="{FF2B5EF4-FFF2-40B4-BE49-F238E27FC236}">
                <a16:creationId xmlns:a16="http://schemas.microsoft.com/office/drawing/2014/main" id="{AA1A7357-AAD5-4C1E-A367-FA1E90AFBB7A}"/>
              </a:ext>
            </a:extLst>
          </p:cNvPr>
          <p:cNvSpPr>
            <a:spLocks xmlns:a="http://schemas.openxmlformats.org/drawingml/2006/main" noGrp="1"/>
          </p:cNvSpPr>
          <p:nvPr/>
        </p:nvSpPr>
        <p:spPr>
          <a:xfrm xmlns:a="http://schemas.openxmlformats.org/drawingml/2006/main">
            <a:off x="9639300" y="281940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typed_evidence</a:t>
            </a:r>
          </a:p>
        </p:txBody>
      </p:sp>
      <p:sp>
        <p:nvSpPr>
          <p:cNvPr id="43" name="">
            <a:extLst xmlns:a="http://schemas.openxmlformats.org/drawingml/2006/main">
              <a:ext uri="{FF2B5EF4-FFF2-40B4-BE49-F238E27FC236}">
                <a16:creationId xmlns:a16="http://schemas.microsoft.com/office/drawing/2014/main" id="{4B29C1E1-4D16-4D12-B6F4-E41042CAE0A7}"/>
              </a:ext>
            </a:extLst>
          </p:cNvPr>
          <p:cNvSpPr>
            <a:spLocks xmlns:a="http://schemas.openxmlformats.org/drawingml/2006/main" noGrp="1"/>
          </p:cNvSpPr>
          <p:nvPr/>
        </p:nvSpPr>
        <p:spPr>
          <a:xfrm xmlns:a="http://schemas.openxmlformats.org/drawingml/2006/main">
            <a:off x="8610600" y="31813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source</a:t>
            </a:r>
          </a:p>
        </p:txBody>
      </p:sp>
      <p:sp>
        <p:nvSpPr>
          <p:cNvPr id="44" name="">
            <a:extLst xmlns:a="http://schemas.openxmlformats.org/drawingml/2006/main">
              <a:ext uri="{FF2B5EF4-FFF2-40B4-BE49-F238E27FC236}">
                <a16:creationId xmlns:a16="http://schemas.microsoft.com/office/drawing/2014/main" id="{BEA81012-4DB7-41DB-ABE6-90915FDF05E3}"/>
              </a:ext>
            </a:extLst>
          </p:cNvPr>
          <p:cNvSpPr>
            <a:spLocks xmlns:a="http://schemas.openxmlformats.org/drawingml/2006/main" noGrp="1"/>
          </p:cNvSpPr>
          <p:nvPr/>
        </p:nvSpPr>
        <p:spPr>
          <a:xfrm xmlns:a="http://schemas.openxmlformats.org/drawingml/2006/main">
            <a:off x="9639300" y="31813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law_section_42</a:t>
            </a:r>
          </a:p>
        </p:txBody>
      </p:sp>
      <p:sp>
        <p:nvSpPr>
          <p:cNvPr id="45" name="">
            <a:extLst xmlns:a="http://schemas.openxmlformats.org/drawingml/2006/main">
              <a:ext uri="{FF2B5EF4-FFF2-40B4-BE49-F238E27FC236}">
                <a16:creationId xmlns:a16="http://schemas.microsoft.com/office/drawing/2014/main" id="{D4604A52-3ECC-4B2A-996D-A02F5D678400}"/>
              </a:ext>
            </a:extLst>
          </p:cNvPr>
          <p:cNvSpPr>
            <a:spLocks xmlns:a="http://schemas.openxmlformats.org/drawingml/2006/main" noGrp="1"/>
          </p:cNvSpPr>
          <p:nvPr/>
        </p:nvSpPr>
        <p:spPr>
          <a:xfrm xmlns:a="http://schemas.openxmlformats.org/drawingml/2006/main">
            <a:off x="8610600" y="354330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predicate</a:t>
            </a:r>
          </a:p>
        </p:txBody>
      </p:sp>
      <p:sp>
        <p:nvSpPr>
          <p:cNvPr id="46" name="">
            <a:extLst xmlns:a="http://schemas.openxmlformats.org/drawingml/2006/main">
              <a:ext uri="{FF2B5EF4-FFF2-40B4-BE49-F238E27FC236}">
                <a16:creationId xmlns:a16="http://schemas.microsoft.com/office/drawing/2014/main" id="{FB2FE8C7-1F9B-4F75-9F60-A2EB22E3582A}"/>
              </a:ext>
            </a:extLst>
          </p:cNvPr>
          <p:cNvSpPr>
            <a:spLocks xmlns:a="http://schemas.openxmlformats.org/drawingml/2006/main" noGrp="1"/>
          </p:cNvSpPr>
          <p:nvPr/>
        </p:nvSpPr>
        <p:spPr>
          <a:xfrm xmlns:a="http://schemas.openxmlformats.org/drawingml/2006/main">
            <a:off x="9639300" y="354330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commencement date</a:t>
            </a:r>
          </a:p>
        </p:txBody>
      </p:sp>
      <p:sp>
        <p:nvSpPr>
          <p:cNvPr id="47" name="">
            <a:extLst xmlns:a="http://schemas.openxmlformats.org/drawingml/2006/main">
              <a:ext uri="{FF2B5EF4-FFF2-40B4-BE49-F238E27FC236}">
                <a16:creationId xmlns:a16="http://schemas.microsoft.com/office/drawing/2014/main" id="{D24013D8-8175-45F5-AC4D-5F82D3B269C3}"/>
              </a:ext>
            </a:extLst>
          </p:cNvPr>
          <p:cNvSpPr>
            <a:spLocks xmlns:a="http://schemas.openxmlformats.org/drawingml/2006/main" noGrp="1"/>
          </p:cNvSpPr>
          <p:nvPr/>
        </p:nvSpPr>
        <p:spPr>
          <a:xfrm xmlns:a="http://schemas.openxmlformats.org/drawingml/2006/main">
            <a:off x="8610600" y="39052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verdict</a:t>
            </a:r>
          </a:p>
        </p:txBody>
      </p:sp>
      <p:sp>
        <p:nvSpPr>
          <p:cNvPr id="48" name="">
            <a:extLst xmlns:a="http://schemas.openxmlformats.org/drawingml/2006/main">
              <a:ext uri="{FF2B5EF4-FFF2-40B4-BE49-F238E27FC236}">
                <a16:creationId xmlns:a16="http://schemas.microsoft.com/office/drawing/2014/main" id="{9027CD96-7C4B-4D62-BBA2-5E7C94C384B6}"/>
              </a:ext>
            </a:extLst>
          </p:cNvPr>
          <p:cNvSpPr>
            <a:spLocks xmlns:a="http://schemas.openxmlformats.org/drawingml/2006/main" noGrp="1"/>
          </p:cNvSpPr>
          <p:nvPr/>
        </p:nvSpPr>
        <p:spPr>
          <a:xfrm xmlns:a="http://schemas.openxmlformats.org/drawingml/2006/main">
            <a:off x="9639300" y="39052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F172A"/>
                </a:solidFill>
              </a:defRPr>
            </a:pPr>
            <a:r>
              <a:rPr sz="1350" b="1">
                <a:solidFill>
                  <a:srgbClr val="0F172A"/>
                </a:solidFill>
              </a:rPr>
              <a:t>1</a:t>
            </a:r>
          </a:p>
        </p:txBody>
      </p:sp>
      <p:sp>
        <p:nvSpPr>
          <p:cNvPr id="49" name="">
            <a:extLst xmlns:a="http://schemas.openxmlformats.org/drawingml/2006/main">
              <a:ext uri="{FF2B5EF4-FFF2-40B4-BE49-F238E27FC236}">
                <a16:creationId xmlns:a16="http://schemas.microsoft.com/office/drawing/2014/main" id="{54F3827E-5F0C-46F3-A20A-6C80E8825CE6}"/>
              </a:ext>
            </a:extLst>
          </p:cNvPr>
          <p:cNvSpPr>
            <a:spLocks xmlns:a="http://schemas.openxmlformats.org/drawingml/2006/main" noGrp="1"/>
          </p:cNvSpPr>
          <p:nvPr/>
        </p:nvSpPr>
        <p:spPr>
          <a:xfrm xmlns:a="http://schemas.openxmlformats.org/drawingml/2006/main">
            <a:off x="8515350" y="4514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B5483A"/>
                </a:solidFill>
              </a:defRPr>
            </a:pPr>
            <a:r>
              <a:rPr sz="1200" b="1">
                <a:solidFill>
                  <a:srgbClr val="B5483A"/>
                </a:solidFill>
              </a:rPr>
              <a:t>If any gate fails: abstain (verdict = null)</a:t>
            </a:r>
          </a:p>
        </p:txBody>
      </p:sp>
      <p:sp>
        <p:nvSpPr>
          <p:cNvPr id="50" name="">
            <a:extLst xmlns:a="http://schemas.openxmlformats.org/drawingml/2006/main">
              <a:ext uri="{FF2B5EF4-FFF2-40B4-BE49-F238E27FC236}">
                <a16:creationId xmlns:a16="http://schemas.microsoft.com/office/drawing/2014/main" id="{203DDBB5-0E35-414B-8AAA-F4F2CB33958B}"/>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1" name="source-9">
            <a:extLst xmlns:a="http://schemas.openxmlformats.org/drawingml/2006/main">
              <a:ext uri="{FF2B5EF4-FFF2-40B4-BE49-F238E27FC236}">
                <a16:creationId xmlns:a16="http://schemas.microsoft.com/office/drawing/2014/main" id="{A6431AA1-8957-41EB-A43C-F915B8BFB872}"/>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Report Fig. 2b  |  [7] v91 evidence schema, provenance ledger and decision trace</a:t>
            </a:r>
          </a:p>
        </p:txBody>
      </p:sp>
      <p:sp>
        <p:nvSpPr>
          <p:cNvPr id="52" name="page-9">
            <a:extLst xmlns:a="http://schemas.openxmlformats.org/drawingml/2006/main">
              <a:ext uri="{FF2B5EF4-FFF2-40B4-BE49-F238E27FC236}">
                <a16:creationId xmlns:a16="http://schemas.microsoft.com/office/drawing/2014/main" id="{E7E35BE0-9965-4622-B65C-4EC702FB9889}"/>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09</a:t>
            </a:r>
          </a:p>
        </p:txBody>
      </p:sp>
    </p:spTree>
    <p:extLst>
      <p:ext uri="{BB962C8B-B14F-4D97-AF65-F5344CB8AC3E}">
        <p14:creationId xmlns:p14="http://schemas.microsoft.com/office/powerpoint/2010/main" val="1439275797"/>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6" name="kicker-10">
            <a:extLst xmlns:a="http://schemas.openxmlformats.org/drawingml/2006/main">
              <a:ext uri="{FF2B5EF4-FFF2-40B4-BE49-F238E27FC236}">
                <a16:creationId xmlns:a16="http://schemas.microsoft.com/office/drawing/2014/main" id="{70DE1D79-8DC7-43D6-9761-6E4E60C79C5C}"/>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title-10">
            <a:extLst xmlns:a="http://schemas.openxmlformats.org/drawingml/2006/main">
              <a:ext uri="{FF2B5EF4-FFF2-40B4-BE49-F238E27FC236}">
                <a16:creationId xmlns:a16="http://schemas.microsoft.com/office/drawing/2014/main" id="{1365A60E-E84E-4C00-AE43-7E62CB205D7C}"/>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Versioned comparisons locate the main design pivots</a:t>
            </a:r>
          </a:p>
        </p:txBody>
      </p:sp>
      <p:sp>
        <p:nvSpPr>
          <p:cNvPr id="3" name="">
            <a:extLst xmlns:a="http://schemas.openxmlformats.org/drawingml/2006/main">
              <a:ext uri="{FF2B5EF4-FFF2-40B4-BE49-F238E27FC236}">
                <a16:creationId xmlns:a16="http://schemas.microsoft.com/office/drawing/2014/main" id="{3C47268A-662D-4394-849C-AAF82247981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045D304B-EA3C-4248-9DF7-8D4EFAC312A5}"/>
              </a:ext>
            </a:extLst>
          </p:cNvPr>
          <p:cNvSpPr>
            <a:spLocks xmlns:a="http://schemas.openxmlformats.org/drawingml/2006/main" noGrp="1"/>
          </p:cNvSpPr>
          <p:nvPr/>
        </p:nvSpPr>
        <p:spPr>
          <a:xfrm xmlns:a="http://schemas.openxmlformats.org/drawingml/2006/main">
            <a:off x="685800" y="1381125"/>
            <a:ext cx="885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26174"/>
                </a:solidFill>
              </a:defRPr>
            </a:pPr>
            <a:r>
              <a:rPr sz="1575" b="0">
                <a:solidFill>
                  <a:srgbClr val="526174"/>
                </a:solidFill>
              </a:rPr>
              <a:t>These are cumulative versions, not controlled single-factor ablations.</a:t>
            </a:r>
          </a:p>
        </p:txBody>
      </p:sp>
      <p:sp>
        <p:nvSpPr>
          <p:cNvPr id="5" name="">
            <a:extLst xmlns:a="http://schemas.openxmlformats.org/drawingml/2006/main">
              <a:ext uri="{FF2B5EF4-FFF2-40B4-BE49-F238E27FC236}">
                <a16:creationId xmlns:a16="http://schemas.microsoft.com/office/drawing/2014/main" id="{C6228EE5-54FA-45E2-B593-1FE151A053BA}"/>
              </a:ext>
            </a:extLst>
          </p:cNvPr>
          <p:cNvSpPr>
            <a:spLocks xmlns:a="http://schemas.openxmlformats.org/drawingml/2006/main" noGrp="1"/>
          </p:cNvSpPr>
          <p:nvPr/>
        </p:nvSpPr>
        <p:spPr>
          <a:xfrm xmlns:a="http://schemas.openxmlformats.org/drawingml/2006/main">
            <a:off x="876300" y="2076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F5A7A"/>
                </a:solidFill>
              </a:defRPr>
            </a:pPr>
            <a:r>
              <a:rPr sz="1350" b="1">
                <a:solidFill>
                  <a:srgbClr val="1F5A7A"/>
                </a:solidFill>
              </a:rPr>
              <a:t>Version</a:t>
            </a:r>
          </a:p>
        </p:txBody>
      </p:sp>
      <p:sp>
        <p:nvSpPr>
          <p:cNvPr id="6" name="">
            <a:extLst xmlns:a="http://schemas.openxmlformats.org/drawingml/2006/main">
              <a:ext uri="{FF2B5EF4-FFF2-40B4-BE49-F238E27FC236}">
                <a16:creationId xmlns:a16="http://schemas.microsoft.com/office/drawing/2014/main" id="{F08ABB47-7095-4A05-AC0E-6E719ECD2BEA}"/>
              </a:ext>
            </a:extLst>
          </p:cNvPr>
          <p:cNvSpPr>
            <a:spLocks xmlns:a="http://schemas.openxmlformats.org/drawingml/2006/main" noGrp="1"/>
          </p:cNvSpPr>
          <p:nvPr/>
        </p:nvSpPr>
        <p:spPr>
          <a:xfrm xmlns:a="http://schemas.openxmlformats.org/drawingml/2006/main">
            <a:off x="3524250" y="20764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F5A7A"/>
                </a:solidFill>
              </a:defRPr>
            </a:pPr>
            <a:r>
              <a:rPr sz="1350" b="1">
                <a:solidFill>
                  <a:srgbClr val="1F5A7A"/>
                </a:solidFill>
              </a:rPr>
              <a:t>Public F1</a:t>
            </a:r>
          </a:p>
        </p:txBody>
      </p:sp>
      <p:sp>
        <p:nvSpPr>
          <p:cNvPr id="7" name="">
            <a:extLst xmlns:a="http://schemas.openxmlformats.org/drawingml/2006/main">
              <a:ext uri="{FF2B5EF4-FFF2-40B4-BE49-F238E27FC236}">
                <a16:creationId xmlns:a16="http://schemas.microsoft.com/office/drawing/2014/main" id="{D0E29E5F-02F0-47B4-A94D-4085E3FB43E2}"/>
              </a:ext>
            </a:extLst>
          </p:cNvPr>
          <p:cNvSpPr>
            <a:spLocks xmlns:a="http://schemas.openxmlformats.org/drawingml/2006/main" noGrp="1"/>
          </p:cNvSpPr>
          <p:nvPr/>
        </p:nvSpPr>
        <p:spPr>
          <a:xfrm xmlns:a="http://schemas.openxmlformats.org/drawingml/2006/main">
            <a:off x="5048250" y="20764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F5A7A"/>
                </a:solidFill>
              </a:defRPr>
            </a:pPr>
            <a:r>
              <a:rPr sz="1350" b="1">
                <a:solidFill>
                  <a:srgbClr val="1F5A7A"/>
                </a:solidFill>
              </a:rPr>
              <a:t>Rows judged</a:t>
            </a:r>
          </a:p>
        </p:txBody>
      </p:sp>
      <p:sp>
        <p:nvSpPr>
          <p:cNvPr id="8" name="">
            <a:extLst xmlns:a="http://schemas.openxmlformats.org/drawingml/2006/main">
              <a:ext uri="{FF2B5EF4-FFF2-40B4-BE49-F238E27FC236}">
                <a16:creationId xmlns:a16="http://schemas.microsoft.com/office/drawing/2014/main" id="{ECD69B70-C1AC-4014-9A36-50D942417569}"/>
              </a:ext>
            </a:extLst>
          </p:cNvPr>
          <p:cNvSpPr>
            <a:spLocks xmlns:a="http://schemas.openxmlformats.org/drawingml/2006/main" noGrp="1"/>
          </p:cNvSpPr>
          <p:nvPr/>
        </p:nvSpPr>
        <p:spPr>
          <a:xfrm xmlns:a="http://schemas.openxmlformats.org/drawingml/2006/main">
            <a:off x="7086600" y="20764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F5A7A"/>
                </a:solidFill>
              </a:defRPr>
            </a:pPr>
            <a:r>
              <a:rPr sz="1350" b="1">
                <a:solidFill>
                  <a:srgbClr val="1F5A7A"/>
                </a:solidFill>
              </a:rPr>
              <a:t>Main methodological change</a:t>
            </a:r>
          </a:p>
        </p:txBody>
      </p:sp>
      <p:sp>
        <p:nvSpPr>
          <p:cNvPr id="9" name="">
            <a:extLst xmlns:a="http://schemas.openxmlformats.org/drawingml/2006/main">
              <a:ext uri="{FF2B5EF4-FFF2-40B4-BE49-F238E27FC236}">
                <a16:creationId xmlns:a16="http://schemas.microsoft.com/office/drawing/2014/main" id="{73B804FA-64A6-4B82-B1A8-4F1FB355F668}"/>
              </a:ext>
            </a:extLst>
          </p:cNvPr>
          <p:cNvSpPr>
            <a:spLocks xmlns:a="http://schemas.openxmlformats.org/drawingml/2006/main" noGrp="1"/>
          </p:cNvSpPr>
          <p:nvPr/>
        </p:nvSpPr>
        <p:spPr>
          <a:xfrm xmlns:a="http://schemas.openxmlformats.org/drawingml/2006/main">
            <a:off x="876300" y="2419350"/>
            <a:ext cx="10401300" cy="0"/>
          </a:xfrm>
          <a:prstGeom xmlns:a="http://schemas.openxmlformats.org/drawingml/2006/main" prst="line">
            <a:avLst/>
          </a:prstGeom>
          <a:noFill xmlns:a="http://schemas.openxmlformats.org/drawingml/2006/main"/>
          <a:ln xmlns:a="http://schemas.openxmlformats.org/drawingml/2006/main" w="19050">
            <a:solidFill>
              <a:srgbClr val="1F5A7A"/>
            </a:solidFill>
            <a:prstDash val="solid"/>
          </a:ln>
        </p:spPr>
      </p:sp>
      <p:sp>
        <p:nvSpPr>
          <p:cNvPr id="10" name="">
            <a:extLst xmlns:a="http://schemas.openxmlformats.org/drawingml/2006/main">
              <a:ext uri="{FF2B5EF4-FFF2-40B4-BE49-F238E27FC236}">
                <a16:creationId xmlns:a16="http://schemas.microsoft.com/office/drawing/2014/main" id="{40BC6826-8277-467A-B9CF-A767D2B30ABF}"/>
              </a:ext>
            </a:extLst>
          </p:cNvPr>
          <p:cNvSpPr>
            <a:spLocks xmlns:a="http://schemas.openxmlformats.org/drawingml/2006/main" noGrp="1"/>
          </p:cNvSpPr>
          <p:nvPr/>
        </p:nvSpPr>
        <p:spPr>
          <a:xfrm xmlns:a="http://schemas.openxmlformats.org/drawingml/2006/main">
            <a:off x="914400" y="257175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Baseline</a:t>
            </a:r>
          </a:p>
        </p:txBody>
      </p:sp>
      <p:sp>
        <p:nvSpPr>
          <p:cNvPr id="11" name="">
            <a:extLst xmlns:a="http://schemas.openxmlformats.org/drawingml/2006/main">
              <a:ext uri="{FF2B5EF4-FFF2-40B4-BE49-F238E27FC236}">
                <a16:creationId xmlns:a16="http://schemas.microsoft.com/office/drawing/2014/main" id="{82471643-58C3-4CF7-8C46-3ADB607B6EB2}"/>
              </a:ext>
            </a:extLst>
          </p:cNvPr>
          <p:cNvSpPr>
            <a:spLocks xmlns:a="http://schemas.openxmlformats.org/drawingml/2006/main" noGrp="1"/>
          </p:cNvSpPr>
          <p:nvPr/>
        </p:nvSpPr>
        <p:spPr>
          <a:xfrm xmlns:a="http://schemas.openxmlformats.org/drawingml/2006/main">
            <a:off x="3524250" y="25717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0F172A"/>
                </a:solidFill>
              </a:defRPr>
            </a:pPr>
            <a:r>
              <a:rPr sz="1425" b="1">
                <a:solidFill>
                  <a:srgbClr val="0F172A"/>
                </a:solidFill>
              </a:rPr>
              <a:t>0.657</a:t>
            </a:r>
          </a:p>
        </p:txBody>
      </p:sp>
      <p:sp>
        <p:nvSpPr>
          <p:cNvPr id="12" name="">
            <a:extLst xmlns:a="http://schemas.openxmlformats.org/drawingml/2006/main">
              <a:ext uri="{FF2B5EF4-FFF2-40B4-BE49-F238E27FC236}">
                <a16:creationId xmlns:a16="http://schemas.microsoft.com/office/drawing/2014/main" id="{E51D2073-5BA9-40FD-87E0-6428604E7466}"/>
              </a:ext>
            </a:extLst>
          </p:cNvPr>
          <p:cNvSpPr>
            <a:spLocks xmlns:a="http://schemas.openxmlformats.org/drawingml/2006/main" noGrp="1"/>
          </p:cNvSpPr>
          <p:nvPr/>
        </p:nvSpPr>
        <p:spPr>
          <a:xfrm xmlns:a="http://schemas.openxmlformats.org/drawingml/2006/main">
            <a:off x="5048250" y="25717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526174"/>
                </a:solidFill>
              </a:defRPr>
            </a:pPr>
            <a:r>
              <a:rPr sz="1350" b="0">
                <a:solidFill>
                  <a:srgbClr val="526174"/>
                </a:solidFill>
              </a:rPr>
              <a:t>none</a:t>
            </a:r>
          </a:p>
        </p:txBody>
      </p:sp>
      <p:sp>
        <p:nvSpPr>
          <p:cNvPr id="13" name="">
            <a:extLst xmlns:a="http://schemas.openxmlformats.org/drawingml/2006/main">
              <a:ext uri="{FF2B5EF4-FFF2-40B4-BE49-F238E27FC236}">
                <a16:creationId xmlns:a16="http://schemas.microsoft.com/office/drawing/2014/main" id="{32BF2E88-70E7-43C4-A35A-6F2143D5A47A}"/>
              </a:ext>
            </a:extLst>
          </p:cNvPr>
          <p:cNvSpPr>
            <a:spLocks xmlns:a="http://schemas.openxmlformats.org/drawingml/2006/main" noGrp="1"/>
          </p:cNvSpPr>
          <p:nvPr/>
        </p:nvSpPr>
        <p:spPr>
          <a:xfrm xmlns:a="http://schemas.openxmlformats.org/drawingml/2006/main">
            <a:off x="7086600" y="25717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character and embedding reference</a:t>
            </a:r>
          </a:p>
        </p:txBody>
      </p:sp>
      <p:sp>
        <p:nvSpPr>
          <p:cNvPr id="14" name="">
            <a:extLst xmlns:a="http://schemas.openxmlformats.org/drawingml/2006/main">
              <a:ext uri="{FF2B5EF4-FFF2-40B4-BE49-F238E27FC236}">
                <a16:creationId xmlns:a16="http://schemas.microsoft.com/office/drawing/2014/main" id="{4051CF53-48E8-4E69-B5EA-A73FE2A7D748}"/>
              </a:ext>
            </a:extLst>
          </p:cNvPr>
          <p:cNvSpPr>
            <a:spLocks xmlns:a="http://schemas.openxmlformats.org/drawingml/2006/main" noGrp="1"/>
          </p:cNvSpPr>
          <p:nvPr/>
        </p:nvSpPr>
        <p:spPr>
          <a:xfrm xmlns:a="http://schemas.openxmlformats.org/drawingml/2006/main">
            <a:off x="876300" y="2943225"/>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5" name="">
            <a:extLst xmlns:a="http://schemas.openxmlformats.org/drawingml/2006/main">
              <a:ext uri="{FF2B5EF4-FFF2-40B4-BE49-F238E27FC236}">
                <a16:creationId xmlns:a16="http://schemas.microsoft.com/office/drawing/2014/main" id="{CC148678-77FC-47A3-B554-06C8358E5111}"/>
              </a:ext>
            </a:extLst>
          </p:cNvPr>
          <p:cNvSpPr>
            <a:spLocks xmlns:a="http://schemas.openxmlformats.org/drawingml/2006/main" noGrp="1"/>
          </p:cNvSpPr>
          <p:nvPr/>
        </p:nvSpPr>
        <p:spPr>
          <a:xfrm xmlns:a="http://schemas.openxmlformats.org/drawingml/2006/main">
            <a:off x="914400" y="3095625"/>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Uniform Qwen</a:t>
            </a:r>
          </a:p>
        </p:txBody>
      </p:sp>
      <p:sp>
        <p:nvSpPr>
          <p:cNvPr id="16" name="">
            <a:extLst xmlns:a="http://schemas.openxmlformats.org/drawingml/2006/main">
              <a:ext uri="{FF2B5EF4-FFF2-40B4-BE49-F238E27FC236}">
                <a16:creationId xmlns:a16="http://schemas.microsoft.com/office/drawing/2014/main" id="{DF54593B-AC23-47E8-9FFC-50FBB5F6575D}"/>
              </a:ext>
            </a:extLst>
          </p:cNvPr>
          <p:cNvSpPr>
            <a:spLocks xmlns:a="http://schemas.openxmlformats.org/drawingml/2006/main" noGrp="1"/>
          </p:cNvSpPr>
          <p:nvPr/>
        </p:nvSpPr>
        <p:spPr>
          <a:xfrm xmlns:a="http://schemas.openxmlformats.org/drawingml/2006/main">
            <a:off x="3524250" y="309562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0F172A"/>
                </a:solidFill>
              </a:defRPr>
            </a:pPr>
            <a:r>
              <a:rPr sz="1425" b="1">
                <a:solidFill>
                  <a:srgbClr val="0F172A"/>
                </a:solidFill>
              </a:rPr>
              <a:t>0.797</a:t>
            </a:r>
          </a:p>
        </p:txBody>
      </p:sp>
      <p:sp>
        <p:nvSpPr>
          <p:cNvPr id="17" name="">
            <a:extLst xmlns:a="http://schemas.openxmlformats.org/drawingml/2006/main">
              <a:ext uri="{FF2B5EF4-FFF2-40B4-BE49-F238E27FC236}">
                <a16:creationId xmlns:a16="http://schemas.microsoft.com/office/drawing/2014/main" id="{756C660D-8537-4B83-8AC7-038C7B37B023}"/>
              </a:ext>
            </a:extLst>
          </p:cNvPr>
          <p:cNvSpPr>
            <a:spLocks xmlns:a="http://schemas.openxmlformats.org/drawingml/2006/main" noGrp="1"/>
          </p:cNvSpPr>
          <p:nvPr/>
        </p:nvSpPr>
        <p:spPr>
          <a:xfrm xmlns:a="http://schemas.openxmlformats.org/drawingml/2006/main">
            <a:off x="5048250" y="309562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526174"/>
                </a:solidFill>
              </a:defRPr>
            </a:pPr>
            <a:r>
              <a:rPr sz="1350" b="0">
                <a:solidFill>
                  <a:srgbClr val="526174"/>
                </a:solidFill>
              </a:rPr>
              <a:t>all rows</a:t>
            </a:r>
          </a:p>
        </p:txBody>
      </p:sp>
      <p:sp>
        <p:nvSpPr>
          <p:cNvPr id="18" name="">
            <a:extLst xmlns:a="http://schemas.openxmlformats.org/drawingml/2006/main">
              <a:ext uri="{FF2B5EF4-FFF2-40B4-BE49-F238E27FC236}">
                <a16:creationId xmlns:a16="http://schemas.microsoft.com/office/drawing/2014/main" id="{5CB67B70-7A6F-48C1-B90D-F935A9F2BC21}"/>
              </a:ext>
            </a:extLst>
          </p:cNvPr>
          <p:cNvSpPr>
            <a:spLocks xmlns:a="http://schemas.openxmlformats.org/drawingml/2006/main" noGrp="1"/>
          </p:cNvSpPr>
          <p:nvPr/>
        </p:nvSpPr>
        <p:spPr>
          <a:xfrm xmlns:a="http://schemas.openxmlformats.org/drawingml/2006/main">
            <a:off x="7086600" y="309562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general reasoning improved; one policy remained</a:t>
            </a:r>
          </a:p>
        </p:txBody>
      </p:sp>
      <p:sp>
        <p:nvSpPr>
          <p:cNvPr id="19" name="">
            <a:extLst xmlns:a="http://schemas.openxmlformats.org/drawingml/2006/main">
              <a:ext uri="{FF2B5EF4-FFF2-40B4-BE49-F238E27FC236}">
                <a16:creationId xmlns:a16="http://schemas.microsoft.com/office/drawing/2014/main" id="{74E5D18F-E1C2-4EC5-8946-3EAE8CBC7531}"/>
              </a:ext>
            </a:extLst>
          </p:cNvPr>
          <p:cNvSpPr>
            <a:spLocks xmlns:a="http://schemas.openxmlformats.org/drawingml/2006/main" noGrp="1"/>
          </p:cNvSpPr>
          <p:nvPr/>
        </p:nvSpPr>
        <p:spPr>
          <a:xfrm xmlns:a="http://schemas.openxmlformats.org/drawingml/2006/main">
            <a:off x="876300" y="3467100"/>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0" name="">
            <a:extLst xmlns:a="http://schemas.openxmlformats.org/drawingml/2006/main">
              <a:ext uri="{FF2B5EF4-FFF2-40B4-BE49-F238E27FC236}">
                <a16:creationId xmlns:a16="http://schemas.microsoft.com/office/drawing/2014/main" id="{EDB9081F-6888-4BC1-B41A-295A47474768}"/>
              </a:ext>
            </a:extLst>
          </p:cNvPr>
          <p:cNvSpPr>
            <a:spLocks xmlns:a="http://schemas.openxmlformats.org/drawingml/2006/main" noGrp="1"/>
          </p:cNvSpPr>
          <p:nvPr/>
        </p:nvSpPr>
        <p:spPr>
          <a:xfrm xmlns:a="http://schemas.openxmlformats.org/drawingml/2006/main">
            <a:off x="819150" y="3552825"/>
            <a:ext cx="10477500" cy="457200"/>
          </a:xfrm>
          <a:prstGeom xmlns:a="http://schemas.openxmlformats.org/drawingml/2006/main" prst="rect">
            <a:avLst/>
          </a:prstGeom>
          <a:solidFill xmlns:a="http://schemas.openxmlformats.org/drawingml/2006/main">
            <a:srgbClr val="DDF2EE"/>
          </a:solidFill>
          <a:ln xmlns:a="http://schemas.openxmlformats.org/drawingml/2006/main" w="0">
            <a:solidFill>
              <a:srgbClr val="DDF2EE"/>
            </a:solidFill>
            <a:prstDash val="solid"/>
          </a:ln>
        </p:spPr>
      </p:sp>
      <p:sp>
        <p:nvSpPr>
          <p:cNvPr id="21" name="">
            <a:extLst xmlns:a="http://schemas.openxmlformats.org/drawingml/2006/main">
              <a:ext uri="{FF2B5EF4-FFF2-40B4-BE49-F238E27FC236}">
                <a16:creationId xmlns:a16="http://schemas.microsoft.com/office/drawing/2014/main" id="{319312EF-363E-4DAD-9545-7906F12331C8}"/>
              </a:ext>
            </a:extLst>
          </p:cNvPr>
          <p:cNvSpPr>
            <a:spLocks xmlns:a="http://schemas.openxmlformats.org/drawingml/2006/main" noGrp="1"/>
          </p:cNvSpPr>
          <p:nvPr/>
        </p:nvSpPr>
        <p:spPr>
          <a:xfrm xmlns:a="http://schemas.openxmlformats.org/drawingml/2006/main">
            <a:off x="914400" y="361950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2A8C82"/>
                </a:solidFill>
              </a:defRPr>
            </a:pPr>
            <a:r>
              <a:rPr sz="1425" b="1">
                <a:solidFill>
                  <a:srgbClr val="2A8C82"/>
                </a:solidFill>
              </a:rPr>
              <a:t>v6</a:t>
            </a:r>
          </a:p>
        </p:txBody>
      </p:sp>
      <p:sp>
        <p:nvSpPr>
          <p:cNvPr id="22" name="">
            <a:extLst xmlns:a="http://schemas.openxmlformats.org/drawingml/2006/main">
              <a:ext uri="{FF2B5EF4-FFF2-40B4-BE49-F238E27FC236}">
                <a16:creationId xmlns:a16="http://schemas.microsoft.com/office/drawing/2014/main" id="{67F113F1-1B36-45F2-97A8-600DDAD0C6C8}"/>
              </a:ext>
            </a:extLst>
          </p:cNvPr>
          <p:cNvSpPr>
            <a:spLocks xmlns:a="http://schemas.openxmlformats.org/drawingml/2006/main" noGrp="1"/>
          </p:cNvSpPr>
          <p:nvPr/>
        </p:nvSpPr>
        <p:spPr>
          <a:xfrm xmlns:a="http://schemas.openxmlformats.org/drawingml/2006/main">
            <a:off x="3524250" y="36195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0F172A"/>
                </a:solidFill>
              </a:defRPr>
            </a:pPr>
            <a:r>
              <a:rPr sz="1425" b="1">
                <a:solidFill>
                  <a:srgbClr val="0F172A"/>
                </a:solidFill>
              </a:rPr>
              <a:t>0.903</a:t>
            </a:r>
          </a:p>
        </p:txBody>
      </p:sp>
      <p:sp>
        <p:nvSpPr>
          <p:cNvPr id="23" name="">
            <a:extLst xmlns:a="http://schemas.openxmlformats.org/drawingml/2006/main">
              <a:ext uri="{FF2B5EF4-FFF2-40B4-BE49-F238E27FC236}">
                <a16:creationId xmlns:a16="http://schemas.microsoft.com/office/drawing/2014/main" id="{932C4F4C-5B6C-4D5C-9214-209BD07098ED}"/>
              </a:ext>
            </a:extLst>
          </p:cNvPr>
          <p:cNvSpPr>
            <a:spLocks xmlns:a="http://schemas.openxmlformats.org/drawingml/2006/main" noGrp="1"/>
          </p:cNvSpPr>
          <p:nvPr/>
        </p:nvSpPr>
        <p:spPr>
          <a:xfrm xmlns:a="http://schemas.openxmlformats.org/drawingml/2006/main">
            <a:off x="5048250" y="3619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526174"/>
                </a:solidFill>
              </a:defRPr>
            </a:pPr>
            <a:r>
              <a:rPr sz="1350" b="0">
                <a:solidFill>
                  <a:srgbClr val="526174"/>
                </a:solidFill>
              </a:rPr>
              <a:t>reduced</a:t>
            </a:r>
          </a:p>
        </p:txBody>
      </p:sp>
      <p:sp>
        <p:nvSpPr>
          <p:cNvPr id="24" name="">
            <a:extLst xmlns:a="http://schemas.openxmlformats.org/drawingml/2006/main">
              <a:ext uri="{FF2B5EF4-FFF2-40B4-BE49-F238E27FC236}">
                <a16:creationId xmlns:a16="http://schemas.microsoft.com/office/drawing/2014/main" id="{3C236A13-B93B-46FD-939A-36EEF4B776B9}"/>
              </a:ext>
            </a:extLst>
          </p:cNvPr>
          <p:cNvSpPr>
            <a:spLocks xmlns:a="http://schemas.openxmlformats.org/drawingml/2006/main" noGrp="1"/>
          </p:cNvSpPr>
          <p:nvPr/>
        </p:nvSpPr>
        <p:spPr>
          <a:xfrm xmlns:a="http://schemas.openxmlformats.org/drawingml/2006/main">
            <a:off x="7086600" y="3619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source and structured routing</a:t>
            </a:r>
          </a:p>
        </p:txBody>
      </p:sp>
      <p:sp>
        <p:nvSpPr>
          <p:cNvPr id="25" name="">
            <a:extLst xmlns:a="http://schemas.openxmlformats.org/drawingml/2006/main">
              <a:ext uri="{FF2B5EF4-FFF2-40B4-BE49-F238E27FC236}">
                <a16:creationId xmlns:a16="http://schemas.microsoft.com/office/drawing/2014/main" id="{B12F059F-383F-49FA-9F3E-F0B5EFA473C5}"/>
              </a:ext>
            </a:extLst>
          </p:cNvPr>
          <p:cNvSpPr>
            <a:spLocks xmlns:a="http://schemas.openxmlformats.org/drawingml/2006/main" noGrp="1"/>
          </p:cNvSpPr>
          <p:nvPr/>
        </p:nvSpPr>
        <p:spPr>
          <a:xfrm xmlns:a="http://schemas.openxmlformats.org/drawingml/2006/main">
            <a:off x="876300" y="3990975"/>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6" name="">
            <a:extLst xmlns:a="http://schemas.openxmlformats.org/drawingml/2006/main">
              <a:ext uri="{FF2B5EF4-FFF2-40B4-BE49-F238E27FC236}">
                <a16:creationId xmlns:a16="http://schemas.microsoft.com/office/drawing/2014/main" id="{3DA98BE0-6DE4-4B31-8C9D-F58611F2C8E0}"/>
              </a:ext>
            </a:extLst>
          </p:cNvPr>
          <p:cNvSpPr>
            <a:spLocks xmlns:a="http://schemas.openxmlformats.org/drawingml/2006/main" noGrp="1"/>
          </p:cNvSpPr>
          <p:nvPr/>
        </p:nvSpPr>
        <p:spPr>
          <a:xfrm xmlns:a="http://schemas.openxmlformats.org/drawingml/2006/main">
            <a:off x="914400" y="4143375"/>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v37</a:t>
            </a:r>
          </a:p>
        </p:txBody>
      </p:sp>
      <p:sp>
        <p:nvSpPr>
          <p:cNvPr id="27" name="">
            <a:extLst xmlns:a="http://schemas.openxmlformats.org/drawingml/2006/main">
              <a:ext uri="{FF2B5EF4-FFF2-40B4-BE49-F238E27FC236}">
                <a16:creationId xmlns:a16="http://schemas.microsoft.com/office/drawing/2014/main" id="{EF79539B-E7EB-42D6-866A-3A21377BA7CE}"/>
              </a:ext>
            </a:extLst>
          </p:cNvPr>
          <p:cNvSpPr>
            <a:spLocks xmlns:a="http://schemas.openxmlformats.org/drawingml/2006/main" noGrp="1"/>
          </p:cNvSpPr>
          <p:nvPr/>
        </p:nvSpPr>
        <p:spPr>
          <a:xfrm xmlns:a="http://schemas.openxmlformats.org/drawingml/2006/main">
            <a:off x="3524250" y="414337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0F172A"/>
                </a:solidFill>
              </a:defRPr>
            </a:pPr>
            <a:r>
              <a:rPr sz="1425" b="1">
                <a:solidFill>
                  <a:srgbClr val="0F172A"/>
                </a:solidFill>
              </a:rPr>
              <a:t>0.961</a:t>
            </a:r>
          </a:p>
        </p:txBody>
      </p:sp>
      <p:sp>
        <p:nvSpPr>
          <p:cNvPr id="28" name="">
            <a:extLst xmlns:a="http://schemas.openxmlformats.org/drawingml/2006/main">
              <a:ext uri="{FF2B5EF4-FFF2-40B4-BE49-F238E27FC236}">
                <a16:creationId xmlns:a16="http://schemas.microsoft.com/office/drawing/2014/main" id="{F28035BB-0D79-43B6-A2E5-26B313048C16}"/>
              </a:ext>
            </a:extLst>
          </p:cNvPr>
          <p:cNvSpPr>
            <a:spLocks xmlns:a="http://schemas.openxmlformats.org/drawingml/2006/main" noGrp="1"/>
          </p:cNvSpPr>
          <p:nvPr/>
        </p:nvSpPr>
        <p:spPr>
          <a:xfrm xmlns:a="http://schemas.openxmlformats.org/drawingml/2006/main">
            <a:off x="5048250" y="414337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526174"/>
                </a:solidFill>
              </a:defRPr>
            </a:pPr>
            <a:r>
              <a:rPr sz="1350" b="1">
                <a:solidFill>
                  <a:srgbClr val="526174"/>
                </a:solidFill>
              </a:rPr>
              <a:t>312</a:t>
            </a:r>
          </a:p>
        </p:txBody>
      </p:sp>
      <p:sp>
        <p:nvSpPr>
          <p:cNvPr id="29" name="">
            <a:extLst xmlns:a="http://schemas.openxmlformats.org/drawingml/2006/main">
              <a:ext uri="{FF2B5EF4-FFF2-40B4-BE49-F238E27FC236}">
                <a16:creationId xmlns:a16="http://schemas.microsoft.com/office/drawing/2014/main" id="{7F693F92-3733-4DB2-90B0-B6085BE41E75}"/>
              </a:ext>
            </a:extLst>
          </p:cNvPr>
          <p:cNvSpPr>
            <a:spLocks xmlns:a="http://schemas.openxmlformats.org/drawingml/2006/main" noGrp="1"/>
          </p:cNvSpPr>
          <p:nvPr/>
        </p:nvSpPr>
        <p:spPr>
          <a:xfrm xmlns:a="http://schemas.openxmlformats.org/drawingml/2006/main">
            <a:off x="7086600" y="41433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stricter provenance gate</a:t>
            </a:r>
          </a:p>
        </p:txBody>
      </p:sp>
      <p:sp>
        <p:nvSpPr>
          <p:cNvPr id="30" name="">
            <a:extLst xmlns:a="http://schemas.openxmlformats.org/drawingml/2006/main">
              <a:ext uri="{FF2B5EF4-FFF2-40B4-BE49-F238E27FC236}">
                <a16:creationId xmlns:a16="http://schemas.microsoft.com/office/drawing/2014/main" id="{8D850C4A-65C5-4EC4-90DD-8702C4D00FC0}"/>
              </a:ext>
            </a:extLst>
          </p:cNvPr>
          <p:cNvSpPr>
            <a:spLocks xmlns:a="http://schemas.openxmlformats.org/drawingml/2006/main" noGrp="1"/>
          </p:cNvSpPr>
          <p:nvPr/>
        </p:nvSpPr>
        <p:spPr>
          <a:xfrm xmlns:a="http://schemas.openxmlformats.org/drawingml/2006/main">
            <a:off x="876300" y="4514850"/>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1" name="">
            <a:extLst xmlns:a="http://schemas.openxmlformats.org/drawingml/2006/main">
              <a:ext uri="{FF2B5EF4-FFF2-40B4-BE49-F238E27FC236}">
                <a16:creationId xmlns:a16="http://schemas.microsoft.com/office/drawing/2014/main" id="{4933FA2A-2C4C-44C1-BD05-CAF058C3CC51}"/>
              </a:ext>
            </a:extLst>
          </p:cNvPr>
          <p:cNvSpPr>
            <a:spLocks xmlns:a="http://schemas.openxmlformats.org/drawingml/2006/main" noGrp="1"/>
          </p:cNvSpPr>
          <p:nvPr/>
        </p:nvSpPr>
        <p:spPr>
          <a:xfrm xmlns:a="http://schemas.openxmlformats.org/drawingml/2006/main">
            <a:off x="914400" y="466725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v85</a:t>
            </a:r>
          </a:p>
        </p:txBody>
      </p:sp>
      <p:sp>
        <p:nvSpPr>
          <p:cNvPr id="32" name="">
            <a:extLst xmlns:a="http://schemas.openxmlformats.org/drawingml/2006/main">
              <a:ext uri="{FF2B5EF4-FFF2-40B4-BE49-F238E27FC236}">
                <a16:creationId xmlns:a16="http://schemas.microsoft.com/office/drawing/2014/main" id="{6DC67C3E-91B1-4714-A545-3DB3C04FA1DA}"/>
              </a:ext>
            </a:extLst>
          </p:cNvPr>
          <p:cNvSpPr>
            <a:spLocks xmlns:a="http://schemas.openxmlformats.org/drawingml/2006/main" noGrp="1"/>
          </p:cNvSpPr>
          <p:nvPr/>
        </p:nvSpPr>
        <p:spPr>
          <a:xfrm xmlns:a="http://schemas.openxmlformats.org/drawingml/2006/main">
            <a:off x="3524250" y="46672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0F172A"/>
                </a:solidFill>
              </a:defRPr>
            </a:pPr>
            <a:r>
              <a:rPr sz="1425" b="1">
                <a:solidFill>
                  <a:srgbClr val="0F172A"/>
                </a:solidFill>
              </a:rPr>
              <a:t>0.966</a:t>
            </a:r>
          </a:p>
        </p:txBody>
      </p:sp>
      <p:sp>
        <p:nvSpPr>
          <p:cNvPr id="33" name="">
            <a:extLst xmlns:a="http://schemas.openxmlformats.org/drawingml/2006/main">
              <a:ext uri="{FF2B5EF4-FFF2-40B4-BE49-F238E27FC236}">
                <a16:creationId xmlns:a16="http://schemas.microsoft.com/office/drawing/2014/main" id="{11166A62-E6A0-4C5B-B17D-EFB7990A9FB9}"/>
              </a:ext>
            </a:extLst>
          </p:cNvPr>
          <p:cNvSpPr>
            <a:spLocks xmlns:a="http://schemas.openxmlformats.org/drawingml/2006/main" noGrp="1"/>
          </p:cNvSpPr>
          <p:nvPr/>
        </p:nvSpPr>
        <p:spPr>
          <a:xfrm xmlns:a="http://schemas.openxmlformats.org/drawingml/2006/main">
            <a:off x="5048250" y="46672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526174"/>
                </a:solidFill>
              </a:defRPr>
            </a:pPr>
            <a:r>
              <a:rPr sz="1350" b="1">
                <a:solidFill>
                  <a:srgbClr val="526174"/>
                </a:solidFill>
              </a:rPr>
              <a:t>193</a:t>
            </a:r>
          </a:p>
        </p:txBody>
      </p:sp>
      <p:sp>
        <p:nvSpPr>
          <p:cNvPr id="34" name="">
            <a:extLst xmlns:a="http://schemas.openxmlformats.org/drawingml/2006/main">
              <a:ext uri="{FF2B5EF4-FFF2-40B4-BE49-F238E27FC236}">
                <a16:creationId xmlns:a16="http://schemas.microsoft.com/office/drawing/2014/main" id="{BE0991A4-AE6C-4C95-B379-A6166A5E715E}"/>
              </a:ext>
            </a:extLst>
          </p:cNvPr>
          <p:cNvSpPr>
            <a:spLocks xmlns:a="http://schemas.openxmlformats.org/drawingml/2006/main" noGrp="1"/>
          </p:cNvSpPr>
          <p:nvPr/>
        </p:nvSpPr>
        <p:spPr>
          <a:xfrm xmlns:a="http://schemas.openxmlformats.org/drawingml/2006/main">
            <a:off x="7086600" y="46672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reproducible two-source anchor</a:t>
            </a:r>
          </a:p>
        </p:txBody>
      </p:sp>
      <p:sp>
        <p:nvSpPr>
          <p:cNvPr id="35" name="">
            <a:extLst xmlns:a="http://schemas.openxmlformats.org/drawingml/2006/main">
              <a:ext uri="{FF2B5EF4-FFF2-40B4-BE49-F238E27FC236}">
                <a16:creationId xmlns:a16="http://schemas.microsoft.com/office/drawing/2014/main" id="{6D0D048E-1EFB-4CFA-B52E-5C5D70E2C7BE}"/>
              </a:ext>
            </a:extLst>
          </p:cNvPr>
          <p:cNvSpPr>
            <a:spLocks xmlns:a="http://schemas.openxmlformats.org/drawingml/2006/main" noGrp="1"/>
          </p:cNvSpPr>
          <p:nvPr/>
        </p:nvSpPr>
        <p:spPr>
          <a:xfrm xmlns:a="http://schemas.openxmlformats.org/drawingml/2006/main">
            <a:off x="876300" y="5038725"/>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6" name="">
            <a:extLst xmlns:a="http://schemas.openxmlformats.org/drawingml/2006/main">
              <a:ext uri="{FF2B5EF4-FFF2-40B4-BE49-F238E27FC236}">
                <a16:creationId xmlns:a16="http://schemas.microsoft.com/office/drawing/2014/main" id="{BC334C9B-56F2-48D5-AA12-285571825044}"/>
              </a:ext>
            </a:extLst>
          </p:cNvPr>
          <p:cNvSpPr>
            <a:spLocks xmlns:a="http://schemas.openxmlformats.org/drawingml/2006/main" noGrp="1"/>
          </p:cNvSpPr>
          <p:nvPr/>
        </p:nvSpPr>
        <p:spPr>
          <a:xfrm xmlns:a="http://schemas.openxmlformats.org/drawingml/2006/main">
            <a:off x="819150" y="5124450"/>
            <a:ext cx="10477500" cy="457200"/>
          </a:xfrm>
          <a:prstGeom xmlns:a="http://schemas.openxmlformats.org/drawingml/2006/main" prst="rect">
            <a:avLst/>
          </a:prstGeom>
          <a:solidFill xmlns:a="http://schemas.openxmlformats.org/drawingml/2006/main">
            <a:srgbClr val="FBF0D8"/>
          </a:solidFill>
          <a:ln xmlns:a="http://schemas.openxmlformats.org/drawingml/2006/main" w="0">
            <a:solidFill>
              <a:srgbClr val="FBF0D8"/>
            </a:solidFill>
            <a:prstDash val="solid"/>
          </a:ln>
        </p:spPr>
      </p:sp>
      <p:sp>
        <p:nvSpPr>
          <p:cNvPr id="37" name="">
            <a:extLst xmlns:a="http://schemas.openxmlformats.org/drawingml/2006/main">
              <a:ext uri="{FF2B5EF4-FFF2-40B4-BE49-F238E27FC236}">
                <a16:creationId xmlns:a16="http://schemas.microsoft.com/office/drawing/2014/main" id="{4DA894E2-5D6A-4D38-A0D5-E0FAA5BCFEE6}"/>
              </a:ext>
            </a:extLst>
          </p:cNvPr>
          <p:cNvSpPr>
            <a:spLocks xmlns:a="http://schemas.openxmlformats.org/drawingml/2006/main" noGrp="1"/>
          </p:cNvSpPr>
          <p:nvPr/>
        </p:nvSpPr>
        <p:spPr>
          <a:xfrm xmlns:a="http://schemas.openxmlformats.org/drawingml/2006/main">
            <a:off x="914400" y="5191125"/>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D59B32"/>
                </a:solidFill>
              </a:defRPr>
            </a:pPr>
            <a:r>
              <a:rPr sz="1425" b="1">
                <a:solidFill>
                  <a:srgbClr val="D59B32"/>
                </a:solidFill>
              </a:rPr>
              <a:t>v91</a:t>
            </a:r>
          </a:p>
        </p:txBody>
      </p:sp>
      <p:sp>
        <p:nvSpPr>
          <p:cNvPr id="38" name="">
            <a:extLst xmlns:a="http://schemas.openxmlformats.org/drawingml/2006/main">
              <a:ext uri="{FF2B5EF4-FFF2-40B4-BE49-F238E27FC236}">
                <a16:creationId xmlns:a16="http://schemas.microsoft.com/office/drawing/2014/main" id="{F8D14C7C-DC43-44C3-8F96-889B471D8A99}"/>
              </a:ext>
            </a:extLst>
          </p:cNvPr>
          <p:cNvSpPr>
            <a:spLocks xmlns:a="http://schemas.openxmlformats.org/drawingml/2006/main" noGrp="1"/>
          </p:cNvSpPr>
          <p:nvPr/>
        </p:nvSpPr>
        <p:spPr>
          <a:xfrm xmlns:a="http://schemas.openxmlformats.org/drawingml/2006/main">
            <a:off x="3524250" y="519112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0F172A"/>
                </a:solidFill>
              </a:defRPr>
            </a:pPr>
            <a:r>
              <a:rPr sz="1425" b="1">
                <a:solidFill>
                  <a:srgbClr val="0F172A"/>
                </a:solidFill>
              </a:rPr>
              <a:t>0.967</a:t>
            </a:r>
          </a:p>
        </p:txBody>
      </p:sp>
      <p:sp>
        <p:nvSpPr>
          <p:cNvPr id="39" name="">
            <a:extLst xmlns:a="http://schemas.openxmlformats.org/drawingml/2006/main">
              <a:ext uri="{FF2B5EF4-FFF2-40B4-BE49-F238E27FC236}">
                <a16:creationId xmlns:a16="http://schemas.microsoft.com/office/drawing/2014/main" id="{1EBD9334-F942-4086-BCB5-61A440EE63F9}"/>
              </a:ext>
            </a:extLst>
          </p:cNvPr>
          <p:cNvSpPr>
            <a:spLocks xmlns:a="http://schemas.openxmlformats.org/drawingml/2006/main" noGrp="1"/>
          </p:cNvSpPr>
          <p:nvPr/>
        </p:nvSpPr>
        <p:spPr>
          <a:xfrm xmlns:a="http://schemas.openxmlformats.org/drawingml/2006/main">
            <a:off x="5048250" y="519112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526174"/>
                </a:solidFill>
              </a:defRPr>
            </a:pPr>
            <a:r>
              <a:rPr sz="1350" b="1">
                <a:solidFill>
                  <a:srgbClr val="526174"/>
                </a:solidFill>
              </a:rPr>
              <a:t>158</a:t>
            </a:r>
          </a:p>
        </p:txBody>
      </p:sp>
      <p:sp>
        <p:nvSpPr>
          <p:cNvPr id="40" name="">
            <a:extLst xmlns:a="http://schemas.openxmlformats.org/drawingml/2006/main">
              <a:ext uri="{FF2B5EF4-FFF2-40B4-BE49-F238E27FC236}">
                <a16:creationId xmlns:a16="http://schemas.microsoft.com/office/drawing/2014/main" id="{1E35ADB7-6EBD-4DA8-9D12-1C5AF8F68226}"/>
              </a:ext>
            </a:extLst>
          </p:cNvPr>
          <p:cNvSpPr>
            <a:spLocks xmlns:a="http://schemas.openxmlformats.org/drawingml/2006/main" noGrp="1"/>
          </p:cNvSpPr>
          <p:nvPr/>
        </p:nvSpPr>
        <p:spPr>
          <a:xfrm xmlns:a="http://schemas.openxmlformats.org/drawingml/2006/main">
            <a:off x="7086600" y="519112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typed idiom and predicate guards</a:t>
            </a:r>
          </a:p>
        </p:txBody>
      </p:sp>
      <p:sp>
        <p:nvSpPr>
          <p:cNvPr id="41" name="">
            <a:extLst xmlns:a="http://schemas.openxmlformats.org/drawingml/2006/main">
              <a:ext uri="{FF2B5EF4-FFF2-40B4-BE49-F238E27FC236}">
                <a16:creationId xmlns:a16="http://schemas.microsoft.com/office/drawing/2014/main" id="{51F1E0C3-67AE-48EE-9DF0-1DB94A9A1594}"/>
              </a:ext>
            </a:extLst>
          </p:cNvPr>
          <p:cNvSpPr>
            <a:spLocks xmlns:a="http://schemas.openxmlformats.org/drawingml/2006/main" noGrp="1"/>
          </p:cNvSpPr>
          <p:nvPr/>
        </p:nvSpPr>
        <p:spPr>
          <a:xfrm xmlns:a="http://schemas.openxmlformats.org/drawingml/2006/main">
            <a:off x="876300" y="5562600"/>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2" name="">
            <a:extLst xmlns:a="http://schemas.openxmlformats.org/drawingml/2006/main">
              <a:ext uri="{FF2B5EF4-FFF2-40B4-BE49-F238E27FC236}">
                <a16:creationId xmlns:a16="http://schemas.microsoft.com/office/drawing/2014/main" id="{9A0EB313-E1E1-4998-A094-F58FE7597B66}"/>
              </a:ext>
            </a:extLst>
          </p:cNvPr>
          <p:cNvSpPr>
            <a:spLocks xmlns:a="http://schemas.openxmlformats.org/drawingml/2006/main" noGrp="1"/>
          </p:cNvSpPr>
          <p:nvPr/>
        </p:nvSpPr>
        <p:spPr>
          <a:xfrm xmlns:a="http://schemas.openxmlformats.org/drawingml/2006/main">
            <a:off x="1524000" y="5886450"/>
            <a:ext cx="914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A8C82"/>
                </a:solidFill>
              </a:defRPr>
            </a:pPr>
            <a:r>
              <a:rPr sz="1500" b="1">
                <a:solidFill>
                  <a:srgbClr val="2A8C82"/>
                </a:solidFill>
              </a:rPr>
              <a:t>The largest observed step coincided with routing: 0.797 → 0.903.</a:t>
            </a:r>
          </a:p>
        </p:txBody>
      </p:sp>
      <p:sp>
        <p:nvSpPr>
          <p:cNvPr id="43" name="">
            <a:extLst xmlns:a="http://schemas.openxmlformats.org/drawingml/2006/main">
              <a:ext uri="{FF2B5EF4-FFF2-40B4-BE49-F238E27FC236}">
                <a16:creationId xmlns:a16="http://schemas.microsoft.com/office/drawing/2014/main" id="{35BCF703-F8C1-4209-B95A-10EC8329E39E}"/>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4" name="source-10">
            <a:extLst xmlns:a="http://schemas.openxmlformats.org/drawingml/2006/main">
              <a:ext uri="{FF2B5EF4-FFF2-40B4-BE49-F238E27FC236}">
                <a16:creationId xmlns:a16="http://schemas.microsoft.com/office/drawing/2014/main" id="{C325922F-B7FF-4972-85F3-E668293137C7}"/>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[7] Scored Phase 1 experiment ledger and Kaggle public leaderboard</a:t>
            </a:r>
          </a:p>
        </p:txBody>
      </p:sp>
      <p:sp>
        <p:nvSpPr>
          <p:cNvPr id="45" name="page-10">
            <a:extLst xmlns:a="http://schemas.openxmlformats.org/drawingml/2006/main">
              <a:ext uri="{FF2B5EF4-FFF2-40B4-BE49-F238E27FC236}">
                <a16:creationId xmlns:a16="http://schemas.microsoft.com/office/drawing/2014/main" id="{48E3BAE2-DC47-4C85-BFB1-CF4EB19F643C}"/>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10</a:t>
            </a:r>
          </a:p>
        </p:txBody>
      </p:sp>
    </p:spTree>
    <p:extLst>
      <p:ext uri="{BB962C8B-B14F-4D97-AF65-F5344CB8AC3E}">
        <p14:creationId xmlns:p14="http://schemas.microsoft.com/office/powerpoint/2010/main" val="2139972927"/>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kicker-11">
            <a:extLst xmlns:a="http://schemas.openxmlformats.org/drawingml/2006/main">
              <a:ext uri="{FF2B5EF4-FFF2-40B4-BE49-F238E27FC236}">
                <a16:creationId xmlns:a16="http://schemas.microsoft.com/office/drawing/2014/main" id="{FBA6E5D5-3FD8-48FC-84C9-880965CBC98A}"/>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title-11">
            <a:extLst xmlns:a="http://schemas.openxmlformats.org/drawingml/2006/main">
              <a:ext uri="{FF2B5EF4-FFF2-40B4-BE49-F238E27FC236}">
                <a16:creationId xmlns:a16="http://schemas.microsoft.com/office/drawing/2014/main" id="{5A9C8C4D-3902-4BE8-AF24-CB099C51556C}"/>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Decision logs turned failed runs into routing rules</a:t>
            </a:r>
          </a:p>
        </p:txBody>
      </p:sp>
      <p:sp>
        <p:nvSpPr>
          <p:cNvPr id="3" name="">
            <a:extLst xmlns:a="http://schemas.openxmlformats.org/drawingml/2006/main">
              <a:ext uri="{FF2B5EF4-FFF2-40B4-BE49-F238E27FC236}">
                <a16:creationId xmlns:a16="http://schemas.microsoft.com/office/drawing/2014/main" id="{FBE5D8CB-5EAE-49FF-8076-0F178199F79A}"/>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AB23159F-2413-4BF4-BDFE-FB86E247005D}"/>
              </a:ext>
            </a:extLst>
          </p:cNvPr>
          <p:cNvSpPr>
            <a:spLocks xmlns:a="http://schemas.openxmlformats.org/drawingml/2006/main" noGrp="1"/>
          </p:cNvSpPr>
          <p:nvPr/>
        </p:nvSpPr>
        <p:spPr>
          <a:xfrm xmlns:a="http://schemas.openxmlformats.org/drawingml/2006/main">
            <a:off x="685800" y="1390650"/>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26174"/>
                </a:solidFill>
              </a:defRPr>
            </a:pPr>
            <a:r>
              <a:rPr sz="1650" b="0">
                <a:solidFill>
                  <a:srgbClr val="526174"/>
                </a:solidFill>
              </a:rPr>
              <a:t>Each negative result changed what later versions were allowed to decide.</a:t>
            </a:r>
          </a:p>
        </p:txBody>
      </p:sp>
      <p:sp>
        <p:nvSpPr>
          <p:cNvPr id="5" name="">
            <a:extLst xmlns:a="http://schemas.openxmlformats.org/drawingml/2006/main">
              <a:ext uri="{FF2B5EF4-FFF2-40B4-BE49-F238E27FC236}">
                <a16:creationId xmlns:a16="http://schemas.microsoft.com/office/drawing/2014/main" id="{B1010340-9A9A-4496-93C2-BF0D34567949}"/>
              </a:ext>
            </a:extLst>
          </p:cNvPr>
          <p:cNvSpPr>
            <a:spLocks xmlns:a="http://schemas.openxmlformats.org/drawingml/2006/main" noGrp="1"/>
          </p:cNvSpPr>
          <p:nvPr/>
        </p:nvSpPr>
        <p:spPr>
          <a:xfrm xmlns:a="http://schemas.openxmlformats.org/drawingml/2006/main">
            <a:off x="876300" y="20764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F5A7A"/>
                </a:solidFill>
              </a:defRPr>
            </a:pPr>
            <a:r>
              <a:rPr sz="1275" b="1">
                <a:solidFill>
                  <a:srgbClr val="1F5A7A"/>
                </a:solidFill>
              </a:rPr>
              <a:t>Experiment</a:t>
            </a:r>
          </a:p>
        </p:txBody>
      </p:sp>
      <p:sp>
        <p:nvSpPr>
          <p:cNvPr id="6" name="">
            <a:extLst xmlns:a="http://schemas.openxmlformats.org/drawingml/2006/main">
              <a:ext uri="{FF2B5EF4-FFF2-40B4-BE49-F238E27FC236}">
                <a16:creationId xmlns:a16="http://schemas.microsoft.com/office/drawing/2014/main" id="{0E84A8EA-2E4B-4EB7-A89F-91D797C3AA03}"/>
              </a:ext>
            </a:extLst>
          </p:cNvPr>
          <p:cNvSpPr>
            <a:spLocks xmlns:a="http://schemas.openxmlformats.org/drawingml/2006/main" noGrp="1"/>
          </p:cNvSpPr>
          <p:nvPr/>
        </p:nvSpPr>
        <p:spPr>
          <a:xfrm xmlns:a="http://schemas.openxmlformats.org/drawingml/2006/main">
            <a:off x="3733800"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F5A7A"/>
                </a:solidFill>
              </a:defRPr>
            </a:pPr>
            <a:r>
              <a:rPr sz="1275" b="1">
                <a:solidFill>
                  <a:srgbClr val="1F5A7A"/>
                </a:solidFill>
              </a:rPr>
              <a:t>Observed result</a:t>
            </a:r>
          </a:p>
        </p:txBody>
      </p:sp>
      <p:sp>
        <p:nvSpPr>
          <p:cNvPr id="7" name="">
            <a:extLst xmlns:a="http://schemas.openxmlformats.org/drawingml/2006/main">
              <a:ext uri="{FF2B5EF4-FFF2-40B4-BE49-F238E27FC236}">
                <a16:creationId xmlns:a16="http://schemas.microsoft.com/office/drawing/2014/main" id="{2A21159E-1664-448E-A0AA-04FCB2DAFFB9}"/>
              </a:ext>
            </a:extLst>
          </p:cNvPr>
          <p:cNvSpPr>
            <a:spLocks xmlns:a="http://schemas.openxmlformats.org/drawingml/2006/main" noGrp="1"/>
          </p:cNvSpPr>
          <p:nvPr/>
        </p:nvSpPr>
        <p:spPr>
          <a:xfrm xmlns:a="http://schemas.openxmlformats.org/drawingml/2006/main">
            <a:off x="7086600" y="20764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F5A7A"/>
                </a:solidFill>
              </a:defRPr>
            </a:pPr>
            <a:r>
              <a:rPr sz="1275" b="1">
                <a:solidFill>
                  <a:srgbClr val="1F5A7A"/>
                </a:solidFill>
              </a:rPr>
              <a:t>Decision recorded</a:t>
            </a:r>
          </a:p>
        </p:txBody>
      </p:sp>
      <p:sp>
        <p:nvSpPr>
          <p:cNvPr id="8" name="">
            <a:extLst xmlns:a="http://schemas.openxmlformats.org/drawingml/2006/main">
              <a:ext uri="{FF2B5EF4-FFF2-40B4-BE49-F238E27FC236}">
                <a16:creationId xmlns:a16="http://schemas.microsoft.com/office/drawing/2014/main" id="{0565CAA6-8237-4885-80BA-A476B44D36CD}"/>
              </a:ext>
            </a:extLst>
          </p:cNvPr>
          <p:cNvSpPr>
            <a:spLocks xmlns:a="http://schemas.openxmlformats.org/drawingml/2006/main" noGrp="1"/>
          </p:cNvSpPr>
          <p:nvPr/>
        </p:nvSpPr>
        <p:spPr>
          <a:xfrm xmlns:a="http://schemas.openxmlformats.org/drawingml/2006/main">
            <a:off x="876300" y="2419350"/>
            <a:ext cx="10401300" cy="0"/>
          </a:xfrm>
          <a:prstGeom xmlns:a="http://schemas.openxmlformats.org/drawingml/2006/main" prst="line">
            <a:avLst/>
          </a:prstGeom>
          <a:noFill xmlns:a="http://schemas.openxmlformats.org/drawingml/2006/main"/>
          <a:ln xmlns:a="http://schemas.openxmlformats.org/drawingml/2006/main" w="19050">
            <a:solidFill>
              <a:srgbClr val="1F5A7A"/>
            </a:solidFill>
            <a:prstDash val="solid"/>
          </a:ln>
        </p:spPr>
      </p:sp>
      <p:sp>
        <p:nvSpPr>
          <p:cNvPr id="9" name="">
            <a:extLst xmlns:a="http://schemas.openxmlformats.org/drawingml/2006/main">
              <a:ext uri="{FF2B5EF4-FFF2-40B4-BE49-F238E27FC236}">
                <a16:creationId xmlns:a16="http://schemas.microsoft.com/office/drawing/2014/main" id="{FFB3AE57-E655-4D9F-847B-EDE301283FB5}"/>
              </a:ext>
            </a:extLst>
          </p:cNvPr>
          <p:cNvSpPr>
            <a:spLocks xmlns:a="http://schemas.openxmlformats.org/drawingml/2006/main" noGrp="1"/>
          </p:cNvSpPr>
          <p:nvPr/>
        </p:nvSpPr>
        <p:spPr>
          <a:xfrm xmlns:a="http://schemas.openxmlformats.org/drawingml/2006/main">
            <a:off x="876300" y="25717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Prompt voting</a:t>
            </a:r>
          </a:p>
        </p:txBody>
      </p:sp>
      <p:sp>
        <p:nvSpPr>
          <p:cNvPr id="10" name="">
            <a:extLst xmlns:a="http://schemas.openxmlformats.org/drawingml/2006/main">
              <a:ext uri="{FF2B5EF4-FFF2-40B4-BE49-F238E27FC236}">
                <a16:creationId xmlns:a16="http://schemas.microsoft.com/office/drawing/2014/main" id="{D530B28B-4CFF-493B-8D5C-35E6FD7671CF}"/>
              </a:ext>
            </a:extLst>
          </p:cNvPr>
          <p:cNvSpPr>
            <a:spLocks xmlns:a="http://schemas.openxmlformats.org/drawingml/2006/main" noGrp="1"/>
          </p:cNvSpPr>
          <p:nvPr/>
        </p:nvSpPr>
        <p:spPr>
          <a:xfrm xmlns:a="http://schemas.openxmlformats.org/drawingml/2006/main">
            <a:off x="3733800" y="25717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26174"/>
                </a:solidFill>
              </a:defRPr>
            </a:pPr>
            <a:r>
              <a:rPr sz="1425" b="0">
                <a:solidFill>
                  <a:srgbClr val="526174"/>
                </a:solidFill>
              </a:rPr>
              <a:t>0.851 local, 0.783 public</a:t>
            </a:r>
          </a:p>
        </p:txBody>
      </p:sp>
      <p:sp>
        <p:nvSpPr>
          <p:cNvPr id="11" name="">
            <a:extLst xmlns:a="http://schemas.openxmlformats.org/drawingml/2006/main">
              <a:ext uri="{FF2B5EF4-FFF2-40B4-BE49-F238E27FC236}">
                <a16:creationId xmlns:a16="http://schemas.microsoft.com/office/drawing/2014/main" id="{98972ACF-F41F-4443-BA6D-CCB32007930A}"/>
              </a:ext>
            </a:extLst>
          </p:cNvPr>
          <p:cNvSpPr>
            <a:spLocks xmlns:a="http://schemas.openxmlformats.org/drawingml/2006/main" noGrp="1"/>
          </p:cNvSpPr>
          <p:nvPr/>
        </p:nvSpPr>
        <p:spPr>
          <a:xfrm xmlns:a="http://schemas.openxmlformats.org/drawingml/2006/main">
            <a:off x="7086600" y="25717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26174"/>
                </a:solidFill>
              </a:defRPr>
            </a:pPr>
            <a:r>
              <a:rPr sz="1425" b="0">
                <a:solidFill>
                  <a:srgbClr val="526174"/>
                </a:solidFill>
              </a:rPr>
              <a:t>Stop prompt churn; require new evidence</a:t>
            </a:r>
          </a:p>
        </p:txBody>
      </p:sp>
      <p:sp>
        <p:nvSpPr>
          <p:cNvPr id="12" name="">
            <a:extLst xmlns:a="http://schemas.openxmlformats.org/drawingml/2006/main">
              <a:ext uri="{FF2B5EF4-FFF2-40B4-BE49-F238E27FC236}">
                <a16:creationId xmlns:a16="http://schemas.microsoft.com/office/drawing/2014/main" id="{9E0EB938-7E6F-4D27-BBAF-D44E5347D685}"/>
              </a:ext>
            </a:extLst>
          </p:cNvPr>
          <p:cNvSpPr>
            <a:spLocks xmlns:a="http://schemas.openxmlformats.org/drawingml/2006/main" noGrp="1"/>
          </p:cNvSpPr>
          <p:nvPr/>
        </p:nvSpPr>
        <p:spPr>
          <a:xfrm xmlns:a="http://schemas.openxmlformats.org/drawingml/2006/main">
            <a:off x="876300" y="3219450"/>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3" name="">
            <a:extLst xmlns:a="http://schemas.openxmlformats.org/drawingml/2006/main">
              <a:ext uri="{FF2B5EF4-FFF2-40B4-BE49-F238E27FC236}">
                <a16:creationId xmlns:a16="http://schemas.microsoft.com/office/drawing/2014/main" id="{DD35140A-910A-48A9-BD35-7E4E08C89826}"/>
              </a:ext>
            </a:extLst>
          </p:cNvPr>
          <p:cNvSpPr>
            <a:spLocks xmlns:a="http://schemas.openxmlformats.org/drawingml/2006/main" noGrp="1"/>
          </p:cNvSpPr>
          <p:nvPr/>
        </p:nvSpPr>
        <p:spPr>
          <a:xfrm xmlns:a="http://schemas.openxmlformats.org/drawingml/2006/main">
            <a:off x="876300" y="34099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TF-IDF verifier</a:t>
            </a:r>
          </a:p>
        </p:txBody>
      </p:sp>
      <p:sp>
        <p:nvSpPr>
          <p:cNvPr id="14" name="">
            <a:extLst xmlns:a="http://schemas.openxmlformats.org/drawingml/2006/main">
              <a:ext uri="{FF2B5EF4-FFF2-40B4-BE49-F238E27FC236}">
                <a16:creationId xmlns:a16="http://schemas.microsoft.com/office/drawing/2014/main" id="{A28039F2-D0EA-4383-9E35-B19709EEFED3}"/>
              </a:ext>
            </a:extLst>
          </p:cNvPr>
          <p:cNvSpPr>
            <a:spLocks xmlns:a="http://schemas.openxmlformats.org/drawingml/2006/main" noGrp="1"/>
          </p:cNvSpPr>
          <p:nvPr/>
        </p:nvSpPr>
        <p:spPr>
          <a:xfrm xmlns:a="http://schemas.openxmlformats.org/drawingml/2006/main">
            <a:off x="3733800" y="34099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26174"/>
                </a:solidFill>
              </a:defRPr>
            </a:pPr>
            <a:r>
              <a:rPr sz="1425" b="0">
                <a:solidFill>
                  <a:srgbClr val="526174"/>
                </a:solidFill>
              </a:rPr>
              <a:t>0.826 out of fold</a:t>
            </a:r>
          </a:p>
        </p:txBody>
      </p:sp>
      <p:sp>
        <p:nvSpPr>
          <p:cNvPr id="15" name="">
            <a:extLst xmlns:a="http://schemas.openxmlformats.org/drawingml/2006/main">
              <a:ext uri="{FF2B5EF4-FFF2-40B4-BE49-F238E27FC236}">
                <a16:creationId xmlns:a16="http://schemas.microsoft.com/office/drawing/2014/main" id="{727DD5F1-E643-4D99-8A8A-AF94F7BC26AA}"/>
              </a:ext>
            </a:extLst>
          </p:cNvPr>
          <p:cNvSpPr>
            <a:spLocks xmlns:a="http://schemas.openxmlformats.org/drawingml/2006/main" noGrp="1"/>
          </p:cNvSpPr>
          <p:nvPr/>
        </p:nvSpPr>
        <p:spPr>
          <a:xfrm xmlns:a="http://schemas.openxmlformats.org/drawingml/2006/main">
            <a:off x="7086600" y="34099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26174"/>
                </a:solidFill>
              </a:defRPr>
            </a:pPr>
            <a:r>
              <a:rPr sz="1425" b="0">
                <a:solidFill>
                  <a:srgbClr val="526174"/>
                </a:solidFill>
              </a:rPr>
              <a:t>Keep as a portable fallback, not a scorer</a:t>
            </a:r>
          </a:p>
        </p:txBody>
      </p:sp>
      <p:sp>
        <p:nvSpPr>
          <p:cNvPr id="16" name="">
            <a:extLst xmlns:a="http://schemas.openxmlformats.org/drawingml/2006/main">
              <a:ext uri="{FF2B5EF4-FFF2-40B4-BE49-F238E27FC236}">
                <a16:creationId xmlns:a16="http://schemas.microsoft.com/office/drawing/2014/main" id="{C2AECBDC-1D0D-49F0-8B40-D633C812FE49}"/>
              </a:ext>
            </a:extLst>
          </p:cNvPr>
          <p:cNvSpPr>
            <a:spLocks xmlns:a="http://schemas.openxmlformats.org/drawingml/2006/main" noGrp="1"/>
          </p:cNvSpPr>
          <p:nvPr/>
        </p:nvSpPr>
        <p:spPr>
          <a:xfrm xmlns:a="http://schemas.openxmlformats.org/drawingml/2006/main">
            <a:off x="876300" y="4057650"/>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7" name="">
            <a:extLst xmlns:a="http://schemas.openxmlformats.org/drawingml/2006/main">
              <a:ext uri="{FF2B5EF4-FFF2-40B4-BE49-F238E27FC236}">
                <a16:creationId xmlns:a16="http://schemas.microsoft.com/office/drawing/2014/main" id="{167CDB02-8DF0-4CD6-8BE0-AAB639163919}"/>
              </a:ext>
            </a:extLst>
          </p:cNvPr>
          <p:cNvSpPr>
            <a:spLocks xmlns:a="http://schemas.openxmlformats.org/drawingml/2006/main" noGrp="1"/>
          </p:cNvSpPr>
          <p:nvPr/>
        </p:nvSpPr>
        <p:spPr>
          <a:xfrm xmlns:a="http://schemas.openxmlformats.org/drawingml/2006/main">
            <a:off x="876300" y="42481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Raw QA retrieval</a:t>
            </a:r>
          </a:p>
        </p:txBody>
      </p:sp>
      <p:sp>
        <p:nvSpPr>
          <p:cNvPr id="18" name="">
            <a:extLst xmlns:a="http://schemas.openxmlformats.org/drawingml/2006/main">
              <a:ext uri="{FF2B5EF4-FFF2-40B4-BE49-F238E27FC236}">
                <a16:creationId xmlns:a16="http://schemas.microsoft.com/office/drawing/2014/main" id="{363C1570-8C19-4F0F-9E37-4839B6A7C60F}"/>
              </a:ext>
            </a:extLst>
          </p:cNvPr>
          <p:cNvSpPr>
            <a:spLocks xmlns:a="http://schemas.openxmlformats.org/drawingml/2006/main" noGrp="1"/>
          </p:cNvSpPr>
          <p:nvPr/>
        </p:nvSpPr>
        <p:spPr>
          <a:xfrm xmlns:a="http://schemas.openxmlformats.org/drawingml/2006/main">
            <a:off x="3733800" y="42481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26174"/>
                </a:solidFill>
              </a:defRPr>
            </a:pPr>
            <a:r>
              <a:rPr sz="1425" b="0">
                <a:solidFill>
                  <a:srgbClr val="526174"/>
                </a:solidFill>
              </a:rPr>
              <a:t>Relevant passage, wrong relation</a:t>
            </a:r>
          </a:p>
        </p:txBody>
      </p:sp>
      <p:sp>
        <p:nvSpPr>
          <p:cNvPr id="19" name="">
            <a:extLst xmlns:a="http://schemas.openxmlformats.org/drawingml/2006/main">
              <a:ext uri="{FF2B5EF4-FFF2-40B4-BE49-F238E27FC236}">
                <a16:creationId xmlns:a16="http://schemas.microsoft.com/office/drawing/2014/main" id="{1E3B809B-72FC-43C9-8B62-085B63D9DE29}"/>
              </a:ext>
            </a:extLst>
          </p:cNvPr>
          <p:cNvSpPr>
            <a:spLocks xmlns:a="http://schemas.openxmlformats.org/drawingml/2006/main" noGrp="1"/>
          </p:cNvSpPr>
          <p:nvPr/>
        </p:nvSpPr>
        <p:spPr>
          <a:xfrm xmlns:a="http://schemas.openxmlformats.org/drawingml/2006/main">
            <a:off x="7086600" y="42481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26174"/>
                </a:solidFill>
              </a:defRPr>
            </a:pPr>
            <a:r>
              <a:rPr sz="1425" b="0">
                <a:solidFill>
                  <a:srgbClr val="526174"/>
                </a:solidFill>
              </a:rPr>
              <a:t>Retrieval proposes; it never decides</a:t>
            </a:r>
          </a:p>
        </p:txBody>
      </p:sp>
      <p:sp>
        <p:nvSpPr>
          <p:cNvPr id="20" name="">
            <a:extLst xmlns:a="http://schemas.openxmlformats.org/drawingml/2006/main">
              <a:ext uri="{FF2B5EF4-FFF2-40B4-BE49-F238E27FC236}">
                <a16:creationId xmlns:a16="http://schemas.microsoft.com/office/drawing/2014/main" id="{9A1AA02E-B891-4133-A939-2FD48E9ED555}"/>
              </a:ext>
            </a:extLst>
          </p:cNvPr>
          <p:cNvSpPr>
            <a:spLocks xmlns:a="http://schemas.openxmlformats.org/drawingml/2006/main" noGrp="1"/>
          </p:cNvSpPr>
          <p:nvPr/>
        </p:nvSpPr>
        <p:spPr>
          <a:xfrm xmlns:a="http://schemas.openxmlformats.org/drawingml/2006/main">
            <a:off x="876300" y="4895850"/>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1" name="">
            <a:extLst xmlns:a="http://schemas.openxmlformats.org/drawingml/2006/main">
              <a:ext uri="{FF2B5EF4-FFF2-40B4-BE49-F238E27FC236}">
                <a16:creationId xmlns:a16="http://schemas.microsoft.com/office/drawing/2014/main" id="{5F831E87-D104-47BC-A892-BCD479F7B849}"/>
              </a:ext>
            </a:extLst>
          </p:cNvPr>
          <p:cNvSpPr>
            <a:spLocks xmlns:a="http://schemas.openxmlformats.org/drawingml/2006/main" noGrp="1"/>
          </p:cNvSpPr>
          <p:nvPr/>
        </p:nvSpPr>
        <p:spPr>
          <a:xfrm xmlns:a="http://schemas.openxmlformats.org/drawingml/2006/main">
            <a:off x="876300" y="50863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v87 fact edits</a:t>
            </a:r>
          </a:p>
        </p:txBody>
      </p:sp>
      <p:sp>
        <p:nvSpPr>
          <p:cNvPr id="22" name="">
            <a:extLst xmlns:a="http://schemas.openxmlformats.org/drawingml/2006/main">
              <a:ext uri="{FF2B5EF4-FFF2-40B4-BE49-F238E27FC236}">
                <a16:creationId xmlns:a16="http://schemas.microsoft.com/office/drawing/2014/main" id="{9D0D269E-1B19-4849-BE54-1C086F6E7148}"/>
              </a:ext>
            </a:extLst>
          </p:cNvPr>
          <p:cNvSpPr>
            <a:spLocks xmlns:a="http://schemas.openxmlformats.org/drawingml/2006/main" noGrp="1"/>
          </p:cNvSpPr>
          <p:nvPr/>
        </p:nvSpPr>
        <p:spPr>
          <a:xfrm xmlns:a="http://schemas.openxmlformats.org/drawingml/2006/main">
            <a:off x="3733800" y="50863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B5483A"/>
                </a:solidFill>
              </a:defRPr>
            </a:pPr>
            <a:r>
              <a:rPr sz="1425" b="1">
                <a:solidFill>
                  <a:srgbClr val="B5483A"/>
                </a:solidFill>
              </a:rPr>
              <a:t>0.966 to 0.965 public</a:t>
            </a:r>
          </a:p>
        </p:txBody>
      </p:sp>
      <p:sp>
        <p:nvSpPr>
          <p:cNvPr id="23" name="">
            <a:extLst xmlns:a="http://schemas.openxmlformats.org/drawingml/2006/main">
              <a:ext uri="{FF2B5EF4-FFF2-40B4-BE49-F238E27FC236}">
                <a16:creationId xmlns:a16="http://schemas.microsoft.com/office/drawing/2014/main" id="{F6C55C9B-1E86-477F-8151-26BC09102323}"/>
              </a:ext>
            </a:extLst>
          </p:cNvPr>
          <p:cNvSpPr>
            <a:spLocks xmlns:a="http://schemas.openxmlformats.org/drawingml/2006/main" noGrp="1"/>
          </p:cNvSpPr>
          <p:nvPr/>
        </p:nvSpPr>
        <p:spPr>
          <a:xfrm xmlns:a="http://schemas.openxmlformats.org/drawingml/2006/main">
            <a:off x="7086600" y="50863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26174"/>
                </a:solidFill>
              </a:defRPr>
            </a:pPr>
            <a:r>
              <a:rPr sz="1425" b="0">
                <a:solidFill>
                  <a:srgbClr val="526174"/>
                </a:solidFill>
              </a:rPr>
              <a:t>Require source + predicate; revert</a:t>
            </a:r>
          </a:p>
        </p:txBody>
      </p:sp>
      <p:sp>
        <p:nvSpPr>
          <p:cNvPr id="24" name="">
            <a:extLst xmlns:a="http://schemas.openxmlformats.org/drawingml/2006/main">
              <a:ext uri="{FF2B5EF4-FFF2-40B4-BE49-F238E27FC236}">
                <a16:creationId xmlns:a16="http://schemas.microsoft.com/office/drawing/2014/main" id="{744243E3-375E-4DA4-93AA-4294E593C452}"/>
              </a:ext>
            </a:extLst>
          </p:cNvPr>
          <p:cNvSpPr>
            <a:spLocks xmlns:a="http://schemas.openxmlformats.org/drawingml/2006/main" noGrp="1"/>
          </p:cNvSpPr>
          <p:nvPr/>
        </p:nvSpPr>
        <p:spPr>
          <a:xfrm xmlns:a="http://schemas.openxmlformats.org/drawingml/2006/main">
            <a:off x="876300" y="5734050"/>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5" name="">
            <a:extLst xmlns:a="http://schemas.openxmlformats.org/drawingml/2006/main">
              <a:ext uri="{FF2B5EF4-FFF2-40B4-BE49-F238E27FC236}">
                <a16:creationId xmlns:a16="http://schemas.microsoft.com/office/drawing/2014/main" id="{29EFD0DC-B388-4476-A62A-338BC2C07F9D}"/>
              </a:ext>
            </a:extLst>
          </p:cNvPr>
          <p:cNvSpPr>
            <a:spLocks xmlns:a="http://schemas.openxmlformats.org/drawingml/2006/main" noGrp="1"/>
          </p:cNvSpPr>
          <p:nvPr/>
        </p:nvSpPr>
        <p:spPr>
          <a:xfrm xmlns:a="http://schemas.openxmlformats.org/drawingml/2006/main">
            <a:off x="1295400" y="5886450"/>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B5483A"/>
                </a:solidFill>
              </a:defRPr>
            </a:pPr>
            <a:r>
              <a:rPr sz="1500" b="1">
                <a:solidFill>
                  <a:srgbClr val="B5483A"/>
                </a:solidFill>
              </a:rPr>
              <a:t>Admission rule: a change must add an evidence trace and preserve the regression suite.</a:t>
            </a:r>
          </a:p>
        </p:txBody>
      </p:sp>
      <p:sp>
        <p:nvSpPr>
          <p:cNvPr id="26" name="">
            <a:extLst xmlns:a="http://schemas.openxmlformats.org/drawingml/2006/main">
              <a:ext uri="{FF2B5EF4-FFF2-40B4-BE49-F238E27FC236}">
                <a16:creationId xmlns:a16="http://schemas.microsoft.com/office/drawing/2014/main" id="{606B725C-818B-44BD-9619-91C2C55B01B6}"/>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7" name="source-11">
            <a:extLst xmlns:a="http://schemas.openxmlformats.org/drawingml/2006/main">
              <a:ext uri="{FF2B5EF4-FFF2-40B4-BE49-F238E27FC236}">
                <a16:creationId xmlns:a16="http://schemas.microsoft.com/office/drawing/2014/main" id="{F6268502-DD88-4C8E-AFC2-F3735EDC5F3A}"/>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[7] Rejected and scored experiment records in EXPERIMENT.log</a:t>
            </a:r>
          </a:p>
        </p:txBody>
      </p:sp>
      <p:sp>
        <p:nvSpPr>
          <p:cNvPr id="28" name="page-11">
            <a:extLst xmlns:a="http://schemas.openxmlformats.org/drawingml/2006/main">
              <a:ext uri="{FF2B5EF4-FFF2-40B4-BE49-F238E27FC236}">
                <a16:creationId xmlns:a16="http://schemas.microsoft.com/office/drawing/2014/main" id="{BA6637E6-7E5D-4167-8869-67A5BAC6055C}"/>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11</a:t>
            </a:r>
          </a:p>
        </p:txBody>
      </p:sp>
    </p:spTree>
    <p:extLst>
      <p:ext uri="{BB962C8B-B14F-4D97-AF65-F5344CB8AC3E}">
        <p14:creationId xmlns:p14="http://schemas.microsoft.com/office/powerpoint/2010/main" val="837753142"/>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8" name="kicker-12">
            <a:extLst xmlns:a="http://schemas.openxmlformats.org/drawingml/2006/main">
              <a:ext uri="{FF2B5EF4-FFF2-40B4-BE49-F238E27FC236}">
                <a16:creationId xmlns:a16="http://schemas.microsoft.com/office/drawing/2014/main" id="{F660AC61-5E47-4BC2-83AF-4DD649132A83}"/>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title-12">
            <a:extLst xmlns:a="http://schemas.openxmlformats.org/drawingml/2006/main">
              <a:ext uri="{FF2B5EF4-FFF2-40B4-BE49-F238E27FC236}">
                <a16:creationId xmlns:a16="http://schemas.microsoft.com/office/drawing/2014/main" id="{99DAA247-2AA8-45DE-B216-3587BDB93210}"/>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Reproducibility was treated as an evaluation result</a:t>
            </a:r>
          </a:p>
        </p:txBody>
      </p:sp>
      <p:sp>
        <p:nvSpPr>
          <p:cNvPr id="3" name="">
            <a:extLst xmlns:a="http://schemas.openxmlformats.org/drawingml/2006/main">
              <a:ext uri="{FF2B5EF4-FFF2-40B4-BE49-F238E27FC236}">
                <a16:creationId xmlns:a16="http://schemas.microsoft.com/office/drawing/2014/main" id="{25EFA620-8FF6-47B9-BD17-7C606C939C8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E3792FF5-2CF9-407D-971C-4C2B98D6FC63}"/>
              </a:ext>
            </a:extLst>
          </p:cNvPr>
          <p:cNvSpPr>
            <a:spLocks xmlns:a="http://schemas.openxmlformats.org/drawingml/2006/main" noGrp="1"/>
          </p:cNvSpPr>
          <p:nvPr/>
        </p:nvSpPr>
        <p:spPr>
          <a:xfrm xmlns:a="http://schemas.openxmlformats.org/drawingml/2006/main">
            <a:off x="685800" y="13906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26174"/>
                </a:solidFill>
              </a:defRPr>
            </a:pPr>
            <a:r>
              <a:rPr sz="1575" b="0">
                <a:solidFill>
                  <a:srgbClr val="526174"/>
                </a:solidFill>
              </a:rPr>
              <a:t>Correctness, deterministic execution, output integrity, and runtime were checked separately.</a:t>
            </a:r>
          </a:p>
        </p:txBody>
      </p:sp>
      <p:sp>
        <p:nvSpPr>
          <p:cNvPr id="5" name="">
            <a:extLst xmlns:a="http://schemas.openxmlformats.org/drawingml/2006/main">
              <a:ext uri="{FF2B5EF4-FFF2-40B4-BE49-F238E27FC236}">
                <a16:creationId xmlns:a16="http://schemas.microsoft.com/office/drawing/2014/main" id="{E91B8C04-A6A5-40F0-A67D-06296EFC8C79}"/>
              </a:ext>
            </a:extLst>
          </p:cNvPr>
          <p:cNvSpPr>
            <a:spLocks xmlns:a="http://schemas.openxmlformats.org/drawingml/2006/main" noGrp="1"/>
          </p:cNvSpPr>
          <p:nvPr/>
        </p:nvSpPr>
        <p:spPr>
          <a:xfrm xmlns:a="http://schemas.openxmlformats.org/drawingml/2006/main">
            <a:off x="914400" y="215265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F5A7A"/>
                </a:solidFill>
              </a:defRPr>
            </a:pPr>
            <a:r>
              <a:rPr sz="3600" b="1">
                <a:solidFill>
                  <a:srgbClr val="1F5A7A"/>
                </a:solidFill>
              </a:rPr>
              <a:t>249</a:t>
            </a:r>
          </a:p>
        </p:txBody>
      </p:sp>
      <p:sp>
        <p:nvSpPr>
          <p:cNvPr id="6" name="">
            <a:extLst xmlns:a="http://schemas.openxmlformats.org/drawingml/2006/main">
              <a:ext uri="{FF2B5EF4-FFF2-40B4-BE49-F238E27FC236}">
                <a16:creationId xmlns:a16="http://schemas.microsoft.com/office/drawing/2014/main" id="{05049A46-07B5-450A-9D97-9AB90827F5CD}"/>
              </a:ext>
            </a:extLst>
          </p:cNvPr>
          <p:cNvSpPr>
            <a:spLocks xmlns:a="http://schemas.openxmlformats.org/drawingml/2006/main" noGrp="1"/>
          </p:cNvSpPr>
          <p:nvPr/>
        </p:nvSpPr>
        <p:spPr>
          <a:xfrm xmlns:a="http://schemas.openxmlformats.org/drawingml/2006/main">
            <a:off x="914400" y="28384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automated regression tests</a:t>
            </a:r>
          </a:p>
        </p:txBody>
      </p:sp>
      <p:sp>
        <p:nvSpPr>
          <p:cNvPr id="7" name="">
            <a:extLst xmlns:a="http://schemas.openxmlformats.org/drawingml/2006/main">
              <a:ext uri="{FF2B5EF4-FFF2-40B4-BE49-F238E27FC236}">
                <a16:creationId xmlns:a16="http://schemas.microsoft.com/office/drawing/2014/main" id="{9A1AA8E5-D4AB-4C10-9269-0391D0919160}"/>
              </a:ext>
            </a:extLst>
          </p:cNvPr>
          <p:cNvSpPr>
            <a:spLocks xmlns:a="http://schemas.openxmlformats.org/drawingml/2006/main" noGrp="1"/>
          </p:cNvSpPr>
          <p:nvPr/>
        </p:nvSpPr>
        <p:spPr>
          <a:xfrm xmlns:a="http://schemas.openxmlformats.org/drawingml/2006/main">
            <a:off x="3714750" y="21526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A8C82"/>
                </a:solidFill>
              </a:defRPr>
            </a:pPr>
            <a:r>
              <a:rPr sz="3600" b="1">
                <a:solidFill>
                  <a:srgbClr val="2A8C82"/>
                </a:solidFill>
              </a:rPr>
              <a:t>3</a:t>
            </a:r>
          </a:p>
        </p:txBody>
      </p:sp>
      <p:sp>
        <p:nvSpPr>
          <p:cNvPr id="8" name="">
            <a:extLst xmlns:a="http://schemas.openxmlformats.org/drawingml/2006/main">
              <a:ext uri="{FF2B5EF4-FFF2-40B4-BE49-F238E27FC236}">
                <a16:creationId xmlns:a16="http://schemas.microsoft.com/office/drawing/2014/main" id="{264B21FE-76D4-48C7-917B-E1AF42BFBDBA}"/>
              </a:ext>
            </a:extLst>
          </p:cNvPr>
          <p:cNvSpPr>
            <a:spLocks xmlns:a="http://schemas.openxmlformats.org/drawingml/2006/main" noGrp="1"/>
          </p:cNvSpPr>
          <p:nvPr/>
        </p:nvSpPr>
        <p:spPr>
          <a:xfrm xmlns:a="http://schemas.openxmlformats.org/drawingml/2006/main">
            <a:off x="3714750" y="28384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byte-identical inference runs</a:t>
            </a:r>
          </a:p>
        </p:txBody>
      </p:sp>
      <p:sp>
        <p:nvSpPr>
          <p:cNvPr id="9" name="">
            <a:extLst xmlns:a="http://schemas.openxmlformats.org/drawingml/2006/main">
              <a:ext uri="{FF2B5EF4-FFF2-40B4-BE49-F238E27FC236}">
                <a16:creationId xmlns:a16="http://schemas.microsoft.com/office/drawing/2014/main" id="{3D0AC9AA-B7BF-4895-AB08-541EB4024DEB}"/>
              </a:ext>
            </a:extLst>
          </p:cNvPr>
          <p:cNvSpPr>
            <a:spLocks xmlns:a="http://schemas.openxmlformats.org/drawingml/2006/main" noGrp="1"/>
          </p:cNvSpPr>
          <p:nvPr/>
        </p:nvSpPr>
        <p:spPr>
          <a:xfrm xmlns:a="http://schemas.openxmlformats.org/drawingml/2006/main">
            <a:off x="6667500" y="215265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D59B32"/>
                </a:solidFill>
              </a:defRPr>
            </a:pPr>
            <a:r>
              <a:rPr sz="3600" b="1">
                <a:solidFill>
                  <a:srgbClr val="D59B32"/>
                </a:solidFill>
              </a:rPr>
              <a:t>225</a:t>
            </a:r>
          </a:p>
        </p:txBody>
      </p:sp>
      <p:sp>
        <p:nvSpPr>
          <p:cNvPr id="10" name="">
            <a:extLst xmlns:a="http://schemas.openxmlformats.org/drawingml/2006/main">
              <a:ext uri="{FF2B5EF4-FFF2-40B4-BE49-F238E27FC236}">
                <a16:creationId xmlns:a16="http://schemas.microsoft.com/office/drawing/2014/main" id="{4B703288-FB36-4BB7-A351-19BC27DB1DB6}"/>
              </a:ext>
            </a:extLst>
          </p:cNvPr>
          <p:cNvSpPr>
            <a:spLocks xmlns:a="http://schemas.openxmlformats.org/drawingml/2006/main" noGrp="1"/>
          </p:cNvSpPr>
          <p:nvPr/>
        </p:nvSpPr>
        <p:spPr>
          <a:xfrm xmlns:a="http://schemas.openxmlformats.org/drawingml/2006/main">
            <a:off x="6667500" y="2838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deterministic controls</a:t>
            </a:r>
          </a:p>
        </p:txBody>
      </p:sp>
      <p:sp>
        <p:nvSpPr>
          <p:cNvPr id="11" name="">
            <a:extLst xmlns:a="http://schemas.openxmlformats.org/drawingml/2006/main">
              <a:ext uri="{FF2B5EF4-FFF2-40B4-BE49-F238E27FC236}">
                <a16:creationId xmlns:a16="http://schemas.microsoft.com/office/drawing/2014/main" id="{588BDC76-8B0B-403A-B801-28D1B7ED4A40}"/>
              </a:ext>
            </a:extLst>
          </p:cNvPr>
          <p:cNvSpPr>
            <a:spLocks xmlns:a="http://schemas.openxmlformats.org/drawingml/2006/main" noGrp="1"/>
          </p:cNvSpPr>
          <p:nvPr/>
        </p:nvSpPr>
        <p:spPr>
          <a:xfrm xmlns:a="http://schemas.openxmlformats.org/drawingml/2006/main">
            <a:off x="9277350" y="215265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A8C82"/>
                </a:solidFill>
              </a:defRPr>
            </a:pPr>
            <a:r>
              <a:rPr sz="3600" b="1">
                <a:solidFill>
                  <a:srgbClr val="2A8C82"/>
                </a:solidFill>
              </a:rPr>
              <a:t>0</a:t>
            </a:r>
          </a:p>
        </p:txBody>
      </p:sp>
      <p:sp>
        <p:nvSpPr>
          <p:cNvPr id="12" name="">
            <a:extLst xmlns:a="http://schemas.openxmlformats.org/drawingml/2006/main">
              <a:ext uri="{FF2B5EF4-FFF2-40B4-BE49-F238E27FC236}">
                <a16:creationId xmlns:a16="http://schemas.microsoft.com/office/drawing/2014/main" id="{7829D50C-D8A2-45A8-897C-10082E6554D1}"/>
              </a:ext>
            </a:extLst>
          </p:cNvPr>
          <p:cNvSpPr>
            <a:spLocks xmlns:a="http://schemas.openxmlformats.org/drawingml/2006/main" noGrp="1"/>
          </p:cNvSpPr>
          <p:nvPr/>
        </p:nvSpPr>
        <p:spPr>
          <a:xfrm xmlns:a="http://schemas.openxmlformats.org/drawingml/2006/main">
            <a:off x="9277350" y="2838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schema or ID-order failures</a:t>
            </a:r>
          </a:p>
        </p:txBody>
      </p:sp>
      <p:sp>
        <p:nvSpPr>
          <p:cNvPr id="13" name="">
            <a:extLst xmlns:a="http://schemas.openxmlformats.org/drawingml/2006/main">
              <a:ext uri="{FF2B5EF4-FFF2-40B4-BE49-F238E27FC236}">
                <a16:creationId xmlns:a16="http://schemas.microsoft.com/office/drawing/2014/main" id="{0AC59BB1-EA8F-42E7-8421-3851A1715F5C}"/>
              </a:ext>
            </a:extLst>
          </p:cNvPr>
          <p:cNvSpPr>
            <a:spLocks xmlns:a="http://schemas.openxmlformats.org/drawingml/2006/main" noGrp="1"/>
          </p:cNvSpPr>
          <p:nvPr/>
        </p:nvSpPr>
        <p:spPr>
          <a:xfrm xmlns:a="http://schemas.openxmlformats.org/drawingml/2006/main">
            <a:off x="914400" y="3695700"/>
            <a:ext cx="103632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4" name="">
            <a:extLst xmlns:a="http://schemas.openxmlformats.org/drawingml/2006/main">
              <a:ext uri="{FF2B5EF4-FFF2-40B4-BE49-F238E27FC236}">
                <a16:creationId xmlns:a16="http://schemas.microsoft.com/office/drawing/2014/main" id="{2397DAD1-EA95-4861-BAF1-4B8568438CA7}"/>
              </a:ext>
            </a:extLst>
          </p:cNvPr>
          <p:cNvSpPr>
            <a:spLocks xmlns:a="http://schemas.openxmlformats.org/drawingml/2006/main" noGrp="1"/>
          </p:cNvSpPr>
          <p:nvPr/>
        </p:nvSpPr>
        <p:spPr>
          <a:xfrm xmlns:a="http://schemas.openxmlformats.org/drawingml/2006/main">
            <a:off x="2457450" y="4457700"/>
            <a:ext cx="40005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5" name="">
            <a:extLst xmlns:a="http://schemas.openxmlformats.org/drawingml/2006/main">
              <a:ext uri="{FF2B5EF4-FFF2-40B4-BE49-F238E27FC236}">
                <a16:creationId xmlns:a16="http://schemas.microsoft.com/office/drawing/2014/main" id="{C031D5D7-F883-4015-9C07-297919EE7431}"/>
              </a:ext>
            </a:extLst>
          </p:cNvPr>
          <p:cNvSpPr>
            <a:spLocks xmlns:a="http://schemas.openxmlformats.org/drawingml/2006/main" noGrp="1"/>
          </p:cNvSpPr>
          <p:nvPr/>
        </p:nvSpPr>
        <p:spPr>
          <a:xfrm xmlns:a="http://schemas.openxmlformats.org/drawingml/2006/main">
            <a:off x="4591050" y="4457700"/>
            <a:ext cx="40005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6" name="">
            <a:extLst xmlns:a="http://schemas.openxmlformats.org/drawingml/2006/main">
              <a:ext uri="{FF2B5EF4-FFF2-40B4-BE49-F238E27FC236}">
                <a16:creationId xmlns:a16="http://schemas.microsoft.com/office/drawing/2014/main" id="{BD2B6089-6177-4D2F-AFD3-6D89327060A5}"/>
              </a:ext>
            </a:extLst>
          </p:cNvPr>
          <p:cNvSpPr>
            <a:spLocks xmlns:a="http://schemas.openxmlformats.org/drawingml/2006/main" noGrp="1"/>
          </p:cNvSpPr>
          <p:nvPr/>
        </p:nvSpPr>
        <p:spPr>
          <a:xfrm xmlns:a="http://schemas.openxmlformats.org/drawingml/2006/main">
            <a:off x="6724650" y="4457700"/>
            <a:ext cx="40005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7" name="">
            <a:extLst xmlns:a="http://schemas.openxmlformats.org/drawingml/2006/main">
              <a:ext uri="{FF2B5EF4-FFF2-40B4-BE49-F238E27FC236}">
                <a16:creationId xmlns:a16="http://schemas.microsoft.com/office/drawing/2014/main" id="{AE27FDFA-5D0D-4D74-BA0F-FA7FDFE3F36A}"/>
              </a:ext>
            </a:extLst>
          </p:cNvPr>
          <p:cNvSpPr>
            <a:spLocks xmlns:a="http://schemas.openxmlformats.org/drawingml/2006/main" noGrp="1"/>
          </p:cNvSpPr>
          <p:nvPr/>
        </p:nvSpPr>
        <p:spPr>
          <a:xfrm xmlns:a="http://schemas.openxmlformats.org/drawingml/2006/main">
            <a:off x="8858250" y="4457700"/>
            <a:ext cx="40005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8" name="">
            <a:extLst xmlns:a="http://schemas.openxmlformats.org/drawingml/2006/main">
              <a:ext uri="{FF2B5EF4-FFF2-40B4-BE49-F238E27FC236}">
                <a16:creationId xmlns:a16="http://schemas.microsoft.com/office/drawing/2014/main" id="{6FA8D2E3-F33F-442A-A477-EF3CECFE4059}"/>
              </a:ext>
            </a:extLst>
          </p:cNvPr>
          <p:cNvSpPr>
            <a:spLocks xmlns:a="http://schemas.openxmlformats.org/drawingml/2006/main" noGrp="1"/>
          </p:cNvSpPr>
          <p:nvPr/>
        </p:nvSpPr>
        <p:spPr>
          <a:xfrm xmlns:a="http://schemas.openxmlformats.org/drawingml/2006/main">
            <a:off x="742950" y="4057650"/>
            <a:ext cx="1714500" cy="1047750"/>
          </a:xfrm>
          <a:prstGeom xmlns:a="http://schemas.openxmlformats.org/drawingml/2006/main" prst="roundRect">
            <a:avLst>
              <a:gd name="adj" fmla="val 12727"/>
            </a:avLst>
          </a:prstGeom>
          <a:solidFill xmlns:a="http://schemas.openxmlformats.org/drawingml/2006/main">
            <a:srgbClr val="FFFFFF"/>
          </a:solidFill>
          <a:ln xmlns:a="http://schemas.openxmlformats.org/drawingml/2006/main" w="9525">
            <a:solidFill>
              <a:srgbClr val="2A8C82"/>
            </a:solidFill>
            <a:prstDash val="solid"/>
          </a:ln>
        </p:spPr>
      </p:sp>
      <p:sp>
        <p:nvSpPr>
          <p:cNvPr id="19" name="">
            <a:extLst xmlns:a="http://schemas.openxmlformats.org/drawingml/2006/main">
              <a:ext uri="{FF2B5EF4-FFF2-40B4-BE49-F238E27FC236}">
                <a16:creationId xmlns:a16="http://schemas.microsoft.com/office/drawing/2014/main" id="{85FAC507-243B-45F5-9FB6-3E7403B0CD4B}"/>
              </a:ext>
            </a:extLst>
          </p:cNvPr>
          <p:cNvSpPr>
            <a:spLocks xmlns:a="http://schemas.openxmlformats.org/drawingml/2006/main" noGrp="1"/>
          </p:cNvSpPr>
          <p:nvPr/>
        </p:nvSpPr>
        <p:spPr>
          <a:xfrm xmlns:a="http://schemas.openxmlformats.org/drawingml/2006/main">
            <a:off x="876300" y="4248150"/>
            <a:ext cx="144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F5A7A"/>
                </a:solidFill>
              </a:defRPr>
            </a:pPr>
            <a:r>
              <a:rPr sz="1425" b="1">
                <a:solidFill>
                  <a:srgbClr val="1F5A7A"/>
                </a:solidFill>
              </a:rPr>
              <a:t>Literal path</a:t>
            </a:r>
          </a:p>
        </p:txBody>
      </p:sp>
      <p:sp>
        <p:nvSpPr>
          <p:cNvPr id="20" name="">
            <a:extLst xmlns:a="http://schemas.openxmlformats.org/drawingml/2006/main">
              <a:ext uri="{FF2B5EF4-FFF2-40B4-BE49-F238E27FC236}">
                <a16:creationId xmlns:a16="http://schemas.microsoft.com/office/drawing/2014/main" id="{06653A2D-471B-445D-8C38-8679B0EB94C7}"/>
              </a:ext>
            </a:extLst>
          </p:cNvPr>
          <p:cNvSpPr>
            <a:spLocks xmlns:a="http://schemas.openxmlformats.org/drawingml/2006/main" noGrp="1"/>
          </p:cNvSpPr>
          <p:nvPr/>
        </p:nvSpPr>
        <p:spPr>
          <a:xfrm xmlns:a="http://schemas.openxmlformats.org/drawingml/2006/main">
            <a:off x="876300" y="4638675"/>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organizer test path</a:t>
            </a:r>
          </a:p>
        </p:txBody>
      </p:sp>
      <p:sp>
        <p:nvSpPr>
          <p:cNvPr id="21" name="">
            <a:extLst xmlns:a="http://schemas.openxmlformats.org/drawingml/2006/main">
              <a:ext uri="{FF2B5EF4-FFF2-40B4-BE49-F238E27FC236}">
                <a16:creationId xmlns:a16="http://schemas.microsoft.com/office/drawing/2014/main" id="{CC0C5B61-1E1D-457F-B2E1-FFEEA5675179}"/>
              </a:ext>
            </a:extLst>
          </p:cNvPr>
          <p:cNvSpPr>
            <a:spLocks xmlns:a="http://schemas.openxmlformats.org/drawingml/2006/main" noGrp="1"/>
          </p:cNvSpPr>
          <p:nvPr/>
        </p:nvSpPr>
        <p:spPr>
          <a:xfrm xmlns:a="http://schemas.openxmlformats.org/drawingml/2006/main">
            <a:off x="2876550" y="4057650"/>
            <a:ext cx="1714500" cy="1047750"/>
          </a:xfrm>
          <a:prstGeom xmlns:a="http://schemas.openxmlformats.org/drawingml/2006/main" prst="roundRect">
            <a:avLst>
              <a:gd name="adj" fmla="val 12727"/>
            </a:avLst>
          </a:prstGeom>
          <a:solidFill xmlns:a="http://schemas.openxmlformats.org/drawingml/2006/main">
            <a:srgbClr val="FFFFFF"/>
          </a:solidFill>
          <a:ln xmlns:a="http://schemas.openxmlformats.org/drawingml/2006/main" w="9525">
            <a:solidFill>
              <a:srgbClr val="2A8C82"/>
            </a:solidFill>
            <a:prstDash val="solid"/>
          </a:ln>
        </p:spPr>
      </p:sp>
      <p:sp>
        <p:nvSpPr>
          <p:cNvPr id="22" name="">
            <a:extLst xmlns:a="http://schemas.openxmlformats.org/drawingml/2006/main">
              <a:ext uri="{FF2B5EF4-FFF2-40B4-BE49-F238E27FC236}">
                <a16:creationId xmlns:a16="http://schemas.microsoft.com/office/drawing/2014/main" id="{13AF7728-E64D-4A47-B229-2AD4932B324D}"/>
              </a:ext>
            </a:extLst>
          </p:cNvPr>
          <p:cNvSpPr>
            <a:spLocks xmlns:a="http://schemas.openxmlformats.org/drawingml/2006/main" noGrp="1"/>
          </p:cNvSpPr>
          <p:nvPr/>
        </p:nvSpPr>
        <p:spPr>
          <a:xfrm xmlns:a="http://schemas.openxmlformats.org/drawingml/2006/main">
            <a:off x="3009900" y="4248150"/>
            <a:ext cx="144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F5A7A"/>
                </a:solidFill>
              </a:defRPr>
            </a:pPr>
            <a:r>
              <a:rPr sz="1425" b="1">
                <a:solidFill>
                  <a:srgbClr val="1F5A7A"/>
                </a:solidFill>
              </a:rPr>
              <a:t>Pinned assets</a:t>
            </a:r>
          </a:p>
        </p:txBody>
      </p:sp>
      <p:sp>
        <p:nvSpPr>
          <p:cNvPr id="23" name="">
            <a:extLst xmlns:a="http://schemas.openxmlformats.org/drawingml/2006/main">
              <a:ext uri="{FF2B5EF4-FFF2-40B4-BE49-F238E27FC236}">
                <a16:creationId xmlns:a16="http://schemas.microsoft.com/office/drawing/2014/main" id="{375A5280-EC9F-4D70-B7E6-CDB50D4ED65B}"/>
              </a:ext>
            </a:extLst>
          </p:cNvPr>
          <p:cNvSpPr>
            <a:spLocks xmlns:a="http://schemas.openxmlformats.org/drawingml/2006/main" noGrp="1"/>
          </p:cNvSpPr>
          <p:nvPr/>
        </p:nvSpPr>
        <p:spPr>
          <a:xfrm xmlns:a="http://schemas.openxmlformats.org/drawingml/2006/main">
            <a:off x="3009900" y="4638675"/>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model + runtime + evidence</a:t>
            </a:r>
          </a:p>
        </p:txBody>
      </p:sp>
      <p:sp>
        <p:nvSpPr>
          <p:cNvPr id="24" name="">
            <a:extLst xmlns:a="http://schemas.openxmlformats.org/drawingml/2006/main">
              <a:ext uri="{FF2B5EF4-FFF2-40B4-BE49-F238E27FC236}">
                <a16:creationId xmlns:a16="http://schemas.microsoft.com/office/drawing/2014/main" id="{E564E088-86FB-4B00-ACA6-707780E24F97}"/>
              </a:ext>
            </a:extLst>
          </p:cNvPr>
          <p:cNvSpPr>
            <a:spLocks xmlns:a="http://schemas.openxmlformats.org/drawingml/2006/main" noGrp="1"/>
          </p:cNvSpPr>
          <p:nvPr/>
        </p:nvSpPr>
        <p:spPr>
          <a:xfrm xmlns:a="http://schemas.openxmlformats.org/drawingml/2006/main">
            <a:off x="5010150" y="4057650"/>
            <a:ext cx="1714500" cy="1047750"/>
          </a:xfrm>
          <a:prstGeom xmlns:a="http://schemas.openxmlformats.org/drawingml/2006/main" prst="roundRect">
            <a:avLst>
              <a:gd name="adj" fmla="val 12727"/>
            </a:avLst>
          </a:prstGeom>
          <a:solidFill xmlns:a="http://schemas.openxmlformats.org/drawingml/2006/main">
            <a:srgbClr val="FFFFFF"/>
          </a:solidFill>
          <a:ln xmlns:a="http://schemas.openxmlformats.org/drawingml/2006/main" w="9525">
            <a:solidFill>
              <a:srgbClr val="2A8C82"/>
            </a:solidFill>
            <a:prstDash val="solid"/>
          </a:ln>
        </p:spPr>
      </p:sp>
      <p:sp>
        <p:nvSpPr>
          <p:cNvPr id="25" name="">
            <a:extLst xmlns:a="http://schemas.openxmlformats.org/drawingml/2006/main">
              <a:ext uri="{FF2B5EF4-FFF2-40B4-BE49-F238E27FC236}">
                <a16:creationId xmlns:a16="http://schemas.microsoft.com/office/drawing/2014/main" id="{8C7611AC-ADF7-44AE-9DB6-17FD7144F0B9}"/>
              </a:ext>
            </a:extLst>
          </p:cNvPr>
          <p:cNvSpPr>
            <a:spLocks xmlns:a="http://schemas.openxmlformats.org/drawingml/2006/main" noGrp="1"/>
          </p:cNvSpPr>
          <p:nvPr/>
        </p:nvSpPr>
        <p:spPr>
          <a:xfrm xmlns:a="http://schemas.openxmlformats.org/drawingml/2006/main">
            <a:off x="5143500" y="4248150"/>
            <a:ext cx="144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F5A7A"/>
                </a:solidFill>
              </a:defRPr>
            </a:pPr>
            <a:r>
              <a:rPr sz="1425" b="1">
                <a:solidFill>
                  <a:srgbClr val="1F5A7A"/>
                </a:solidFill>
              </a:rPr>
              <a:t>Fixed schedule</a:t>
            </a:r>
          </a:p>
        </p:txBody>
      </p:sp>
      <p:sp>
        <p:nvSpPr>
          <p:cNvPr id="26" name="">
            <a:extLst xmlns:a="http://schemas.openxmlformats.org/drawingml/2006/main">
              <a:ext uri="{FF2B5EF4-FFF2-40B4-BE49-F238E27FC236}">
                <a16:creationId xmlns:a16="http://schemas.microsoft.com/office/drawing/2014/main" id="{FC78B84C-7EC7-4962-8407-09CA6DACC0BF}"/>
              </a:ext>
            </a:extLst>
          </p:cNvPr>
          <p:cNvSpPr>
            <a:spLocks xmlns:a="http://schemas.openxmlformats.org/drawingml/2006/main" noGrp="1"/>
          </p:cNvSpPr>
          <p:nvPr/>
        </p:nvSpPr>
        <p:spPr>
          <a:xfrm xmlns:a="http://schemas.openxmlformats.org/drawingml/2006/main">
            <a:off x="5143500" y="4638675"/>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rows + prompts + batches</a:t>
            </a:r>
          </a:p>
        </p:txBody>
      </p:sp>
      <p:sp>
        <p:nvSpPr>
          <p:cNvPr id="27" name="">
            <a:extLst xmlns:a="http://schemas.openxmlformats.org/drawingml/2006/main">
              <a:ext uri="{FF2B5EF4-FFF2-40B4-BE49-F238E27FC236}">
                <a16:creationId xmlns:a16="http://schemas.microsoft.com/office/drawing/2014/main" id="{533904A5-743B-41F1-A58B-43C5E77DA6BF}"/>
              </a:ext>
            </a:extLst>
          </p:cNvPr>
          <p:cNvSpPr>
            <a:spLocks xmlns:a="http://schemas.openxmlformats.org/drawingml/2006/main" noGrp="1"/>
          </p:cNvSpPr>
          <p:nvPr/>
        </p:nvSpPr>
        <p:spPr>
          <a:xfrm xmlns:a="http://schemas.openxmlformats.org/drawingml/2006/main">
            <a:off x="7143750" y="4057650"/>
            <a:ext cx="1714500" cy="1047750"/>
          </a:xfrm>
          <a:prstGeom xmlns:a="http://schemas.openxmlformats.org/drawingml/2006/main" prst="roundRect">
            <a:avLst>
              <a:gd name="adj" fmla="val 12727"/>
            </a:avLst>
          </a:prstGeom>
          <a:solidFill xmlns:a="http://schemas.openxmlformats.org/drawingml/2006/main">
            <a:srgbClr val="FFFFFF"/>
          </a:solidFill>
          <a:ln xmlns:a="http://schemas.openxmlformats.org/drawingml/2006/main" w="9525">
            <a:solidFill>
              <a:srgbClr val="2A8C82"/>
            </a:solidFill>
            <a:prstDash val="solid"/>
          </a:ln>
        </p:spPr>
      </p:sp>
      <p:sp>
        <p:nvSpPr>
          <p:cNvPr id="28" name="">
            <a:extLst xmlns:a="http://schemas.openxmlformats.org/drawingml/2006/main">
              <a:ext uri="{FF2B5EF4-FFF2-40B4-BE49-F238E27FC236}">
                <a16:creationId xmlns:a16="http://schemas.microsoft.com/office/drawing/2014/main" id="{09C81864-2CB0-43B7-8A47-A68C1C005237}"/>
              </a:ext>
            </a:extLst>
          </p:cNvPr>
          <p:cNvSpPr>
            <a:spLocks xmlns:a="http://schemas.openxmlformats.org/drawingml/2006/main" noGrp="1"/>
          </p:cNvSpPr>
          <p:nvPr/>
        </p:nvSpPr>
        <p:spPr>
          <a:xfrm xmlns:a="http://schemas.openxmlformats.org/drawingml/2006/main">
            <a:off x="7277100" y="4248150"/>
            <a:ext cx="144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F5A7A"/>
                </a:solidFill>
              </a:defRPr>
            </a:pPr>
            <a:r>
              <a:rPr sz="1425" b="1">
                <a:solidFill>
                  <a:srgbClr val="1F5A7A"/>
                </a:solidFill>
              </a:rPr>
              <a:t>T4×2 inference</a:t>
            </a:r>
          </a:p>
        </p:txBody>
      </p:sp>
      <p:sp>
        <p:nvSpPr>
          <p:cNvPr id="29" name="">
            <a:extLst xmlns:a="http://schemas.openxmlformats.org/drawingml/2006/main">
              <a:ext uri="{FF2B5EF4-FFF2-40B4-BE49-F238E27FC236}">
                <a16:creationId xmlns:a16="http://schemas.microsoft.com/office/drawing/2014/main" id="{49980477-90FD-4BAA-8CF9-6363F296D606}"/>
              </a:ext>
            </a:extLst>
          </p:cNvPr>
          <p:cNvSpPr>
            <a:spLocks xmlns:a="http://schemas.openxmlformats.org/drawingml/2006/main" noGrp="1"/>
          </p:cNvSpPr>
          <p:nvPr/>
        </p:nvSpPr>
        <p:spPr>
          <a:xfrm xmlns:a="http://schemas.openxmlformats.org/drawingml/2006/main">
            <a:off x="7277100" y="4638675"/>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one tensor-split server</a:t>
            </a:r>
          </a:p>
        </p:txBody>
      </p:sp>
      <p:sp>
        <p:nvSpPr>
          <p:cNvPr id="30" name="">
            <a:extLst xmlns:a="http://schemas.openxmlformats.org/drawingml/2006/main">
              <a:ext uri="{FF2B5EF4-FFF2-40B4-BE49-F238E27FC236}">
                <a16:creationId xmlns:a16="http://schemas.microsoft.com/office/drawing/2014/main" id="{DAFC78E8-8B93-4CFA-B394-C1EFECCCFE78}"/>
              </a:ext>
            </a:extLst>
          </p:cNvPr>
          <p:cNvSpPr>
            <a:spLocks xmlns:a="http://schemas.openxmlformats.org/drawingml/2006/main" noGrp="1"/>
          </p:cNvSpPr>
          <p:nvPr/>
        </p:nvSpPr>
        <p:spPr>
          <a:xfrm xmlns:a="http://schemas.openxmlformats.org/drawingml/2006/main">
            <a:off x="9277350" y="4057650"/>
            <a:ext cx="1714500" cy="1047750"/>
          </a:xfrm>
          <a:prstGeom xmlns:a="http://schemas.openxmlformats.org/drawingml/2006/main" prst="roundRect">
            <a:avLst>
              <a:gd name="adj" fmla="val 12727"/>
            </a:avLst>
          </a:prstGeom>
          <a:solidFill xmlns:a="http://schemas.openxmlformats.org/drawingml/2006/main">
            <a:srgbClr val="FBF0D8"/>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ECC142BB-B95E-47C3-8AC5-D719E2CF1714}"/>
              </a:ext>
            </a:extLst>
          </p:cNvPr>
          <p:cNvSpPr>
            <a:spLocks xmlns:a="http://schemas.openxmlformats.org/drawingml/2006/main" noGrp="1"/>
          </p:cNvSpPr>
          <p:nvPr/>
        </p:nvSpPr>
        <p:spPr>
          <a:xfrm xmlns:a="http://schemas.openxmlformats.org/drawingml/2006/main">
            <a:off x="9410700" y="4248150"/>
            <a:ext cx="144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D59B32"/>
                </a:solidFill>
              </a:defRPr>
            </a:pPr>
            <a:r>
              <a:rPr sz="1425" b="1">
                <a:solidFill>
                  <a:srgbClr val="D59B32"/>
                </a:solidFill>
              </a:rPr>
              <a:t>Validated CSV</a:t>
            </a:r>
          </a:p>
        </p:txBody>
      </p:sp>
      <p:sp>
        <p:nvSpPr>
          <p:cNvPr id="32" name="">
            <a:extLst xmlns:a="http://schemas.openxmlformats.org/drawingml/2006/main">
              <a:ext uri="{FF2B5EF4-FFF2-40B4-BE49-F238E27FC236}">
                <a16:creationId xmlns:a16="http://schemas.microsoft.com/office/drawing/2014/main" id="{16BC243C-310A-40F1-A23F-0BF4410891B4}"/>
              </a:ext>
            </a:extLst>
          </p:cNvPr>
          <p:cNvSpPr>
            <a:spLocks xmlns:a="http://schemas.openxmlformats.org/drawingml/2006/main" noGrp="1"/>
          </p:cNvSpPr>
          <p:nvPr/>
        </p:nvSpPr>
        <p:spPr>
          <a:xfrm xmlns:a="http://schemas.openxmlformats.org/drawingml/2006/main">
            <a:off x="9410700" y="4638675"/>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ordered id,label</a:t>
            </a:r>
          </a:p>
        </p:txBody>
      </p:sp>
      <p:sp>
        <p:nvSpPr>
          <p:cNvPr id="33" name="">
            <a:extLst xmlns:a="http://schemas.openxmlformats.org/drawingml/2006/main">
              <a:ext uri="{FF2B5EF4-FFF2-40B4-BE49-F238E27FC236}">
                <a16:creationId xmlns:a16="http://schemas.microsoft.com/office/drawing/2014/main" id="{A3AC2E9A-D42A-4A34-9DDA-ABA050314487}"/>
              </a:ext>
            </a:extLst>
          </p:cNvPr>
          <p:cNvSpPr>
            <a:spLocks xmlns:a="http://schemas.openxmlformats.org/drawingml/2006/main" noGrp="1"/>
          </p:cNvSpPr>
          <p:nvPr/>
        </p:nvSpPr>
        <p:spPr>
          <a:xfrm xmlns:a="http://schemas.openxmlformats.org/drawingml/2006/main">
            <a:off x="1524000" y="5543550"/>
            <a:ext cx="9144000" cy="514350"/>
          </a:xfrm>
          <a:prstGeom xmlns:a="http://schemas.openxmlformats.org/drawingml/2006/main" prst="roundRect">
            <a:avLst>
              <a:gd name="adj" fmla="val 22222"/>
            </a:avLst>
          </a:prstGeom>
          <a:solidFill xmlns:a="http://schemas.openxmlformats.org/drawingml/2006/main">
            <a:srgbClr val="E7EEF4"/>
          </a:solidFill>
          <a:ln xmlns:a="http://schemas.openxmlformats.org/drawingml/2006/main" w="9525">
            <a:solidFill>
              <a:srgbClr val="1F5A7A"/>
            </a:solidFill>
            <a:prstDash val="solid"/>
          </a:ln>
        </p:spPr>
      </p:sp>
      <p:sp>
        <p:nvSpPr>
          <p:cNvPr id="34" name="">
            <a:extLst xmlns:a="http://schemas.openxmlformats.org/drawingml/2006/main">
              <a:ext uri="{FF2B5EF4-FFF2-40B4-BE49-F238E27FC236}">
                <a16:creationId xmlns:a16="http://schemas.microsoft.com/office/drawing/2014/main" id="{889EFA5D-820B-45C1-BF34-43618FD75B69}"/>
              </a:ext>
            </a:extLst>
          </p:cNvPr>
          <p:cNvSpPr>
            <a:spLocks xmlns:a="http://schemas.openxmlformats.org/drawingml/2006/main" noGrp="1"/>
          </p:cNvSpPr>
          <p:nvPr/>
        </p:nvSpPr>
        <p:spPr>
          <a:xfrm xmlns:a="http://schemas.openxmlformats.org/drawingml/2006/main">
            <a:off x="1752600" y="5686425"/>
            <a:ext cx="868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F5A7A"/>
                </a:solidFill>
              </a:defRPr>
            </a:pPr>
            <a:r>
              <a:rPr sz="1350" b="1">
                <a:solidFill>
                  <a:srgbClr val="1F5A7A"/>
                </a:solidFill>
              </a:rPr>
              <a:t>3 runs matched byte-for-byte  •  scored CSV hash matched  •  5,000 Phase 2 rows validated in 3:52:02</a:t>
            </a:r>
          </a:p>
        </p:txBody>
      </p:sp>
      <p:sp>
        <p:nvSpPr>
          <p:cNvPr id="35" name="">
            <a:extLst xmlns:a="http://schemas.openxmlformats.org/drawingml/2006/main">
              <a:ext uri="{FF2B5EF4-FFF2-40B4-BE49-F238E27FC236}">
                <a16:creationId xmlns:a16="http://schemas.microsoft.com/office/drawing/2014/main" id="{66E131D1-0821-437A-9046-5B6D7076AA49}"/>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6" name="source-12">
            <a:extLst xmlns:a="http://schemas.openxmlformats.org/drawingml/2006/main">
              <a:ext uri="{FF2B5EF4-FFF2-40B4-BE49-F238E27FC236}">
                <a16:creationId xmlns:a16="http://schemas.microsoft.com/office/drawing/2014/main" id="{0EE445F5-A6B8-4771-8E53-AF9BF4D97631}"/>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[7] Regression suite, freeze manifest, evaluation ledger  [8] Phase 2 runtime evidence</a:t>
            </a:r>
          </a:p>
        </p:txBody>
      </p:sp>
      <p:sp>
        <p:nvSpPr>
          <p:cNvPr id="37" name="page-12">
            <a:extLst xmlns:a="http://schemas.openxmlformats.org/drawingml/2006/main">
              <a:ext uri="{FF2B5EF4-FFF2-40B4-BE49-F238E27FC236}">
                <a16:creationId xmlns:a16="http://schemas.microsoft.com/office/drawing/2014/main" id="{F85D3633-A603-4AAD-A9E8-B6A038D9750F}"/>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12</a:t>
            </a:r>
          </a:p>
        </p:txBody>
      </p:sp>
    </p:spTree>
    <p:extLst>
      <p:ext uri="{BB962C8B-B14F-4D97-AF65-F5344CB8AC3E}">
        <p14:creationId xmlns:p14="http://schemas.microsoft.com/office/powerpoint/2010/main" val="1722569808"/>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6" name="kicker-13">
            <a:extLst xmlns:a="http://schemas.openxmlformats.org/drawingml/2006/main">
              <a:ext uri="{FF2B5EF4-FFF2-40B4-BE49-F238E27FC236}">
                <a16:creationId xmlns:a16="http://schemas.microsoft.com/office/drawing/2014/main" id="{1515D7EA-7C1E-424C-9365-9E703170CF46}"/>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title-13">
            <a:extLst xmlns:a="http://schemas.openxmlformats.org/drawingml/2006/main">
              <a:ext uri="{FF2B5EF4-FFF2-40B4-BE49-F238E27FC236}">
                <a16:creationId xmlns:a16="http://schemas.microsoft.com/office/drawing/2014/main" id="{9CBDE1AC-996D-4140-B259-DE951A849DF7}"/>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Phase 2 completed in 3 h 52 min with 95.9% judged</a:t>
            </a:r>
          </a:p>
        </p:txBody>
      </p:sp>
      <p:sp>
        <p:nvSpPr>
          <p:cNvPr id="3" name="">
            <a:extLst xmlns:a="http://schemas.openxmlformats.org/drawingml/2006/main">
              <a:ext uri="{FF2B5EF4-FFF2-40B4-BE49-F238E27FC236}">
                <a16:creationId xmlns:a16="http://schemas.microsoft.com/office/drawing/2014/main" id="{3F85B47B-9034-4171-8DE0-E26C64512BE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99A8B2D2-345A-4001-ACFB-90DD8BD36ED4}"/>
              </a:ext>
            </a:extLst>
          </p:cNvPr>
          <p:cNvSpPr>
            <a:spLocks xmlns:a="http://schemas.openxmlformats.org/drawingml/2006/main" noGrp="1"/>
          </p:cNvSpPr>
          <p:nvPr/>
        </p:nvSpPr>
        <p:spPr>
          <a:xfrm xmlns:a="http://schemas.openxmlformats.org/drawingml/2006/main">
            <a:off x="685800" y="1390650"/>
            <a:ext cx="971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26174"/>
                </a:solidFill>
              </a:defRPr>
            </a:pPr>
            <a:r>
              <a:rPr sz="1650" b="0">
                <a:solidFill>
                  <a:srgbClr val="526174"/>
                </a:solidFill>
              </a:rPr>
              <a:t>Measured organizer-run inference on 5,000 rows using Kaggle Tesla T4 x2.</a:t>
            </a:r>
          </a:p>
        </p:txBody>
      </p:sp>
      <p:sp>
        <p:nvSpPr>
          <p:cNvPr id="5" name="">
            <a:extLst xmlns:a="http://schemas.openxmlformats.org/drawingml/2006/main">
              <a:ext uri="{FF2B5EF4-FFF2-40B4-BE49-F238E27FC236}">
                <a16:creationId xmlns:a16="http://schemas.microsoft.com/office/drawing/2014/main" id="{F4F23D1D-E1EF-47E0-9F17-AA0FF61629CA}"/>
              </a:ext>
            </a:extLst>
          </p:cNvPr>
          <p:cNvSpPr>
            <a:spLocks xmlns:a="http://schemas.openxmlformats.org/drawingml/2006/main" noGrp="1"/>
          </p:cNvSpPr>
          <p:nvPr/>
        </p:nvSpPr>
        <p:spPr>
          <a:xfrm xmlns:a="http://schemas.openxmlformats.org/drawingml/2006/main">
            <a:off x="838200" y="198120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F5A7A"/>
                </a:solidFill>
              </a:defRPr>
            </a:pPr>
            <a:r>
              <a:rPr sz="3600" b="1">
                <a:solidFill>
                  <a:srgbClr val="1F5A7A"/>
                </a:solidFill>
              </a:rPr>
              <a:t>5,000</a:t>
            </a:r>
          </a:p>
        </p:txBody>
      </p:sp>
      <p:sp>
        <p:nvSpPr>
          <p:cNvPr id="6" name="">
            <a:extLst xmlns:a="http://schemas.openxmlformats.org/drawingml/2006/main">
              <a:ext uri="{FF2B5EF4-FFF2-40B4-BE49-F238E27FC236}">
                <a16:creationId xmlns:a16="http://schemas.microsoft.com/office/drawing/2014/main" id="{DDEC418C-6FEF-49FC-ABD6-5D70DA6E4243}"/>
              </a:ext>
            </a:extLst>
          </p:cNvPr>
          <p:cNvSpPr>
            <a:spLocks xmlns:a="http://schemas.openxmlformats.org/drawingml/2006/main" noGrp="1"/>
          </p:cNvSpPr>
          <p:nvPr/>
        </p:nvSpPr>
        <p:spPr>
          <a:xfrm xmlns:a="http://schemas.openxmlformats.org/drawingml/2006/main">
            <a:off x="838200" y="266700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held-out rows</a:t>
            </a:r>
          </a:p>
        </p:txBody>
      </p:sp>
      <p:sp>
        <p:nvSpPr>
          <p:cNvPr id="7" name="">
            <a:extLst xmlns:a="http://schemas.openxmlformats.org/drawingml/2006/main">
              <a:ext uri="{FF2B5EF4-FFF2-40B4-BE49-F238E27FC236}">
                <a16:creationId xmlns:a16="http://schemas.microsoft.com/office/drawing/2014/main" id="{67F1B708-C6AE-4794-AB6B-C81E80CFAAD7}"/>
              </a:ext>
            </a:extLst>
          </p:cNvPr>
          <p:cNvSpPr>
            <a:spLocks xmlns:a="http://schemas.openxmlformats.org/drawingml/2006/main" noGrp="1"/>
          </p:cNvSpPr>
          <p:nvPr/>
        </p:nvSpPr>
        <p:spPr>
          <a:xfrm xmlns:a="http://schemas.openxmlformats.org/drawingml/2006/main">
            <a:off x="3543300" y="198120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A8C82"/>
                </a:solidFill>
              </a:defRPr>
            </a:pPr>
            <a:r>
              <a:rPr sz="3600" b="1">
                <a:solidFill>
                  <a:srgbClr val="2A8C82"/>
                </a:solidFill>
              </a:rPr>
              <a:t>207</a:t>
            </a:r>
          </a:p>
        </p:txBody>
      </p:sp>
      <p:sp>
        <p:nvSpPr>
          <p:cNvPr id="8" name="">
            <a:extLst xmlns:a="http://schemas.openxmlformats.org/drawingml/2006/main">
              <a:ext uri="{FF2B5EF4-FFF2-40B4-BE49-F238E27FC236}">
                <a16:creationId xmlns:a16="http://schemas.microsoft.com/office/drawing/2014/main" id="{361C308C-08C1-423D-A8FF-BDA70BBAB123}"/>
              </a:ext>
            </a:extLst>
          </p:cNvPr>
          <p:cNvSpPr>
            <a:spLocks xmlns:a="http://schemas.openxmlformats.org/drawingml/2006/main" noGrp="1"/>
          </p:cNvSpPr>
          <p:nvPr/>
        </p:nvSpPr>
        <p:spPr>
          <a:xfrm xmlns:a="http://schemas.openxmlformats.org/drawingml/2006/main">
            <a:off x="3543300" y="266700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deterministic (4.14%)</a:t>
            </a:r>
          </a:p>
        </p:txBody>
      </p:sp>
      <p:sp>
        <p:nvSpPr>
          <p:cNvPr id="9" name="">
            <a:extLst xmlns:a="http://schemas.openxmlformats.org/drawingml/2006/main">
              <a:ext uri="{FF2B5EF4-FFF2-40B4-BE49-F238E27FC236}">
                <a16:creationId xmlns:a16="http://schemas.microsoft.com/office/drawing/2014/main" id="{0DE803D9-85D5-4C74-8917-D21B6D2B8322}"/>
              </a:ext>
            </a:extLst>
          </p:cNvPr>
          <p:cNvSpPr>
            <a:spLocks xmlns:a="http://schemas.openxmlformats.org/drawingml/2006/main" noGrp="1"/>
          </p:cNvSpPr>
          <p:nvPr/>
        </p:nvSpPr>
        <p:spPr>
          <a:xfrm xmlns:a="http://schemas.openxmlformats.org/drawingml/2006/main">
            <a:off x="6248400" y="198120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D59B32"/>
                </a:solidFill>
              </a:defRPr>
            </a:pPr>
            <a:r>
              <a:rPr sz="3600" b="1">
                <a:solidFill>
                  <a:srgbClr val="D59B32"/>
                </a:solidFill>
              </a:rPr>
              <a:t>4,793</a:t>
            </a:r>
          </a:p>
        </p:txBody>
      </p:sp>
      <p:sp>
        <p:nvSpPr>
          <p:cNvPr id="10" name="">
            <a:extLst xmlns:a="http://schemas.openxmlformats.org/drawingml/2006/main">
              <a:ext uri="{FF2B5EF4-FFF2-40B4-BE49-F238E27FC236}">
                <a16:creationId xmlns:a16="http://schemas.microsoft.com/office/drawing/2014/main" id="{81A1FF96-D508-482B-B3E1-50C3C04F1BE8}"/>
              </a:ext>
            </a:extLst>
          </p:cNvPr>
          <p:cNvSpPr>
            <a:spLocks xmlns:a="http://schemas.openxmlformats.org/drawingml/2006/main" noGrp="1"/>
          </p:cNvSpPr>
          <p:nvPr/>
        </p:nvSpPr>
        <p:spPr>
          <a:xfrm xmlns:a="http://schemas.openxmlformats.org/drawingml/2006/main">
            <a:off x="6248400" y="26670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Qwen judge (95.86%)</a:t>
            </a:r>
          </a:p>
        </p:txBody>
      </p:sp>
      <p:sp>
        <p:nvSpPr>
          <p:cNvPr id="11" name="">
            <a:extLst xmlns:a="http://schemas.openxmlformats.org/drawingml/2006/main">
              <a:ext uri="{FF2B5EF4-FFF2-40B4-BE49-F238E27FC236}">
                <a16:creationId xmlns:a16="http://schemas.microsoft.com/office/drawing/2014/main" id="{80A785F7-F043-46DD-B629-5563143EA3F8}"/>
              </a:ext>
            </a:extLst>
          </p:cNvPr>
          <p:cNvSpPr>
            <a:spLocks xmlns:a="http://schemas.openxmlformats.org/drawingml/2006/main" noGrp="1"/>
          </p:cNvSpPr>
          <p:nvPr/>
        </p:nvSpPr>
        <p:spPr>
          <a:xfrm xmlns:a="http://schemas.openxmlformats.org/drawingml/2006/main">
            <a:off x="9201150" y="198120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A8C82"/>
                </a:solidFill>
              </a:defRPr>
            </a:pPr>
            <a:r>
              <a:rPr sz="3600" b="1">
                <a:solidFill>
                  <a:srgbClr val="2A8C82"/>
                </a:solidFill>
              </a:rPr>
              <a:t>3:52:02</a:t>
            </a:r>
          </a:p>
        </p:txBody>
      </p:sp>
      <p:sp>
        <p:nvSpPr>
          <p:cNvPr id="12" name="">
            <a:extLst xmlns:a="http://schemas.openxmlformats.org/drawingml/2006/main">
              <a:ext uri="{FF2B5EF4-FFF2-40B4-BE49-F238E27FC236}">
                <a16:creationId xmlns:a16="http://schemas.microsoft.com/office/drawing/2014/main" id="{9745065D-18A3-49F5-B422-FE791C5815D4}"/>
              </a:ext>
            </a:extLst>
          </p:cNvPr>
          <p:cNvSpPr>
            <a:spLocks xmlns:a="http://schemas.openxmlformats.org/drawingml/2006/main" noGrp="1"/>
          </p:cNvSpPr>
          <p:nvPr/>
        </p:nvSpPr>
        <p:spPr>
          <a:xfrm xmlns:a="http://schemas.openxmlformats.org/drawingml/2006/main">
            <a:off x="9201150" y="2667000"/>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validated end to end</a:t>
            </a:r>
          </a:p>
        </p:txBody>
      </p:sp>
      <p:sp>
        <p:nvSpPr>
          <p:cNvPr id="13" name="">
            <a:extLst xmlns:a="http://schemas.openxmlformats.org/drawingml/2006/main">
              <a:ext uri="{FF2B5EF4-FFF2-40B4-BE49-F238E27FC236}">
                <a16:creationId xmlns:a16="http://schemas.microsoft.com/office/drawing/2014/main" id="{F13DCB45-6328-46C7-9F78-A93788098544}"/>
              </a:ext>
            </a:extLst>
          </p:cNvPr>
          <p:cNvSpPr>
            <a:spLocks xmlns:a="http://schemas.openxmlformats.org/drawingml/2006/main" noGrp="1"/>
          </p:cNvSpPr>
          <p:nvPr/>
        </p:nvSpPr>
        <p:spPr>
          <a:xfrm xmlns:a="http://schemas.openxmlformats.org/drawingml/2006/main">
            <a:off x="914400" y="35814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F172A"/>
                </a:solidFill>
              </a:defRPr>
            </a:pPr>
            <a:r>
              <a:rPr sz="1650" b="1">
                <a:solidFill>
                  <a:srgbClr val="0F172A"/>
                </a:solidFill>
              </a:rPr>
              <a:t>Measured milestones</a:t>
            </a:r>
          </a:p>
        </p:txBody>
      </p:sp>
      <p:sp>
        <p:nvSpPr>
          <p:cNvPr id="14" name="">
            <a:extLst xmlns:a="http://schemas.openxmlformats.org/drawingml/2006/main">
              <a:ext uri="{FF2B5EF4-FFF2-40B4-BE49-F238E27FC236}">
                <a16:creationId xmlns:a16="http://schemas.microsoft.com/office/drawing/2014/main" id="{B818CCB0-86F6-442F-BFD2-A4A73F082115}"/>
              </a:ext>
            </a:extLst>
          </p:cNvPr>
          <p:cNvSpPr>
            <a:spLocks xmlns:a="http://schemas.openxmlformats.org/drawingml/2006/main" noGrp="1"/>
          </p:cNvSpPr>
          <p:nvPr/>
        </p:nvSpPr>
        <p:spPr>
          <a:xfrm xmlns:a="http://schemas.openxmlformats.org/drawingml/2006/main">
            <a:off x="4210050" y="35814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F5A7A"/>
                </a:solidFill>
              </a:defRPr>
            </a:pPr>
            <a:r>
              <a:rPr sz="1275" b="1">
                <a:solidFill>
                  <a:srgbClr val="1F5A7A"/>
                </a:solidFill>
              </a:rPr>
              <a:t>Elapsed</a:t>
            </a:r>
          </a:p>
        </p:txBody>
      </p:sp>
      <p:sp>
        <p:nvSpPr>
          <p:cNvPr id="15" name="">
            <a:extLst xmlns:a="http://schemas.openxmlformats.org/drawingml/2006/main">
              <a:ext uri="{FF2B5EF4-FFF2-40B4-BE49-F238E27FC236}">
                <a16:creationId xmlns:a16="http://schemas.microsoft.com/office/drawing/2014/main" id="{AC90211E-356E-4FF0-8C9C-8F3F3A8B5F66}"/>
              </a:ext>
            </a:extLst>
          </p:cNvPr>
          <p:cNvSpPr>
            <a:spLocks xmlns:a="http://schemas.openxmlformats.org/drawingml/2006/main" noGrp="1"/>
          </p:cNvSpPr>
          <p:nvPr/>
        </p:nvSpPr>
        <p:spPr>
          <a:xfrm xmlns:a="http://schemas.openxmlformats.org/drawingml/2006/main">
            <a:off x="6076950" y="35814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F5A7A"/>
                </a:solidFill>
              </a:defRPr>
            </a:pPr>
            <a:r>
              <a:rPr sz="1275" b="1">
                <a:solidFill>
                  <a:srgbClr val="1F5A7A"/>
                </a:solidFill>
              </a:rPr>
              <a:t>Observation</a:t>
            </a:r>
          </a:p>
        </p:txBody>
      </p:sp>
      <p:sp>
        <p:nvSpPr>
          <p:cNvPr id="16" name="">
            <a:extLst xmlns:a="http://schemas.openxmlformats.org/drawingml/2006/main">
              <a:ext uri="{FF2B5EF4-FFF2-40B4-BE49-F238E27FC236}">
                <a16:creationId xmlns:a16="http://schemas.microsoft.com/office/drawing/2014/main" id="{6A46EC01-E823-45CA-9BF2-4838B5F9BFC8}"/>
              </a:ext>
            </a:extLst>
          </p:cNvPr>
          <p:cNvSpPr>
            <a:spLocks xmlns:a="http://schemas.openxmlformats.org/drawingml/2006/main" noGrp="1"/>
          </p:cNvSpPr>
          <p:nvPr/>
        </p:nvSpPr>
        <p:spPr>
          <a:xfrm xmlns:a="http://schemas.openxmlformats.org/drawingml/2006/main">
            <a:off x="914400" y="3943350"/>
            <a:ext cx="9982200" cy="0"/>
          </a:xfrm>
          <a:prstGeom xmlns:a="http://schemas.openxmlformats.org/drawingml/2006/main" prst="line">
            <a:avLst/>
          </a:prstGeom>
          <a:noFill xmlns:a="http://schemas.openxmlformats.org/drawingml/2006/main"/>
          <a:ln xmlns:a="http://schemas.openxmlformats.org/drawingml/2006/main" w="19050">
            <a:solidFill>
              <a:srgbClr val="1F5A7A"/>
            </a:solidFill>
            <a:prstDash val="solid"/>
          </a:ln>
        </p:spPr>
      </p:sp>
      <p:sp>
        <p:nvSpPr>
          <p:cNvPr id="17" name="">
            <a:extLst xmlns:a="http://schemas.openxmlformats.org/drawingml/2006/main">
              <a:ext uri="{FF2B5EF4-FFF2-40B4-BE49-F238E27FC236}">
                <a16:creationId xmlns:a16="http://schemas.microsoft.com/office/drawing/2014/main" id="{C29F6B35-5C93-49F3-9D28-CAF25BF70D11}"/>
              </a:ext>
            </a:extLst>
          </p:cNvPr>
          <p:cNvSpPr>
            <a:spLocks xmlns:a="http://schemas.openxmlformats.org/drawingml/2006/main" noGrp="1"/>
          </p:cNvSpPr>
          <p:nvPr/>
        </p:nvSpPr>
        <p:spPr>
          <a:xfrm xmlns:a="http://schemas.openxmlformats.org/drawingml/2006/main">
            <a:off x="990600" y="40576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F172A"/>
                </a:solidFill>
              </a:defRPr>
            </a:pPr>
            <a:r>
              <a:rPr sz="1350" b="1">
                <a:solidFill>
                  <a:srgbClr val="0F172A"/>
                </a:solidFill>
              </a:rPr>
              <a:t>Router complete</a:t>
            </a:r>
          </a:p>
        </p:txBody>
      </p:sp>
      <p:sp>
        <p:nvSpPr>
          <p:cNvPr id="18" name="">
            <a:extLst xmlns:a="http://schemas.openxmlformats.org/drawingml/2006/main">
              <a:ext uri="{FF2B5EF4-FFF2-40B4-BE49-F238E27FC236}">
                <a16:creationId xmlns:a16="http://schemas.microsoft.com/office/drawing/2014/main" id="{8CC1E3D9-14ED-44EB-97B0-4F749CA76901}"/>
              </a:ext>
            </a:extLst>
          </p:cNvPr>
          <p:cNvSpPr>
            <a:spLocks xmlns:a="http://schemas.openxmlformats.org/drawingml/2006/main" noGrp="1"/>
          </p:cNvSpPr>
          <p:nvPr/>
        </p:nvSpPr>
        <p:spPr>
          <a:xfrm xmlns:a="http://schemas.openxmlformats.org/drawingml/2006/main">
            <a:off x="4210050" y="4057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A8C82"/>
                </a:solidFill>
              </a:defRPr>
            </a:pPr>
            <a:r>
              <a:rPr sz="1350" b="1">
                <a:solidFill>
                  <a:srgbClr val="2A8C82"/>
                </a:solidFill>
              </a:rPr>
              <a:t>1:13.18</a:t>
            </a:r>
          </a:p>
        </p:txBody>
      </p:sp>
      <p:sp>
        <p:nvSpPr>
          <p:cNvPr id="19" name="">
            <a:extLst xmlns:a="http://schemas.openxmlformats.org/drawingml/2006/main">
              <a:ext uri="{FF2B5EF4-FFF2-40B4-BE49-F238E27FC236}">
                <a16:creationId xmlns:a16="http://schemas.microsoft.com/office/drawing/2014/main" id="{78220494-A5A4-48E8-80F9-A264D5CAF2ED}"/>
              </a:ext>
            </a:extLst>
          </p:cNvPr>
          <p:cNvSpPr>
            <a:spLocks xmlns:a="http://schemas.openxmlformats.org/drawingml/2006/main" noGrp="1"/>
          </p:cNvSpPr>
          <p:nvPr/>
        </p:nvSpPr>
        <p:spPr>
          <a:xfrm xmlns:a="http://schemas.openxmlformats.org/drawingml/2006/main">
            <a:off x="6076950" y="40576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174"/>
                </a:solidFill>
              </a:defRPr>
            </a:pPr>
            <a:r>
              <a:rPr sz="1275" b="0">
                <a:solidFill>
                  <a:srgbClr val="526174"/>
                </a:solidFill>
              </a:rPr>
              <a:t>207 resolved; 4,793 abstained</a:t>
            </a:r>
          </a:p>
        </p:txBody>
      </p:sp>
      <p:sp>
        <p:nvSpPr>
          <p:cNvPr id="20" name="">
            <a:extLst xmlns:a="http://schemas.openxmlformats.org/drawingml/2006/main">
              <a:ext uri="{FF2B5EF4-FFF2-40B4-BE49-F238E27FC236}">
                <a16:creationId xmlns:a16="http://schemas.microsoft.com/office/drawing/2014/main" id="{1696F7E3-707D-428A-8F7C-18B3B033B65F}"/>
              </a:ext>
            </a:extLst>
          </p:cNvPr>
          <p:cNvSpPr>
            <a:spLocks xmlns:a="http://schemas.openxmlformats.org/drawingml/2006/main" noGrp="1"/>
          </p:cNvSpPr>
          <p:nvPr/>
        </p:nvSpPr>
        <p:spPr>
          <a:xfrm xmlns:a="http://schemas.openxmlformats.org/drawingml/2006/main">
            <a:off x="914400" y="4400550"/>
            <a:ext cx="99822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1" name="">
            <a:extLst xmlns:a="http://schemas.openxmlformats.org/drawingml/2006/main">
              <a:ext uri="{FF2B5EF4-FFF2-40B4-BE49-F238E27FC236}">
                <a16:creationId xmlns:a16="http://schemas.microsoft.com/office/drawing/2014/main" id="{D92A2359-2E7A-4443-8169-79B97E0C2059}"/>
              </a:ext>
            </a:extLst>
          </p:cNvPr>
          <p:cNvSpPr>
            <a:spLocks xmlns:a="http://schemas.openxmlformats.org/drawingml/2006/main" noGrp="1"/>
          </p:cNvSpPr>
          <p:nvPr/>
        </p:nvSpPr>
        <p:spPr>
          <a:xfrm xmlns:a="http://schemas.openxmlformats.org/drawingml/2006/main">
            <a:off x="990600" y="4514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F172A"/>
                </a:solidFill>
              </a:defRPr>
            </a:pPr>
            <a:r>
              <a:rPr sz="1350" b="1">
                <a:solidFill>
                  <a:srgbClr val="0F172A"/>
                </a:solidFill>
              </a:rPr>
              <a:t>Model ready</a:t>
            </a:r>
          </a:p>
        </p:txBody>
      </p:sp>
      <p:sp>
        <p:nvSpPr>
          <p:cNvPr id="22" name="">
            <a:extLst xmlns:a="http://schemas.openxmlformats.org/drawingml/2006/main">
              <a:ext uri="{FF2B5EF4-FFF2-40B4-BE49-F238E27FC236}">
                <a16:creationId xmlns:a16="http://schemas.microsoft.com/office/drawing/2014/main" id="{6B385DE0-BA4A-471A-B834-285082D85A1D}"/>
              </a:ext>
            </a:extLst>
          </p:cNvPr>
          <p:cNvSpPr>
            <a:spLocks xmlns:a="http://schemas.openxmlformats.org/drawingml/2006/main" noGrp="1"/>
          </p:cNvSpPr>
          <p:nvPr/>
        </p:nvSpPr>
        <p:spPr>
          <a:xfrm xmlns:a="http://schemas.openxmlformats.org/drawingml/2006/main">
            <a:off x="4210050" y="4514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A8C82"/>
                </a:solidFill>
              </a:defRPr>
            </a:pPr>
            <a:r>
              <a:rPr sz="1350" b="1">
                <a:solidFill>
                  <a:srgbClr val="2A8C82"/>
                </a:solidFill>
              </a:rPr>
              <a:t>2:51.25</a:t>
            </a:r>
          </a:p>
        </p:txBody>
      </p:sp>
      <p:sp>
        <p:nvSpPr>
          <p:cNvPr id="23" name="">
            <a:extLst xmlns:a="http://schemas.openxmlformats.org/drawingml/2006/main">
              <a:ext uri="{FF2B5EF4-FFF2-40B4-BE49-F238E27FC236}">
                <a16:creationId xmlns:a16="http://schemas.microsoft.com/office/drawing/2014/main" id="{9E799F49-DE36-456A-8043-2345AB2A4E41}"/>
              </a:ext>
            </a:extLst>
          </p:cNvPr>
          <p:cNvSpPr>
            <a:spLocks xmlns:a="http://schemas.openxmlformats.org/drawingml/2006/main" noGrp="1"/>
          </p:cNvSpPr>
          <p:nvPr/>
        </p:nvSpPr>
        <p:spPr>
          <a:xfrm xmlns:a="http://schemas.openxmlformats.org/drawingml/2006/main">
            <a:off x="6076950" y="45148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174"/>
                </a:solidFill>
              </a:defRPr>
            </a:pPr>
            <a:r>
              <a:rPr sz="1275" b="0">
                <a:solidFill>
                  <a:srgbClr val="526174"/>
                </a:solidFill>
              </a:rPr>
              <a:t>16.332 GiB Qwen across two T4 GPUs</a:t>
            </a:r>
          </a:p>
        </p:txBody>
      </p:sp>
      <p:sp>
        <p:nvSpPr>
          <p:cNvPr id="24" name="">
            <a:extLst xmlns:a="http://schemas.openxmlformats.org/drawingml/2006/main">
              <a:ext uri="{FF2B5EF4-FFF2-40B4-BE49-F238E27FC236}">
                <a16:creationId xmlns:a16="http://schemas.microsoft.com/office/drawing/2014/main" id="{301E4E6E-0361-460F-A7F6-EADE60375C1D}"/>
              </a:ext>
            </a:extLst>
          </p:cNvPr>
          <p:cNvSpPr>
            <a:spLocks xmlns:a="http://schemas.openxmlformats.org/drawingml/2006/main" noGrp="1"/>
          </p:cNvSpPr>
          <p:nvPr/>
        </p:nvSpPr>
        <p:spPr>
          <a:xfrm xmlns:a="http://schemas.openxmlformats.org/drawingml/2006/main">
            <a:off x="914400" y="4857750"/>
            <a:ext cx="99822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5" name="">
            <a:extLst xmlns:a="http://schemas.openxmlformats.org/drawingml/2006/main">
              <a:ext uri="{FF2B5EF4-FFF2-40B4-BE49-F238E27FC236}">
                <a16:creationId xmlns:a16="http://schemas.microsoft.com/office/drawing/2014/main" id="{A6E36677-D556-495A-8379-7F9A40FA2D6F}"/>
              </a:ext>
            </a:extLst>
          </p:cNvPr>
          <p:cNvSpPr>
            <a:spLocks xmlns:a="http://schemas.openxmlformats.org/drawingml/2006/main" noGrp="1"/>
          </p:cNvSpPr>
          <p:nvPr/>
        </p:nvSpPr>
        <p:spPr>
          <a:xfrm xmlns:a="http://schemas.openxmlformats.org/drawingml/2006/main">
            <a:off x="990600" y="49720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F172A"/>
                </a:solidFill>
              </a:defRPr>
            </a:pPr>
            <a:r>
              <a:rPr sz="1350" b="1">
                <a:solidFill>
                  <a:srgbClr val="0F172A"/>
                </a:solidFill>
              </a:rPr>
              <a:t>Judge complete</a:t>
            </a:r>
          </a:p>
        </p:txBody>
      </p:sp>
      <p:sp>
        <p:nvSpPr>
          <p:cNvPr id="26" name="">
            <a:extLst xmlns:a="http://schemas.openxmlformats.org/drawingml/2006/main">
              <a:ext uri="{FF2B5EF4-FFF2-40B4-BE49-F238E27FC236}">
                <a16:creationId xmlns:a16="http://schemas.microsoft.com/office/drawing/2014/main" id="{EA15D5F2-CF9F-4A69-B1AB-FDCFC0CF9CBE}"/>
              </a:ext>
            </a:extLst>
          </p:cNvPr>
          <p:cNvSpPr>
            <a:spLocks xmlns:a="http://schemas.openxmlformats.org/drawingml/2006/main" noGrp="1"/>
          </p:cNvSpPr>
          <p:nvPr/>
        </p:nvSpPr>
        <p:spPr>
          <a:xfrm xmlns:a="http://schemas.openxmlformats.org/drawingml/2006/main">
            <a:off x="4210050" y="49720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D59B32"/>
                </a:solidFill>
              </a:defRPr>
            </a:pPr>
            <a:r>
              <a:rPr sz="1350" b="1">
                <a:solidFill>
                  <a:srgbClr val="D59B32"/>
                </a:solidFill>
              </a:rPr>
              <a:t>3:52:01.91</a:t>
            </a:r>
          </a:p>
        </p:txBody>
      </p:sp>
      <p:sp>
        <p:nvSpPr>
          <p:cNvPr id="27" name="">
            <a:extLst xmlns:a="http://schemas.openxmlformats.org/drawingml/2006/main">
              <a:ext uri="{FF2B5EF4-FFF2-40B4-BE49-F238E27FC236}">
                <a16:creationId xmlns:a16="http://schemas.microsoft.com/office/drawing/2014/main" id="{77AFDDF9-CB7A-43A3-9D9E-6ED4A10C3A7B}"/>
              </a:ext>
            </a:extLst>
          </p:cNvPr>
          <p:cNvSpPr>
            <a:spLocks xmlns:a="http://schemas.openxmlformats.org/drawingml/2006/main" noGrp="1"/>
          </p:cNvSpPr>
          <p:nvPr/>
        </p:nvSpPr>
        <p:spPr>
          <a:xfrm xmlns:a="http://schemas.openxmlformats.org/drawingml/2006/main">
            <a:off x="6076950" y="4972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174"/>
                </a:solidFill>
              </a:defRPr>
            </a:pPr>
            <a:r>
              <a:rPr sz="1275" b="0">
                <a:solidFill>
                  <a:srgbClr val="526174"/>
                </a:solidFill>
              </a:rPr>
              <a:t>13,747.50 s; 0.349 rows/s</a:t>
            </a:r>
          </a:p>
        </p:txBody>
      </p:sp>
      <p:sp>
        <p:nvSpPr>
          <p:cNvPr id="28" name="">
            <a:extLst xmlns:a="http://schemas.openxmlformats.org/drawingml/2006/main">
              <a:ext uri="{FF2B5EF4-FFF2-40B4-BE49-F238E27FC236}">
                <a16:creationId xmlns:a16="http://schemas.microsoft.com/office/drawing/2014/main" id="{C16E0CB5-88DB-4755-B5D3-7D0910A9EB32}"/>
              </a:ext>
            </a:extLst>
          </p:cNvPr>
          <p:cNvSpPr>
            <a:spLocks xmlns:a="http://schemas.openxmlformats.org/drawingml/2006/main" noGrp="1"/>
          </p:cNvSpPr>
          <p:nvPr/>
        </p:nvSpPr>
        <p:spPr>
          <a:xfrm xmlns:a="http://schemas.openxmlformats.org/drawingml/2006/main">
            <a:off x="914400" y="5314950"/>
            <a:ext cx="99822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9" name="">
            <a:extLst xmlns:a="http://schemas.openxmlformats.org/drawingml/2006/main">
              <a:ext uri="{FF2B5EF4-FFF2-40B4-BE49-F238E27FC236}">
                <a16:creationId xmlns:a16="http://schemas.microsoft.com/office/drawing/2014/main" id="{C6C40E55-62DE-4F90-A086-92F2D927155B}"/>
              </a:ext>
            </a:extLst>
          </p:cNvPr>
          <p:cNvSpPr>
            <a:spLocks xmlns:a="http://schemas.openxmlformats.org/drawingml/2006/main" noGrp="1"/>
          </p:cNvSpPr>
          <p:nvPr/>
        </p:nvSpPr>
        <p:spPr>
          <a:xfrm xmlns:a="http://schemas.openxmlformats.org/drawingml/2006/main">
            <a:off x="1143000" y="5638800"/>
            <a:ext cx="9906000" cy="476250"/>
          </a:xfrm>
          <a:prstGeom xmlns:a="http://schemas.openxmlformats.org/drawingml/2006/main" prst="roundRect">
            <a:avLst>
              <a:gd name="adj" fmla="val 28000"/>
            </a:avLst>
          </a:prstGeom>
          <a:solidFill xmlns:a="http://schemas.openxmlformats.org/drawingml/2006/main">
            <a:srgbClr val="E7EEF4"/>
          </a:solidFill>
          <a:ln xmlns:a="http://schemas.openxmlformats.org/drawingml/2006/main" w="9525">
            <a:solidFill>
              <a:srgbClr val="D8E0EA"/>
            </a:solidFill>
            <a:prstDash val="solid"/>
          </a:ln>
        </p:spPr>
      </p:sp>
      <p:sp>
        <p:nvSpPr>
          <p:cNvPr id="30" name="">
            <a:extLst xmlns:a="http://schemas.openxmlformats.org/drawingml/2006/main">
              <a:ext uri="{FF2B5EF4-FFF2-40B4-BE49-F238E27FC236}">
                <a16:creationId xmlns:a16="http://schemas.microsoft.com/office/drawing/2014/main" id="{18ED38FA-5DAA-4734-A0DC-F859F6756EF2}"/>
              </a:ext>
            </a:extLst>
          </p:cNvPr>
          <p:cNvSpPr>
            <a:spLocks xmlns:a="http://schemas.openxmlformats.org/drawingml/2006/main" noGrp="1"/>
          </p:cNvSpPr>
          <p:nvPr/>
        </p:nvSpPr>
        <p:spPr>
          <a:xfrm xmlns:a="http://schemas.openxmlformats.org/drawingml/2006/main">
            <a:off x="1143000" y="5638800"/>
            <a:ext cx="4257675" cy="476250"/>
          </a:xfrm>
          <a:prstGeom xmlns:a="http://schemas.openxmlformats.org/drawingml/2006/main" prst="roundRect">
            <a:avLst>
              <a:gd name="adj" fmla="val 28000"/>
            </a:avLst>
          </a:prstGeom>
          <a:solidFill xmlns:a="http://schemas.openxmlformats.org/drawingml/2006/main">
            <a:srgbClr val="2A8C82"/>
          </a:solidFill>
          <a:ln xmlns:a="http://schemas.openxmlformats.org/drawingml/2006/main" w="0">
            <a:solidFill>
              <a:srgbClr val="2A8C82"/>
            </a:solidFill>
            <a:prstDash val="solid"/>
          </a:ln>
        </p:spPr>
      </p:sp>
      <p:sp>
        <p:nvSpPr>
          <p:cNvPr id="31" name="">
            <a:extLst xmlns:a="http://schemas.openxmlformats.org/drawingml/2006/main">
              <a:ext uri="{FF2B5EF4-FFF2-40B4-BE49-F238E27FC236}">
                <a16:creationId xmlns:a16="http://schemas.microsoft.com/office/drawing/2014/main" id="{63C8B2DA-DDDF-4534-B6FF-EE531BB7D501}"/>
              </a:ext>
            </a:extLst>
          </p:cNvPr>
          <p:cNvSpPr>
            <a:spLocks xmlns:a="http://schemas.openxmlformats.org/drawingml/2006/main" noGrp="1"/>
          </p:cNvSpPr>
          <p:nvPr/>
        </p:nvSpPr>
        <p:spPr>
          <a:xfrm xmlns:a="http://schemas.openxmlformats.org/drawingml/2006/main">
            <a:off x="1352550" y="5762625"/>
            <a:ext cx="3790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defRPr>
            </a:pPr>
            <a:r>
              <a:rPr sz="1275" b="1">
                <a:solidFill>
                  <a:srgbClr val="FFFFFF"/>
                </a:solidFill>
              </a:rPr>
              <a:t>42.97% of the 9-hour budget used</a:t>
            </a:r>
          </a:p>
        </p:txBody>
      </p:sp>
      <p:sp>
        <p:nvSpPr>
          <p:cNvPr id="32" name="">
            <a:extLst xmlns:a="http://schemas.openxmlformats.org/drawingml/2006/main">
              <a:ext uri="{FF2B5EF4-FFF2-40B4-BE49-F238E27FC236}">
                <a16:creationId xmlns:a16="http://schemas.microsoft.com/office/drawing/2014/main" id="{A36BCA44-7F28-4598-BBA0-4707B77B62A5}"/>
              </a:ext>
            </a:extLst>
          </p:cNvPr>
          <p:cNvSpPr>
            <a:spLocks xmlns:a="http://schemas.openxmlformats.org/drawingml/2006/main" noGrp="1"/>
          </p:cNvSpPr>
          <p:nvPr/>
        </p:nvSpPr>
        <p:spPr>
          <a:xfrm xmlns:a="http://schemas.openxmlformats.org/drawingml/2006/main">
            <a:off x="7010400" y="5762625"/>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F5A7A"/>
                </a:solidFill>
              </a:defRPr>
            </a:pPr>
            <a:r>
              <a:rPr sz="1275" b="1">
                <a:solidFill>
                  <a:srgbClr val="1F5A7A"/>
                </a:solidFill>
              </a:rPr>
              <a:t>5:07:58 headroom</a:t>
            </a:r>
          </a:p>
        </p:txBody>
      </p:sp>
      <p:sp>
        <p:nvSpPr>
          <p:cNvPr id="33" name="">
            <a:extLst xmlns:a="http://schemas.openxmlformats.org/drawingml/2006/main">
              <a:ext uri="{FF2B5EF4-FFF2-40B4-BE49-F238E27FC236}">
                <a16:creationId xmlns:a16="http://schemas.microsoft.com/office/drawing/2014/main" id="{35FBF6CB-E886-4974-846F-255370A4F363}"/>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4" name="source-13">
            <a:extLst xmlns:a="http://schemas.openxmlformats.org/drawingml/2006/main">
              <a:ext uri="{FF2B5EF4-FFF2-40B4-BE49-F238E27FC236}">
                <a16:creationId xmlns:a16="http://schemas.microsoft.com/office/drawing/2014/main" id="{BFC6A061-DF5B-495E-A48F-0FFD1211856D}"/>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[8] Organizer-executed Phase 2 notebook and runtime report</a:t>
            </a:r>
          </a:p>
        </p:txBody>
      </p:sp>
      <p:sp>
        <p:nvSpPr>
          <p:cNvPr id="35" name="page-13">
            <a:extLst xmlns:a="http://schemas.openxmlformats.org/drawingml/2006/main">
              <a:ext uri="{FF2B5EF4-FFF2-40B4-BE49-F238E27FC236}">
                <a16:creationId xmlns:a16="http://schemas.microsoft.com/office/drawing/2014/main" id="{54D3B0D4-1D47-428C-9E2B-904D05515CA0}"/>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13</a:t>
            </a:r>
          </a:p>
        </p:txBody>
      </p:sp>
    </p:spTree>
    <p:extLst>
      <p:ext uri="{BB962C8B-B14F-4D97-AF65-F5344CB8AC3E}">
        <p14:creationId xmlns:p14="http://schemas.microsoft.com/office/powerpoint/2010/main" val="79480487"/>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1" name="kicker-14">
            <a:extLst xmlns:a="http://schemas.openxmlformats.org/drawingml/2006/main">
              <a:ext uri="{FF2B5EF4-FFF2-40B4-BE49-F238E27FC236}">
                <a16:creationId xmlns:a16="http://schemas.microsoft.com/office/drawing/2014/main" id="{7898B36C-2C17-4FA9-BC6A-0D01F26EC5F5}"/>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title-14">
            <a:extLst xmlns:a="http://schemas.openxmlformats.org/drawingml/2006/main">
              <a:ext uri="{FF2B5EF4-FFF2-40B4-BE49-F238E27FC236}">
                <a16:creationId xmlns:a16="http://schemas.microsoft.com/office/drawing/2014/main" id="{E1FA00B2-9F61-4CD6-8714-670B16042757}"/>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Phase 2 source shift collapsed deterministic coverage</a:t>
            </a:r>
          </a:p>
        </p:txBody>
      </p:sp>
      <p:sp>
        <p:nvSpPr>
          <p:cNvPr id="3" name="">
            <a:extLst xmlns:a="http://schemas.openxmlformats.org/drawingml/2006/main">
              <a:ext uri="{FF2B5EF4-FFF2-40B4-BE49-F238E27FC236}">
                <a16:creationId xmlns:a16="http://schemas.microsoft.com/office/drawing/2014/main" id="{F1D2DA00-8135-4FC2-8DD1-5ED1F949EC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937652AF-533C-46B0-936E-4DDE5982FAC1}"/>
              </a:ext>
            </a:extLst>
          </p:cNvPr>
          <p:cNvSpPr>
            <a:spLocks xmlns:a="http://schemas.openxmlformats.org/drawingml/2006/main" noGrp="1"/>
          </p:cNvSpPr>
          <p:nvPr/>
        </p:nvSpPr>
        <p:spPr>
          <a:xfrm xmlns:a="http://schemas.openxmlformats.org/drawingml/2006/main">
            <a:off x="685800" y="139065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26174"/>
                </a:solidFill>
              </a:defRPr>
            </a:pPr>
            <a:r>
              <a:rPr sz="1650" b="0">
                <a:solidFill>
                  <a:srgbClr val="526174"/>
                </a:solidFill>
              </a:rPr>
              <a:t>Exact Phase 1 lineage will cover less. The fallback must remain safe when coverage drops.</a:t>
            </a:r>
          </a:p>
        </p:txBody>
      </p:sp>
      <p:sp>
        <p:nvSpPr>
          <p:cNvPr id="5" name="">
            <a:extLst xmlns:a="http://schemas.openxmlformats.org/drawingml/2006/main">
              <a:ext uri="{FF2B5EF4-FFF2-40B4-BE49-F238E27FC236}">
                <a16:creationId xmlns:a16="http://schemas.microsoft.com/office/drawing/2014/main" id="{D86C0F2D-5369-48DE-B292-43C5413DBC76}"/>
              </a:ext>
            </a:extLst>
          </p:cNvPr>
          <p:cNvSpPr>
            <a:spLocks xmlns:a="http://schemas.openxmlformats.org/drawingml/2006/main" noGrp="1"/>
          </p:cNvSpPr>
          <p:nvPr/>
        </p:nvSpPr>
        <p:spPr>
          <a:xfrm xmlns:a="http://schemas.openxmlformats.org/drawingml/2006/main">
            <a:off x="914400" y="21526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1F5A7A"/>
                </a:solidFill>
              </a:defRPr>
            </a:pPr>
            <a:r>
              <a:rPr sz="1575" b="1">
                <a:solidFill>
                  <a:srgbClr val="1F5A7A"/>
                </a:solidFill>
              </a:rPr>
              <a:t>Web and news</a:t>
            </a:r>
          </a:p>
        </p:txBody>
      </p:sp>
      <p:sp>
        <p:nvSpPr>
          <p:cNvPr id="6" name="">
            <a:extLst xmlns:a="http://schemas.openxmlformats.org/drawingml/2006/main">
              <a:ext uri="{FF2B5EF4-FFF2-40B4-BE49-F238E27FC236}">
                <a16:creationId xmlns:a16="http://schemas.microsoft.com/office/drawing/2014/main" id="{DBA22544-F6E8-40A1-99A7-97BD1413F865}"/>
              </a:ext>
            </a:extLst>
          </p:cNvPr>
          <p:cNvSpPr>
            <a:spLocks xmlns:a="http://schemas.openxmlformats.org/drawingml/2006/main" noGrp="1"/>
          </p:cNvSpPr>
          <p:nvPr/>
        </p:nvSpPr>
        <p:spPr>
          <a:xfrm xmlns:a="http://schemas.openxmlformats.org/drawingml/2006/main">
            <a:off x="914400" y="2476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174"/>
                </a:solidFill>
              </a:defRPr>
            </a:pPr>
            <a:r>
              <a:rPr sz="1275" b="0">
                <a:solidFill>
                  <a:srgbClr val="526174"/>
                </a:solidFill>
              </a:rPr>
              <a:t>Common Crawl, recent newspapers</a:t>
            </a:r>
          </a:p>
        </p:txBody>
      </p:sp>
      <p:sp>
        <p:nvSpPr>
          <p:cNvPr id="7" name="">
            <a:extLst xmlns:a="http://schemas.openxmlformats.org/drawingml/2006/main">
              <a:ext uri="{FF2B5EF4-FFF2-40B4-BE49-F238E27FC236}">
                <a16:creationId xmlns:a16="http://schemas.microsoft.com/office/drawing/2014/main" id="{66837C75-E250-448F-8CC1-81F0EA41F4BA}"/>
              </a:ext>
            </a:extLst>
          </p:cNvPr>
          <p:cNvSpPr>
            <a:spLocks xmlns:a="http://schemas.openxmlformats.org/drawingml/2006/main" noGrp="1"/>
          </p:cNvSpPr>
          <p:nvPr/>
        </p:nvSpPr>
        <p:spPr>
          <a:xfrm xmlns:a="http://schemas.openxmlformats.org/drawingml/2006/main">
            <a:off x="914400" y="2895600"/>
            <a:ext cx="31432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8" name="">
            <a:extLst xmlns:a="http://schemas.openxmlformats.org/drawingml/2006/main">
              <a:ext uri="{FF2B5EF4-FFF2-40B4-BE49-F238E27FC236}">
                <a16:creationId xmlns:a16="http://schemas.microsoft.com/office/drawing/2014/main" id="{F48A290B-F30C-48FA-9CC3-300B0EF9B466}"/>
              </a:ext>
            </a:extLst>
          </p:cNvPr>
          <p:cNvSpPr>
            <a:spLocks xmlns:a="http://schemas.openxmlformats.org/drawingml/2006/main" noGrp="1"/>
          </p:cNvSpPr>
          <p:nvPr/>
        </p:nvSpPr>
        <p:spPr>
          <a:xfrm xmlns:a="http://schemas.openxmlformats.org/drawingml/2006/main">
            <a:off x="914400" y="30289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1F5A7A"/>
                </a:solidFill>
              </a:defRPr>
            </a:pPr>
            <a:r>
              <a:rPr sz="1575" b="1">
                <a:solidFill>
                  <a:srgbClr val="1F5A7A"/>
                </a:solidFill>
              </a:rPr>
              <a:t>Knowledge</a:t>
            </a:r>
          </a:p>
        </p:txBody>
      </p:sp>
      <p:sp>
        <p:nvSpPr>
          <p:cNvPr id="9" name="">
            <a:extLst xmlns:a="http://schemas.openxmlformats.org/drawingml/2006/main">
              <a:ext uri="{FF2B5EF4-FFF2-40B4-BE49-F238E27FC236}">
                <a16:creationId xmlns:a16="http://schemas.microsoft.com/office/drawing/2014/main" id="{1A516C28-5D76-4721-BF70-C535191608A1}"/>
              </a:ext>
            </a:extLst>
          </p:cNvPr>
          <p:cNvSpPr>
            <a:spLocks xmlns:a="http://schemas.openxmlformats.org/drawingml/2006/main" noGrp="1"/>
          </p:cNvSpPr>
          <p:nvPr/>
        </p:nvSpPr>
        <p:spPr>
          <a:xfrm xmlns:a="http://schemas.openxmlformats.org/drawingml/2006/main">
            <a:off x="914400" y="33528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174"/>
                </a:solidFill>
              </a:defRPr>
            </a:pPr>
            <a:r>
              <a:rPr sz="1275" b="0">
                <a:solidFill>
                  <a:srgbClr val="526174"/>
                </a:solidFill>
              </a:rPr>
              <a:t>Wikipedia and Banglapedia</a:t>
            </a:r>
          </a:p>
        </p:txBody>
      </p:sp>
      <p:sp>
        <p:nvSpPr>
          <p:cNvPr id="10" name="">
            <a:extLst xmlns:a="http://schemas.openxmlformats.org/drawingml/2006/main">
              <a:ext uri="{FF2B5EF4-FFF2-40B4-BE49-F238E27FC236}">
                <a16:creationId xmlns:a16="http://schemas.microsoft.com/office/drawing/2014/main" id="{94941702-B6A1-4DF5-974A-723D57DFF41F}"/>
              </a:ext>
            </a:extLst>
          </p:cNvPr>
          <p:cNvSpPr>
            <a:spLocks xmlns:a="http://schemas.openxmlformats.org/drawingml/2006/main" noGrp="1"/>
          </p:cNvSpPr>
          <p:nvPr/>
        </p:nvSpPr>
        <p:spPr>
          <a:xfrm xmlns:a="http://schemas.openxmlformats.org/drawingml/2006/main">
            <a:off x="914400" y="3771900"/>
            <a:ext cx="31432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1" name="">
            <a:extLst xmlns:a="http://schemas.openxmlformats.org/drawingml/2006/main">
              <a:ext uri="{FF2B5EF4-FFF2-40B4-BE49-F238E27FC236}">
                <a16:creationId xmlns:a16="http://schemas.microsoft.com/office/drawing/2014/main" id="{4EDA2D85-3F9B-4AA6-B5B6-DBF722A2E122}"/>
              </a:ext>
            </a:extLst>
          </p:cNvPr>
          <p:cNvSpPr>
            <a:spLocks xmlns:a="http://schemas.openxmlformats.org/drawingml/2006/main" noGrp="1"/>
          </p:cNvSpPr>
          <p:nvPr/>
        </p:nvSpPr>
        <p:spPr>
          <a:xfrm xmlns:a="http://schemas.openxmlformats.org/drawingml/2006/main">
            <a:off x="914400" y="39052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1F5A7A"/>
                </a:solidFill>
              </a:defRPr>
            </a:pPr>
            <a:r>
              <a:rPr sz="1575" b="1">
                <a:solidFill>
                  <a:srgbClr val="1F5A7A"/>
                </a:solidFill>
              </a:rPr>
              <a:t>Civic and legal</a:t>
            </a:r>
          </a:p>
        </p:txBody>
      </p:sp>
      <p:sp>
        <p:nvSpPr>
          <p:cNvPr id="12" name="">
            <a:extLst xmlns:a="http://schemas.openxmlformats.org/drawingml/2006/main">
              <a:ext uri="{FF2B5EF4-FFF2-40B4-BE49-F238E27FC236}">
                <a16:creationId xmlns:a16="http://schemas.microsoft.com/office/drawing/2014/main" id="{AD340C7F-F4D1-402B-B31B-49A49F24DA1F}"/>
              </a:ext>
            </a:extLst>
          </p:cNvPr>
          <p:cNvSpPr>
            <a:spLocks xmlns:a="http://schemas.openxmlformats.org/drawingml/2006/main" noGrp="1"/>
          </p:cNvSpPr>
          <p:nvPr/>
        </p:nvSpPr>
        <p:spPr>
          <a:xfrm xmlns:a="http://schemas.openxmlformats.org/drawingml/2006/main">
            <a:off x="914400" y="42291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174"/>
                </a:solidFill>
              </a:defRPr>
            </a:pPr>
            <a:r>
              <a:rPr sz="1275" b="0">
                <a:solidFill>
                  <a:srgbClr val="526174"/>
                </a:solidFill>
              </a:rPr>
              <a:t>government services and bdlaws</a:t>
            </a:r>
          </a:p>
        </p:txBody>
      </p:sp>
      <p:sp>
        <p:nvSpPr>
          <p:cNvPr id="13" name="">
            <a:extLst xmlns:a="http://schemas.openxmlformats.org/drawingml/2006/main">
              <a:ext uri="{FF2B5EF4-FFF2-40B4-BE49-F238E27FC236}">
                <a16:creationId xmlns:a16="http://schemas.microsoft.com/office/drawing/2014/main" id="{1280E1E0-4F88-4641-98FB-BD649F4B9E64}"/>
              </a:ext>
            </a:extLst>
          </p:cNvPr>
          <p:cNvSpPr>
            <a:spLocks xmlns:a="http://schemas.openxmlformats.org/drawingml/2006/main" noGrp="1"/>
          </p:cNvSpPr>
          <p:nvPr/>
        </p:nvSpPr>
        <p:spPr>
          <a:xfrm xmlns:a="http://schemas.openxmlformats.org/drawingml/2006/main">
            <a:off x="914400" y="4648200"/>
            <a:ext cx="31432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4" name="">
            <a:extLst xmlns:a="http://schemas.openxmlformats.org/drawingml/2006/main">
              <a:ext uri="{FF2B5EF4-FFF2-40B4-BE49-F238E27FC236}">
                <a16:creationId xmlns:a16="http://schemas.microsoft.com/office/drawing/2014/main" id="{927C0264-7C1E-408F-8AF4-BF346F231730}"/>
              </a:ext>
            </a:extLst>
          </p:cNvPr>
          <p:cNvSpPr>
            <a:spLocks xmlns:a="http://schemas.openxmlformats.org/drawingml/2006/main" noGrp="1"/>
          </p:cNvSpPr>
          <p:nvPr/>
        </p:nvSpPr>
        <p:spPr>
          <a:xfrm xmlns:a="http://schemas.openxmlformats.org/drawingml/2006/main">
            <a:off x="914400" y="47815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1F5A7A"/>
                </a:solidFill>
              </a:defRPr>
            </a:pPr>
            <a:r>
              <a:rPr sz="1575" b="1">
                <a:solidFill>
                  <a:srgbClr val="1F5A7A"/>
                </a:solidFill>
              </a:rPr>
              <a:t>Education and culture</a:t>
            </a:r>
          </a:p>
        </p:txBody>
      </p:sp>
      <p:sp>
        <p:nvSpPr>
          <p:cNvPr id="15" name="">
            <a:extLst xmlns:a="http://schemas.openxmlformats.org/drawingml/2006/main">
              <a:ext uri="{FF2B5EF4-FFF2-40B4-BE49-F238E27FC236}">
                <a16:creationId xmlns:a16="http://schemas.microsoft.com/office/drawing/2014/main" id="{10F51C8C-3815-4750-BB05-4CBBE3068C20}"/>
              </a:ext>
            </a:extLst>
          </p:cNvPr>
          <p:cNvSpPr>
            <a:spLocks xmlns:a="http://schemas.openxmlformats.org/drawingml/2006/main" noGrp="1"/>
          </p:cNvSpPr>
          <p:nvPr/>
        </p:nvSpPr>
        <p:spPr>
          <a:xfrm xmlns:a="http://schemas.openxmlformats.org/drawingml/2006/main">
            <a:off x="914400" y="51054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174"/>
                </a:solidFill>
              </a:defRPr>
            </a:pPr>
            <a:r>
              <a:rPr sz="1275" b="0">
                <a:solidFill>
                  <a:srgbClr val="526174"/>
                </a:solidFill>
              </a:rPr>
              <a:t>NCTB textbooks and literature</a:t>
            </a:r>
          </a:p>
        </p:txBody>
      </p:sp>
      <p:sp>
        <p:nvSpPr>
          <p:cNvPr id="16" name="">
            <a:extLst xmlns:a="http://schemas.openxmlformats.org/drawingml/2006/main">
              <a:ext uri="{FF2B5EF4-FFF2-40B4-BE49-F238E27FC236}">
                <a16:creationId xmlns:a16="http://schemas.microsoft.com/office/drawing/2014/main" id="{C9AEC63A-FD5C-453C-8CD6-60CD5E7A6069}"/>
              </a:ext>
            </a:extLst>
          </p:cNvPr>
          <p:cNvSpPr>
            <a:spLocks xmlns:a="http://schemas.openxmlformats.org/drawingml/2006/main" noGrp="1"/>
          </p:cNvSpPr>
          <p:nvPr/>
        </p:nvSpPr>
        <p:spPr>
          <a:xfrm xmlns:a="http://schemas.openxmlformats.org/drawingml/2006/main">
            <a:off x="914400" y="5524500"/>
            <a:ext cx="31432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7" name="">
            <a:extLst xmlns:a="http://schemas.openxmlformats.org/drawingml/2006/main">
              <a:ext uri="{FF2B5EF4-FFF2-40B4-BE49-F238E27FC236}">
                <a16:creationId xmlns:a16="http://schemas.microsoft.com/office/drawing/2014/main" id="{D1723AA7-B375-477F-AB07-268AE8F2EFE5}"/>
              </a:ext>
            </a:extLst>
          </p:cNvPr>
          <p:cNvSpPr>
            <a:spLocks xmlns:a="http://schemas.openxmlformats.org/drawingml/2006/main" noGrp="1"/>
          </p:cNvSpPr>
          <p:nvPr/>
        </p:nvSpPr>
        <p:spPr>
          <a:xfrm xmlns:a="http://schemas.openxmlformats.org/drawingml/2006/main">
            <a:off x="4400550" y="3200400"/>
            <a:ext cx="914400" cy="3238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8" name="">
            <a:extLst xmlns:a="http://schemas.openxmlformats.org/drawingml/2006/main">
              <a:ext uri="{FF2B5EF4-FFF2-40B4-BE49-F238E27FC236}">
                <a16:creationId xmlns:a16="http://schemas.microsoft.com/office/drawing/2014/main" id="{FEF20AA6-0E65-4BA0-8217-AA867FE18D93}"/>
              </a:ext>
            </a:extLst>
          </p:cNvPr>
          <p:cNvSpPr>
            <a:spLocks xmlns:a="http://schemas.openxmlformats.org/drawingml/2006/main" noGrp="1"/>
          </p:cNvSpPr>
          <p:nvPr/>
        </p:nvSpPr>
        <p:spPr>
          <a:xfrm xmlns:a="http://schemas.openxmlformats.org/drawingml/2006/main">
            <a:off x="8096250" y="3200400"/>
            <a:ext cx="914400" cy="3238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9" name="">
            <a:extLst xmlns:a="http://schemas.openxmlformats.org/drawingml/2006/main">
              <a:ext uri="{FF2B5EF4-FFF2-40B4-BE49-F238E27FC236}">
                <a16:creationId xmlns:a16="http://schemas.microsoft.com/office/drawing/2014/main" id="{93B6DF69-081D-4B90-86C6-FD19C42EDCDF}"/>
              </a:ext>
            </a:extLst>
          </p:cNvPr>
          <p:cNvSpPr>
            <a:spLocks xmlns:a="http://schemas.openxmlformats.org/drawingml/2006/main" noGrp="1"/>
          </p:cNvSpPr>
          <p:nvPr/>
        </p:nvSpPr>
        <p:spPr>
          <a:xfrm xmlns:a="http://schemas.openxmlformats.org/drawingml/2006/main">
            <a:off x="5334000" y="2324100"/>
            <a:ext cx="2724150" cy="2095500"/>
          </a:xfrm>
          <a:prstGeom xmlns:a="http://schemas.openxmlformats.org/drawingml/2006/main" prst="roundRect">
            <a:avLst>
              <a:gd name="adj" fmla="val 8182"/>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8EED23B5-0773-4A3A-AC6E-6E175D1178C9}"/>
              </a:ext>
            </a:extLst>
          </p:cNvPr>
          <p:cNvSpPr>
            <a:spLocks xmlns:a="http://schemas.openxmlformats.org/drawingml/2006/main" noGrp="1"/>
          </p:cNvSpPr>
          <p:nvPr/>
        </p:nvSpPr>
        <p:spPr>
          <a:xfrm xmlns:a="http://schemas.openxmlformats.org/drawingml/2006/main">
            <a:off x="5619750" y="2628900"/>
            <a:ext cx="2152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2A8C82"/>
                </a:solidFill>
              </a:defRPr>
            </a:pPr>
            <a:r>
              <a:rPr sz="1875" b="1">
                <a:solidFill>
                  <a:srgbClr val="2A8C82"/>
                </a:solidFill>
              </a:rPr>
              <a:t>Try exact routing</a:t>
            </a:r>
          </a:p>
        </p:txBody>
      </p:sp>
      <p:sp>
        <p:nvSpPr>
          <p:cNvPr id="21" name="">
            <a:extLst xmlns:a="http://schemas.openxmlformats.org/drawingml/2006/main">
              <a:ext uri="{FF2B5EF4-FFF2-40B4-BE49-F238E27FC236}">
                <a16:creationId xmlns:a16="http://schemas.microsoft.com/office/drawing/2014/main" id="{79E4F740-8365-4B46-A6FA-859377D5F35B}"/>
              </a:ext>
            </a:extLst>
          </p:cNvPr>
          <p:cNvSpPr>
            <a:spLocks xmlns:a="http://schemas.openxmlformats.org/drawingml/2006/main" noGrp="1"/>
          </p:cNvSpPr>
          <p:nvPr/>
        </p:nvSpPr>
        <p:spPr>
          <a:xfrm xmlns:a="http://schemas.openxmlformats.org/drawingml/2006/main">
            <a:off x="5657850" y="3143250"/>
            <a:ext cx="20764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0">
                <a:solidFill>
                  <a:srgbClr val="526174"/>
                </a:solidFill>
              </a:defRPr>
            </a:pPr>
            <a:r>
              <a:rPr sz="1425" b="0">
                <a:solidFill>
                  <a:srgbClr val="526174"/>
                </a:solidFill>
              </a:rPr>
              <a:t>context clauses</a:t>
            </a:r>
          </a:p>
          <a:p xmlns:a="http://schemas.openxmlformats.org/drawingml/2006/main">
            <a:pPr algn="ctr">
              <a:buNone/>
              <a:defRPr sz="1425" b="0">
                <a:solidFill>
                  <a:srgbClr val="526174"/>
                </a:solidFill>
              </a:defRPr>
            </a:pPr>
            <a:r>
              <a:rPr sz="1425" b="0">
                <a:solidFill>
                  <a:srgbClr val="526174"/>
                </a:solidFill>
              </a:rPr>
              <a:t>structured solvers</a:t>
            </a:r>
          </a:p>
          <a:p xmlns:a="http://schemas.openxmlformats.org/drawingml/2006/main">
            <a:pPr algn="ctr">
              <a:buNone/>
              <a:defRPr sz="1425" b="0">
                <a:solidFill>
                  <a:srgbClr val="526174"/>
                </a:solidFill>
              </a:defRPr>
            </a:pPr>
            <a:r>
              <a:rPr sz="1425" b="0">
                <a:solidFill>
                  <a:srgbClr val="526174"/>
                </a:solidFill>
              </a:rPr>
              <a:t>entity-relation checks</a:t>
            </a:r>
          </a:p>
        </p:txBody>
      </p:sp>
      <p:sp>
        <p:nvSpPr>
          <p:cNvPr id="22" name="">
            <a:extLst xmlns:a="http://schemas.openxmlformats.org/drawingml/2006/main">
              <a:ext uri="{FF2B5EF4-FFF2-40B4-BE49-F238E27FC236}">
                <a16:creationId xmlns:a16="http://schemas.microsoft.com/office/drawing/2014/main" id="{B7FC16EF-370C-4042-B77A-FE7F4B05B1B4}"/>
              </a:ext>
            </a:extLst>
          </p:cNvPr>
          <p:cNvSpPr>
            <a:spLocks xmlns:a="http://schemas.openxmlformats.org/drawingml/2006/main" noGrp="1"/>
          </p:cNvSpPr>
          <p:nvPr/>
        </p:nvSpPr>
        <p:spPr>
          <a:xfrm xmlns:a="http://schemas.openxmlformats.org/drawingml/2006/main">
            <a:off x="9029700" y="2324100"/>
            <a:ext cx="2247900" cy="2095500"/>
          </a:xfrm>
          <a:prstGeom xmlns:a="http://schemas.openxmlformats.org/drawingml/2006/main" prst="roundRect">
            <a:avLst>
              <a:gd name="adj" fmla="val 8182"/>
            </a:avLst>
          </a:prstGeom>
          <a:solidFill xmlns:a="http://schemas.openxmlformats.org/drawingml/2006/main">
            <a:srgbClr val="FBF0D8"/>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A2543E8D-C76C-4378-8C70-6CB3AD1BED34}"/>
              </a:ext>
            </a:extLst>
          </p:cNvPr>
          <p:cNvSpPr>
            <a:spLocks xmlns:a="http://schemas.openxmlformats.org/drawingml/2006/main" noGrp="1"/>
          </p:cNvSpPr>
          <p:nvPr/>
        </p:nvSpPr>
        <p:spPr>
          <a:xfrm xmlns:a="http://schemas.openxmlformats.org/drawingml/2006/main">
            <a:off x="9296400" y="26289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D59B32"/>
                </a:solidFill>
              </a:defRPr>
            </a:pPr>
            <a:r>
              <a:rPr sz="1875" b="1">
                <a:solidFill>
                  <a:srgbClr val="D59B32"/>
                </a:solidFill>
              </a:rPr>
              <a:t>If uncertain</a:t>
            </a:r>
          </a:p>
        </p:txBody>
      </p:sp>
      <p:sp>
        <p:nvSpPr>
          <p:cNvPr id="24" name="">
            <a:extLst xmlns:a="http://schemas.openxmlformats.org/drawingml/2006/main">
              <a:ext uri="{FF2B5EF4-FFF2-40B4-BE49-F238E27FC236}">
                <a16:creationId xmlns:a16="http://schemas.microsoft.com/office/drawing/2014/main" id="{8C5E981E-3684-4EDC-890A-D3FF2122BFF8}"/>
              </a:ext>
            </a:extLst>
          </p:cNvPr>
          <p:cNvSpPr>
            <a:spLocks xmlns:a="http://schemas.openxmlformats.org/drawingml/2006/main" noGrp="1"/>
          </p:cNvSpPr>
          <p:nvPr/>
        </p:nvSpPr>
        <p:spPr>
          <a:xfrm xmlns:a="http://schemas.openxmlformats.org/drawingml/2006/main">
            <a:off x="9296400" y="3143250"/>
            <a:ext cx="1714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526174"/>
                </a:solidFill>
              </a:defRPr>
            </a:pPr>
            <a:r>
              <a:rPr sz="1350" b="0">
                <a:solidFill>
                  <a:srgbClr val="526174"/>
                </a:solidFill>
              </a:rPr>
              <a:t>skip lineage</a:t>
            </a:r>
          </a:p>
          <a:p xmlns:a="http://schemas.openxmlformats.org/drawingml/2006/main">
            <a:pPr algn="ctr">
              <a:buNone/>
              <a:defRPr sz="1350" b="0">
                <a:solidFill>
                  <a:srgbClr val="526174"/>
                </a:solidFill>
              </a:defRPr>
            </a:pPr>
            <a:r>
              <a:rPr sz="1350" b="0">
                <a:solidFill>
                  <a:srgbClr val="526174"/>
                </a:solidFill>
              </a:rPr>
              <a:t>use the fixed judge</a:t>
            </a:r>
          </a:p>
          <a:p xmlns:a="http://schemas.openxmlformats.org/drawingml/2006/main">
            <a:pPr algn="ctr">
              <a:buNone/>
              <a:defRPr sz="1350" b="0">
                <a:solidFill>
                  <a:srgbClr val="526174"/>
                </a:solidFill>
              </a:defRPr>
            </a:pPr>
            <a:r>
              <a:rPr sz="1350" b="0">
                <a:solidFill>
                  <a:srgbClr val="526174"/>
                </a:solidFill>
              </a:rPr>
              <a:t>keep the same vote rule</a:t>
            </a:r>
          </a:p>
        </p:txBody>
      </p:sp>
      <p:sp>
        <p:nvSpPr>
          <p:cNvPr id="25" name="">
            <a:extLst xmlns:a="http://schemas.openxmlformats.org/drawingml/2006/main">
              <a:ext uri="{FF2B5EF4-FFF2-40B4-BE49-F238E27FC236}">
                <a16:creationId xmlns:a16="http://schemas.microsoft.com/office/drawing/2014/main" id="{751B1260-DF46-4828-B92D-B2C29E05BEDE}"/>
              </a:ext>
            </a:extLst>
          </p:cNvPr>
          <p:cNvSpPr>
            <a:spLocks xmlns:a="http://schemas.openxmlformats.org/drawingml/2006/main" noGrp="1"/>
          </p:cNvSpPr>
          <p:nvPr/>
        </p:nvSpPr>
        <p:spPr>
          <a:xfrm xmlns:a="http://schemas.openxmlformats.org/drawingml/2006/main">
            <a:off x="4857750" y="5029200"/>
            <a:ext cx="6286500" cy="819150"/>
          </a:xfrm>
          <a:prstGeom xmlns:a="http://schemas.openxmlformats.org/drawingml/2006/main" prst="roundRect">
            <a:avLst>
              <a:gd name="adj" fmla="val 18605"/>
            </a:avLst>
          </a:prstGeom>
          <a:solidFill xmlns:a="http://schemas.openxmlformats.org/drawingml/2006/main">
            <a:srgbClr val="E7EEF4"/>
          </a:solidFill>
          <a:ln xmlns:a="http://schemas.openxmlformats.org/drawingml/2006/main" w="9525">
            <a:solidFill>
              <a:srgbClr val="1F5A7A"/>
            </a:solidFill>
            <a:prstDash val="solid"/>
          </a:ln>
        </p:spPr>
      </p:sp>
      <p:sp>
        <p:nvSpPr>
          <p:cNvPr id="26" name="">
            <a:extLst xmlns:a="http://schemas.openxmlformats.org/drawingml/2006/main">
              <a:ext uri="{FF2B5EF4-FFF2-40B4-BE49-F238E27FC236}">
                <a16:creationId xmlns:a16="http://schemas.microsoft.com/office/drawing/2014/main" id="{B6547CB1-52FC-4436-9DBE-F5FC4BE55915}"/>
              </a:ext>
            </a:extLst>
          </p:cNvPr>
          <p:cNvSpPr>
            <a:spLocks xmlns:a="http://schemas.openxmlformats.org/drawingml/2006/main" noGrp="1"/>
          </p:cNvSpPr>
          <p:nvPr/>
        </p:nvSpPr>
        <p:spPr>
          <a:xfrm xmlns:a="http://schemas.openxmlformats.org/drawingml/2006/main">
            <a:off x="5086350" y="5181600"/>
            <a:ext cx="582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F5A7A"/>
                </a:solidFill>
              </a:defRPr>
            </a:pPr>
            <a:r>
              <a:rPr sz="1350" b="1">
                <a:solidFill>
                  <a:srgbClr val="1F5A7A"/>
                </a:solidFill>
              </a:rPr>
              <a:t>Deterministic coverage: 93.72% in Phase 1 -&gt; 4.14% in Phase 2</a:t>
            </a:r>
          </a:p>
        </p:txBody>
      </p:sp>
      <p:sp>
        <p:nvSpPr>
          <p:cNvPr id="27" name="">
            <a:extLst xmlns:a="http://schemas.openxmlformats.org/drawingml/2006/main">
              <a:ext uri="{FF2B5EF4-FFF2-40B4-BE49-F238E27FC236}">
                <a16:creationId xmlns:a16="http://schemas.microsoft.com/office/drawing/2014/main" id="{C4387042-6B0B-4701-B898-EDC0B5A37C7C}"/>
              </a:ext>
            </a:extLst>
          </p:cNvPr>
          <p:cNvSpPr>
            <a:spLocks xmlns:a="http://schemas.openxmlformats.org/drawingml/2006/main" noGrp="1"/>
          </p:cNvSpPr>
          <p:nvPr/>
        </p:nvSpPr>
        <p:spPr>
          <a:xfrm xmlns:a="http://schemas.openxmlformats.org/drawingml/2006/main">
            <a:off x="5086350" y="5505450"/>
            <a:ext cx="5829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526174"/>
                </a:solidFill>
              </a:defRPr>
            </a:pPr>
            <a:r>
              <a:rPr sz="1275" b="0">
                <a:solidFill>
                  <a:srgbClr val="526174"/>
                </a:solidFill>
              </a:rPr>
              <a:t>The fixed judge absorbed the shift and still finished in 3:52:02.</a:t>
            </a:r>
          </a:p>
        </p:txBody>
      </p:sp>
      <p:sp>
        <p:nvSpPr>
          <p:cNvPr id="28" name="">
            <a:extLst xmlns:a="http://schemas.openxmlformats.org/drawingml/2006/main">
              <a:ext uri="{FF2B5EF4-FFF2-40B4-BE49-F238E27FC236}">
                <a16:creationId xmlns:a16="http://schemas.microsoft.com/office/drawing/2014/main" id="{20E05A06-5957-4BD6-A7F7-9AAD3AB3A093}"/>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9" name="source-14">
            <a:extLst xmlns:a="http://schemas.openxmlformats.org/drawingml/2006/main">
              <a:ext uri="{FF2B5EF4-FFF2-40B4-BE49-F238E27FC236}">
                <a16:creationId xmlns:a16="http://schemas.microsoft.com/office/drawing/2014/main" id="{93F53662-130E-413B-975B-D87C85E9E307}"/>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[2] Phase 2 source preview  [8] Measured held-out run</a:t>
            </a:r>
          </a:p>
        </p:txBody>
      </p:sp>
      <p:sp>
        <p:nvSpPr>
          <p:cNvPr id="30" name="page-14">
            <a:extLst xmlns:a="http://schemas.openxmlformats.org/drawingml/2006/main">
              <a:ext uri="{FF2B5EF4-FFF2-40B4-BE49-F238E27FC236}">
                <a16:creationId xmlns:a16="http://schemas.microsoft.com/office/drawing/2014/main" id="{68315756-396F-4268-A6A1-DE3FE1C54A55}"/>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14</a:t>
            </a:r>
          </a:p>
        </p:txBody>
      </p:sp>
    </p:spTree>
    <p:extLst>
      <p:ext uri="{BB962C8B-B14F-4D97-AF65-F5344CB8AC3E}">
        <p14:creationId xmlns:p14="http://schemas.microsoft.com/office/powerpoint/2010/main" val="624765838"/>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3C6C590-AC8D-4D41-809E-7E46F3144D4D}"/>
              </a:ext>
            </a:extLst>
          </p:cNvPr>
          <p:cNvSpPr>
            <a:spLocks xmlns:a="http://schemas.openxmlformats.org/drawingml/2006/main" noGrp="1"/>
          </p:cNvSpPr>
          <p:nvPr/>
        </p:nvSpPr>
        <p:spPr>
          <a:xfrm xmlns:a="http://schemas.openxmlformats.org/drawingml/2006/main">
            <a:off x="685800" y="4000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TEAM HUNTRIX</a:t>
            </a:r>
          </a:p>
        </p:txBody>
      </p:sp>
      <p:sp>
        <p:nvSpPr>
          <p:cNvPr id="2" name="">
            <a:extLst xmlns:a="http://schemas.openxmlformats.org/drawingml/2006/main">
              <a:ext uri="{FF2B5EF4-FFF2-40B4-BE49-F238E27FC236}">
                <a16:creationId xmlns:a16="http://schemas.microsoft.com/office/drawing/2014/main" id="{7701A439-0284-41A8-82FA-93596169CFD0}"/>
              </a:ext>
            </a:extLst>
          </p:cNvPr>
          <p:cNvSpPr>
            <a:spLocks xmlns:a="http://schemas.openxmlformats.org/drawingml/2006/main" noGrp="1"/>
          </p:cNvSpPr>
          <p:nvPr/>
        </p:nvSpPr>
        <p:spPr>
          <a:xfrm xmlns:a="http://schemas.openxmlformats.org/drawingml/2006/main">
            <a:off x="685800" y="838200"/>
            <a:ext cx="9048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300" b="1">
                <a:solidFill>
                  <a:srgbClr val="0F172A"/>
                </a:solidFill>
              </a:defRPr>
            </a:pPr>
            <a:r>
              <a:rPr sz="3300" b="1">
                <a:solidFill>
                  <a:srgbClr val="0F172A"/>
                </a:solidFill>
              </a:rPr>
              <a:t>What the experiments support—</a:t>
            </a:r>
          </a:p>
          <a:p xmlns:a="http://schemas.openxmlformats.org/drawingml/2006/main">
            <a:pPr algn="l">
              <a:buNone/>
              <a:defRPr sz="3300" b="1">
                <a:solidFill>
                  <a:srgbClr val="0F172A"/>
                </a:solidFill>
              </a:defRPr>
            </a:pPr>
            <a:r>
              <a:rPr sz="3300" b="1">
                <a:solidFill>
                  <a:srgbClr val="0F172A"/>
                </a:solidFill>
              </a:rPr>
              <a:t>and what remains open</a:t>
            </a:r>
          </a:p>
        </p:txBody>
      </p:sp>
      <p:sp>
        <p:nvSpPr>
          <p:cNvPr id="3" name="">
            <a:extLst xmlns:a="http://schemas.openxmlformats.org/drawingml/2006/main">
              <a:ext uri="{FF2B5EF4-FFF2-40B4-BE49-F238E27FC236}">
                <a16:creationId xmlns:a16="http://schemas.microsoft.com/office/drawing/2014/main" id="{E39312FA-DAE7-402C-9B1B-72ABD0FA420F}"/>
              </a:ext>
            </a:extLst>
          </p:cNvPr>
          <p:cNvSpPr>
            <a:spLocks xmlns:a="http://schemas.openxmlformats.org/drawingml/2006/main" noGrp="1"/>
          </p:cNvSpPr>
          <p:nvPr/>
        </p:nvSpPr>
        <p:spPr>
          <a:xfrm xmlns:a="http://schemas.openxmlformats.org/drawingml/2006/main">
            <a:off x="685800" y="2647950"/>
            <a:ext cx="321945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9C9F5B7B-F077-4CFB-99B4-3607107AEA6E}"/>
              </a:ext>
            </a:extLst>
          </p:cNvPr>
          <p:cNvSpPr>
            <a:spLocks xmlns:a="http://schemas.openxmlformats.org/drawingml/2006/main" noGrp="1"/>
          </p:cNvSpPr>
          <p:nvPr/>
        </p:nvSpPr>
        <p:spPr>
          <a:xfrm xmlns:a="http://schemas.openxmlformats.org/drawingml/2006/main">
            <a:off x="914400" y="28765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2A8C82"/>
                </a:solidFill>
              </a:defRPr>
            </a:pPr>
            <a:r>
              <a:rPr sz="1650" b="1">
                <a:solidFill>
                  <a:srgbClr val="2A8C82"/>
                </a:solidFill>
              </a:rPr>
              <a:t>Supported</a:t>
            </a:r>
          </a:p>
        </p:txBody>
      </p:sp>
      <p:sp>
        <p:nvSpPr>
          <p:cNvPr id="5" name="">
            <a:extLst xmlns:a="http://schemas.openxmlformats.org/drawingml/2006/main">
              <a:ext uri="{FF2B5EF4-FFF2-40B4-BE49-F238E27FC236}">
                <a16:creationId xmlns:a16="http://schemas.microsoft.com/office/drawing/2014/main" id="{A34508EC-ADC8-47BD-944D-F8E4B8A94CBA}"/>
              </a:ext>
            </a:extLst>
          </p:cNvPr>
          <p:cNvSpPr>
            <a:spLocks xmlns:a="http://schemas.openxmlformats.org/drawingml/2006/main" noGrp="1"/>
          </p:cNvSpPr>
          <p:nvPr/>
        </p:nvSpPr>
        <p:spPr>
          <a:xfrm xmlns:a="http://schemas.openxmlformats.org/drawingml/2006/main">
            <a:off x="914400" y="3371850"/>
            <a:ext cx="2762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F172A"/>
                </a:solidFill>
              </a:defRPr>
            </a:pPr>
            <a:r>
              <a:rPr sz="1275" b="0">
                <a:solidFill>
                  <a:srgbClr val="0F172A"/>
                </a:solidFill>
              </a:rPr>
              <a:t>Task families need separate policies.</a:t>
            </a:r>
          </a:p>
          <a:p xmlns:a="http://schemas.openxmlformats.org/drawingml/2006/main">
            <a:pPr algn="l">
              <a:buNone/>
              <a:defRPr sz="1275" b="0">
                <a:solidFill>
                  <a:srgbClr val="0F172A"/>
                </a:solidFill>
              </a:defRPr>
            </a:pPr>
            <a:r>
              <a:rPr sz="1275" b="0">
                <a:solidFill>
                  <a:srgbClr val="0F172A"/>
                </a:solidFill>
              </a:rPr>
              <a:t>Predicate alignment prevents relation swaps.</a:t>
            </a:r>
          </a:p>
          <a:p xmlns:a="http://schemas.openxmlformats.org/drawingml/2006/main">
            <a:pPr algn="l">
              <a:buNone/>
              <a:defRPr sz="1275" b="0">
                <a:solidFill>
                  <a:srgbClr val="0F172A"/>
                </a:solidFill>
              </a:defRPr>
            </a:pPr>
            <a:r>
              <a:rPr sz="1275" b="0">
                <a:solidFill>
                  <a:srgbClr val="0F172A"/>
                </a:solidFill>
              </a:rPr>
              <a:t>Abstention protected runtime under shift.</a:t>
            </a:r>
          </a:p>
        </p:txBody>
      </p:sp>
      <p:sp>
        <p:nvSpPr>
          <p:cNvPr id="6" name="">
            <a:extLst xmlns:a="http://schemas.openxmlformats.org/drawingml/2006/main">
              <a:ext uri="{FF2B5EF4-FFF2-40B4-BE49-F238E27FC236}">
                <a16:creationId xmlns:a16="http://schemas.microsoft.com/office/drawing/2014/main" id="{6C419DA7-6A87-4599-97A5-DC8565EA9D06}"/>
              </a:ext>
            </a:extLst>
          </p:cNvPr>
          <p:cNvSpPr>
            <a:spLocks xmlns:a="http://schemas.openxmlformats.org/drawingml/2006/main" noGrp="1"/>
          </p:cNvSpPr>
          <p:nvPr/>
        </p:nvSpPr>
        <p:spPr>
          <a:xfrm xmlns:a="http://schemas.openxmlformats.org/drawingml/2006/main">
            <a:off x="4438650" y="2647950"/>
            <a:ext cx="321945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9525">
            <a:solidFill>
              <a:srgbClr val="B5483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D87793E-5438-4392-A581-FB5DDAEC7C1C}"/>
              </a:ext>
            </a:extLst>
          </p:cNvPr>
          <p:cNvSpPr>
            <a:spLocks xmlns:a="http://schemas.openxmlformats.org/drawingml/2006/main" noGrp="1"/>
          </p:cNvSpPr>
          <p:nvPr/>
        </p:nvSpPr>
        <p:spPr>
          <a:xfrm xmlns:a="http://schemas.openxmlformats.org/drawingml/2006/main">
            <a:off x="4667250" y="28765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B5483A"/>
                </a:solidFill>
              </a:defRPr>
            </a:pPr>
            <a:r>
              <a:rPr sz="1650" b="1">
                <a:solidFill>
                  <a:srgbClr val="B5483A"/>
                </a:solidFill>
              </a:rPr>
              <a:t>Limitations</a:t>
            </a:r>
          </a:p>
        </p:txBody>
      </p:sp>
      <p:sp>
        <p:nvSpPr>
          <p:cNvPr id="8" name="">
            <a:extLst xmlns:a="http://schemas.openxmlformats.org/drawingml/2006/main">
              <a:ext uri="{FF2B5EF4-FFF2-40B4-BE49-F238E27FC236}">
                <a16:creationId xmlns:a16="http://schemas.microsoft.com/office/drawing/2014/main" id="{F9D7D7CC-E901-4166-8780-28A3997F008B}"/>
              </a:ext>
            </a:extLst>
          </p:cNvPr>
          <p:cNvSpPr>
            <a:spLocks xmlns:a="http://schemas.openxmlformats.org/drawingml/2006/main" noGrp="1"/>
          </p:cNvSpPr>
          <p:nvPr/>
        </p:nvSpPr>
        <p:spPr>
          <a:xfrm xmlns:a="http://schemas.openxmlformats.org/drawingml/2006/main">
            <a:off x="4667250" y="3371850"/>
            <a:ext cx="2762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F172A"/>
                </a:solidFill>
              </a:defRPr>
            </a:pPr>
            <a:r>
              <a:rPr sz="1275" b="0">
                <a:solidFill>
                  <a:srgbClr val="0F172A"/>
                </a:solidFill>
              </a:rPr>
              <a:t>Only 299 released labels.</a:t>
            </a:r>
          </a:p>
          <a:p xmlns:a="http://schemas.openxmlformats.org/drawingml/2006/main">
            <a:pPr algn="l">
              <a:buNone/>
              <a:defRPr sz="1275" b="0">
                <a:solidFill>
                  <a:srgbClr val="0F172A"/>
                </a:solidFill>
              </a:defRPr>
            </a:pPr>
            <a:r>
              <a:rPr sz="1275" b="0">
                <a:solidFill>
                  <a:srgbClr val="0F172A"/>
                </a:solidFill>
              </a:rPr>
              <a:t>Aggregate splits provide no row-level errors.</a:t>
            </a:r>
          </a:p>
          <a:p xmlns:a="http://schemas.openxmlformats.org/drawingml/2006/main">
            <a:pPr algn="l">
              <a:buNone/>
              <a:defRPr sz="1275" b="0">
                <a:solidFill>
                  <a:srgbClr val="0F172A"/>
                </a:solidFill>
              </a:defRPr>
            </a:pPr>
            <a:r>
              <a:rPr sz="1275" b="0">
                <a:solidFill>
                  <a:srgbClr val="0F172A"/>
                </a:solidFill>
              </a:rPr>
              <a:t>Phase 2 accuracy is still unknown.</a:t>
            </a:r>
          </a:p>
        </p:txBody>
      </p:sp>
      <p:sp>
        <p:nvSpPr>
          <p:cNvPr id="9" name="">
            <a:extLst xmlns:a="http://schemas.openxmlformats.org/drawingml/2006/main">
              <a:ext uri="{FF2B5EF4-FFF2-40B4-BE49-F238E27FC236}">
                <a16:creationId xmlns:a16="http://schemas.microsoft.com/office/drawing/2014/main" id="{8DE7FAC4-CFA3-447F-9C4E-1476C1FCDEB3}"/>
              </a:ext>
            </a:extLst>
          </p:cNvPr>
          <p:cNvSpPr>
            <a:spLocks xmlns:a="http://schemas.openxmlformats.org/drawingml/2006/main" noGrp="1"/>
          </p:cNvSpPr>
          <p:nvPr/>
        </p:nvSpPr>
        <p:spPr>
          <a:xfrm xmlns:a="http://schemas.openxmlformats.org/drawingml/2006/main">
            <a:off x="8153400" y="2647950"/>
            <a:ext cx="321945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E87CC63-2335-46D0-A6C8-2AD8472D2D98}"/>
              </a:ext>
            </a:extLst>
          </p:cNvPr>
          <p:cNvSpPr>
            <a:spLocks xmlns:a="http://schemas.openxmlformats.org/drawingml/2006/main" noGrp="1"/>
          </p:cNvSpPr>
          <p:nvPr/>
        </p:nvSpPr>
        <p:spPr>
          <a:xfrm xmlns:a="http://schemas.openxmlformats.org/drawingml/2006/main">
            <a:off x="8382000" y="28765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D59B32"/>
                </a:solidFill>
              </a:defRPr>
            </a:pPr>
            <a:r>
              <a:rPr sz="1650" b="1">
                <a:solidFill>
                  <a:srgbClr val="D59B32"/>
                </a:solidFill>
              </a:rPr>
              <a:t>Next analyses</a:t>
            </a:r>
          </a:p>
        </p:txBody>
      </p:sp>
      <p:sp>
        <p:nvSpPr>
          <p:cNvPr id="11" name="">
            <a:extLst xmlns:a="http://schemas.openxmlformats.org/drawingml/2006/main">
              <a:ext uri="{FF2B5EF4-FFF2-40B4-BE49-F238E27FC236}">
                <a16:creationId xmlns:a16="http://schemas.microsoft.com/office/drawing/2014/main" id="{538A2B92-C66B-49B4-9A54-4B7E3F42E171}"/>
              </a:ext>
            </a:extLst>
          </p:cNvPr>
          <p:cNvSpPr>
            <a:spLocks xmlns:a="http://schemas.openxmlformats.org/drawingml/2006/main" noGrp="1"/>
          </p:cNvSpPr>
          <p:nvPr/>
        </p:nvSpPr>
        <p:spPr>
          <a:xfrm xmlns:a="http://schemas.openxmlformats.org/drawingml/2006/main">
            <a:off x="8382000" y="3371850"/>
            <a:ext cx="2762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F172A"/>
                </a:solidFill>
              </a:defRPr>
            </a:pPr>
            <a:r>
              <a:rPr sz="1275" b="0">
                <a:solidFill>
                  <a:srgbClr val="0F172A"/>
                </a:solidFill>
              </a:rPr>
              <a:t>Inspect Phase 2 errors when released.</a:t>
            </a:r>
          </a:p>
          <a:p xmlns:a="http://schemas.openxmlformats.org/drawingml/2006/main">
            <a:pPr algn="l">
              <a:buNone/>
              <a:defRPr sz="1275" b="0">
                <a:solidFill>
                  <a:srgbClr val="0F172A"/>
                </a:solidFill>
              </a:defRPr>
            </a:pPr>
            <a:r>
              <a:rPr sz="1275" b="0">
                <a:solidFill>
                  <a:srgbClr val="0F172A"/>
                </a:solidFill>
              </a:rPr>
              <a:t>Calibrate the judged tail.</a:t>
            </a:r>
          </a:p>
          <a:p xmlns:a="http://schemas.openxmlformats.org/drawingml/2006/main">
            <a:pPr algn="l">
              <a:buNone/>
              <a:defRPr sz="1275" b="0">
                <a:solidFill>
                  <a:srgbClr val="0F172A"/>
                </a:solidFill>
              </a:defRPr>
            </a:pPr>
            <a:r>
              <a:rPr sz="1275" b="0">
                <a:solidFill>
                  <a:srgbClr val="0F172A"/>
                </a:solidFill>
              </a:rPr>
              <a:t>Expand licensed civic and news evidence.</a:t>
            </a:r>
          </a:p>
        </p:txBody>
      </p:sp>
      <p:sp>
        <p:nvSpPr>
          <p:cNvPr id="12" name="">
            <a:extLst xmlns:a="http://schemas.openxmlformats.org/drawingml/2006/main">
              <a:ext uri="{FF2B5EF4-FFF2-40B4-BE49-F238E27FC236}">
                <a16:creationId xmlns:a16="http://schemas.microsoft.com/office/drawing/2014/main" id="{8744B878-38BB-41E7-9CDB-A47574C43C45}"/>
              </a:ext>
            </a:extLst>
          </p:cNvPr>
          <p:cNvSpPr>
            <a:spLocks xmlns:a="http://schemas.openxmlformats.org/drawingml/2006/main" noGrp="1"/>
          </p:cNvSpPr>
          <p:nvPr/>
        </p:nvSpPr>
        <p:spPr>
          <a:xfrm xmlns:a="http://schemas.openxmlformats.org/drawingml/2006/main">
            <a:off x="685800" y="542925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1F5A7A"/>
                </a:solidFill>
              </a:defRPr>
            </a:pPr>
            <a:r>
              <a:rPr sz="2700" b="1">
                <a:solidFill>
                  <a:srgbClr val="1F5A7A"/>
                </a:solidFill>
              </a:rPr>
              <a:t>Questions</a:t>
            </a:r>
          </a:p>
        </p:txBody>
      </p:sp>
      <p:sp>
        <p:nvSpPr>
          <p:cNvPr id="13" name="">
            <a:extLst xmlns:a="http://schemas.openxmlformats.org/drawingml/2006/main">
              <a:ext uri="{FF2B5EF4-FFF2-40B4-BE49-F238E27FC236}">
                <a16:creationId xmlns:a16="http://schemas.microsoft.com/office/drawing/2014/main" id="{B5222930-A972-4E65-8A69-CFE761388F8B}"/>
              </a:ext>
            </a:extLst>
          </p:cNvPr>
          <p:cNvSpPr>
            <a:spLocks xmlns:a="http://schemas.openxmlformats.org/drawingml/2006/main" noGrp="1"/>
          </p:cNvSpPr>
          <p:nvPr/>
        </p:nvSpPr>
        <p:spPr>
          <a:xfrm xmlns:a="http://schemas.openxmlformats.org/drawingml/2006/main">
            <a:off x="3714750" y="5467350"/>
            <a:ext cx="7696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350" b="1">
                <a:solidFill>
                  <a:srgbClr val="526174"/>
                </a:solidFill>
              </a:defRPr>
            </a:pPr>
            <a:r>
              <a:rPr sz="1350" b="1">
                <a:solidFill>
                  <a:srgbClr val="526174"/>
                </a:solidFill>
              </a:rPr>
              <a:t>Selective inference remained reproducible and completed the held-out run within the runtime limit.</a:t>
            </a:r>
          </a:p>
        </p:txBody>
      </p:sp>
      <p:sp>
        <p:nvSpPr>
          <p:cNvPr id="14" name="">
            <a:extLst xmlns:a="http://schemas.openxmlformats.org/drawingml/2006/main">
              <a:ext uri="{FF2B5EF4-FFF2-40B4-BE49-F238E27FC236}">
                <a16:creationId xmlns:a16="http://schemas.microsoft.com/office/drawing/2014/main" id="{F8781430-71AC-4AC8-AAE8-227D6612A7A4}"/>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5" name="">
            <a:extLst xmlns:a="http://schemas.openxmlformats.org/drawingml/2006/main">
              <a:ext uri="{FF2B5EF4-FFF2-40B4-BE49-F238E27FC236}">
                <a16:creationId xmlns:a16="http://schemas.microsoft.com/office/drawing/2014/main" id="{9D17B9C4-5AFB-4BEB-9DA4-65B1E25650A8}"/>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[7] Team Huntrix final system and reproducibility package</a:t>
            </a:r>
          </a:p>
        </p:txBody>
      </p:sp>
      <p:sp>
        <p:nvSpPr>
          <p:cNvPr id="16" name="">
            <a:extLst xmlns:a="http://schemas.openxmlformats.org/drawingml/2006/main">
              <a:ext uri="{FF2B5EF4-FFF2-40B4-BE49-F238E27FC236}">
                <a16:creationId xmlns:a16="http://schemas.microsoft.com/office/drawing/2014/main" id="{37D8D58A-E0D4-4368-A6D1-D7F564E3069C}"/>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15</a:t>
            </a:r>
          </a:p>
        </p:txBody>
      </p:sp>
    </p:spTree>
    <p:extLst>
      <p:ext uri="{BB962C8B-B14F-4D97-AF65-F5344CB8AC3E}">
        <p14:creationId xmlns:p14="http://schemas.microsoft.com/office/powerpoint/2010/main" val="1877395611"/>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3" name="kicker-5">
            <a:extLst xmlns:a="http://schemas.openxmlformats.org/drawingml/2006/main">
              <a:ext uri="{FF2B5EF4-FFF2-40B4-BE49-F238E27FC236}">
                <a16:creationId xmlns:a16="http://schemas.microsoft.com/office/drawing/2014/main" id="{618A35C3-47C4-48F6-A39A-BF7540858594}"/>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TECHNICAL APPENDIX</a:t>
            </a:r>
          </a:p>
        </p:txBody>
      </p:sp>
      <p:sp>
        <p:nvSpPr>
          <p:cNvPr id="2" name="title-5">
            <a:extLst xmlns:a="http://schemas.openxmlformats.org/drawingml/2006/main">
              <a:ext uri="{FF2B5EF4-FFF2-40B4-BE49-F238E27FC236}">
                <a16:creationId xmlns:a16="http://schemas.microsoft.com/office/drawing/2014/main" id="{929C1CE2-E695-47E4-A694-83011D1A8763}"/>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Evidence standards changed with the row type</a:t>
            </a:r>
          </a:p>
        </p:txBody>
      </p:sp>
      <p:sp>
        <p:nvSpPr>
          <p:cNvPr id="3" name="">
            <a:extLst xmlns:a="http://schemas.openxmlformats.org/drawingml/2006/main">
              <a:ext uri="{FF2B5EF4-FFF2-40B4-BE49-F238E27FC236}">
                <a16:creationId xmlns:a16="http://schemas.microsoft.com/office/drawing/2014/main" id="{042A1347-FE9D-43D3-893B-5EAD4AA415B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FA5E9D00-EF1F-4D55-9AE4-D81B295C68DB}"/>
              </a:ext>
            </a:extLst>
          </p:cNvPr>
          <p:cNvSpPr>
            <a:spLocks xmlns:a="http://schemas.openxmlformats.org/drawingml/2006/main" noGrp="1"/>
          </p:cNvSpPr>
          <p:nvPr/>
        </p:nvSpPr>
        <p:spPr>
          <a:xfrm xmlns:a="http://schemas.openxmlformats.org/drawingml/2006/main">
            <a:off x="685800" y="1381125"/>
            <a:ext cx="1028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26174"/>
                </a:solidFill>
              </a:defRPr>
            </a:pPr>
            <a:r>
              <a:rPr sz="1575" b="0">
                <a:solidFill>
                  <a:srgbClr val="526174"/>
                </a:solidFill>
              </a:rPr>
              <a:t>The binary label stayed fixed; the support test changed with the task and available evidence.</a:t>
            </a:r>
          </a:p>
        </p:txBody>
      </p:sp>
      <p:sp>
        <p:nvSpPr>
          <p:cNvPr id="5" name="">
            <a:extLst xmlns:a="http://schemas.openxmlformats.org/drawingml/2006/main">
              <a:ext uri="{FF2B5EF4-FFF2-40B4-BE49-F238E27FC236}">
                <a16:creationId xmlns:a16="http://schemas.microsoft.com/office/drawing/2014/main" id="{EED90EB8-F55C-4460-8A13-A501F78E0060}"/>
              </a:ext>
            </a:extLst>
          </p:cNvPr>
          <p:cNvSpPr>
            <a:spLocks xmlns:a="http://schemas.openxmlformats.org/drawingml/2006/main" noGrp="1"/>
          </p:cNvSpPr>
          <p:nvPr/>
        </p:nvSpPr>
        <p:spPr>
          <a:xfrm xmlns:a="http://schemas.openxmlformats.org/drawingml/2006/main">
            <a:off x="838200" y="2133600"/>
            <a:ext cx="2324100" cy="27241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1F5A7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10B8C89-8FC4-4790-8C34-84172DB5FE54}"/>
              </a:ext>
            </a:extLst>
          </p:cNvPr>
          <p:cNvSpPr>
            <a:spLocks xmlns:a="http://schemas.openxmlformats.org/drawingml/2006/main" noGrp="1"/>
          </p:cNvSpPr>
          <p:nvPr/>
        </p:nvSpPr>
        <p:spPr>
          <a:xfrm xmlns:a="http://schemas.openxmlformats.org/drawingml/2006/main">
            <a:off x="1028700" y="234315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F5A7A"/>
                </a:solidFill>
              </a:defRPr>
            </a:pPr>
            <a:r>
              <a:rPr sz="1650" b="1">
                <a:solidFill>
                  <a:srgbClr val="1F5A7A"/>
                </a:solidFill>
              </a:rPr>
              <a:t>Context</a:t>
            </a:r>
          </a:p>
        </p:txBody>
      </p:sp>
      <p:sp>
        <p:nvSpPr>
          <p:cNvPr id="7" name="">
            <a:extLst xmlns:a="http://schemas.openxmlformats.org/drawingml/2006/main">
              <a:ext uri="{FF2B5EF4-FFF2-40B4-BE49-F238E27FC236}">
                <a16:creationId xmlns:a16="http://schemas.microsoft.com/office/drawing/2014/main" id="{1355E712-AC15-4DED-9D35-25A08FF1B3E0}"/>
              </a:ext>
            </a:extLst>
          </p:cNvPr>
          <p:cNvSpPr>
            <a:spLocks xmlns:a="http://schemas.openxmlformats.org/drawingml/2006/main" noGrp="1"/>
          </p:cNvSpPr>
          <p:nvPr/>
        </p:nvSpPr>
        <p:spPr>
          <a:xfrm xmlns:a="http://schemas.openxmlformats.org/drawingml/2006/main">
            <a:off x="1028700" y="285750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8" name="">
            <a:extLst xmlns:a="http://schemas.openxmlformats.org/drawingml/2006/main">
              <a:ext uri="{FF2B5EF4-FFF2-40B4-BE49-F238E27FC236}">
                <a16:creationId xmlns:a16="http://schemas.microsoft.com/office/drawing/2014/main" id="{6E507E20-8586-46A7-836E-4C0B73834D68}"/>
              </a:ext>
            </a:extLst>
          </p:cNvPr>
          <p:cNvSpPr>
            <a:spLocks xmlns:a="http://schemas.openxmlformats.org/drawingml/2006/main" noGrp="1"/>
          </p:cNvSpPr>
          <p:nvPr/>
        </p:nvSpPr>
        <p:spPr>
          <a:xfrm xmlns:a="http://schemas.openxmlformats.org/drawingml/2006/main">
            <a:off x="1123950" y="29527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split response claims</a:t>
            </a:r>
          </a:p>
        </p:txBody>
      </p:sp>
      <p:sp>
        <p:nvSpPr>
          <p:cNvPr id="9" name="">
            <a:extLst xmlns:a="http://schemas.openxmlformats.org/drawingml/2006/main">
              <a:ext uri="{FF2B5EF4-FFF2-40B4-BE49-F238E27FC236}">
                <a16:creationId xmlns:a16="http://schemas.microsoft.com/office/drawing/2014/main" id="{AE467811-FC93-4158-9BA3-3781BFC53D49}"/>
              </a:ext>
            </a:extLst>
          </p:cNvPr>
          <p:cNvSpPr>
            <a:spLocks xmlns:a="http://schemas.openxmlformats.org/drawingml/2006/main" noGrp="1"/>
          </p:cNvSpPr>
          <p:nvPr/>
        </p:nvSpPr>
        <p:spPr>
          <a:xfrm xmlns:a="http://schemas.openxmlformats.org/drawingml/2006/main">
            <a:off x="1028700" y="344805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10" name="">
            <a:extLst xmlns:a="http://schemas.openxmlformats.org/drawingml/2006/main">
              <a:ext uri="{FF2B5EF4-FFF2-40B4-BE49-F238E27FC236}">
                <a16:creationId xmlns:a16="http://schemas.microsoft.com/office/drawing/2014/main" id="{A75D73B8-BA07-4BE0-A075-93BB10F7773A}"/>
              </a:ext>
            </a:extLst>
          </p:cNvPr>
          <p:cNvSpPr>
            <a:spLocks xmlns:a="http://schemas.openxmlformats.org/drawingml/2006/main" noGrp="1"/>
          </p:cNvSpPr>
          <p:nvPr/>
        </p:nvSpPr>
        <p:spPr>
          <a:xfrm xmlns:a="http://schemas.openxmlformats.org/drawingml/2006/main">
            <a:off x="1123950" y="35433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check passage support</a:t>
            </a:r>
          </a:p>
        </p:txBody>
      </p:sp>
      <p:sp>
        <p:nvSpPr>
          <p:cNvPr id="11" name="">
            <a:extLst xmlns:a="http://schemas.openxmlformats.org/drawingml/2006/main">
              <a:ext uri="{FF2B5EF4-FFF2-40B4-BE49-F238E27FC236}">
                <a16:creationId xmlns:a16="http://schemas.microsoft.com/office/drawing/2014/main" id="{7C524ADE-CD38-4284-AF6B-41DB71A46F1D}"/>
              </a:ext>
            </a:extLst>
          </p:cNvPr>
          <p:cNvSpPr>
            <a:spLocks xmlns:a="http://schemas.openxmlformats.org/drawingml/2006/main" noGrp="1"/>
          </p:cNvSpPr>
          <p:nvPr/>
        </p:nvSpPr>
        <p:spPr>
          <a:xfrm xmlns:a="http://schemas.openxmlformats.org/drawingml/2006/main">
            <a:off x="1028700" y="4038600"/>
            <a:ext cx="1943100" cy="419100"/>
          </a:xfrm>
          <a:prstGeom xmlns:a="http://schemas.openxmlformats.org/drawingml/2006/main" prst="roundRect">
            <a:avLst>
              <a:gd name="adj" fmla="val 22727"/>
            </a:avLst>
          </a:prstGeom>
          <a:solidFill xmlns:a="http://schemas.openxmlformats.org/drawingml/2006/main">
            <a:srgbClr val="E7EEF4"/>
          </a:solidFill>
          <a:ln xmlns:a="http://schemas.openxmlformats.org/drawingml/2006/main" w="9525">
            <a:solidFill>
              <a:srgbClr val="D8E0EA"/>
            </a:solidFill>
            <a:prstDash val="solid"/>
          </a:ln>
        </p:spPr>
      </p:sp>
      <p:sp>
        <p:nvSpPr>
          <p:cNvPr id="12" name="">
            <a:extLst xmlns:a="http://schemas.openxmlformats.org/drawingml/2006/main">
              <a:ext uri="{FF2B5EF4-FFF2-40B4-BE49-F238E27FC236}">
                <a16:creationId xmlns:a16="http://schemas.microsoft.com/office/drawing/2014/main" id="{FC7CCE28-F4AB-4028-A3A5-24A9A3FAC690}"/>
              </a:ext>
            </a:extLst>
          </p:cNvPr>
          <p:cNvSpPr>
            <a:spLocks xmlns:a="http://schemas.openxmlformats.org/drawingml/2006/main" noGrp="1"/>
          </p:cNvSpPr>
          <p:nvPr/>
        </p:nvSpPr>
        <p:spPr>
          <a:xfrm xmlns:a="http://schemas.openxmlformats.org/drawingml/2006/main">
            <a:off x="1123950" y="41338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0F172A"/>
                </a:solidFill>
              </a:defRPr>
            </a:pPr>
            <a:r>
              <a:rPr sz="1125" b="1">
                <a:solidFill>
                  <a:srgbClr val="0F172A"/>
                </a:solidFill>
              </a:rPr>
              <a:t>reject extra claims</a:t>
            </a:r>
          </a:p>
        </p:txBody>
      </p:sp>
      <p:sp>
        <p:nvSpPr>
          <p:cNvPr id="13" name="">
            <a:extLst xmlns:a="http://schemas.openxmlformats.org/drawingml/2006/main">
              <a:ext uri="{FF2B5EF4-FFF2-40B4-BE49-F238E27FC236}">
                <a16:creationId xmlns:a16="http://schemas.microsoft.com/office/drawing/2014/main" id="{A07B4E95-ACEB-489F-8094-78BE2AD71B1B}"/>
              </a:ext>
            </a:extLst>
          </p:cNvPr>
          <p:cNvSpPr>
            <a:spLocks xmlns:a="http://schemas.openxmlformats.org/drawingml/2006/main" noGrp="1"/>
          </p:cNvSpPr>
          <p:nvPr/>
        </p:nvSpPr>
        <p:spPr>
          <a:xfrm xmlns:a="http://schemas.openxmlformats.org/drawingml/2006/main">
            <a:off x="3676650" y="2133600"/>
            <a:ext cx="2324100" cy="27241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FD4B71B-9175-4345-ACBB-7B4DA70FBD1C}"/>
              </a:ext>
            </a:extLst>
          </p:cNvPr>
          <p:cNvSpPr>
            <a:spLocks xmlns:a="http://schemas.openxmlformats.org/drawingml/2006/main" noGrp="1"/>
          </p:cNvSpPr>
          <p:nvPr/>
        </p:nvSpPr>
        <p:spPr>
          <a:xfrm xmlns:a="http://schemas.openxmlformats.org/drawingml/2006/main">
            <a:off x="3867150" y="234315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A8C82"/>
                </a:solidFill>
              </a:defRPr>
            </a:pPr>
            <a:r>
              <a:rPr sz="1650" b="1">
                <a:solidFill>
                  <a:srgbClr val="2A8C82"/>
                </a:solidFill>
              </a:rPr>
              <a:t>Closed form</a:t>
            </a:r>
          </a:p>
        </p:txBody>
      </p:sp>
      <p:sp>
        <p:nvSpPr>
          <p:cNvPr id="15" name="">
            <a:extLst xmlns:a="http://schemas.openxmlformats.org/drawingml/2006/main">
              <a:ext uri="{FF2B5EF4-FFF2-40B4-BE49-F238E27FC236}">
                <a16:creationId xmlns:a16="http://schemas.microsoft.com/office/drawing/2014/main" id="{187FB47C-845B-45E6-84ED-964B06B639B6}"/>
              </a:ext>
            </a:extLst>
          </p:cNvPr>
          <p:cNvSpPr>
            <a:spLocks xmlns:a="http://schemas.openxmlformats.org/drawingml/2006/main" noGrp="1"/>
          </p:cNvSpPr>
          <p:nvPr/>
        </p:nvSpPr>
        <p:spPr>
          <a:xfrm xmlns:a="http://schemas.openxmlformats.org/drawingml/2006/main">
            <a:off x="3867150" y="285750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16" name="">
            <a:extLst xmlns:a="http://schemas.openxmlformats.org/drawingml/2006/main">
              <a:ext uri="{FF2B5EF4-FFF2-40B4-BE49-F238E27FC236}">
                <a16:creationId xmlns:a16="http://schemas.microsoft.com/office/drawing/2014/main" id="{3DDB91DA-D18D-4292-BB47-E5641A7945F4}"/>
              </a:ext>
            </a:extLst>
          </p:cNvPr>
          <p:cNvSpPr>
            <a:spLocks xmlns:a="http://schemas.openxmlformats.org/drawingml/2006/main" noGrp="1"/>
          </p:cNvSpPr>
          <p:nvPr/>
        </p:nvSpPr>
        <p:spPr>
          <a:xfrm xmlns:a="http://schemas.openxmlformats.org/drawingml/2006/main">
            <a:off x="3962400" y="29527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parse number / option</a:t>
            </a:r>
          </a:p>
        </p:txBody>
      </p:sp>
      <p:sp>
        <p:nvSpPr>
          <p:cNvPr id="17" name="">
            <a:extLst xmlns:a="http://schemas.openxmlformats.org/drawingml/2006/main">
              <a:ext uri="{FF2B5EF4-FFF2-40B4-BE49-F238E27FC236}">
                <a16:creationId xmlns:a16="http://schemas.microsoft.com/office/drawing/2014/main" id="{7E1E3E31-74EC-4429-B379-9B3D415BC0FF}"/>
              </a:ext>
            </a:extLst>
          </p:cNvPr>
          <p:cNvSpPr>
            <a:spLocks xmlns:a="http://schemas.openxmlformats.org/drawingml/2006/main" noGrp="1"/>
          </p:cNvSpPr>
          <p:nvPr/>
        </p:nvSpPr>
        <p:spPr>
          <a:xfrm xmlns:a="http://schemas.openxmlformats.org/drawingml/2006/main">
            <a:off x="3867150" y="344805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18" name="">
            <a:extLst xmlns:a="http://schemas.openxmlformats.org/drawingml/2006/main">
              <a:ext uri="{FF2B5EF4-FFF2-40B4-BE49-F238E27FC236}">
                <a16:creationId xmlns:a16="http://schemas.microsoft.com/office/drawing/2014/main" id="{F0FC9A51-4584-4AC8-803A-96348FA59FD3}"/>
              </a:ext>
            </a:extLst>
          </p:cNvPr>
          <p:cNvSpPr>
            <a:spLocks xmlns:a="http://schemas.openxmlformats.org/drawingml/2006/main" noGrp="1"/>
          </p:cNvSpPr>
          <p:nvPr/>
        </p:nvSpPr>
        <p:spPr>
          <a:xfrm xmlns:a="http://schemas.openxmlformats.org/drawingml/2006/main">
            <a:off x="3962400" y="35433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apply requested operation</a:t>
            </a:r>
          </a:p>
        </p:txBody>
      </p:sp>
      <p:sp>
        <p:nvSpPr>
          <p:cNvPr id="19" name="">
            <a:extLst xmlns:a="http://schemas.openxmlformats.org/drawingml/2006/main">
              <a:ext uri="{FF2B5EF4-FFF2-40B4-BE49-F238E27FC236}">
                <a16:creationId xmlns:a16="http://schemas.microsoft.com/office/drawing/2014/main" id="{0E3C90E9-3DBD-4E2F-B683-4AC4F32FED35}"/>
              </a:ext>
            </a:extLst>
          </p:cNvPr>
          <p:cNvSpPr>
            <a:spLocks xmlns:a="http://schemas.openxmlformats.org/drawingml/2006/main" noGrp="1"/>
          </p:cNvSpPr>
          <p:nvPr/>
        </p:nvSpPr>
        <p:spPr>
          <a:xfrm xmlns:a="http://schemas.openxmlformats.org/drawingml/2006/main">
            <a:off x="3867150" y="4038600"/>
            <a:ext cx="1943100" cy="419100"/>
          </a:xfrm>
          <a:prstGeom xmlns:a="http://schemas.openxmlformats.org/drawingml/2006/main" prst="roundRect">
            <a:avLst>
              <a:gd name="adj" fmla="val 22727"/>
            </a:avLst>
          </a:prstGeom>
          <a:solidFill xmlns:a="http://schemas.openxmlformats.org/drawingml/2006/main">
            <a:srgbClr val="E7EEF4"/>
          </a:solidFill>
          <a:ln xmlns:a="http://schemas.openxmlformats.org/drawingml/2006/main" w="9525">
            <a:solidFill>
              <a:srgbClr val="D8E0EA"/>
            </a:solidFill>
            <a:prstDash val="solid"/>
          </a:ln>
        </p:spPr>
      </p:sp>
      <p:sp>
        <p:nvSpPr>
          <p:cNvPr id="20" name="">
            <a:extLst xmlns:a="http://schemas.openxmlformats.org/drawingml/2006/main">
              <a:ext uri="{FF2B5EF4-FFF2-40B4-BE49-F238E27FC236}">
                <a16:creationId xmlns:a16="http://schemas.microsoft.com/office/drawing/2014/main" id="{C2313B14-671F-4421-BE8C-E5C3DDED62DB}"/>
              </a:ext>
            </a:extLst>
          </p:cNvPr>
          <p:cNvSpPr>
            <a:spLocks xmlns:a="http://schemas.openxmlformats.org/drawingml/2006/main" noGrp="1"/>
          </p:cNvSpPr>
          <p:nvPr/>
        </p:nvSpPr>
        <p:spPr>
          <a:xfrm xmlns:a="http://schemas.openxmlformats.org/drawingml/2006/main">
            <a:off x="3962400" y="41338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0F172A"/>
                </a:solidFill>
              </a:defRPr>
            </a:pPr>
            <a:r>
              <a:rPr sz="1125" b="1">
                <a:solidFill>
                  <a:srgbClr val="0F172A"/>
                </a:solidFill>
              </a:rPr>
              <a:t>verify exact result</a:t>
            </a:r>
          </a:p>
        </p:txBody>
      </p:sp>
      <p:sp>
        <p:nvSpPr>
          <p:cNvPr id="21" name="">
            <a:extLst xmlns:a="http://schemas.openxmlformats.org/drawingml/2006/main">
              <a:ext uri="{FF2B5EF4-FFF2-40B4-BE49-F238E27FC236}">
                <a16:creationId xmlns:a16="http://schemas.microsoft.com/office/drawing/2014/main" id="{CECB8BC6-F6BA-4ED8-AD90-EE7CEBCCCB2C}"/>
              </a:ext>
            </a:extLst>
          </p:cNvPr>
          <p:cNvSpPr>
            <a:spLocks xmlns:a="http://schemas.openxmlformats.org/drawingml/2006/main" noGrp="1"/>
          </p:cNvSpPr>
          <p:nvPr/>
        </p:nvSpPr>
        <p:spPr>
          <a:xfrm xmlns:a="http://schemas.openxmlformats.org/drawingml/2006/main">
            <a:off x="6515100" y="2133600"/>
            <a:ext cx="2324100" cy="27241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D598A079-97B4-4730-B30A-6139C0D571ED}"/>
              </a:ext>
            </a:extLst>
          </p:cNvPr>
          <p:cNvSpPr>
            <a:spLocks xmlns:a="http://schemas.openxmlformats.org/drawingml/2006/main" noGrp="1"/>
          </p:cNvSpPr>
          <p:nvPr/>
        </p:nvSpPr>
        <p:spPr>
          <a:xfrm xmlns:a="http://schemas.openxmlformats.org/drawingml/2006/main">
            <a:off x="6705600" y="234315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D59B32"/>
                </a:solidFill>
              </a:defRPr>
            </a:pPr>
            <a:r>
              <a:rPr sz="1650" b="1">
                <a:solidFill>
                  <a:srgbClr val="D59B32"/>
                </a:solidFill>
              </a:rPr>
              <a:t>Language</a:t>
            </a:r>
          </a:p>
        </p:txBody>
      </p:sp>
      <p:sp>
        <p:nvSpPr>
          <p:cNvPr id="23" name="">
            <a:extLst xmlns:a="http://schemas.openxmlformats.org/drawingml/2006/main">
              <a:ext uri="{FF2B5EF4-FFF2-40B4-BE49-F238E27FC236}">
                <a16:creationId xmlns:a16="http://schemas.microsoft.com/office/drawing/2014/main" id="{25B6E4C2-6906-488F-9E0F-41703D94AC62}"/>
              </a:ext>
            </a:extLst>
          </p:cNvPr>
          <p:cNvSpPr>
            <a:spLocks xmlns:a="http://schemas.openxmlformats.org/drawingml/2006/main" noGrp="1"/>
          </p:cNvSpPr>
          <p:nvPr/>
        </p:nvSpPr>
        <p:spPr>
          <a:xfrm xmlns:a="http://schemas.openxmlformats.org/drawingml/2006/main">
            <a:off x="6705600" y="285750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24" name="">
            <a:extLst xmlns:a="http://schemas.openxmlformats.org/drawingml/2006/main">
              <a:ext uri="{FF2B5EF4-FFF2-40B4-BE49-F238E27FC236}">
                <a16:creationId xmlns:a16="http://schemas.microsoft.com/office/drawing/2014/main" id="{75EE1D62-4C42-427E-9798-1AF849425FCC}"/>
              </a:ext>
            </a:extLst>
          </p:cNvPr>
          <p:cNvSpPr>
            <a:spLocks xmlns:a="http://schemas.openxmlformats.org/drawingml/2006/main" noGrp="1"/>
          </p:cNvSpPr>
          <p:nvPr/>
        </p:nvSpPr>
        <p:spPr>
          <a:xfrm xmlns:a="http://schemas.openxmlformats.org/drawingml/2006/main">
            <a:off x="6800850" y="29527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identify requested form</a:t>
            </a:r>
          </a:p>
        </p:txBody>
      </p:sp>
      <p:sp>
        <p:nvSpPr>
          <p:cNvPr id="25" name="">
            <a:extLst xmlns:a="http://schemas.openxmlformats.org/drawingml/2006/main">
              <a:ext uri="{FF2B5EF4-FFF2-40B4-BE49-F238E27FC236}">
                <a16:creationId xmlns:a16="http://schemas.microsoft.com/office/drawing/2014/main" id="{624A71BB-5E7A-42E2-8688-04E42520BF1E}"/>
              </a:ext>
            </a:extLst>
          </p:cNvPr>
          <p:cNvSpPr>
            <a:spLocks xmlns:a="http://schemas.openxmlformats.org/drawingml/2006/main" noGrp="1"/>
          </p:cNvSpPr>
          <p:nvPr/>
        </p:nvSpPr>
        <p:spPr>
          <a:xfrm xmlns:a="http://schemas.openxmlformats.org/drawingml/2006/main">
            <a:off x="6705600" y="344805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26" name="">
            <a:extLst xmlns:a="http://schemas.openxmlformats.org/drawingml/2006/main">
              <a:ext uri="{FF2B5EF4-FFF2-40B4-BE49-F238E27FC236}">
                <a16:creationId xmlns:a16="http://schemas.microsoft.com/office/drawing/2014/main" id="{3263A4C6-AE77-4C2D-9562-A621B395F31D}"/>
              </a:ext>
            </a:extLst>
          </p:cNvPr>
          <p:cNvSpPr>
            <a:spLocks xmlns:a="http://schemas.openxmlformats.org/drawingml/2006/main" noGrp="1"/>
          </p:cNvSpPr>
          <p:nvPr/>
        </p:nvSpPr>
        <p:spPr>
          <a:xfrm xmlns:a="http://schemas.openxmlformats.org/drawingml/2006/main">
            <a:off x="6800850" y="35433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resolve idiom sense</a:t>
            </a:r>
          </a:p>
        </p:txBody>
      </p:sp>
      <p:sp>
        <p:nvSpPr>
          <p:cNvPr id="27" name="">
            <a:extLst xmlns:a="http://schemas.openxmlformats.org/drawingml/2006/main">
              <a:ext uri="{FF2B5EF4-FFF2-40B4-BE49-F238E27FC236}">
                <a16:creationId xmlns:a16="http://schemas.microsoft.com/office/drawing/2014/main" id="{0C3DE6BF-071E-451A-9FBF-C039E5379692}"/>
              </a:ext>
            </a:extLst>
          </p:cNvPr>
          <p:cNvSpPr>
            <a:spLocks xmlns:a="http://schemas.openxmlformats.org/drawingml/2006/main" noGrp="1"/>
          </p:cNvSpPr>
          <p:nvPr/>
        </p:nvSpPr>
        <p:spPr>
          <a:xfrm xmlns:a="http://schemas.openxmlformats.org/drawingml/2006/main">
            <a:off x="6705600" y="4038600"/>
            <a:ext cx="1943100" cy="419100"/>
          </a:xfrm>
          <a:prstGeom xmlns:a="http://schemas.openxmlformats.org/drawingml/2006/main" prst="roundRect">
            <a:avLst>
              <a:gd name="adj" fmla="val 22727"/>
            </a:avLst>
          </a:prstGeom>
          <a:solidFill xmlns:a="http://schemas.openxmlformats.org/drawingml/2006/main">
            <a:srgbClr val="E7EEF4"/>
          </a:solidFill>
          <a:ln xmlns:a="http://schemas.openxmlformats.org/drawingml/2006/main" w="9525">
            <a:solidFill>
              <a:srgbClr val="D8E0EA"/>
            </a:solidFill>
            <a:prstDash val="solid"/>
          </a:ln>
        </p:spPr>
      </p:sp>
      <p:sp>
        <p:nvSpPr>
          <p:cNvPr id="28" name="">
            <a:extLst xmlns:a="http://schemas.openxmlformats.org/drawingml/2006/main">
              <a:ext uri="{FF2B5EF4-FFF2-40B4-BE49-F238E27FC236}">
                <a16:creationId xmlns:a16="http://schemas.microsoft.com/office/drawing/2014/main" id="{DB4D1CFC-5FBB-4639-B5A2-2C159D2A5864}"/>
              </a:ext>
            </a:extLst>
          </p:cNvPr>
          <p:cNvSpPr>
            <a:spLocks xmlns:a="http://schemas.openxmlformats.org/drawingml/2006/main" noGrp="1"/>
          </p:cNvSpPr>
          <p:nvPr/>
        </p:nvSpPr>
        <p:spPr>
          <a:xfrm xmlns:a="http://schemas.openxmlformats.org/drawingml/2006/main">
            <a:off x="6800850" y="41338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0F172A"/>
                </a:solidFill>
              </a:defRPr>
            </a:pPr>
            <a:r>
              <a:rPr sz="1125" b="1">
                <a:solidFill>
                  <a:srgbClr val="0F172A"/>
                </a:solidFill>
              </a:rPr>
              <a:t>compare requested meaning</a:t>
            </a:r>
          </a:p>
        </p:txBody>
      </p:sp>
      <p:sp>
        <p:nvSpPr>
          <p:cNvPr id="29" name="">
            <a:extLst xmlns:a="http://schemas.openxmlformats.org/drawingml/2006/main">
              <a:ext uri="{FF2B5EF4-FFF2-40B4-BE49-F238E27FC236}">
                <a16:creationId xmlns:a16="http://schemas.microsoft.com/office/drawing/2014/main" id="{B2715886-AFE9-4E27-B173-9C55CA1795ED}"/>
              </a:ext>
            </a:extLst>
          </p:cNvPr>
          <p:cNvSpPr>
            <a:spLocks xmlns:a="http://schemas.openxmlformats.org/drawingml/2006/main" noGrp="1"/>
          </p:cNvSpPr>
          <p:nvPr/>
        </p:nvSpPr>
        <p:spPr>
          <a:xfrm xmlns:a="http://schemas.openxmlformats.org/drawingml/2006/main">
            <a:off x="9353550" y="2133600"/>
            <a:ext cx="2324100" cy="27241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B5483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2B7EB13F-123E-4A63-952C-11D03B164556}"/>
              </a:ext>
            </a:extLst>
          </p:cNvPr>
          <p:cNvSpPr>
            <a:spLocks xmlns:a="http://schemas.openxmlformats.org/drawingml/2006/main" noGrp="1"/>
          </p:cNvSpPr>
          <p:nvPr/>
        </p:nvSpPr>
        <p:spPr>
          <a:xfrm xmlns:a="http://schemas.openxmlformats.org/drawingml/2006/main">
            <a:off x="9544050" y="234315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B5483A"/>
                </a:solidFill>
              </a:defRPr>
            </a:pPr>
            <a:r>
              <a:rPr sz="1650" b="1">
                <a:solidFill>
                  <a:srgbClr val="B5483A"/>
                </a:solidFill>
              </a:rPr>
              <a:t>Knowledge</a:t>
            </a:r>
          </a:p>
        </p:txBody>
      </p:sp>
      <p:sp>
        <p:nvSpPr>
          <p:cNvPr id="31" name="">
            <a:extLst xmlns:a="http://schemas.openxmlformats.org/drawingml/2006/main">
              <a:ext uri="{FF2B5EF4-FFF2-40B4-BE49-F238E27FC236}">
                <a16:creationId xmlns:a16="http://schemas.microsoft.com/office/drawing/2014/main" id="{7388AA65-AB7B-4A90-8617-D29FB6F7F84B}"/>
              </a:ext>
            </a:extLst>
          </p:cNvPr>
          <p:cNvSpPr>
            <a:spLocks xmlns:a="http://schemas.openxmlformats.org/drawingml/2006/main" noGrp="1"/>
          </p:cNvSpPr>
          <p:nvPr/>
        </p:nvSpPr>
        <p:spPr>
          <a:xfrm xmlns:a="http://schemas.openxmlformats.org/drawingml/2006/main">
            <a:off x="9544050" y="285750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32" name="">
            <a:extLst xmlns:a="http://schemas.openxmlformats.org/drawingml/2006/main">
              <a:ext uri="{FF2B5EF4-FFF2-40B4-BE49-F238E27FC236}">
                <a16:creationId xmlns:a16="http://schemas.microsoft.com/office/drawing/2014/main" id="{4A14B5C4-943A-46B9-8766-6D0187E36836}"/>
              </a:ext>
            </a:extLst>
          </p:cNvPr>
          <p:cNvSpPr>
            <a:spLocks xmlns:a="http://schemas.openxmlformats.org/drawingml/2006/main" noGrp="1"/>
          </p:cNvSpPr>
          <p:nvPr/>
        </p:nvSpPr>
        <p:spPr>
          <a:xfrm xmlns:a="http://schemas.openxmlformats.org/drawingml/2006/main">
            <a:off x="9639300" y="29527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match source lineage</a:t>
            </a:r>
          </a:p>
        </p:txBody>
      </p:sp>
      <p:sp>
        <p:nvSpPr>
          <p:cNvPr id="33" name="">
            <a:extLst xmlns:a="http://schemas.openxmlformats.org/drawingml/2006/main">
              <a:ext uri="{FF2B5EF4-FFF2-40B4-BE49-F238E27FC236}">
                <a16:creationId xmlns:a16="http://schemas.microsoft.com/office/drawing/2014/main" id="{85493658-E4EF-4AD9-A95F-629AE027FB4F}"/>
              </a:ext>
            </a:extLst>
          </p:cNvPr>
          <p:cNvSpPr>
            <a:spLocks xmlns:a="http://schemas.openxmlformats.org/drawingml/2006/main" noGrp="1"/>
          </p:cNvSpPr>
          <p:nvPr/>
        </p:nvSpPr>
        <p:spPr>
          <a:xfrm xmlns:a="http://schemas.openxmlformats.org/drawingml/2006/main">
            <a:off x="9544050" y="3448050"/>
            <a:ext cx="1943100" cy="419100"/>
          </a:xfrm>
          <a:prstGeom xmlns:a="http://schemas.openxmlformats.org/drawingml/2006/main" prst="roundRect">
            <a:avLst>
              <a:gd name="adj" fmla="val 22727"/>
            </a:avLst>
          </a:prstGeom>
          <a:solidFill xmlns:a="http://schemas.openxmlformats.org/drawingml/2006/main">
            <a:srgbClr val="F7F9FC"/>
          </a:solidFill>
          <a:ln xmlns:a="http://schemas.openxmlformats.org/drawingml/2006/main" w="9525">
            <a:solidFill>
              <a:srgbClr val="D8E0EA"/>
            </a:solidFill>
            <a:prstDash val="solid"/>
          </a:ln>
        </p:spPr>
      </p:sp>
      <p:sp>
        <p:nvSpPr>
          <p:cNvPr id="34" name="">
            <a:extLst xmlns:a="http://schemas.openxmlformats.org/drawingml/2006/main">
              <a:ext uri="{FF2B5EF4-FFF2-40B4-BE49-F238E27FC236}">
                <a16:creationId xmlns:a16="http://schemas.microsoft.com/office/drawing/2014/main" id="{98FCB2CF-1EE7-497A-B286-045814546142}"/>
              </a:ext>
            </a:extLst>
          </p:cNvPr>
          <p:cNvSpPr>
            <a:spLocks xmlns:a="http://schemas.openxmlformats.org/drawingml/2006/main" noGrp="1"/>
          </p:cNvSpPr>
          <p:nvPr/>
        </p:nvSpPr>
        <p:spPr>
          <a:xfrm xmlns:a="http://schemas.openxmlformats.org/drawingml/2006/main">
            <a:off x="9639300" y="35433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26174"/>
                </a:solidFill>
              </a:defRPr>
            </a:pPr>
            <a:r>
              <a:rPr sz="1125" b="0">
                <a:solidFill>
                  <a:srgbClr val="526174"/>
                </a:solidFill>
              </a:rPr>
              <a:t>align entity + predicate</a:t>
            </a:r>
          </a:p>
        </p:txBody>
      </p:sp>
      <p:sp>
        <p:nvSpPr>
          <p:cNvPr id="35" name="">
            <a:extLst xmlns:a="http://schemas.openxmlformats.org/drawingml/2006/main">
              <a:ext uri="{FF2B5EF4-FFF2-40B4-BE49-F238E27FC236}">
                <a16:creationId xmlns:a16="http://schemas.microsoft.com/office/drawing/2014/main" id="{BB1014E1-2CAF-4C22-90C5-68763CD5C692}"/>
              </a:ext>
            </a:extLst>
          </p:cNvPr>
          <p:cNvSpPr>
            <a:spLocks xmlns:a="http://schemas.openxmlformats.org/drawingml/2006/main" noGrp="1"/>
          </p:cNvSpPr>
          <p:nvPr/>
        </p:nvSpPr>
        <p:spPr>
          <a:xfrm xmlns:a="http://schemas.openxmlformats.org/drawingml/2006/main">
            <a:off x="9544050" y="4038600"/>
            <a:ext cx="1943100" cy="419100"/>
          </a:xfrm>
          <a:prstGeom xmlns:a="http://schemas.openxmlformats.org/drawingml/2006/main" prst="roundRect">
            <a:avLst>
              <a:gd name="adj" fmla="val 22727"/>
            </a:avLst>
          </a:prstGeom>
          <a:solidFill xmlns:a="http://schemas.openxmlformats.org/drawingml/2006/main">
            <a:srgbClr val="E7EEF4"/>
          </a:solidFill>
          <a:ln xmlns:a="http://schemas.openxmlformats.org/drawingml/2006/main" w="9525">
            <a:solidFill>
              <a:srgbClr val="D8E0EA"/>
            </a:solidFill>
            <a:prstDash val="solid"/>
          </a:ln>
        </p:spPr>
      </p:sp>
      <p:sp>
        <p:nvSpPr>
          <p:cNvPr id="36" name="">
            <a:extLst xmlns:a="http://schemas.openxmlformats.org/drawingml/2006/main">
              <a:ext uri="{FF2B5EF4-FFF2-40B4-BE49-F238E27FC236}">
                <a16:creationId xmlns:a16="http://schemas.microsoft.com/office/drawing/2014/main" id="{7143EFC3-B83B-4C0F-B1F6-2A038B37FE08}"/>
              </a:ext>
            </a:extLst>
          </p:cNvPr>
          <p:cNvSpPr>
            <a:spLocks xmlns:a="http://schemas.openxmlformats.org/drawingml/2006/main" noGrp="1"/>
          </p:cNvSpPr>
          <p:nvPr/>
        </p:nvSpPr>
        <p:spPr>
          <a:xfrm xmlns:a="http://schemas.openxmlformats.org/drawingml/2006/main">
            <a:off x="9639300" y="41338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0F172A"/>
                </a:solidFill>
              </a:defRPr>
            </a:pPr>
            <a:r>
              <a:rPr sz="1125" b="1">
                <a:solidFill>
                  <a:srgbClr val="0F172A"/>
                </a:solidFill>
              </a:rPr>
              <a:t>verify typed value</a:t>
            </a:r>
          </a:p>
        </p:txBody>
      </p:sp>
      <p:sp>
        <p:nvSpPr>
          <p:cNvPr id="37" name="">
            <a:extLst xmlns:a="http://schemas.openxmlformats.org/drawingml/2006/main">
              <a:ext uri="{FF2B5EF4-FFF2-40B4-BE49-F238E27FC236}">
                <a16:creationId xmlns:a16="http://schemas.microsoft.com/office/drawing/2014/main" id="{82C9C97A-FA13-44C0-88EA-E7CB3D941CC1}"/>
              </a:ext>
            </a:extLst>
          </p:cNvPr>
          <p:cNvSpPr>
            <a:spLocks xmlns:a="http://schemas.openxmlformats.org/drawingml/2006/main" noGrp="1"/>
          </p:cNvSpPr>
          <p:nvPr/>
        </p:nvSpPr>
        <p:spPr>
          <a:xfrm xmlns:a="http://schemas.openxmlformats.org/drawingml/2006/main">
            <a:off x="1714500" y="5295900"/>
            <a:ext cx="8763000" cy="685800"/>
          </a:xfrm>
          <a:prstGeom xmlns:a="http://schemas.openxmlformats.org/drawingml/2006/main" prst="roundRect">
            <a:avLst>
              <a:gd name="adj" fmla="val 19444"/>
            </a:avLst>
          </a:prstGeom>
          <a:solidFill xmlns:a="http://schemas.openxmlformats.org/drawingml/2006/main">
            <a:srgbClr val="E7EEF4"/>
          </a:solidFill>
          <a:ln xmlns:a="http://schemas.openxmlformats.org/drawingml/2006/main" w="9525">
            <a:solidFill>
              <a:srgbClr val="1F5A7A"/>
            </a:solidFill>
            <a:prstDash val="solid"/>
          </a:ln>
        </p:spPr>
      </p:sp>
      <p:sp>
        <p:nvSpPr>
          <p:cNvPr id="38" name="">
            <a:extLst xmlns:a="http://schemas.openxmlformats.org/drawingml/2006/main">
              <a:ext uri="{FF2B5EF4-FFF2-40B4-BE49-F238E27FC236}">
                <a16:creationId xmlns:a16="http://schemas.microsoft.com/office/drawing/2014/main" id="{8936C3D0-A7A2-4B99-AAED-96BB4E6E1D18}"/>
              </a:ext>
            </a:extLst>
          </p:cNvPr>
          <p:cNvSpPr>
            <a:spLocks xmlns:a="http://schemas.openxmlformats.org/drawingml/2006/main" noGrp="1"/>
          </p:cNvSpPr>
          <p:nvPr/>
        </p:nvSpPr>
        <p:spPr>
          <a:xfrm xmlns:a="http://schemas.openxmlformats.org/drawingml/2006/main">
            <a:off x="1981200" y="54864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F5A7A"/>
                </a:solidFill>
              </a:defRPr>
            </a:pPr>
            <a:r>
              <a:rPr sz="1275" b="1">
                <a:solidFill>
                  <a:srgbClr val="1F5A7A"/>
                </a:solidFill>
              </a:rPr>
              <a:t>Common contract</a:t>
            </a:r>
          </a:p>
        </p:txBody>
      </p:sp>
      <p:sp>
        <p:nvSpPr>
          <p:cNvPr id="39" name="">
            <a:extLst xmlns:a="http://schemas.openxmlformats.org/drawingml/2006/main">
              <a:ext uri="{FF2B5EF4-FFF2-40B4-BE49-F238E27FC236}">
                <a16:creationId xmlns:a16="http://schemas.microsoft.com/office/drawing/2014/main" id="{CD973F10-E094-4278-8BC6-AFABB4541FBC}"/>
              </a:ext>
            </a:extLst>
          </p:cNvPr>
          <p:cNvSpPr>
            <a:spLocks xmlns:a="http://schemas.openxmlformats.org/drawingml/2006/main" noGrp="1"/>
          </p:cNvSpPr>
          <p:nvPr/>
        </p:nvSpPr>
        <p:spPr>
          <a:xfrm xmlns:a="http://schemas.openxmlformats.org/drawingml/2006/main">
            <a:off x="3600450" y="5467350"/>
            <a:ext cx="657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F172A"/>
                </a:solidFill>
              </a:defRPr>
            </a:pPr>
            <a:r>
              <a:rPr sz="1275" b="0">
                <a:solidFill>
                  <a:srgbClr val="0F172A"/>
                </a:solidFill>
              </a:rPr>
              <a:t>{label 0, label 1, abstain, route, evidence}  —  uncertainty never becomes a guessed label</a:t>
            </a:r>
          </a:p>
        </p:txBody>
      </p:sp>
      <p:sp>
        <p:nvSpPr>
          <p:cNvPr id="40" name="">
            <a:extLst xmlns:a="http://schemas.openxmlformats.org/drawingml/2006/main">
              <a:ext uri="{FF2B5EF4-FFF2-40B4-BE49-F238E27FC236}">
                <a16:creationId xmlns:a16="http://schemas.microsoft.com/office/drawing/2014/main" id="{CB798A52-0FFA-4905-998A-47D62BA2A5AA}"/>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1" name="source-5">
            <a:extLst xmlns:a="http://schemas.openxmlformats.org/drawingml/2006/main">
              <a:ext uri="{FF2B5EF4-FFF2-40B4-BE49-F238E27FC236}">
                <a16:creationId xmlns:a16="http://schemas.microsoft.com/office/drawing/2014/main" id="{58B1EABB-07CA-4A7D-BF3A-158969B1B08F}"/>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[1] Label definition  [3,4] task families  [7] v91 trace contract</a:t>
            </a:r>
          </a:p>
        </p:txBody>
      </p:sp>
      <p:sp>
        <p:nvSpPr>
          <p:cNvPr id="42" name="page-5">
            <a:extLst xmlns:a="http://schemas.openxmlformats.org/drawingml/2006/main">
              <a:ext uri="{FF2B5EF4-FFF2-40B4-BE49-F238E27FC236}">
                <a16:creationId xmlns:a16="http://schemas.microsoft.com/office/drawing/2014/main" id="{F98A9595-74B4-418D-A2AB-9414F3B855F5}"/>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16</a:t>
            </a:r>
          </a:p>
        </p:txBody>
      </p:sp>
    </p:spTree>
    <p:extLst>
      <p:ext uri="{BB962C8B-B14F-4D97-AF65-F5344CB8AC3E}">
        <p14:creationId xmlns:p14="http://schemas.microsoft.com/office/powerpoint/2010/main" val="1248703227"/>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9" name="kicker-4">
            <a:extLst xmlns:a="http://schemas.openxmlformats.org/drawingml/2006/main">
              <a:ext uri="{FF2B5EF4-FFF2-40B4-BE49-F238E27FC236}">
                <a16:creationId xmlns:a16="http://schemas.microsoft.com/office/drawing/2014/main" id="{9F3A29E2-1221-4468-9114-7CE5D9E89E55}"/>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TECHNICAL APPENDIX</a:t>
            </a:r>
          </a:p>
        </p:txBody>
      </p:sp>
      <p:sp>
        <p:nvSpPr>
          <p:cNvPr id="2" name="title-4">
            <a:extLst xmlns:a="http://schemas.openxmlformats.org/drawingml/2006/main">
              <a:ext uri="{FF2B5EF4-FFF2-40B4-BE49-F238E27FC236}">
                <a16:creationId xmlns:a16="http://schemas.microsoft.com/office/drawing/2014/main" id="{2B0C3459-5559-4C4D-A634-289E195EFC5D}"/>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Decision precedence kept uncertainty out of labels</a:t>
            </a:r>
          </a:p>
        </p:txBody>
      </p:sp>
      <p:sp>
        <p:nvSpPr>
          <p:cNvPr id="3" name="">
            <a:extLst xmlns:a="http://schemas.openxmlformats.org/drawingml/2006/main">
              <a:ext uri="{FF2B5EF4-FFF2-40B4-BE49-F238E27FC236}">
                <a16:creationId xmlns:a16="http://schemas.microsoft.com/office/drawing/2014/main" id="{7FF0CF03-89CE-4D31-97E5-90C4D541528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042CFD87-2786-49E4-9E4F-E650B08F9E42}"/>
              </a:ext>
            </a:extLst>
          </p:cNvPr>
          <p:cNvSpPr>
            <a:spLocks xmlns:a="http://schemas.openxmlformats.org/drawingml/2006/main" noGrp="1"/>
          </p:cNvSpPr>
          <p:nvPr/>
        </p:nvSpPr>
        <p:spPr>
          <a:xfrm xmlns:a="http://schemas.openxmlformats.org/drawingml/2006/main">
            <a:off x="685800" y="1381125"/>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26174"/>
                </a:solidFill>
              </a:defRPr>
            </a:pPr>
            <a:r>
              <a:rPr sz="1575" b="0">
                <a:solidFill>
                  <a:srgbClr val="526174"/>
                </a:solidFill>
              </a:rPr>
              <a:t>Contradiction can decide zero; complete support can decide one; every ambiguous case abstains.</a:t>
            </a:r>
          </a:p>
        </p:txBody>
      </p:sp>
      <p:sp>
        <p:nvSpPr>
          <p:cNvPr id="5" name="">
            <a:extLst xmlns:a="http://schemas.openxmlformats.org/drawingml/2006/main">
              <a:ext uri="{FF2B5EF4-FFF2-40B4-BE49-F238E27FC236}">
                <a16:creationId xmlns:a16="http://schemas.microsoft.com/office/drawing/2014/main" id="{D34C3FE4-5F11-47A0-AA4E-BADE0B3DB655}"/>
              </a:ext>
            </a:extLst>
          </p:cNvPr>
          <p:cNvSpPr>
            <a:spLocks xmlns:a="http://schemas.openxmlformats.org/drawingml/2006/main" noGrp="1"/>
          </p:cNvSpPr>
          <p:nvPr/>
        </p:nvSpPr>
        <p:spPr>
          <a:xfrm xmlns:a="http://schemas.openxmlformats.org/drawingml/2006/main">
            <a:off x="184785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6" name="">
            <a:extLst xmlns:a="http://schemas.openxmlformats.org/drawingml/2006/main">
              <a:ext uri="{FF2B5EF4-FFF2-40B4-BE49-F238E27FC236}">
                <a16:creationId xmlns:a16="http://schemas.microsoft.com/office/drawing/2014/main" id="{F11245FD-0B7E-4D70-81A9-3DEB252C7FCF}"/>
              </a:ext>
            </a:extLst>
          </p:cNvPr>
          <p:cNvSpPr>
            <a:spLocks xmlns:a="http://schemas.openxmlformats.org/drawingml/2006/main" noGrp="1"/>
          </p:cNvSpPr>
          <p:nvPr/>
        </p:nvSpPr>
        <p:spPr>
          <a:xfrm xmlns:a="http://schemas.openxmlformats.org/drawingml/2006/main">
            <a:off x="354330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7" name="">
            <a:extLst xmlns:a="http://schemas.openxmlformats.org/drawingml/2006/main">
              <a:ext uri="{FF2B5EF4-FFF2-40B4-BE49-F238E27FC236}">
                <a16:creationId xmlns:a16="http://schemas.microsoft.com/office/drawing/2014/main" id="{38B47B91-D37D-46CE-B12E-0FA40E89D44F}"/>
              </a:ext>
            </a:extLst>
          </p:cNvPr>
          <p:cNvSpPr>
            <a:spLocks xmlns:a="http://schemas.openxmlformats.org/drawingml/2006/main" noGrp="1"/>
          </p:cNvSpPr>
          <p:nvPr/>
        </p:nvSpPr>
        <p:spPr>
          <a:xfrm xmlns:a="http://schemas.openxmlformats.org/drawingml/2006/main">
            <a:off x="546735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8" name="">
            <a:extLst xmlns:a="http://schemas.openxmlformats.org/drawingml/2006/main">
              <a:ext uri="{FF2B5EF4-FFF2-40B4-BE49-F238E27FC236}">
                <a16:creationId xmlns:a16="http://schemas.microsoft.com/office/drawing/2014/main" id="{527E705D-5DC8-42B1-8C3D-A1790195D05A}"/>
              </a:ext>
            </a:extLst>
          </p:cNvPr>
          <p:cNvSpPr>
            <a:spLocks xmlns:a="http://schemas.openxmlformats.org/drawingml/2006/main" noGrp="1"/>
          </p:cNvSpPr>
          <p:nvPr/>
        </p:nvSpPr>
        <p:spPr>
          <a:xfrm xmlns:a="http://schemas.openxmlformats.org/drawingml/2006/main">
            <a:off x="739140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9" name="">
            <a:extLst xmlns:a="http://schemas.openxmlformats.org/drawingml/2006/main">
              <a:ext uri="{FF2B5EF4-FFF2-40B4-BE49-F238E27FC236}">
                <a16:creationId xmlns:a16="http://schemas.microsoft.com/office/drawing/2014/main" id="{3615CE5E-20BA-411A-B9F4-8155EB90FEEF}"/>
              </a:ext>
            </a:extLst>
          </p:cNvPr>
          <p:cNvSpPr>
            <a:spLocks xmlns:a="http://schemas.openxmlformats.org/drawingml/2006/main" noGrp="1"/>
          </p:cNvSpPr>
          <p:nvPr/>
        </p:nvSpPr>
        <p:spPr>
          <a:xfrm xmlns:a="http://schemas.openxmlformats.org/drawingml/2006/main">
            <a:off x="918210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0" name="">
            <a:extLst xmlns:a="http://schemas.openxmlformats.org/drawingml/2006/main">
              <a:ext uri="{FF2B5EF4-FFF2-40B4-BE49-F238E27FC236}">
                <a16:creationId xmlns:a16="http://schemas.microsoft.com/office/drawing/2014/main" id="{FF512F77-0CC5-44B8-B192-E4568CB4ABF1}"/>
              </a:ext>
            </a:extLst>
          </p:cNvPr>
          <p:cNvSpPr>
            <a:spLocks xmlns:a="http://schemas.openxmlformats.org/drawingml/2006/main" noGrp="1"/>
          </p:cNvSpPr>
          <p:nvPr/>
        </p:nvSpPr>
        <p:spPr>
          <a:xfrm xmlns:a="http://schemas.openxmlformats.org/drawingml/2006/main">
            <a:off x="2695575" y="3114675"/>
            <a:ext cx="209550" cy="533400"/>
          </a:xfrm>
          <a:prstGeom xmlns:a="http://schemas.openxmlformats.org/drawingml/2006/main" prst="downArrow">
            <a:avLst/>
          </a:prstGeom>
          <a:solidFill xmlns:a="http://schemas.openxmlformats.org/drawingml/2006/main">
            <a:srgbClr val="D8E0EA"/>
          </a:solidFill>
          <a:ln xmlns:a="http://schemas.openxmlformats.org/drawingml/2006/main" w="0">
            <a:solidFill>
              <a:srgbClr val="D8E0EA"/>
            </a:solidFill>
            <a:prstDash val="solid"/>
          </a:ln>
        </p:spPr>
      </p:sp>
      <p:sp>
        <p:nvSpPr>
          <p:cNvPr id="11" name="">
            <a:extLst xmlns:a="http://schemas.openxmlformats.org/drawingml/2006/main">
              <a:ext uri="{FF2B5EF4-FFF2-40B4-BE49-F238E27FC236}">
                <a16:creationId xmlns:a16="http://schemas.microsoft.com/office/drawing/2014/main" id="{59B66290-E55E-44E6-A36D-A205887DD27D}"/>
              </a:ext>
            </a:extLst>
          </p:cNvPr>
          <p:cNvSpPr>
            <a:spLocks xmlns:a="http://schemas.openxmlformats.org/drawingml/2006/main" noGrp="1"/>
          </p:cNvSpPr>
          <p:nvPr/>
        </p:nvSpPr>
        <p:spPr>
          <a:xfrm xmlns:a="http://schemas.openxmlformats.org/drawingml/2006/main">
            <a:off x="4619625" y="3114675"/>
            <a:ext cx="209550" cy="533400"/>
          </a:xfrm>
          <a:prstGeom xmlns:a="http://schemas.openxmlformats.org/drawingml/2006/main" prst="downArrow">
            <a:avLst/>
          </a:prstGeom>
          <a:solidFill xmlns:a="http://schemas.openxmlformats.org/drawingml/2006/main">
            <a:srgbClr val="D8E0EA"/>
          </a:solidFill>
          <a:ln xmlns:a="http://schemas.openxmlformats.org/drawingml/2006/main" w="0">
            <a:solidFill>
              <a:srgbClr val="D8E0EA"/>
            </a:solidFill>
            <a:prstDash val="solid"/>
          </a:ln>
        </p:spPr>
      </p:sp>
      <p:sp>
        <p:nvSpPr>
          <p:cNvPr id="12" name="">
            <a:extLst xmlns:a="http://schemas.openxmlformats.org/drawingml/2006/main">
              <a:ext uri="{FF2B5EF4-FFF2-40B4-BE49-F238E27FC236}">
                <a16:creationId xmlns:a16="http://schemas.microsoft.com/office/drawing/2014/main" id="{8369D14A-B57F-40D3-AE7B-D10869BBBE2E}"/>
              </a:ext>
            </a:extLst>
          </p:cNvPr>
          <p:cNvSpPr>
            <a:spLocks xmlns:a="http://schemas.openxmlformats.org/drawingml/2006/main" noGrp="1"/>
          </p:cNvSpPr>
          <p:nvPr/>
        </p:nvSpPr>
        <p:spPr>
          <a:xfrm xmlns:a="http://schemas.openxmlformats.org/drawingml/2006/main">
            <a:off x="6543675" y="3114675"/>
            <a:ext cx="209550" cy="533400"/>
          </a:xfrm>
          <a:prstGeom xmlns:a="http://schemas.openxmlformats.org/drawingml/2006/main" prst="downArrow">
            <a:avLst/>
          </a:prstGeom>
          <a:solidFill xmlns:a="http://schemas.openxmlformats.org/drawingml/2006/main">
            <a:srgbClr val="D8E0EA"/>
          </a:solidFill>
          <a:ln xmlns:a="http://schemas.openxmlformats.org/drawingml/2006/main" w="0">
            <a:solidFill>
              <a:srgbClr val="D8E0EA"/>
            </a:solidFill>
            <a:prstDash val="solid"/>
          </a:ln>
        </p:spPr>
      </p:sp>
      <p:sp>
        <p:nvSpPr>
          <p:cNvPr id="13" name="">
            <a:extLst xmlns:a="http://schemas.openxmlformats.org/drawingml/2006/main">
              <a:ext uri="{FF2B5EF4-FFF2-40B4-BE49-F238E27FC236}">
                <a16:creationId xmlns:a16="http://schemas.microsoft.com/office/drawing/2014/main" id="{1A0133B5-F642-4C94-9E94-5E1A68C21DA8}"/>
              </a:ext>
            </a:extLst>
          </p:cNvPr>
          <p:cNvSpPr>
            <a:spLocks xmlns:a="http://schemas.openxmlformats.org/drawingml/2006/main" noGrp="1"/>
          </p:cNvSpPr>
          <p:nvPr/>
        </p:nvSpPr>
        <p:spPr>
          <a:xfrm xmlns:a="http://schemas.openxmlformats.org/drawingml/2006/main">
            <a:off x="742950" y="2209800"/>
            <a:ext cx="11049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1F5A7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E880372-1C2D-4CB8-9DCC-7002FD4715DE}"/>
              </a:ext>
            </a:extLst>
          </p:cNvPr>
          <p:cNvSpPr>
            <a:spLocks xmlns:a="http://schemas.openxmlformats.org/drawingml/2006/main" noGrp="1"/>
          </p:cNvSpPr>
          <p:nvPr/>
        </p:nvSpPr>
        <p:spPr>
          <a:xfrm xmlns:a="http://schemas.openxmlformats.org/drawingml/2006/main">
            <a:off x="933450" y="24003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F5A7A"/>
                </a:solidFill>
              </a:defRPr>
            </a:pPr>
            <a:r>
              <a:rPr sz="1800" b="1">
                <a:solidFill>
                  <a:srgbClr val="1F5A7A"/>
                </a:solidFill>
              </a:rPr>
              <a:t>Row</a:t>
            </a:r>
          </a:p>
        </p:txBody>
      </p:sp>
      <p:sp>
        <p:nvSpPr>
          <p:cNvPr id="15" name="">
            <a:extLst xmlns:a="http://schemas.openxmlformats.org/drawingml/2006/main">
              <a:ext uri="{FF2B5EF4-FFF2-40B4-BE49-F238E27FC236}">
                <a16:creationId xmlns:a16="http://schemas.microsoft.com/office/drawing/2014/main" id="{DEB854DF-94FC-49B0-AE7F-5A76B79B7293}"/>
              </a:ext>
            </a:extLst>
          </p:cNvPr>
          <p:cNvSpPr>
            <a:spLocks xmlns:a="http://schemas.openxmlformats.org/drawingml/2006/main" noGrp="1"/>
          </p:cNvSpPr>
          <p:nvPr/>
        </p:nvSpPr>
        <p:spPr>
          <a:xfrm xmlns:a="http://schemas.openxmlformats.org/drawingml/2006/main">
            <a:off x="933450" y="268605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input</a:t>
            </a:r>
          </a:p>
        </p:txBody>
      </p:sp>
      <p:sp>
        <p:nvSpPr>
          <p:cNvPr id="16" name="">
            <a:extLst xmlns:a="http://schemas.openxmlformats.org/drawingml/2006/main">
              <a:ext uri="{FF2B5EF4-FFF2-40B4-BE49-F238E27FC236}">
                <a16:creationId xmlns:a16="http://schemas.microsoft.com/office/drawing/2014/main" id="{CE5C03C8-AACB-45E3-9306-D6A9D9CDF95C}"/>
              </a:ext>
            </a:extLst>
          </p:cNvPr>
          <p:cNvSpPr>
            <a:spLocks xmlns:a="http://schemas.openxmlformats.org/drawingml/2006/main" noGrp="1"/>
          </p:cNvSpPr>
          <p:nvPr/>
        </p:nvSpPr>
        <p:spPr>
          <a:xfrm xmlns:a="http://schemas.openxmlformats.org/drawingml/2006/main">
            <a:off x="2266950" y="2076450"/>
            <a:ext cx="1276350" cy="1104900"/>
          </a:xfrm>
          <a:prstGeom xmlns:a="http://schemas.openxmlformats.org/drawingml/2006/main" prst="diamond">
            <a:avLst/>
          </a:prstGeom>
          <a:solidFill xmlns:a="http://schemas.openxmlformats.org/drawingml/2006/main">
            <a:srgbClr val="E7EEF4"/>
          </a:solidFill>
          <a:ln xmlns:a="http://schemas.openxmlformats.org/drawingml/2006/main" w="11430">
            <a:solidFill>
              <a:srgbClr val="1F5A7A"/>
            </a:solidFill>
            <a:prstDash val="solid"/>
          </a:ln>
        </p:spPr>
      </p:sp>
      <p:sp>
        <p:nvSpPr>
          <p:cNvPr id="17" name="">
            <a:extLst xmlns:a="http://schemas.openxmlformats.org/drawingml/2006/main">
              <a:ext uri="{FF2B5EF4-FFF2-40B4-BE49-F238E27FC236}">
                <a16:creationId xmlns:a16="http://schemas.microsoft.com/office/drawing/2014/main" id="{664F09DA-B9C6-49E4-8464-006A551A00D1}"/>
              </a:ext>
            </a:extLst>
          </p:cNvPr>
          <p:cNvSpPr>
            <a:spLocks xmlns:a="http://schemas.openxmlformats.org/drawingml/2006/main" noGrp="1"/>
          </p:cNvSpPr>
          <p:nvPr/>
        </p:nvSpPr>
        <p:spPr>
          <a:xfrm xmlns:a="http://schemas.openxmlformats.org/drawingml/2006/main">
            <a:off x="2371725" y="2362200"/>
            <a:ext cx="1066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0F172A"/>
                </a:solidFill>
              </a:defRPr>
            </a:pPr>
            <a:r>
              <a:rPr sz="1200" b="1">
                <a:solidFill>
                  <a:srgbClr val="0F172A"/>
                </a:solidFill>
              </a:rPr>
              <a:t>Conflict?</a:t>
            </a:r>
          </a:p>
        </p:txBody>
      </p:sp>
      <p:sp>
        <p:nvSpPr>
          <p:cNvPr id="18" name="">
            <a:extLst xmlns:a="http://schemas.openxmlformats.org/drawingml/2006/main">
              <a:ext uri="{FF2B5EF4-FFF2-40B4-BE49-F238E27FC236}">
                <a16:creationId xmlns:a16="http://schemas.microsoft.com/office/drawing/2014/main" id="{36488B1E-5E64-4D66-82A3-0349A8B5FDA3}"/>
              </a:ext>
            </a:extLst>
          </p:cNvPr>
          <p:cNvSpPr>
            <a:spLocks xmlns:a="http://schemas.openxmlformats.org/drawingml/2006/main" noGrp="1"/>
          </p:cNvSpPr>
          <p:nvPr/>
        </p:nvSpPr>
        <p:spPr>
          <a:xfrm xmlns:a="http://schemas.openxmlformats.org/drawingml/2006/main">
            <a:off x="3962400" y="2076450"/>
            <a:ext cx="1276350" cy="1104900"/>
          </a:xfrm>
          <a:prstGeom xmlns:a="http://schemas.openxmlformats.org/drawingml/2006/main" prst="diamond">
            <a:avLst/>
          </a:prstGeom>
          <a:solidFill xmlns:a="http://schemas.openxmlformats.org/drawingml/2006/main">
            <a:srgbClr val="E7EEF4"/>
          </a:solidFill>
          <a:ln xmlns:a="http://schemas.openxmlformats.org/drawingml/2006/main" w="11430">
            <a:solidFill>
              <a:srgbClr val="1F5A7A"/>
            </a:solidFill>
            <a:prstDash val="solid"/>
          </a:ln>
        </p:spPr>
      </p:sp>
      <p:sp>
        <p:nvSpPr>
          <p:cNvPr id="19" name="">
            <a:extLst xmlns:a="http://schemas.openxmlformats.org/drawingml/2006/main">
              <a:ext uri="{FF2B5EF4-FFF2-40B4-BE49-F238E27FC236}">
                <a16:creationId xmlns:a16="http://schemas.microsoft.com/office/drawing/2014/main" id="{851D6612-13E6-45A2-9F0D-12BCD8724060}"/>
              </a:ext>
            </a:extLst>
          </p:cNvPr>
          <p:cNvSpPr>
            <a:spLocks xmlns:a="http://schemas.openxmlformats.org/drawingml/2006/main" noGrp="1"/>
          </p:cNvSpPr>
          <p:nvPr/>
        </p:nvSpPr>
        <p:spPr>
          <a:xfrm xmlns:a="http://schemas.openxmlformats.org/drawingml/2006/main">
            <a:off x="4067175" y="2362200"/>
            <a:ext cx="1066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0F172A"/>
                </a:solidFill>
              </a:defRPr>
            </a:pPr>
            <a:r>
              <a:rPr sz="1200" b="1">
                <a:solidFill>
                  <a:srgbClr val="0F172A"/>
                </a:solidFill>
              </a:rPr>
              <a:t>Complete</a:t>
            </a:r>
          </a:p>
          <a:p xmlns:a="http://schemas.openxmlformats.org/drawingml/2006/main">
            <a:pPr algn="ctr">
              <a:buNone/>
              <a:defRPr sz="1200" b="1">
                <a:solidFill>
                  <a:srgbClr val="0F172A"/>
                </a:solidFill>
              </a:defRPr>
            </a:pPr>
            <a:r>
              <a:rPr sz="1200" b="1">
                <a:solidFill>
                  <a:srgbClr val="0F172A"/>
                </a:solidFill>
              </a:rPr>
              <a:t>support?</a:t>
            </a:r>
          </a:p>
        </p:txBody>
      </p:sp>
      <p:sp>
        <p:nvSpPr>
          <p:cNvPr id="20" name="">
            <a:extLst xmlns:a="http://schemas.openxmlformats.org/drawingml/2006/main">
              <a:ext uri="{FF2B5EF4-FFF2-40B4-BE49-F238E27FC236}">
                <a16:creationId xmlns:a16="http://schemas.microsoft.com/office/drawing/2014/main" id="{D04359D0-40A4-4ABA-8957-FFF1B78FD945}"/>
              </a:ext>
            </a:extLst>
          </p:cNvPr>
          <p:cNvSpPr>
            <a:spLocks xmlns:a="http://schemas.openxmlformats.org/drawingml/2006/main" noGrp="1"/>
          </p:cNvSpPr>
          <p:nvPr/>
        </p:nvSpPr>
        <p:spPr>
          <a:xfrm xmlns:a="http://schemas.openxmlformats.org/drawingml/2006/main">
            <a:off x="5886450" y="2076450"/>
            <a:ext cx="1276350" cy="1104900"/>
          </a:xfrm>
          <a:prstGeom xmlns:a="http://schemas.openxmlformats.org/drawingml/2006/main" prst="diamond">
            <a:avLst/>
          </a:prstGeom>
          <a:solidFill xmlns:a="http://schemas.openxmlformats.org/drawingml/2006/main">
            <a:srgbClr val="E7EEF4"/>
          </a:solidFill>
          <a:ln xmlns:a="http://schemas.openxmlformats.org/drawingml/2006/main" w="11430">
            <a:solidFill>
              <a:srgbClr val="1F5A7A"/>
            </a:solidFill>
            <a:prstDash val="solid"/>
          </a:ln>
        </p:spPr>
      </p:sp>
      <p:sp>
        <p:nvSpPr>
          <p:cNvPr id="21" name="">
            <a:extLst xmlns:a="http://schemas.openxmlformats.org/drawingml/2006/main">
              <a:ext uri="{FF2B5EF4-FFF2-40B4-BE49-F238E27FC236}">
                <a16:creationId xmlns:a16="http://schemas.microsoft.com/office/drawing/2014/main" id="{5BA6E8FF-30EB-403D-8BE1-8910960A68E9}"/>
              </a:ext>
            </a:extLst>
          </p:cNvPr>
          <p:cNvSpPr>
            <a:spLocks xmlns:a="http://schemas.openxmlformats.org/drawingml/2006/main" noGrp="1"/>
          </p:cNvSpPr>
          <p:nvPr/>
        </p:nvSpPr>
        <p:spPr>
          <a:xfrm xmlns:a="http://schemas.openxmlformats.org/drawingml/2006/main">
            <a:off x="5991225" y="2362200"/>
            <a:ext cx="1066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0F172A"/>
                </a:solidFill>
              </a:defRPr>
            </a:pPr>
            <a:r>
              <a:rPr sz="1200" b="1">
                <a:solidFill>
                  <a:srgbClr val="0F172A"/>
                </a:solidFill>
              </a:rPr>
              <a:t>Evidence</a:t>
            </a:r>
          </a:p>
          <a:p xmlns:a="http://schemas.openxmlformats.org/drawingml/2006/main">
            <a:pPr algn="ctr">
              <a:buNone/>
              <a:defRPr sz="1200" b="1">
                <a:solidFill>
                  <a:srgbClr val="0F172A"/>
                </a:solidFill>
              </a:defRPr>
            </a:pPr>
            <a:r>
              <a:rPr sz="1200" b="1">
                <a:solidFill>
                  <a:srgbClr val="0F172A"/>
                </a:solidFill>
              </a:rPr>
              <a:t>complete?</a:t>
            </a:r>
          </a:p>
        </p:txBody>
      </p:sp>
      <p:sp>
        <p:nvSpPr>
          <p:cNvPr id="22" name="">
            <a:extLst xmlns:a="http://schemas.openxmlformats.org/drawingml/2006/main">
              <a:ext uri="{FF2B5EF4-FFF2-40B4-BE49-F238E27FC236}">
                <a16:creationId xmlns:a16="http://schemas.microsoft.com/office/drawing/2014/main" id="{73A21A85-17BE-4FE5-A061-673601D29F31}"/>
              </a:ext>
            </a:extLst>
          </p:cNvPr>
          <p:cNvSpPr>
            <a:spLocks xmlns:a="http://schemas.openxmlformats.org/drawingml/2006/main" noGrp="1"/>
          </p:cNvSpPr>
          <p:nvPr/>
        </p:nvSpPr>
        <p:spPr>
          <a:xfrm xmlns:a="http://schemas.openxmlformats.org/drawingml/2006/main">
            <a:off x="3562350" y="22479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526174"/>
                </a:solidFill>
              </a:defRPr>
            </a:pPr>
            <a:r>
              <a:rPr sz="1200" b="1">
                <a:solidFill>
                  <a:srgbClr val="526174"/>
                </a:solidFill>
              </a:rPr>
              <a:t>no</a:t>
            </a:r>
          </a:p>
        </p:txBody>
      </p:sp>
      <p:sp>
        <p:nvSpPr>
          <p:cNvPr id="23" name="">
            <a:extLst xmlns:a="http://schemas.openxmlformats.org/drawingml/2006/main">
              <a:ext uri="{FF2B5EF4-FFF2-40B4-BE49-F238E27FC236}">
                <a16:creationId xmlns:a16="http://schemas.microsoft.com/office/drawing/2014/main" id="{A1327364-6007-4F9D-87EF-CFDA47E15BC9}"/>
              </a:ext>
            </a:extLst>
          </p:cNvPr>
          <p:cNvSpPr>
            <a:spLocks xmlns:a="http://schemas.openxmlformats.org/drawingml/2006/main" noGrp="1"/>
          </p:cNvSpPr>
          <p:nvPr/>
        </p:nvSpPr>
        <p:spPr>
          <a:xfrm xmlns:a="http://schemas.openxmlformats.org/drawingml/2006/main">
            <a:off x="5486400" y="22479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526174"/>
                </a:solidFill>
              </a:defRPr>
            </a:pPr>
            <a:r>
              <a:rPr sz="1200" b="1">
                <a:solidFill>
                  <a:srgbClr val="526174"/>
                </a:solidFill>
              </a:rPr>
              <a:t>no</a:t>
            </a:r>
          </a:p>
        </p:txBody>
      </p:sp>
      <p:sp>
        <p:nvSpPr>
          <p:cNvPr id="24" name="">
            <a:extLst xmlns:a="http://schemas.openxmlformats.org/drawingml/2006/main">
              <a:ext uri="{FF2B5EF4-FFF2-40B4-BE49-F238E27FC236}">
                <a16:creationId xmlns:a16="http://schemas.microsoft.com/office/drawing/2014/main" id="{51263DDE-1994-4FCA-9E86-7B71F11993E5}"/>
              </a:ext>
            </a:extLst>
          </p:cNvPr>
          <p:cNvSpPr>
            <a:spLocks xmlns:a="http://schemas.openxmlformats.org/drawingml/2006/main" noGrp="1"/>
          </p:cNvSpPr>
          <p:nvPr/>
        </p:nvSpPr>
        <p:spPr>
          <a:xfrm xmlns:a="http://schemas.openxmlformats.org/drawingml/2006/main">
            <a:off x="7410450" y="22479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526174"/>
                </a:solidFill>
              </a:defRPr>
            </a:pPr>
            <a:r>
              <a:rPr sz="1200" b="1">
                <a:solidFill>
                  <a:srgbClr val="526174"/>
                </a:solidFill>
              </a:rPr>
              <a:t>no</a:t>
            </a:r>
          </a:p>
        </p:txBody>
      </p:sp>
      <p:sp>
        <p:nvSpPr>
          <p:cNvPr id="25" name="">
            <a:extLst xmlns:a="http://schemas.openxmlformats.org/drawingml/2006/main">
              <a:ext uri="{FF2B5EF4-FFF2-40B4-BE49-F238E27FC236}">
                <a16:creationId xmlns:a16="http://schemas.microsoft.com/office/drawing/2014/main" id="{558718BA-9EC3-453C-A9F2-E35D7945EA27}"/>
              </a:ext>
            </a:extLst>
          </p:cNvPr>
          <p:cNvSpPr>
            <a:spLocks xmlns:a="http://schemas.openxmlformats.org/drawingml/2006/main" noGrp="1"/>
          </p:cNvSpPr>
          <p:nvPr/>
        </p:nvSpPr>
        <p:spPr>
          <a:xfrm xmlns:a="http://schemas.openxmlformats.org/drawingml/2006/main">
            <a:off x="2828925" y="32575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A8C82"/>
                </a:solidFill>
              </a:defRPr>
            </a:pPr>
            <a:r>
              <a:rPr sz="1200" b="1">
                <a:solidFill>
                  <a:srgbClr val="2A8C82"/>
                </a:solidFill>
              </a:rPr>
              <a:t>yes</a:t>
            </a:r>
          </a:p>
        </p:txBody>
      </p:sp>
      <p:sp>
        <p:nvSpPr>
          <p:cNvPr id="26" name="">
            <a:extLst xmlns:a="http://schemas.openxmlformats.org/drawingml/2006/main">
              <a:ext uri="{FF2B5EF4-FFF2-40B4-BE49-F238E27FC236}">
                <a16:creationId xmlns:a16="http://schemas.microsoft.com/office/drawing/2014/main" id="{1613C312-C23D-4BBD-BC20-539BB89BF4C5}"/>
              </a:ext>
            </a:extLst>
          </p:cNvPr>
          <p:cNvSpPr>
            <a:spLocks xmlns:a="http://schemas.openxmlformats.org/drawingml/2006/main" noGrp="1"/>
          </p:cNvSpPr>
          <p:nvPr/>
        </p:nvSpPr>
        <p:spPr>
          <a:xfrm xmlns:a="http://schemas.openxmlformats.org/drawingml/2006/main">
            <a:off x="4752975" y="32575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A8C82"/>
                </a:solidFill>
              </a:defRPr>
            </a:pPr>
            <a:r>
              <a:rPr sz="1200" b="1">
                <a:solidFill>
                  <a:srgbClr val="2A8C82"/>
                </a:solidFill>
              </a:rPr>
              <a:t>yes</a:t>
            </a:r>
          </a:p>
        </p:txBody>
      </p:sp>
      <p:sp>
        <p:nvSpPr>
          <p:cNvPr id="27" name="">
            <a:extLst xmlns:a="http://schemas.openxmlformats.org/drawingml/2006/main">
              <a:ext uri="{FF2B5EF4-FFF2-40B4-BE49-F238E27FC236}">
                <a16:creationId xmlns:a16="http://schemas.microsoft.com/office/drawing/2014/main" id="{ED5A6609-CA18-4390-8A74-3B017871116B}"/>
              </a:ext>
            </a:extLst>
          </p:cNvPr>
          <p:cNvSpPr>
            <a:spLocks xmlns:a="http://schemas.openxmlformats.org/drawingml/2006/main" noGrp="1"/>
          </p:cNvSpPr>
          <p:nvPr/>
        </p:nvSpPr>
        <p:spPr>
          <a:xfrm xmlns:a="http://schemas.openxmlformats.org/drawingml/2006/main">
            <a:off x="6677025" y="32575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A8C82"/>
                </a:solidFill>
              </a:defRPr>
            </a:pPr>
            <a:r>
              <a:rPr sz="1200" b="1">
                <a:solidFill>
                  <a:srgbClr val="2A8C82"/>
                </a:solidFill>
              </a:rPr>
              <a:t>yes</a:t>
            </a:r>
          </a:p>
        </p:txBody>
      </p:sp>
      <p:sp>
        <p:nvSpPr>
          <p:cNvPr id="28" name="">
            <a:extLst xmlns:a="http://schemas.openxmlformats.org/drawingml/2006/main">
              <a:ext uri="{FF2B5EF4-FFF2-40B4-BE49-F238E27FC236}">
                <a16:creationId xmlns:a16="http://schemas.microsoft.com/office/drawing/2014/main" id="{EE05702A-0C67-420F-80D9-4479CE0C2442}"/>
              </a:ext>
            </a:extLst>
          </p:cNvPr>
          <p:cNvSpPr>
            <a:spLocks xmlns:a="http://schemas.openxmlformats.org/drawingml/2006/main" noGrp="1"/>
          </p:cNvSpPr>
          <p:nvPr/>
        </p:nvSpPr>
        <p:spPr>
          <a:xfrm xmlns:a="http://schemas.openxmlformats.org/drawingml/2006/main">
            <a:off x="2038350" y="3733800"/>
            <a:ext cx="1676400" cy="1428750"/>
          </a:xfrm>
          <a:prstGeom xmlns:a="http://schemas.openxmlformats.org/drawingml/2006/main" prst="roundRect">
            <a:avLst>
              <a:gd name="adj" fmla="val 9333"/>
            </a:avLst>
          </a:prstGeom>
          <a:solidFill xmlns:a="http://schemas.openxmlformats.org/drawingml/2006/main">
            <a:srgbClr val="DDF2EE"/>
          </a:solidFill>
          <a:ln xmlns:a="http://schemas.openxmlformats.org/drawingml/2006/main" w="9525">
            <a:solidFill>
              <a:srgbClr val="2A8C82"/>
            </a:solidFill>
            <a:prstDash val="solid"/>
          </a:ln>
        </p:spPr>
      </p:sp>
      <p:sp>
        <p:nvSpPr>
          <p:cNvPr id="29" name="">
            <a:extLst xmlns:a="http://schemas.openxmlformats.org/drawingml/2006/main">
              <a:ext uri="{FF2B5EF4-FFF2-40B4-BE49-F238E27FC236}">
                <a16:creationId xmlns:a16="http://schemas.microsoft.com/office/drawing/2014/main" id="{288650ED-888C-4EDF-A74A-FB6D22CD71ED}"/>
              </a:ext>
            </a:extLst>
          </p:cNvPr>
          <p:cNvSpPr>
            <a:spLocks xmlns:a="http://schemas.openxmlformats.org/drawingml/2006/main" noGrp="1"/>
          </p:cNvSpPr>
          <p:nvPr/>
        </p:nvSpPr>
        <p:spPr>
          <a:xfrm xmlns:a="http://schemas.openxmlformats.org/drawingml/2006/main">
            <a:off x="2171700" y="3848100"/>
            <a:ext cx="140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F172A"/>
                </a:solidFill>
              </a:defRPr>
            </a:pPr>
            <a:r>
              <a:rPr sz="1350" b="1">
                <a:solidFill>
                  <a:srgbClr val="0F172A"/>
                </a:solidFill>
              </a:rPr>
              <a:t>Label 0</a:t>
            </a:r>
          </a:p>
        </p:txBody>
      </p:sp>
      <p:sp>
        <p:nvSpPr>
          <p:cNvPr id="30" name="">
            <a:extLst xmlns:a="http://schemas.openxmlformats.org/drawingml/2006/main">
              <a:ext uri="{FF2B5EF4-FFF2-40B4-BE49-F238E27FC236}">
                <a16:creationId xmlns:a16="http://schemas.microsoft.com/office/drawing/2014/main" id="{D6CE71F1-8CB5-4444-950C-8D6B01BB390C}"/>
              </a:ext>
            </a:extLst>
          </p:cNvPr>
          <p:cNvSpPr>
            <a:spLocks xmlns:a="http://schemas.openxmlformats.org/drawingml/2006/main" noGrp="1"/>
          </p:cNvSpPr>
          <p:nvPr/>
        </p:nvSpPr>
        <p:spPr>
          <a:xfrm xmlns:a="http://schemas.openxmlformats.org/drawingml/2006/main">
            <a:off x="2171700" y="4438650"/>
            <a:ext cx="1409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wrong value /</a:t>
            </a:r>
          </a:p>
          <a:p xmlns:a="http://schemas.openxmlformats.org/drawingml/2006/main">
            <a:pPr algn="ctr">
              <a:buNone/>
              <a:defRPr sz="1200" b="0">
                <a:solidFill>
                  <a:srgbClr val="526174"/>
                </a:solidFill>
              </a:defRPr>
            </a:pPr>
            <a:r>
              <a:rPr sz="1200" b="0">
                <a:solidFill>
                  <a:srgbClr val="526174"/>
                </a:solidFill>
              </a:rPr>
              <a:t>relation / claim</a:t>
            </a:r>
          </a:p>
        </p:txBody>
      </p:sp>
      <p:sp>
        <p:nvSpPr>
          <p:cNvPr id="31" name="">
            <a:extLst xmlns:a="http://schemas.openxmlformats.org/drawingml/2006/main">
              <a:ext uri="{FF2B5EF4-FFF2-40B4-BE49-F238E27FC236}">
                <a16:creationId xmlns:a16="http://schemas.microsoft.com/office/drawing/2014/main" id="{0F415C97-59F0-476F-B107-0AA5D8405279}"/>
              </a:ext>
            </a:extLst>
          </p:cNvPr>
          <p:cNvSpPr>
            <a:spLocks xmlns:a="http://schemas.openxmlformats.org/drawingml/2006/main" noGrp="1"/>
          </p:cNvSpPr>
          <p:nvPr/>
        </p:nvSpPr>
        <p:spPr>
          <a:xfrm xmlns:a="http://schemas.openxmlformats.org/drawingml/2006/main">
            <a:off x="3962400" y="3733800"/>
            <a:ext cx="1676400" cy="1428750"/>
          </a:xfrm>
          <a:prstGeom xmlns:a="http://schemas.openxmlformats.org/drawingml/2006/main" prst="roundRect">
            <a:avLst>
              <a:gd name="adj" fmla="val 9333"/>
            </a:avLst>
          </a:prstGeom>
          <a:solidFill xmlns:a="http://schemas.openxmlformats.org/drawingml/2006/main">
            <a:srgbClr val="DDF2EE"/>
          </a:solidFill>
          <a:ln xmlns:a="http://schemas.openxmlformats.org/drawingml/2006/main" w="9525">
            <a:solidFill>
              <a:srgbClr val="2A8C82"/>
            </a:solidFill>
            <a:prstDash val="solid"/>
          </a:ln>
        </p:spPr>
      </p:sp>
      <p:sp>
        <p:nvSpPr>
          <p:cNvPr id="32" name="">
            <a:extLst xmlns:a="http://schemas.openxmlformats.org/drawingml/2006/main">
              <a:ext uri="{FF2B5EF4-FFF2-40B4-BE49-F238E27FC236}">
                <a16:creationId xmlns:a16="http://schemas.microsoft.com/office/drawing/2014/main" id="{73FD6DAE-0D6D-4490-AC83-0B81E2F0F129}"/>
              </a:ext>
            </a:extLst>
          </p:cNvPr>
          <p:cNvSpPr>
            <a:spLocks xmlns:a="http://schemas.openxmlformats.org/drawingml/2006/main" noGrp="1"/>
          </p:cNvSpPr>
          <p:nvPr/>
        </p:nvSpPr>
        <p:spPr>
          <a:xfrm xmlns:a="http://schemas.openxmlformats.org/drawingml/2006/main">
            <a:off x="4095750" y="3848100"/>
            <a:ext cx="140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F172A"/>
                </a:solidFill>
              </a:defRPr>
            </a:pPr>
            <a:r>
              <a:rPr sz="1350" b="1">
                <a:solidFill>
                  <a:srgbClr val="0F172A"/>
                </a:solidFill>
              </a:rPr>
              <a:t>Label 1</a:t>
            </a:r>
          </a:p>
        </p:txBody>
      </p:sp>
      <p:sp>
        <p:nvSpPr>
          <p:cNvPr id="33" name="">
            <a:extLst xmlns:a="http://schemas.openxmlformats.org/drawingml/2006/main">
              <a:ext uri="{FF2B5EF4-FFF2-40B4-BE49-F238E27FC236}">
                <a16:creationId xmlns:a16="http://schemas.microsoft.com/office/drawing/2014/main" id="{37360508-0719-4A8D-9580-68C0CF5158BA}"/>
              </a:ext>
            </a:extLst>
          </p:cNvPr>
          <p:cNvSpPr>
            <a:spLocks xmlns:a="http://schemas.openxmlformats.org/drawingml/2006/main" noGrp="1"/>
          </p:cNvSpPr>
          <p:nvPr/>
        </p:nvSpPr>
        <p:spPr>
          <a:xfrm xmlns:a="http://schemas.openxmlformats.org/drawingml/2006/main">
            <a:off x="4095750" y="4438650"/>
            <a:ext cx="1409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all factual claims</a:t>
            </a:r>
          </a:p>
          <a:p xmlns:a="http://schemas.openxmlformats.org/drawingml/2006/main">
            <a:pPr algn="ctr">
              <a:buNone/>
              <a:defRPr sz="1200" b="0">
                <a:solidFill>
                  <a:srgbClr val="526174"/>
                </a:solidFill>
              </a:defRPr>
            </a:pPr>
            <a:r>
              <a:rPr sz="1200" b="0">
                <a:solidFill>
                  <a:srgbClr val="526174"/>
                </a:solidFill>
              </a:rPr>
              <a:t>supported</a:t>
            </a:r>
          </a:p>
        </p:txBody>
      </p:sp>
      <p:sp>
        <p:nvSpPr>
          <p:cNvPr id="34" name="">
            <a:extLst xmlns:a="http://schemas.openxmlformats.org/drawingml/2006/main">
              <a:ext uri="{FF2B5EF4-FFF2-40B4-BE49-F238E27FC236}">
                <a16:creationId xmlns:a16="http://schemas.microsoft.com/office/drawing/2014/main" id="{35727961-A64C-46A8-B5AD-4D3DB00E40E6}"/>
              </a:ext>
            </a:extLst>
          </p:cNvPr>
          <p:cNvSpPr>
            <a:spLocks xmlns:a="http://schemas.openxmlformats.org/drawingml/2006/main" noGrp="1"/>
          </p:cNvSpPr>
          <p:nvPr/>
        </p:nvSpPr>
        <p:spPr>
          <a:xfrm xmlns:a="http://schemas.openxmlformats.org/drawingml/2006/main">
            <a:off x="5886450" y="3733800"/>
            <a:ext cx="1676400" cy="1428750"/>
          </a:xfrm>
          <a:prstGeom xmlns:a="http://schemas.openxmlformats.org/drawingml/2006/main" prst="roundRect">
            <a:avLst>
              <a:gd name="adj" fmla="val 9333"/>
            </a:avLst>
          </a:prstGeom>
          <a:solidFill xmlns:a="http://schemas.openxmlformats.org/drawingml/2006/main">
            <a:srgbClr val="FBF0D8"/>
          </a:solidFill>
          <a:ln xmlns:a="http://schemas.openxmlformats.org/drawingml/2006/main" w="9525">
            <a:solidFill>
              <a:srgbClr val="D59B32"/>
            </a:solidFill>
            <a:prstDash val="solid"/>
          </a:ln>
        </p:spPr>
      </p:sp>
      <p:sp>
        <p:nvSpPr>
          <p:cNvPr id="35" name="">
            <a:extLst xmlns:a="http://schemas.openxmlformats.org/drawingml/2006/main">
              <a:ext uri="{FF2B5EF4-FFF2-40B4-BE49-F238E27FC236}">
                <a16:creationId xmlns:a16="http://schemas.microsoft.com/office/drawing/2014/main" id="{B6A9D03F-EA33-4C78-B06B-A80E5E9B1CE8}"/>
              </a:ext>
            </a:extLst>
          </p:cNvPr>
          <p:cNvSpPr>
            <a:spLocks xmlns:a="http://schemas.openxmlformats.org/drawingml/2006/main" noGrp="1"/>
          </p:cNvSpPr>
          <p:nvPr/>
        </p:nvSpPr>
        <p:spPr>
          <a:xfrm xmlns:a="http://schemas.openxmlformats.org/drawingml/2006/main">
            <a:off x="6019800" y="3848100"/>
            <a:ext cx="140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F172A"/>
                </a:solidFill>
              </a:defRPr>
            </a:pPr>
            <a:r>
              <a:rPr sz="1350" b="1">
                <a:solidFill>
                  <a:srgbClr val="0F172A"/>
                </a:solidFill>
              </a:rPr>
              <a:t>Typed</a:t>
            </a:r>
          </a:p>
          <a:p xmlns:a="http://schemas.openxmlformats.org/drawingml/2006/main">
            <a:pPr algn="ctr">
              <a:buNone/>
              <a:defRPr sz="1350" b="1">
                <a:solidFill>
                  <a:srgbClr val="0F172A"/>
                </a:solidFill>
              </a:defRPr>
            </a:pPr>
            <a:r>
              <a:rPr sz="1350" b="1">
                <a:solidFill>
                  <a:srgbClr val="0F172A"/>
                </a:solidFill>
              </a:rPr>
              <a:t>verdict</a:t>
            </a:r>
          </a:p>
        </p:txBody>
      </p:sp>
      <p:sp>
        <p:nvSpPr>
          <p:cNvPr id="36" name="">
            <a:extLst xmlns:a="http://schemas.openxmlformats.org/drawingml/2006/main">
              <a:ext uri="{FF2B5EF4-FFF2-40B4-BE49-F238E27FC236}">
                <a16:creationId xmlns:a16="http://schemas.microsoft.com/office/drawing/2014/main" id="{DD58D856-F908-4FE3-988D-1F310A84837F}"/>
              </a:ext>
            </a:extLst>
          </p:cNvPr>
          <p:cNvSpPr>
            <a:spLocks xmlns:a="http://schemas.openxmlformats.org/drawingml/2006/main" noGrp="1"/>
          </p:cNvSpPr>
          <p:nvPr/>
        </p:nvSpPr>
        <p:spPr>
          <a:xfrm xmlns:a="http://schemas.openxmlformats.org/drawingml/2006/main">
            <a:off x="6019800" y="4438650"/>
            <a:ext cx="1409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entity + predicate</a:t>
            </a:r>
          </a:p>
          <a:p xmlns:a="http://schemas.openxmlformats.org/drawingml/2006/main">
            <a:pPr algn="ctr">
              <a:buNone/>
              <a:defRPr sz="1200" b="0">
                <a:solidFill>
                  <a:srgbClr val="526174"/>
                </a:solidFill>
              </a:defRPr>
            </a:pPr>
            <a:r>
              <a:rPr sz="1200" b="0">
                <a:solidFill>
                  <a:srgbClr val="526174"/>
                </a:solidFill>
              </a:rPr>
              <a:t>value + provenance</a:t>
            </a:r>
          </a:p>
        </p:txBody>
      </p:sp>
      <p:sp>
        <p:nvSpPr>
          <p:cNvPr id="37" name="">
            <a:extLst xmlns:a="http://schemas.openxmlformats.org/drawingml/2006/main">
              <a:ext uri="{FF2B5EF4-FFF2-40B4-BE49-F238E27FC236}">
                <a16:creationId xmlns:a16="http://schemas.microsoft.com/office/drawing/2014/main" id="{54ECC40C-34ED-4F4F-9CAE-A63396500667}"/>
              </a:ext>
            </a:extLst>
          </p:cNvPr>
          <p:cNvSpPr>
            <a:spLocks xmlns:a="http://schemas.openxmlformats.org/drawingml/2006/main" noGrp="1"/>
          </p:cNvSpPr>
          <p:nvPr/>
        </p:nvSpPr>
        <p:spPr>
          <a:xfrm xmlns:a="http://schemas.openxmlformats.org/drawingml/2006/main">
            <a:off x="7810500" y="2209800"/>
            <a:ext cx="13716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6D63C5D2-571E-4814-BCD7-119021C6703F}"/>
              </a:ext>
            </a:extLst>
          </p:cNvPr>
          <p:cNvSpPr>
            <a:spLocks xmlns:a="http://schemas.openxmlformats.org/drawingml/2006/main" noGrp="1"/>
          </p:cNvSpPr>
          <p:nvPr/>
        </p:nvSpPr>
        <p:spPr>
          <a:xfrm xmlns:a="http://schemas.openxmlformats.org/drawingml/2006/main">
            <a:off x="7924800" y="23431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D59B32"/>
                </a:solidFill>
              </a:defRPr>
            </a:pPr>
            <a:r>
              <a:rPr sz="1350" b="1">
                <a:solidFill>
                  <a:srgbClr val="D59B32"/>
                </a:solidFill>
              </a:rPr>
              <a:t>Abstain</a:t>
            </a:r>
          </a:p>
        </p:txBody>
      </p:sp>
      <p:sp>
        <p:nvSpPr>
          <p:cNvPr id="39" name="">
            <a:extLst xmlns:a="http://schemas.openxmlformats.org/drawingml/2006/main">
              <a:ext uri="{FF2B5EF4-FFF2-40B4-BE49-F238E27FC236}">
                <a16:creationId xmlns:a16="http://schemas.microsoft.com/office/drawing/2014/main" id="{B0CF0BF7-017A-47DE-9258-A0FA95711CA1}"/>
              </a:ext>
            </a:extLst>
          </p:cNvPr>
          <p:cNvSpPr>
            <a:spLocks xmlns:a="http://schemas.openxmlformats.org/drawingml/2006/main" noGrp="1"/>
          </p:cNvSpPr>
          <p:nvPr/>
        </p:nvSpPr>
        <p:spPr>
          <a:xfrm xmlns:a="http://schemas.openxmlformats.org/drawingml/2006/main">
            <a:off x="7924800" y="2638425"/>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uncertain</a:t>
            </a:r>
          </a:p>
        </p:txBody>
      </p:sp>
      <p:sp>
        <p:nvSpPr>
          <p:cNvPr id="40" name="">
            <a:extLst xmlns:a="http://schemas.openxmlformats.org/drawingml/2006/main">
              <a:ext uri="{FF2B5EF4-FFF2-40B4-BE49-F238E27FC236}">
                <a16:creationId xmlns:a16="http://schemas.microsoft.com/office/drawing/2014/main" id="{DB69F0D2-2055-4FD8-81D1-473530B16FE0}"/>
              </a:ext>
            </a:extLst>
          </p:cNvPr>
          <p:cNvSpPr>
            <a:spLocks xmlns:a="http://schemas.openxmlformats.org/drawingml/2006/main" noGrp="1"/>
          </p:cNvSpPr>
          <p:nvPr/>
        </p:nvSpPr>
        <p:spPr>
          <a:xfrm xmlns:a="http://schemas.openxmlformats.org/drawingml/2006/main">
            <a:off x="9601200" y="2076450"/>
            <a:ext cx="1676400" cy="1104900"/>
          </a:xfrm>
          <a:prstGeom xmlns:a="http://schemas.openxmlformats.org/drawingml/2006/main" prst="roundRect">
            <a:avLst>
              <a:gd name="adj" fmla="val 13793"/>
            </a:avLst>
          </a:prstGeom>
          <a:solidFill xmlns:a="http://schemas.openxmlformats.org/drawingml/2006/main">
            <a:srgbClr val="FBF0D8"/>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46A7AE90-E3ED-4CBF-A7F6-1F6523577072}"/>
              </a:ext>
            </a:extLst>
          </p:cNvPr>
          <p:cNvSpPr>
            <a:spLocks xmlns:a="http://schemas.openxmlformats.org/drawingml/2006/main" noGrp="1"/>
          </p:cNvSpPr>
          <p:nvPr/>
        </p:nvSpPr>
        <p:spPr>
          <a:xfrm xmlns:a="http://schemas.openxmlformats.org/drawingml/2006/main">
            <a:off x="9772650" y="231457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D59B32"/>
                </a:solidFill>
              </a:defRPr>
            </a:pPr>
            <a:r>
              <a:rPr sz="1500" b="1">
                <a:solidFill>
                  <a:srgbClr val="D59B32"/>
                </a:solidFill>
              </a:rPr>
              <a:t>LLM judge</a:t>
            </a:r>
          </a:p>
        </p:txBody>
      </p:sp>
      <p:sp>
        <p:nvSpPr>
          <p:cNvPr id="42" name="">
            <a:extLst xmlns:a="http://schemas.openxmlformats.org/drawingml/2006/main">
              <a:ext uri="{FF2B5EF4-FFF2-40B4-BE49-F238E27FC236}">
                <a16:creationId xmlns:a16="http://schemas.microsoft.com/office/drawing/2014/main" id="{A42723E5-DD2F-42AC-AEF8-819A612D311A}"/>
              </a:ext>
            </a:extLst>
          </p:cNvPr>
          <p:cNvSpPr>
            <a:spLocks xmlns:a="http://schemas.openxmlformats.org/drawingml/2006/main" noGrp="1"/>
          </p:cNvSpPr>
          <p:nvPr/>
        </p:nvSpPr>
        <p:spPr>
          <a:xfrm xmlns:a="http://schemas.openxmlformats.org/drawingml/2006/main">
            <a:off x="9791700" y="268605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unresolved</a:t>
            </a:r>
          </a:p>
        </p:txBody>
      </p:sp>
      <p:sp>
        <p:nvSpPr>
          <p:cNvPr id="43" name="">
            <a:extLst xmlns:a="http://schemas.openxmlformats.org/drawingml/2006/main">
              <a:ext uri="{FF2B5EF4-FFF2-40B4-BE49-F238E27FC236}">
                <a16:creationId xmlns:a16="http://schemas.microsoft.com/office/drawing/2014/main" id="{6D222451-F7BC-4BAB-BABB-E10DCB7F95D1}"/>
              </a:ext>
            </a:extLst>
          </p:cNvPr>
          <p:cNvSpPr>
            <a:spLocks xmlns:a="http://schemas.openxmlformats.org/drawingml/2006/main" noGrp="1"/>
          </p:cNvSpPr>
          <p:nvPr/>
        </p:nvSpPr>
        <p:spPr>
          <a:xfrm xmlns:a="http://schemas.openxmlformats.org/drawingml/2006/main">
            <a:off x="1562100" y="5391150"/>
            <a:ext cx="9067800" cy="590550"/>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9525">
            <a:solidFill>
              <a:srgbClr val="D8E0EA"/>
            </a:solidFill>
            <a:prstDash val="solid"/>
          </a:ln>
        </p:spPr>
      </p:sp>
      <p:sp>
        <p:nvSpPr>
          <p:cNvPr id="44" name="">
            <a:extLst xmlns:a="http://schemas.openxmlformats.org/drawingml/2006/main">
              <a:ext uri="{FF2B5EF4-FFF2-40B4-BE49-F238E27FC236}">
                <a16:creationId xmlns:a16="http://schemas.microsoft.com/office/drawing/2014/main" id="{D10C1A1C-5300-4A4E-BF97-B162438F21E0}"/>
              </a:ext>
            </a:extLst>
          </p:cNvPr>
          <p:cNvSpPr>
            <a:spLocks xmlns:a="http://schemas.openxmlformats.org/drawingml/2006/main" noGrp="1"/>
          </p:cNvSpPr>
          <p:nvPr/>
        </p:nvSpPr>
        <p:spPr>
          <a:xfrm xmlns:a="http://schemas.openxmlformats.org/drawingml/2006/main">
            <a:off x="1790700" y="55530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F5A7A"/>
                </a:solidFill>
              </a:defRPr>
            </a:pPr>
            <a:r>
              <a:rPr sz="1350" b="1">
                <a:solidFill>
                  <a:srgbClr val="1F5A7A"/>
                </a:solidFill>
              </a:rPr>
              <a:t>Precedence contract</a:t>
            </a:r>
          </a:p>
        </p:txBody>
      </p:sp>
      <p:sp>
        <p:nvSpPr>
          <p:cNvPr id="45" name="">
            <a:extLst xmlns:a="http://schemas.openxmlformats.org/drawingml/2006/main">
              <a:ext uri="{FF2B5EF4-FFF2-40B4-BE49-F238E27FC236}">
                <a16:creationId xmlns:a16="http://schemas.microsoft.com/office/drawing/2014/main" id="{128EBB01-95D5-4B32-BACF-C6ABE50B4FFD}"/>
              </a:ext>
            </a:extLst>
          </p:cNvPr>
          <p:cNvSpPr>
            <a:spLocks xmlns:a="http://schemas.openxmlformats.org/drawingml/2006/main" noGrp="1"/>
          </p:cNvSpPr>
          <p:nvPr/>
        </p:nvSpPr>
        <p:spPr>
          <a:xfrm xmlns:a="http://schemas.openxmlformats.org/drawingml/2006/main">
            <a:off x="3562350" y="5553075"/>
            <a:ext cx="674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F172A"/>
                </a:solidFill>
              </a:defRPr>
            </a:pPr>
            <a:r>
              <a:rPr sz="1350" b="0">
                <a:solidFill>
                  <a:srgbClr val="0F172A"/>
                </a:solidFill>
              </a:rPr>
              <a:t>contradiction → 0; complete support → 1; exact typed evidence may decide; otherwise null → judge</a:t>
            </a:r>
          </a:p>
        </p:txBody>
      </p:sp>
      <p:sp>
        <p:nvSpPr>
          <p:cNvPr id="46" name="">
            <a:extLst xmlns:a="http://schemas.openxmlformats.org/drawingml/2006/main">
              <a:ext uri="{FF2B5EF4-FFF2-40B4-BE49-F238E27FC236}">
                <a16:creationId xmlns:a16="http://schemas.microsoft.com/office/drawing/2014/main" id="{D229B867-44D1-47ED-B0A8-16AB8F4EFBF1}"/>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7" name="source-4">
            <a:extLst xmlns:a="http://schemas.openxmlformats.org/drawingml/2006/main">
              <a:ext uri="{FF2B5EF4-FFF2-40B4-BE49-F238E27FC236}">
                <a16:creationId xmlns:a16="http://schemas.microsoft.com/office/drawing/2014/main" id="{30A32FBD-7239-42BE-A526-C57BC5392971}"/>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[7] v91 router, conflict audit, and decision trace</a:t>
            </a:r>
          </a:p>
        </p:txBody>
      </p:sp>
      <p:sp>
        <p:nvSpPr>
          <p:cNvPr id="48" name="page-4">
            <a:extLst xmlns:a="http://schemas.openxmlformats.org/drawingml/2006/main">
              <a:ext uri="{FF2B5EF4-FFF2-40B4-BE49-F238E27FC236}">
                <a16:creationId xmlns:a16="http://schemas.microsoft.com/office/drawing/2014/main" id="{C2A1892B-BBE5-435E-BBA7-2ECD4120E2B4}"/>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17</a:t>
            </a:r>
          </a:p>
        </p:txBody>
      </p:sp>
    </p:spTree>
    <p:extLst>
      <p:ext uri="{BB962C8B-B14F-4D97-AF65-F5344CB8AC3E}">
        <p14:creationId xmlns:p14="http://schemas.microsoft.com/office/powerpoint/2010/main" val="471816339"/>
      </p:ext>
    </p:extLst>
  </p:cSld>
</p:sld>
</file>

<file path=ppt/slides/slide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3" name="kicker-9">
            <a:extLst xmlns:a="http://schemas.openxmlformats.org/drawingml/2006/main">
              <a:ext uri="{FF2B5EF4-FFF2-40B4-BE49-F238E27FC236}">
                <a16:creationId xmlns:a16="http://schemas.microsoft.com/office/drawing/2014/main" id="{FD4F8904-FDEF-425C-BF0E-468CED389002}"/>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TECHNICAL APPENDIX</a:t>
            </a:r>
          </a:p>
        </p:txBody>
      </p:sp>
      <p:sp>
        <p:nvSpPr>
          <p:cNvPr id="2" name="title-9">
            <a:extLst xmlns:a="http://schemas.openxmlformats.org/drawingml/2006/main">
              <a:ext uri="{FF2B5EF4-FFF2-40B4-BE49-F238E27FC236}">
                <a16:creationId xmlns:a16="http://schemas.microsoft.com/office/drawing/2014/main" id="{E7EB26C2-5775-4AB0-B293-137EBE47D67F}"/>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One trace exposes the exact reason behind a verdict</a:t>
            </a:r>
          </a:p>
        </p:txBody>
      </p:sp>
      <p:sp>
        <p:nvSpPr>
          <p:cNvPr id="3" name="">
            <a:extLst xmlns:a="http://schemas.openxmlformats.org/drawingml/2006/main">
              <a:ext uri="{FF2B5EF4-FFF2-40B4-BE49-F238E27FC236}">
                <a16:creationId xmlns:a16="http://schemas.microsoft.com/office/drawing/2014/main" id="{A0EB5D59-35D0-4815-A45D-5AAAE1E342F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4B259D92-7CD9-41EC-A78E-9D9F608D8939}"/>
              </a:ext>
            </a:extLst>
          </p:cNvPr>
          <p:cNvSpPr>
            <a:spLocks xmlns:a="http://schemas.openxmlformats.org/drawingml/2006/main" noGrp="1"/>
          </p:cNvSpPr>
          <p:nvPr/>
        </p:nvSpPr>
        <p:spPr>
          <a:xfrm xmlns:a="http://schemas.openxmlformats.org/drawingml/2006/main">
            <a:off x="685800" y="138112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26174"/>
                </a:solidFill>
              </a:defRPr>
            </a:pPr>
            <a:r>
              <a:rPr sz="1575" b="0">
                <a:solidFill>
                  <a:srgbClr val="526174"/>
                </a:solidFill>
              </a:rPr>
              <a:t>Released example: the response names the film when the prompt asks for its release year.</a:t>
            </a:r>
          </a:p>
        </p:txBody>
      </p:sp>
      <p:sp>
        <p:nvSpPr>
          <p:cNvPr id="5" name="">
            <a:extLst xmlns:a="http://schemas.openxmlformats.org/drawingml/2006/main">
              <a:ext uri="{FF2B5EF4-FFF2-40B4-BE49-F238E27FC236}">
                <a16:creationId xmlns:a16="http://schemas.microsoft.com/office/drawing/2014/main" id="{BFFB90A3-84FF-4531-9E8F-5C8823A440B2}"/>
              </a:ext>
            </a:extLst>
          </p:cNvPr>
          <p:cNvSpPr>
            <a:spLocks xmlns:a="http://schemas.openxmlformats.org/drawingml/2006/main" noGrp="1"/>
          </p:cNvSpPr>
          <p:nvPr/>
        </p:nvSpPr>
        <p:spPr>
          <a:xfrm xmlns:a="http://schemas.openxmlformats.org/drawingml/2006/main">
            <a:off x="3276600" y="3352800"/>
            <a:ext cx="590550"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6" name="">
            <a:extLst xmlns:a="http://schemas.openxmlformats.org/drawingml/2006/main">
              <a:ext uri="{FF2B5EF4-FFF2-40B4-BE49-F238E27FC236}">
                <a16:creationId xmlns:a16="http://schemas.microsoft.com/office/drawing/2014/main" id="{9D837823-B34C-463A-AEF5-2C921A493580}"/>
              </a:ext>
            </a:extLst>
          </p:cNvPr>
          <p:cNvSpPr>
            <a:spLocks xmlns:a="http://schemas.openxmlformats.org/drawingml/2006/main" noGrp="1"/>
          </p:cNvSpPr>
          <p:nvPr/>
        </p:nvSpPr>
        <p:spPr>
          <a:xfrm xmlns:a="http://schemas.openxmlformats.org/drawingml/2006/main">
            <a:off x="7810500" y="3352800"/>
            <a:ext cx="590550"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7" name="">
            <a:extLst xmlns:a="http://schemas.openxmlformats.org/drawingml/2006/main">
              <a:ext uri="{FF2B5EF4-FFF2-40B4-BE49-F238E27FC236}">
                <a16:creationId xmlns:a16="http://schemas.microsoft.com/office/drawing/2014/main" id="{3798B6E4-865C-4753-B194-8506BC670E34}"/>
              </a:ext>
            </a:extLst>
          </p:cNvPr>
          <p:cNvSpPr>
            <a:spLocks xmlns:a="http://schemas.openxmlformats.org/drawingml/2006/main" noGrp="1"/>
          </p:cNvSpPr>
          <p:nvPr/>
        </p:nvSpPr>
        <p:spPr>
          <a:xfrm xmlns:a="http://schemas.openxmlformats.org/drawingml/2006/main">
            <a:off x="781050" y="2076450"/>
            <a:ext cx="2590800" cy="31051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1F5A7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4C73B597-FD6E-4FAC-B210-7B5DCF4C5936}"/>
              </a:ext>
            </a:extLst>
          </p:cNvPr>
          <p:cNvSpPr>
            <a:spLocks xmlns:a="http://schemas.openxmlformats.org/drawingml/2006/main" noGrp="1"/>
          </p:cNvSpPr>
          <p:nvPr/>
        </p:nvSpPr>
        <p:spPr>
          <a:xfrm xmlns:a="http://schemas.openxmlformats.org/drawingml/2006/main">
            <a:off x="1066800" y="2247900"/>
            <a:ext cx="2019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F5A7A"/>
                </a:solidFill>
              </a:defRPr>
            </a:pPr>
            <a:r>
              <a:rPr sz="1575" b="1">
                <a:solidFill>
                  <a:srgbClr val="1F5A7A"/>
                </a:solidFill>
              </a:rPr>
              <a:t>Released row</a:t>
            </a:r>
          </a:p>
          <a:p xmlns:a="http://schemas.openxmlformats.org/drawingml/2006/main">
            <a:pPr algn="ctr">
              <a:buNone/>
              <a:defRPr sz="1575" b="1">
                <a:solidFill>
                  <a:srgbClr val="1F5A7A"/>
                </a:solidFill>
              </a:defRPr>
            </a:pPr>
            <a:r>
              <a:rPr sz="1575" b="1">
                <a:solidFill>
                  <a:srgbClr val="1F5A7A"/>
                </a:solidFill>
              </a:rPr>
              <a:t>trace</a:t>
            </a:r>
          </a:p>
        </p:txBody>
      </p:sp>
      <p:sp>
        <p:nvSpPr>
          <p:cNvPr id="9" name="">
            <a:extLst xmlns:a="http://schemas.openxmlformats.org/drawingml/2006/main">
              <a:ext uri="{FF2B5EF4-FFF2-40B4-BE49-F238E27FC236}">
                <a16:creationId xmlns:a16="http://schemas.microsoft.com/office/drawing/2014/main" id="{8E0C503D-8A45-449A-9505-15B7FDE62E5F}"/>
              </a:ext>
            </a:extLst>
          </p:cNvPr>
          <p:cNvSpPr>
            <a:spLocks xmlns:a="http://schemas.openxmlformats.org/drawingml/2006/main" noGrp="1"/>
          </p:cNvSpPr>
          <p:nvPr/>
        </p:nvSpPr>
        <p:spPr>
          <a:xfrm xmlns:a="http://schemas.openxmlformats.org/drawingml/2006/main">
            <a:off x="971550" y="2781300"/>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example</a:t>
            </a:r>
          </a:p>
        </p:txBody>
      </p:sp>
      <p:sp>
        <p:nvSpPr>
          <p:cNvPr id="10" name="">
            <a:extLst xmlns:a="http://schemas.openxmlformats.org/drawingml/2006/main">
              <a:ext uri="{FF2B5EF4-FFF2-40B4-BE49-F238E27FC236}">
                <a16:creationId xmlns:a16="http://schemas.microsoft.com/office/drawing/2014/main" id="{A3CD7114-594C-4C21-B564-93FDD58C0458}"/>
              </a:ext>
            </a:extLst>
          </p:cNvPr>
          <p:cNvSpPr>
            <a:spLocks xmlns:a="http://schemas.openxmlformats.org/drawingml/2006/main" noGrp="1"/>
          </p:cNvSpPr>
          <p:nvPr/>
        </p:nvSpPr>
        <p:spPr>
          <a:xfrm xmlns:a="http://schemas.openxmlformats.org/drawingml/2006/main">
            <a:off x="2114550" y="27813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sample 4</a:t>
            </a:r>
          </a:p>
        </p:txBody>
      </p:sp>
      <p:sp>
        <p:nvSpPr>
          <p:cNvPr id="11" name="">
            <a:extLst xmlns:a="http://schemas.openxmlformats.org/drawingml/2006/main">
              <a:ext uri="{FF2B5EF4-FFF2-40B4-BE49-F238E27FC236}">
                <a16:creationId xmlns:a16="http://schemas.microsoft.com/office/drawing/2014/main" id="{037399B5-B7E8-4AE0-A434-341B6DF5B1F4}"/>
              </a:ext>
            </a:extLst>
          </p:cNvPr>
          <p:cNvSpPr>
            <a:spLocks xmlns:a="http://schemas.openxmlformats.org/drawingml/2006/main" noGrp="1"/>
          </p:cNvSpPr>
          <p:nvPr/>
        </p:nvSpPr>
        <p:spPr>
          <a:xfrm xmlns:a="http://schemas.openxmlformats.org/drawingml/2006/main">
            <a:off x="971550" y="3143250"/>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family</a:t>
            </a:r>
          </a:p>
        </p:txBody>
      </p:sp>
      <p:sp>
        <p:nvSpPr>
          <p:cNvPr id="12" name="">
            <a:extLst xmlns:a="http://schemas.openxmlformats.org/drawingml/2006/main">
              <a:ext uri="{FF2B5EF4-FFF2-40B4-BE49-F238E27FC236}">
                <a16:creationId xmlns:a16="http://schemas.microsoft.com/office/drawing/2014/main" id="{539C45A1-5AD9-4752-A7C2-F8C7F5A11A0B}"/>
              </a:ext>
            </a:extLst>
          </p:cNvPr>
          <p:cNvSpPr>
            <a:spLocks xmlns:a="http://schemas.openxmlformats.org/drawingml/2006/main" noGrp="1"/>
          </p:cNvSpPr>
          <p:nvPr/>
        </p:nvSpPr>
        <p:spPr>
          <a:xfrm xmlns:a="http://schemas.openxmlformats.org/drawingml/2006/main">
            <a:off x="2114550" y="3143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context row</a:t>
            </a:r>
          </a:p>
        </p:txBody>
      </p:sp>
      <p:sp>
        <p:nvSpPr>
          <p:cNvPr id="13" name="">
            <a:extLst xmlns:a="http://schemas.openxmlformats.org/drawingml/2006/main">
              <a:ext uri="{FF2B5EF4-FFF2-40B4-BE49-F238E27FC236}">
                <a16:creationId xmlns:a16="http://schemas.microsoft.com/office/drawing/2014/main" id="{31D9D124-62F9-4D2C-BEBD-08F87079FD45}"/>
              </a:ext>
            </a:extLst>
          </p:cNvPr>
          <p:cNvSpPr>
            <a:spLocks xmlns:a="http://schemas.openxmlformats.org/drawingml/2006/main" noGrp="1"/>
          </p:cNvSpPr>
          <p:nvPr/>
        </p:nvSpPr>
        <p:spPr>
          <a:xfrm xmlns:a="http://schemas.openxmlformats.org/drawingml/2006/main">
            <a:off x="971550" y="3505200"/>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entity</a:t>
            </a:r>
          </a:p>
        </p:txBody>
      </p:sp>
      <p:sp>
        <p:nvSpPr>
          <p:cNvPr id="14" name="">
            <a:extLst xmlns:a="http://schemas.openxmlformats.org/drawingml/2006/main">
              <a:ext uri="{FF2B5EF4-FFF2-40B4-BE49-F238E27FC236}">
                <a16:creationId xmlns:a16="http://schemas.microsoft.com/office/drawing/2014/main" id="{26578B0F-E77B-41E4-BCB1-B7966D4397CA}"/>
              </a:ext>
            </a:extLst>
          </p:cNvPr>
          <p:cNvSpPr>
            <a:spLocks xmlns:a="http://schemas.openxmlformats.org/drawingml/2006/main" noGrp="1"/>
          </p:cNvSpPr>
          <p:nvPr/>
        </p:nvSpPr>
        <p:spPr>
          <a:xfrm xmlns:a="http://schemas.openxmlformats.org/drawingml/2006/main">
            <a:off x="2114550" y="35052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Tareque Masud</a:t>
            </a:r>
          </a:p>
        </p:txBody>
      </p:sp>
      <p:sp>
        <p:nvSpPr>
          <p:cNvPr id="15" name="">
            <a:extLst xmlns:a="http://schemas.openxmlformats.org/drawingml/2006/main">
              <a:ext uri="{FF2B5EF4-FFF2-40B4-BE49-F238E27FC236}">
                <a16:creationId xmlns:a16="http://schemas.microsoft.com/office/drawing/2014/main" id="{6110DCF0-0612-42C6-8154-E42FEB27E457}"/>
              </a:ext>
            </a:extLst>
          </p:cNvPr>
          <p:cNvSpPr>
            <a:spLocks xmlns:a="http://schemas.openxmlformats.org/drawingml/2006/main" noGrp="1"/>
          </p:cNvSpPr>
          <p:nvPr/>
        </p:nvSpPr>
        <p:spPr>
          <a:xfrm xmlns:a="http://schemas.openxmlformats.org/drawingml/2006/main">
            <a:off x="971550" y="3867150"/>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predicate</a:t>
            </a:r>
          </a:p>
        </p:txBody>
      </p:sp>
      <p:sp>
        <p:nvSpPr>
          <p:cNvPr id="16" name="">
            <a:extLst xmlns:a="http://schemas.openxmlformats.org/drawingml/2006/main">
              <a:ext uri="{FF2B5EF4-FFF2-40B4-BE49-F238E27FC236}">
                <a16:creationId xmlns:a16="http://schemas.microsoft.com/office/drawing/2014/main" id="{A712A859-9040-4990-AB35-D8E0D177C8C6}"/>
              </a:ext>
            </a:extLst>
          </p:cNvPr>
          <p:cNvSpPr>
            <a:spLocks xmlns:a="http://schemas.openxmlformats.org/drawingml/2006/main" noGrp="1"/>
          </p:cNvSpPr>
          <p:nvPr/>
        </p:nvSpPr>
        <p:spPr>
          <a:xfrm xmlns:a="http://schemas.openxmlformats.org/drawingml/2006/main">
            <a:off x="2114550" y="38671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release year</a:t>
            </a:r>
          </a:p>
        </p:txBody>
      </p:sp>
      <p:sp>
        <p:nvSpPr>
          <p:cNvPr id="17" name="">
            <a:extLst xmlns:a="http://schemas.openxmlformats.org/drawingml/2006/main">
              <a:ext uri="{FF2B5EF4-FFF2-40B4-BE49-F238E27FC236}">
                <a16:creationId xmlns:a16="http://schemas.microsoft.com/office/drawing/2014/main" id="{65A3423E-4738-402F-AEDC-C2349387C68A}"/>
              </a:ext>
            </a:extLst>
          </p:cNvPr>
          <p:cNvSpPr>
            <a:spLocks xmlns:a="http://schemas.openxmlformats.org/drawingml/2006/main" noGrp="1"/>
          </p:cNvSpPr>
          <p:nvPr/>
        </p:nvSpPr>
        <p:spPr>
          <a:xfrm xmlns:a="http://schemas.openxmlformats.org/drawingml/2006/main">
            <a:off x="971550" y="4229100"/>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observed</a:t>
            </a:r>
          </a:p>
        </p:txBody>
      </p:sp>
      <p:sp>
        <p:nvSpPr>
          <p:cNvPr id="18" name="">
            <a:extLst xmlns:a="http://schemas.openxmlformats.org/drawingml/2006/main">
              <a:ext uri="{FF2B5EF4-FFF2-40B4-BE49-F238E27FC236}">
                <a16:creationId xmlns:a16="http://schemas.microsoft.com/office/drawing/2014/main" id="{2D5A5E45-D642-482A-8DC1-0549C94459D8}"/>
              </a:ext>
            </a:extLst>
          </p:cNvPr>
          <p:cNvSpPr>
            <a:spLocks xmlns:a="http://schemas.openxmlformats.org/drawingml/2006/main" noGrp="1"/>
          </p:cNvSpPr>
          <p:nvPr/>
        </p:nvSpPr>
        <p:spPr>
          <a:xfrm xmlns:a="http://schemas.openxmlformats.org/drawingml/2006/main">
            <a:off x="2114550" y="42291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Runway (title)</a:t>
            </a:r>
          </a:p>
        </p:txBody>
      </p:sp>
      <p:sp>
        <p:nvSpPr>
          <p:cNvPr id="19" name="">
            <a:extLst xmlns:a="http://schemas.openxmlformats.org/drawingml/2006/main">
              <a:ext uri="{FF2B5EF4-FFF2-40B4-BE49-F238E27FC236}">
                <a16:creationId xmlns:a16="http://schemas.microsoft.com/office/drawing/2014/main" id="{A90400D4-CD85-42A3-B214-A49FB259DFA1}"/>
              </a:ext>
            </a:extLst>
          </p:cNvPr>
          <p:cNvSpPr>
            <a:spLocks xmlns:a="http://schemas.openxmlformats.org/drawingml/2006/main" noGrp="1"/>
          </p:cNvSpPr>
          <p:nvPr/>
        </p:nvSpPr>
        <p:spPr>
          <a:xfrm xmlns:a="http://schemas.openxmlformats.org/drawingml/2006/main">
            <a:off x="971550" y="4591050"/>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context</a:t>
            </a:r>
          </a:p>
        </p:txBody>
      </p:sp>
      <p:sp>
        <p:nvSpPr>
          <p:cNvPr id="20" name="">
            <a:extLst xmlns:a="http://schemas.openxmlformats.org/drawingml/2006/main">
              <a:ext uri="{FF2B5EF4-FFF2-40B4-BE49-F238E27FC236}">
                <a16:creationId xmlns:a16="http://schemas.microsoft.com/office/drawing/2014/main" id="{B2D37EA2-B2C7-4956-A8FE-00BC39BF52B5}"/>
              </a:ext>
            </a:extLst>
          </p:cNvPr>
          <p:cNvSpPr>
            <a:spLocks xmlns:a="http://schemas.openxmlformats.org/drawingml/2006/main" noGrp="1"/>
          </p:cNvSpPr>
          <p:nvPr/>
        </p:nvSpPr>
        <p:spPr>
          <a:xfrm xmlns:a="http://schemas.openxmlformats.org/drawingml/2006/main">
            <a:off x="2114550" y="45910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supplied passage</a:t>
            </a:r>
          </a:p>
        </p:txBody>
      </p:sp>
      <p:sp>
        <p:nvSpPr>
          <p:cNvPr id="21" name="">
            <a:extLst xmlns:a="http://schemas.openxmlformats.org/drawingml/2006/main">
              <a:ext uri="{FF2B5EF4-FFF2-40B4-BE49-F238E27FC236}">
                <a16:creationId xmlns:a16="http://schemas.microsoft.com/office/drawing/2014/main" id="{2A885726-8256-43EC-8312-7EED0137FA10}"/>
              </a:ext>
            </a:extLst>
          </p:cNvPr>
          <p:cNvSpPr>
            <a:spLocks xmlns:a="http://schemas.openxmlformats.org/drawingml/2006/main" noGrp="1"/>
          </p:cNvSpPr>
          <p:nvPr/>
        </p:nvSpPr>
        <p:spPr>
          <a:xfrm xmlns:a="http://schemas.openxmlformats.org/drawingml/2006/main">
            <a:off x="4229100" y="20955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F172A"/>
                </a:solidFill>
              </a:defRPr>
            </a:pPr>
            <a:r>
              <a:rPr sz="1725" b="1">
                <a:solidFill>
                  <a:srgbClr val="0F172A"/>
                </a:solidFill>
              </a:rPr>
              <a:t>Admission gate</a:t>
            </a:r>
          </a:p>
        </p:txBody>
      </p:sp>
      <p:sp>
        <p:nvSpPr>
          <p:cNvPr id="22" name="">
            <a:extLst xmlns:a="http://schemas.openxmlformats.org/drawingml/2006/main">
              <a:ext uri="{FF2B5EF4-FFF2-40B4-BE49-F238E27FC236}">
                <a16:creationId xmlns:a16="http://schemas.microsoft.com/office/drawing/2014/main" id="{B479C039-487A-4B6D-BBC1-4D55D56A7B4A}"/>
              </a:ext>
            </a:extLst>
          </p:cNvPr>
          <p:cNvSpPr>
            <a:spLocks xmlns:a="http://schemas.openxmlformats.org/drawingml/2006/main" noGrp="1"/>
          </p:cNvSpPr>
          <p:nvPr/>
        </p:nvSpPr>
        <p:spPr>
          <a:xfrm xmlns:a="http://schemas.openxmlformats.org/drawingml/2006/main">
            <a:off x="3981450" y="2609850"/>
            <a:ext cx="1752600" cy="990600"/>
          </a:xfrm>
          <a:prstGeom xmlns:a="http://schemas.openxmlformats.org/drawingml/2006/main" prst="roundRect">
            <a:avLst>
              <a:gd name="adj" fmla="val 13462"/>
            </a:avLst>
          </a:prstGeom>
          <a:solidFill xmlns:a="http://schemas.openxmlformats.org/drawingml/2006/main">
            <a:srgbClr val="DDF2EE"/>
          </a:solidFill>
          <a:ln xmlns:a="http://schemas.openxmlformats.org/drawingml/2006/main" w="9525">
            <a:solidFill>
              <a:srgbClr val="2A8C82"/>
            </a:solidFill>
            <a:prstDash val="solid"/>
          </a:ln>
        </p:spPr>
      </p:sp>
      <p:sp>
        <p:nvSpPr>
          <p:cNvPr id="23" name="">
            <a:extLst xmlns:a="http://schemas.openxmlformats.org/drawingml/2006/main">
              <a:ext uri="{FF2B5EF4-FFF2-40B4-BE49-F238E27FC236}">
                <a16:creationId xmlns:a16="http://schemas.microsoft.com/office/drawing/2014/main" id="{9C3A9493-E36E-4E94-A189-ECF56BA4C7CC}"/>
              </a:ext>
            </a:extLst>
          </p:cNvPr>
          <p:cNvSpPr>
            <a:spLocks xmlns:a="http://schemas.openxmlformats.org/drawingml/2006/main" noGrp="1"/>
          </p:cNvSpPr>
          <p:nvPr/>
        </p:nvSpPr>
        <p:spPr>
          <a:xfrm xmlns:a="http://schemas.openxmlformats.org/drawingml/2006/main">
            <a:off x="4114800" y="27432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A8C82"/>
                </a:solidFill>
              </a:defRPr>
            </a:pPr>
            <a:r>
              <a:rPr sz="1200" b="1">
                <a:solidFill>
                  <a:srgbClr val="2A8C82"/>
                </a:solidFill>
              </a:rPr>
              <a:t>1</a:t>
            </a:r>
          </a:p>
        </p:txBody>
      </p:sp>
      <p:sp>
        <p:nvSpPr>
          <p:cNvPr id="24" name="">
            <a:extLst xmlns:a="http://schemas.openxmlformats.org/drawingml/2006/main">
              <a:ext uri="{FF2B5EF4-FFF2-40B4-BE49-F238E27FC236}">
                <a16:creationId xmlns:a16="http://schemas.microsoft.com/office/drawing/2014/main" id="{39CECD32-B24A-4DF4-A909-35DA87D37995}"/>
              </a:ext>
            </a:extLst>
          </p:cNvPr>
          <p:cNvSpPr>
            <a:spLocks xmlns:a="http://schemas.openxmlformats.org/drawingml/2006/main" noGrp="1"/>
          </p:cNvSpPr>
          <p:nvPr/>
        </p:nvSpPr>
        <p:spPr>
          <a:xfrm xmlns:a="http://schemas.openxmlformats.org/drawingml/2006/main">
            <a:off x="4419600" y="2724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Entity</a:t>
            </a:r>
          </a:p>
        </p:txBody>
      </p:sp>
      <p:sp>
        <p:nvSpPr>
          <p:cNvPr id="25" name="">
            <a:extLst xmlns:a="http://schemas.openxmlformats.org/drawingml/2006/main">
              <a:ext uri="{FF2B5EF4-FFF2-40B4-BE49-F238E27FC236}">
                <a16:creationId xmlns:a16="http://schemas.microsoft.com/office/drawing/2014/main" id="{0B7EC195-D941-4E15-A6AF-6C80EF179BAB}"/>
              </a:ext>
            </a:extLst>
          </p:cNvPr>
          <p:cNvSpPr>
            <a:spLocks xmlns:a="http://schemas.openxmlformats.org/drawingml/2006/main" noGrp="1"/>
          </p:cNvSpPr>
          <p:nvPr/>
        </p:nvSpPr>
        <p:spPr>
          <a:xfrm xmlns:a="http://schemas.openxmlformats.org/drawingml/2006/main">
            <a:off x="4152900" y="308610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same film identity</a:t>
            </a:r>
          </a:p>
        </p:txBody>
      </p:sp>
      <p:sp>
        <p:nvSpPr>
          <p:cNvPr id="26" name="">
            <a:extLst xmlns:a="http://schemas.openxmlformats.org/drawingml/2006/main">
              <a:ext uri="{FF2B5EF4-FFF2-40B4-BE49-F238E27FC236}">
                <a16:creationId xmlns:a16="http://schemas.microsoft.com/office/drawing/2014/main" id="{3FFBB91E-F55A-4964-9480-83AC5BFE1B26}"/>
              </a:ext>
            </a:extLst>
          </p:cNvPr>
          <p:cNvSpPr>
            <a:spLocks xmlns:a="http://schemas.openxmlformats.org/drawingml/2006/main" noGrp="1"/>
          </p:cNvSpPr>
          <p:nvPr/>
        </p:nvSpPr>
        <p:spPr>
          <a:xfrm xmlns:a="http://schemas.openxmlformats.org/drawingml/2006/main">
            <a:off x="5962650" y="2609850"/>
            <a:ext cx="1752600" cy="990600"/>
          </a:xfrm>
          <a:prstGeom xmlns:a="http://schemas.openxmlformats.org/drawingml/2006/main" prst="roundRect">
            <a:avLst>
              <a:gd name="adj" fmla="val 13462"/>
            </a:avLst>
          </a:prstGeom>
          <a:solidFill xmlns:a="http://schemas.openxmlformats.org/drawingml/2006/main">
            <a:srgbClr val="DDF2EE"/>
          </a:solidFill>
          <a:ln xmlns:a="http://schemas.openxmlformats.org/drawingml/2006/main" w="9525">
            <a:solidFill>
              <a:srgbClr val="2A8C82"/>
            </a:solidFill>
            <a:prstDash val="solid"/>
          </a:ln>
        </p:spPr>
      </p:sp>
      <p:sp>
        <p:nvSpPr>
          <p:cNvPr id="27" name="">
            <a:extLst xmlns:a="http://schemas.openxmlformats.org/drawingml/2006/main">
              <a:ext uri="{FF2B5EF4-FFF2-40B4-BE49-F238E27FC236}">
                <a16:creationId xmlns:a16="http://schemas.microsoft.com/office/drawing/2014/main" id="{47791DBE-9170-4E0D-8082-95138C83A9A8}"/>
              </a:ext>
            </a:extLst>
          </p:cNvPr>
          <p:cNvSpPr>
            <a:spLocks xmlns:a="http://schemas.openxmlformats.org/drawingml/2006/main" noGrp="1"/>
          </p:cNvSpPr>
          <p:nvPr/>
        </p:nvSpPr>
        <p:spPr>
          <a:xfrm xmlns:a="http://schemas.openxmlformats.org/drawingml/2006/main">
            <a:off x="6096000" y="27432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A8C82"/>
                </a:solidFill>
              </a:defRPr>
            </a:pPr>
            <a:r>
              <a:rPr sz="1200" b="1">
                <a:solidFill>
                  <a:srgbClr val="2A8C82"/>
                </a:solidFill>
              </a:rPr>
              <a:t>2</a:t>
            </a:r>
          </a:p>
        </p:txBody>
      </p:sp>
      <p:sp>
        <p:nvSpPr>
          <p:cNvPr id="28" name="">
            <a:extLst xmlns:a="http://schemas.openxmlformats.org/drawingml/2006/main">
              <a:ext uri="{FF2B5EF4-FFF2-40B4-BE49-F238E27FC236}">
                <a16:creationId xmlns:a16="http://schemas.microsoft.com/office/drawing/2014/main" id="{FE7BCCDA-E71B-4FF5-A836-DFD261B778A9}"/>
              </a:ext>
            </a:extLst>
          </p:cNvPr>
          <p:cNvSpPr>
            <a:spLocks xmlns:a="http://schemas.openxmlformats.org/drawingml/2006/main" noGrp="1"/>
          </p:cNvSpPr>
          <p:nvPr/>
        </p:nvSpPr>
        <p:spPr>
          <a:xfrm xmlns:a="http://schemas.openxmlformats.org/drawingml/2006/main">
            <a:off x="6400800" y="2724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Predicate</a:t>
            </a:r>
          </a:p>
        </p:txBody>
      </p:sp>
      <p:sp>
        <p:nvSpPr>
          <p:cNvPr id="29" name="">
            <a:extLst xmlns:a="http://schemas.openxmlformats.org/drawingml/2006/main">
              <a:ext uri="{FF2B5EF4-FFF2-40B4-BE49-F238E27FC236}">
                <a16:creationId xmlns:a16="http://schemas.microsoft.com/office/drawing/2014/main" id="{0F6B292F-19EB-434C-B90B-98EB7607B13D}"/>
              </a:ext>
            </a:extLst>
          </p:cNvPr>
          <p:cNvSpPr>
            <a:spLocks xmlns:a="http://schemas.openxmlformats.org/drawingml/2006/main" noGrp="1"/>
          </p:cNvSpPr>
          <p:nvPr/>
        </p:nvSpPr>
        <p:spPr>
          <a:xfrm xmlns:a="http://schemas.openxmlformats.org/drawingml/2006/main">
            <a:off x="6134100" y="308610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expected: year</a:t>
            </a:r>
          </a:p>
        </p:txBody>
      </p:sp>
      <p:sp>
        <p:nvSpPr>
          <p:cNvPr id="30" name="">
            <a:extLst xmlns:a="http://schemas.openxmlformats.org/drawingml/2006/main">
              <a:ext uri="{FF2B5EF4-FFF2-40B4-BE49-F238E27FC236}">
                <a16:creationId xmlns:a16="http://schemas.microsoft.com/office/drawing/2014/main" id="{D9215995-2AE3-43C5-A1D6-37CB1CB7ABCF}"/>
              </a:ext>
            </a:extLst>
          </p:cNvPr>
          <p:cNvSpPr>
            <a:spLocks xmlns:a="http://schemas.openxmlformats.org/drawingml/2006/main" noGrp="1"/>
          </p:cNvSpPr>
          <p:nvPr/>
        </p:nvSpPr>
        <p:spPr>
          <a:xfrm xmlns:a="http://schemas.openxmlformats.org/drawingml/2006/main">
            <a:off x="3981450" y="3848100"/>
            <a:ext cx="1752600" cy="990600"/>
          </a:xfrm>
          <a:prstGeom xmlns:a="http://schemas.openxmlformats.org/drawingml/2006/main" prst="roundRect">
            <a:avLst>
              <a:gd name="adj" fmla="val 13462"/>
            </a:avLst>
          </a:prstGeom>
          <a:solidFill xmlns:a="http://schemas.openxmlformats.org/drawingml/2006/main">
            <a:srgbClr val="DDF2EE"/>
          </a:solidFill>
          <a:ln xmlns:a="http://schemas.openxmlformats.org/drawingml/2006/main" w="9525">
            <a:solidFill>
              <a:srgbClr val="2A8C82"/>
            </a:solidFill>
            <a:prstDash val="solid"/>
          </a:ln>
        </p:spPr>
      </p:sp>
      <p:sp>
        <p:nvSpPr>
          <p:cNvPr id="31" name="">
            <a:extLst xmlns:a="http://schemas.openxmlformats.org/drawingml/2006/main">
              <a:ext uri="{FF2B5EF4-FFF2-40B4-BE49-F238E27FC236}">
                <a16:creationId xmlns:a16="http://schemas.microsoft.com/office/drawing/2014/main" id="{4224C003-782E-4265-BD94-0998CF314423}"/>
              </a:ext>
            </a:extLst>
          </p:cNvPr>
          <p:cNvSpPr>
            <a:spLocks xmlns:a="http://schemas.openxmlformats.org/drawingml/2006/main" noGrp="1"/>
          </p:cNvSpPr>
          <p:nvPr/>
        </p:nvSpPr>
        <p:spPr>
          <a:xfrm xmlns:a="http://schemas.openxmlformats.org/drawingml/2006/main">
            <a:off x="4114800" y="39814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A8C82"/>
                </a:solidFill>
              </a:defRPr>
            </a:pPr>
            <a:r>
              <a:rPr sz="1200" b="1">
                <a:solidFill>
                  <a:srgbClr val="2A8C82"/>
                </a:solidFill>
              </a:rPr>
              <a:t>3</a:t>
            </a:r>
          </a:p>
        </p:txBody>
      </p:sp>
      <p:sp>
        <p:nvSpPr>
          <p:cNvPr id="32" name="">
            <a:extLst xmlns:a="http://schemas.openxmlformats.org/drawingml/2006/main">
              <a:ext uri="{FF2B5EF4-FFF2-40B4-BE49-F238E27FC236}">
                <a16:creationId xmlns:a16="http://schemas.microsoft.com/office/drawing/2014/main" id="{3533A3F9-B210-4C8B-9CC8-39C376DDDB0D}"/>
              </a:ext>
            </a:extLst>
          </p:cNvPr>
          <p:cNvSpPr>
            <a:spLocks xmlns:a="http://schemas.openxmlformats.org/drawingml/2006/main" noGrp="1"/>
          </p:cNvSpPr>
          <p:nvPr/>
        </p:nvSpPr>
        <p:spPr>
          <a:xfrm xmlns:a="http://schemas.openxmlformats.org/drawingml/2006/main">
            <a:off x="4419600" y="39624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Value type</a:t>
            </a:r>
          </a:p>
        </p:txBody>
      </p:sp>
      <p:sp>
        <p:nvSpPr>
          <p:cNvPr id="33" name="">
            <a:extLst xmlns:a="http://schemas.openxmlformats.org/drawingml/2006/main">
              <a:ext uri="{FF2B5EF4-FFF2-40B4-BE49-F238E27FC236}">
                <a16:creationId xmlns:a16="http://schemas.microsoft.com/office/drawing/2014/main" id="{80D4CF0A-7F0B-4D51-A864-63A788D57534}"/>
              </a:ext>
            </a:extLst>
          </p:cNvPr>
          <p:cNvSpPr>
            <a:spLocks xmlns:a="http://schemas.openxmlformats.org/drawingml/2006/main" noGrp="1"/>
          </p:cNvSpPr>
          <p:nvPr/>
        </p:nvSpPr>
        <p:spPr>
          <a:xfrm xmlns:a="http://schemas.openxmlformats.org/drawingml/2006/main">
            <a:off x="4152900" y="43243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observed: title</a:t>
            </a:r>
          </a:p>
        </p:txBody>
      </p:sp>
      <p:sp>
        <p:nvSpPr>
          <p:cNvPr id="34" name="">
            <a:extLst xmlns:a="http://schemas.openxmlformats.org/drawingml/2006/main">
              <a:ext uri="{FF2B5EF4-FFF2-40B4-BE49-F238E27FC236}">
                <a16:creationId xmlns:a16="http://schemas.microsoft.com/office/drawing/2014/main" id="{F31A5AEB-4924-482C-B0F7-C0A3E10D4AF7}"/>
              </a:ext>
            </a:extLst>
          </p:cNvPr>
          <p:cNvSpPr>
            <a:spLocks xmlns:a="http://schemas.openxmlformats.org/drawingml/2006/main" noGrp="1"/>
          </p:cNvSpPr>
          <p:nvPr/>
        </p:nvSpPr>
        <p:spPr>
          <a:xfrm xmlns:a="http://schemas.openxmlformats.org/drawingml/2006/main">
            <a:off x="5962650" y="3848100"/>
            <a:ext cx="1752600" cy="990600"/>
          </a:xfrm>
          <a:prstGeom xmlns:a="http://schemas.openxmlformats.org/drawingml/2006/main" prst="roundRect">
            <a:avLst>
              <a:gd name="adj" fmla="val 13462"/>
            </a:avLst>
          </a:prstGeom>
          <a:solidFill xmlns:a="http://schemas.openxmlformats.org/drawingml/2006/main">
            <a:srgbClr val="FBF0D8"/>
          </a:solidFill>
          <a:ln xmlns:a="http://schemas.openxmlformats.org/drawingml/2006/main" w="9525">
            <a:solidFill>
              <a:srgbClr val="D59B32"/>
            </a:solidFill>
            <a:prstDash val="solid"/>
          </a:ln>
        </p:spPr>
      </p:sp>
      <p:sp>
        <p:nvSpPr>
          <p:cNvPr id="35" name="">
            <a:extLst xmlns:a="http://schemas.openxmlformats.org/drawingml/2006/main">
              <a:ext uri="{FF2B5EF4-FFF2-40B4-BE49-F238E27FC236}">
                <a16:creationId xmlns:a16="http://schemas.microsoft.com/office/drawing/2014/main" id="{4BA607CD-7F77-4168-9B05-64A1D9CFEDA9}"/>
              </a:ext>
            </a:extLst>
          </p:cNvPr>
          <p:cNvSpPr>
            <a:spLocks xmlns:a="http://schemas.openxmlformats.org/drawingml/2006/main" noGrp="1"/>
          </p:cNvSpPr>
          <p:nvPr/>
        </p:nvSpPr>
        <p:spPr>
          <a:xfrm xmlns:a="http://schemas.openxmlformats.org/drawingml/2006/main">
            <a:off x="6096000" y="39814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D59B32"/>
                </a:solidFill>
              </a:defRPr>
            </a:pPr>
            <a:r>
              <a:rPr sz="1200" b="1">
                <a:solidFill>
                  <a:srgbClr val="D59B32"/>
                </a:solidFill>
              </a:rPr>
              <a:t>4</a:t>
            </a:r>
          </a:p>
        </p:txBody>
      </p:sp>
      <p:sp>
        <p:nvSpPr>
          <p:cNvPr id="36" name="">
            <a:extLst xmlns:a="http://schemas.openxmlformats.org/drawingml/2006/main">
              <a:ext uri="{FF2B5EF4-FFF2-40B4-BE49-F238E27FC236}">
                <a16:creationId xmlns:a16="http://schemas.microsoft.com/office/drawing/2014/main" id="{B014E69B-04A2-4072-8BAA-CE80552DB8BF}"/>
              </a:ext>
            </a:extLst>
          </p:cNvPr>
          <p:cNvSpPr>
            <a:spLocks xmlns:a="http://schemas.openxmlformats.org/drawingml/2006/main" noGrp="1"/>
          </p:cNvSpPr>
          <p:nvPr/>
        </p:nvSpPr>
        <p:spPr>
          <a:xfrm xmlns:a="http://schemas.openxmlformats.org/drawingml/2006/main">
            <a:off x="6400800" y="39624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Conflict</a:t>
            </a:r>
          </a:p>
        </p:txBody>
      </p:sp>
      <p:sp>
        <p:nvSpPr>
          <p:cNvPr id="37" name="">
            <a:extLst xmlns:a="http://schemas.openxmlformats.org/drawingml/2006/main">
              <a:ext uri="{FF2B5EF4-FFF2-40B4-BE49-F238E27FC236}">
                <a16:creationId xmlns:a16="http://schemas.microsoft.com/office/drawing/2014/main" id="{EDDE125B-F49E-435F-9BF6-76B85996B193}"/>
              </a:ext>
            </a:extLst>
          </p:cNvPr>
          <p:cNvSpPr>
            <a:spLocks xmlns:a="http://schemas.openxmlformats.org/drawingml/2006/main" noGrp="1"/>
          </p:cNvSpPr>
          <p:nvPr/>
        </p:nvSpPr>
        <p:spPr>
          <a:xfrm xmlns:a="http://schemas.openxmlformats.org/drawingml/2006/main">
            <a:off x="6134100" y="43243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predicate / type mismatch</a:t>
            </a:r>
          </a:p>
        </p:txBody>
      </p:sp>
      <p:sp>
        <p:nvSpPr>
          <p:cNvPr id="38" name="">
            <a:extLst xmlns:a="http://schemas.openxmlformats.org/drawingml/2006/main">
              <a:ext uri="{FF2B5EF4-FFF2-40B4-BE49-F238E27FC236}">
                <a16:creationId xmlns:a16="http://schemas.microsoft.com/office/drawing/2014/main" id="{90B11AF7-04D8-45F0-8010-678165A0AB62}"/>
              </a:ext>
            </a:extLst>
          </p:cNvPr>
          <p:cNvSpPr>
            <a:spLocks xmlns:a="http://schemas.openxmlformats.org/drawingml/2006/main" noGrp="1"/>
          </p:cNvSpPr>
          <p:nvPr/>
        </p:nvSpPr>
        <p:spPr>
          <a:xfrm xmlns:a="http://schemas.openxmlformats.org/drawingml/2006/main">
            <a:off x="4000500" y="5105400"/>
            <a:ext cx="3676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F5A7A"/>
                </a:solidFill>
              </a:defRPr>
            </a:pPr>
            <a:r>
              <a:rPr sz="1275" b="1">
                <a:solidFill>
                  <a:srgbClr val="1F5A7A"/>
                </a:solidFill>
              </a:rPr>
              <a:t>accept = entity AND predicate AND value_type AND no_conflict</a:t>
            </a:r>
          </a:p>
        </p:txBody>
      </p:sp>
      <p:sp>
        <p:nvSpPr>
          <p:cNvPr id="39" name="">
            <a:extLst xmlns:a="http://schemas.openxmlformats.org/drawingml/2006/main">
              <a:ext uri="{FF2B5EF4-FFF2-40B4-BE49-F238E27FC236}">
                <a16:creationId xmlns:a16="http://schemas.microsoft.com/office/drawing/2014/main" id="{B507EBC2-B869-4B51-86F1-D1A3DAA56D75}"/>
              </a:ext>
            </a:extLst>
          </p:cNvPr>
          <p:cNvSpPr>
            <a:spLocks xmlns:a="http://schemas.openxmlformats.org/drawingml/2006/main" noGrp="1"/>
          </p:cNvSpPr>
          <p:nvPr/>
        </p:nvSpPr>
        <p:spPr>
          <a:xfrm xmlns:a="http://schemas.openxmlformats.org/drawingml/2006/main">
            <a:off x="8401050" y="2076450"/>
            <a:ext cx="3009900" cy="3105150"/>
          </a:xfrm>
          <a:prstGeom xmlns:a="http://schemas.openxmlformats.org/drawingml/2006/main" prst="roundRect">
            <a:avLst>
              <a:gd name="adj" fmla="val 5063"/>
            </a:avLst>
          </a:prstGeom>
          <a:solidFill xmlns:a="http://schemas.openxmlformats.org/drawingml/2006/main">
            <a:srgbClr val="FFFFFF"/>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
            <a:extLst xmlns:a="http://schemas.openxmlformats.org/drawingml/2006/main">
              <a:ext uri="{FF2B5EF4-FFF2-40B4-BE49-F238E27FC236}">
                <a16:creationId xmlns:a16="http://schemas.microsoft.com/office/drawing/2014/main" id="{6F021255-AA67-465D-8792-FDE63762A1E6}"/>
              </a:ext>
            </a:extLst>
          </p:cNvPr>
          <p:cNvSpPr>
            <a:spLocks xmlns:a="http://schemas.openxmlformats.org/drawingml/2006/main" noGrp="1"/>
          </p:cNvSpPr>
          <p:nvPr/>
        </p:nvSpPr>
        <p:spPr>
          <a:xfrm xmlns:a="http://schemas.openxmlformats.org/drawingml/2006/main">
            <a:off x="8705850" y="228600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D59B32"/>
                </a:solidFill>
              </a:defRPr>
            </a:pPr>
            <a:r>
              <a:rPr sz="1725" b="1">
                <a:solidFill>
                  <a:srgbClr val="D59B32"/>
                </a:solidFill>
              </a:rPr>
              <a:t>Decision trace</a:t>
            </a:r>
          </a:p>
        </p:txBody>
      </p:sp>
      <p:sp>
        <p:nvSpPr>
          <p:cNvPr id="41" name="">
            <a:extLst xmlns:a="http://schemas.openxmlformats.org/drawingml/2006/main">
              <a:ext uri="{FF2B5EF4-FFF2-40B4-BE49-F238E27FC236}">
                <a16:creationId xmlns:a16="http://schemas.microsoft.com/office/drawing/2014/main" id="{471FC09E-66FF-41AF-B8E5-35D7EC9A5827}"/>
              </a:ext>
            </a:extLst>
          </p:cNvPr>
          <p:cNvSpPr>
            <a:spLocks xmlns:a="http://schemas.openxmlformats.org/drawingml/2006/main" noGrp="1"/>
          </p:cNvSpPr>
          <p:nvPr/>
        </p:nvSpPr>
        <p:spPr>
          <a:xfrm xmlns:a="http://schemas.openxmlformats.org/drawingml/2006/main">
            <a:off x="8610600" y="281940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route</a:t>
            </a:r>
          </a:p>
        </p:txBody>
      </p:sp>
      <p:sp>
        <p:nvSpPr>
          <p:cNvPr id="42" name="">
            <a:extLst xmlns:a="http://schemas.openxmlformats.org/drawingml/2006/main">
              <a:ext uri="{FF2B5EF4-FFF2-40B4-BE49-F238E27FC236}">
                <a16:creationId xmlns:a16="http://schemas.microsoft.com/office/drawing/2014/main" id="{AA1A7357-AAD5-4C1E-A367-FA1E90AFBB7A}"/>
              </a:ext>
            </a:extLst>
          </p:cNvPr>
          <p:cNvSpPr>
            <a:spLocks xmlns:a="http://schemas.openxmlformats.org/drawingml/2006/main" noGrp="1"/>
          </p:cNvSpPr>
          <p:nvPr/>
        </p:nvSpPr>
        <p:spPr>
          <a:xfrm xmlns:a="http://schemas.openxmlformats.org/drawingml/2006/main">
            <a:off x="9639300" y="281940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context_verifier</a:t>
            </a:r>
          </a:p>
        </p:txBody>
      </p:sp>
      <p:sp>
        <p:nvSpPr>
          <p:cNvPr id="43" name="">
            <a:extLst xmlns:a="http://schemas.openxmlformats.org/drawingml/2006/main">
              <a:ext uri="{FF2B5EF4-FFF2-40B4-BE49-F238E27FC236}">
                <a16:creationId xmlns:a16="http://schemas.microsoft.com/office/drawing/2014/main" id="{4B29C1E1-4D16-4D12-B6F4-E41042CAE0A7}"/>
              </a:ext>
            </a:extLst>
          </p:cNvPr>
          <p:cNvSpPr>
            <a:spLocks xmlns:a="http://schemas.openxmlformats.org/drawingml/2006/main" noGrp="1"/>
          </p:cNvSpPr>
          <p:nvPr/>
        </p:nvSpPr>
        <p:spPr>
          <a:xfrm xmlns:a="http://schemas.openxmlformats.org/drawingml/2006/main">
            <a:off x="8610600" y="31813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source</a:t>
            </a:r>
          </a:p>
        </p:txBody>
      </p:sp>
      <p:sp>
        <p:nvSpPr>
          <p:cNvPr id="44" name="">
            <a:extLst xmlns:a="http://schemas.openxmlformats.org/drawingml/2006/main">
              <a:ext uri="{FF2B5EF4-FFF2-40B4-BE49-F238E27FC236}">
                <a16:creationId xmlns:a16="http://schemas.microsoft.com/office/drawing/2014/main" id="{BEA81012-4DB7-41DB-ABE6-90915FDF05E3}"/>
              </a:ext>
            </a:extLst>
          </p:cNvPr>
          <p:cNvSpPr>
            <a:spLocks xmlns:a="http://schemas.openxmlformats.org/drawingml/2006/main" noGrp="1"/>
          </p:cNvSpPr>
          <p:nvPr/>
        </p:nvSpPr>
        <p:spPr>
          <a:xfrm xmlns:a="http://schemas.openxmlformats.org/drawingml/2006/main">
            <a:off x="9639300" y="31813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supplied_context</a:t>
            </a:r>
          </a:p>
        </p:txBody>
      </p:sp>
      <p:sp>
        <p:nvSpPr>
          <p:cNvPr id="45" name="">
            <a:extLst xmlns:a="http://schemas.openxmlformats.org/drawingml/2006/main">
              <a:ext uri="{FF2B5EF4-FFF2-40B4-BE49-F238E27FC236}">
                <a16:creationId xmlns:a16="http://schemas.microsoft.com/office/drawing/2014/main" id="{D4604A52-3ECC-4B2A-996D-A02F5D678400}"/>
              </a:ext>
            </a:extLst>
          </p:cNvPr>
          <p:cNvSpPr>
            <a:spLocks xmlns:a="http://schemas.openxmlformats.org/drawingml/2006/main" noGrp="1"/>
          </p:cNvSpPr>
          <p:nvPr/>
        </p:nvSpPr>
        <p:spPr>
          <a:xfrm xmlns:a="http://schemas.openxmlformats.org/drawingml/2006/main">
            <a:off x="8610600" y="354330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predicate</a:t>
            </a:r>
          </a:p>
        </p:txBody>
      </p:sp>
      <p:sp>
        <p:nvSpPr>
          <p:cNvPr id="46" name="">
            <a:extLst xmlns:a="http://schemas.openxmlformats.org/drawingml/2006/main">
              <a:ext uri="{FF2B5EF4-FFF2-40B4-BE49-F238E27FC236}">
                <a16:creationId xmlns:a16="http://schemas.microsoft.com/office/drawing/2014/main" id="{FB2FE8C7-1F9B-4F75-9F60-A2EB22E3582A}"/>
              </a:ext>
            </a:extLst>
          </p:cNvPr>
          <p:cNvSpPr>
            <a:spLocks xmlns:a="http://schemas.openxmlformats.org/drawingml/2006/main" noGrp="1"/>
          </p:cNvSpPr>
          <p:nvPr/>
        </p:nvSpPr>
        <p:spPr>
          <a:xfrm xmlns:a="http://schemas.openxmlformats.org/drawingml/2006/main">
            <a:off x="9639300" y="354330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F172A"/>
                </a:solidFill>
              </a:defRPr>
            </a:pPr>
            <a:r>
              <a:rPr sz="1200" b="0">
                <a:solidFill>
                  <a:srgbClr val="0F172A"/>
                </a:solidFill>
              </a:rPr>
              <a:t>release_year</a:t>
            </a:r>
          </a:p>
        </p:txBody>
      </p:sp>
      <p:sp>
        <p:nvSpPr>
          <p:cNvPr id="47" name="">
            <a:extLst xmlns:a="http://schemas.openxmlformats.org/drawingml/2006/main">
              <a:ext uri="{FF2B5EF4-FFF2-40B4-BE49-F238E27FC236}">
                <a16:creationId xmlns:a16="http://schemas.microsoft.com/office/drawing/2014/main" id="{D24013D8-8175-45F5-AC4D-5F82D3B269C3}"/>
              </a:ext>
            </a:extLst>
          </p:cNvPr>
          <p:cNvSpPr>
            <a:spLocks xmlns:a="http://schemas.openxmlformats.org/drawingml/2006/main" noGrp="1"/>
          </p:cNvSpPr>
          <p:nvPr/>
        </p:nvSpPr>
        <p:spPr>
          <a:xfrm xmlns:a="http://schemas.openxmlformats.org/drawingml/2006/main">
            <a:off x="8610600" y="39052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2"/>
                </a:solidFill>
              </a:defRPr>
            </a:pPr>
            <a:r>
              <a:rPr sz="1200" b="1">
                <a:solidFill>
                  <a:srgbClr val="2A8C82"/>
                </a:solidFill>
              </a:rPr>
              <a:t>verdict</a:t>
            </a:r>
          </a:p>
        </p:txBody>
      </p:sp>
      <p:sp>
        <p:nvSpPr>
          <p:cNvPr id="48" name="">
            <a:extLst xmlns:a="http://schemas.openxmlformats.org/drawingml/2006/main">
              <a:ext uri="{FF2B5EF4-FFF2-40B4-BE49-F238E27FC236}">
                <a16:creationId xmlns:a16="http://schemas.microsoft.com/office/drawing/2014/main" id="{9027CD96-7C4B-4D62-BBA2-5E7C94C384B6}"/>
              </a:ext>
            </a:extLst>
          </p:cNvPr>
          <p:cNvSpPr>
            <a:spLocks xmlns:a="http://schemas.openxmlformats.org/drawingml/2006/main" noGrp="1"/>
          </p:cNvSpPr>
          <p:nvPr/>
        </p:nvSpPr>
        <p:spPr>
          <a:xfrm xmlns:a="http://schemas.openxmlformats.org/drawingml/2006/main">
            <a:off x="9639300" y="39052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F172A"/>
                </a:solidFill>
              </a:defRPr>
            </a:pPr>
            <a:r>
              <a:rPr sz="1350" b="1">
                <a:solidFill>
                  <a:srgbClr val="0F172A"/>
                </a:solidFill>
              </a:rPr>
              <a:t>0</a:t>
            </a:r>
          </a:p>
        </p:txBody>
      </p:sp>
      <p:sp>
        <p:nvSpPr>
          <p:cNvPr id="49" name="">
            <a:extLst xmlns:a="http://schemas.openxmlformats.org/drawingml/2006/main">
              <a:ext uri="{FF2B5EF4-FFF2-40B4-BE49-F238E27FC236}">
                <a16:creationId xmlns:a16="http://schemas.microsoft.com/office/drawing/2014/main" id="{54F3827E-5F0C-46F3-A20A-6C80E8825CE6}"/>
              </a:ext>
            </a:extLst>
          </p:cNvPr>
          <p:cNvSpPr>
            <a:spLocks xmlns:a="http://schemas.openxmlformats.org/drawingml/2006/main" noGrp="1"/>
          </p:cNvSpPr>
          <p:nvPr/>
        </p:nvSpPr>
        <p:spPr>
          <a:xfrm xmlns:a="http://schemas.openxmlformats.org/drawingml/2006/main">
            <a:off x="8515350" y="4514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B5483A"/>
                </a:solidFill>
              </a:defRPr>
            </a:pPr>
            <a:r>
              <a:rPr sz="1200" b="1">
                <a:solidFill>
                  <a:srgbClr val="B5483A"/>
                </a:solidFill>
              </a:rPr>
              <a:t>Gate 2/3 fail: film title ≠ release year → label 0</a:t>
            </a:r>
          </a:p>
        </p:txBody>
      </p:sp>
      <p:sp>
        <p:nvSpPr>
          <p:cNvPr id="50" name="">
            <a:extLst xmlns:a="http://schemas.openxmlformats.org/drawingml/2006/main">
              <a:ext uri="{FF2B5EF4-FFF2-40B4-BE49-F238E27FC236}">
                <a16:creationId xmlns:a16="http://schemas.microsoft.com/office/drawing/2014/main" id="{203DDBB5-0E35-414B-8AAA-F4F2CB33958B}"/>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1" name="source-9">
            <a:extLst xmlns:a="http://schemas.openxmlformats.org/drawingml/2006/main">
              <a:ext uri="{FF2B5EF4-FFF2-40B4-BE49-F238E27FC236}">
                <a16:creationId xmlns:a16="http://schemas.microsoft.com/office/drawing/2014/main" id="{A6431AA1-8957-41EB-A43C-F915B8BFB872}"/>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[1] Released competition sample  [7] predicate-alignment trace</a:t>
            </a:r>
          </a:p>
        </p:txBody>
      </p:sp>
      <p:sp>
        <p:nvSpPr>
          <p:cNvPr id="52" name="page-9">
            <a:extLst xmlns:a="http://schemas.openxmlformats.org/drawingml/2006/main">
              <a:ext uri="{FF2B5EF4-FFF2-40B4-BE49-F238E27FC236}">
                <a16:creationId xmlns:a16="http://schemas.microsoft.com/office/drawing/2014/main" id="{E7E35BE0-9965-4622-B65C-4EC702FB9889}"/>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18</a:t>
            </a:r>
          </a:p>
        </p:txBody>
      </p:sp>
      <p:sp>
        <p:nvSpPr>
          <p:cNvPr id="54" name="technical-appendix-kicker-overlay">
            <a:extLst xmlns:a="http://schemas.openxmlformats.org/drawingml/2006/main">
              <a:ext uri="{FF2B5EF4-FFF2-40B4-BE49-F238E27FC236}">
                <a16:creationId xmlns:a16="http://schemas.microsoft.com/office/drawing/2014/main" id="{D704946B-E996-44F8-8F69-90BE41D6B6CA}"/>
              </a:ext>
            </a:extLst>
          </p:cNvPr>
          <p:cNvSpPr>
            <a:spLocks xmlns:a="http://schemas.openxmlformats.org/drawingml/2006/main" noGrp="1"/>
          </p:cNvSpPr>
          <p:nvPr/>
        </p:nvSpPr>
        <p:spPr>
          <a:xfrm xmlns:a="http://schemas.openxmlformats.org/drawingml/2006/main">
            <a:off x="68580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F5A7A"/>
                </a:solidFill>
                <a:latin typeface="Calibri"/>
                <a:ea typeface="Calibri"/>
                <a:cs typeface="Calibri"/>
              </a:defRPr>
            </a:pPr>
            <a:r>
              <a:rPr sz="1125" b="1">
                <a:solidFill>
                  <a:srgbClr val="1F5A7A"/>
                </a:solidFill>
                <a:latin typeface="Calibri"/>
                <a:ea typeface="Calibri"/>
                <a:cs typeface="Calibri"/>
              </a:rPr>
              <a:t>TECHNICAL APPENDIX</a:t>
            </a:r>
          </a:p>
        </p:txBody>
      </p:sp>
    </p:spTree>
    <p:extLst>
      <p:ext uri="{BB962C8B-B14F-4D97-AF65-F5344CB8AC3E}">
        <p14:creationId xmlns:p14="http://schemas.microsoft.com/office/powerpoint/2010/main" val="1439275797"/>
      </p:ext>
    </p:extLst>
  </p:cSld>
</p:sld>
</file>

<file path=ppt/slides/slide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8" name="kicker-12">
            <a:extLst xmlns:a="http://schemas.openxmlformats.org/drawingml/2006/main">
              <a:ext uri="{FF2B5EF4-FFF2-40B4-BE49-F238E27FC236}">
                <a16:creationId xmlns:a16="http://schemas.microsoft.com/office/drawing/2014/main" id="{F660AC61-5E47-4BC2-83AF-4DD649132A83}"/>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TECHNICAL APPENDIX</a:t>
            </a:r>
          </a:p>
        </p:txBody>
      </p:sp>
      <p:sp>
        <p:nvSpPr>
          <p:cNvPr id="2" name="title-12">
            <a:extLst xmlns:a="http://schemas.openxmlformats.org/drawingml/2006/main">
              <a:ext uri="{FF2B5EF4-FFF2-40B4-BE49-F238E27FC236}">
                <a16:creationId xmlns:a16="http://schemas.microsoft.com/office/drawing/2014/main" id="{99DAA247-2AA8-45DE-B216-3587BDB93210}"/>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F172A"/>
                </a:solidFill>
              </a:defRPr>
            </a:pPr>
            <a:r>
              <a:rPr sz="2700" b="1">
                <a:solidFill>
                  <a:srgbClr val="0F172A"/>
                </a:solidFill>
              </a:rPr>
              <a:t>Five evidence layers answer five different questions</a:t>
            </a:r>
          </a:p>
        </p:txBody>
      </p:sp>
      <p:sp>
        <p:nvSpPr>
          <p:cNvPr id="3" name="">
            <a:extLst xmlns:a="http://schemas.openxmlformats.org/drawingml/2006/main">
              <a:ext uri="{FF2B5EF4-FFF2-40B4-BE49-F238E27FC236}">
                <a16:creationId xmlns:a16="http://schemas.microsoft.com/office/drawing/2014/main" id="{25EFA620-8FF6-47B9-BD17-7C606C939C8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E3792FF5-2CF9-407D-971C-4C2B98D6FC63}"/>
              </a:ext>
            </a:extLst>
          </p:cNvPr>
          <p:cNvSpPr>
            <a:spLocks xmlns:a="http://schemas.openxmlformats.org/drawingml/2006/main" noGrp="1"/>
          </p:cNvSpPr>
          <p:nvPr/>
        </p:nvSpPr>
        <p:spPr>
          <a:xfrm xmlns:a="http://schemas.openxmlformats.org/drawingml/2006/main">
            <a:off x="685800" y="13906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26174"/>
                </a:solidFill>
              </a:defRPr>
            </a:pPr>
            <a:r>
              <a:rPr sz="1575" b="0">
                <a:solidFill>
                  <a:srgbClr val="526174"/>
                </a:solidFill>
              </a:rPr>
              <a:t>Only labeled rows measure classification quality; software and runtime checks establish other properties.</a:t>
            </a:r>
          </a:p>
        </p:txBody>
      </p:sp>
      <p:sp>
        <p:nvSpPr>
          <p:cNvPr id="5" name="">
            <a:extLst xmlns:a="http://schemas.openxmlformats.org/drawingml/2006/main">
              <a:ext uri="{FF2B5EF4-FFF2-40B4-BE49-F238E27FC236}">
                <a16:creationId xmlns:a16="http://schemas.microsoft.com/office/drawing/2014/main" id="{E91B8C04-A6A5-40F0-A67D-06296EFC8C79}"/>
              </a:ext>
            </a:extLst>
          </p:cNvPr>
          <p:cNvSpPr>
            <a:spLocks xmlns:a="http://schemas.openxmlformats.org/drawingml/2006/main" noGrp="1"/>
          </p:cNvSpPr>
          <p:nvPr/>
        </p:nvSpPr>
        <p:spPr>
          <a:xfrm xmlns:a="http://schemas.openxmlformats.org/drawingml/2006/main">
            <a:off x="914400" y="215265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F5A7A"/>
                </a:solidFill>
              </a:defRPr>
            </a:pPr>
            <a:r>
              <a:rPr sz="3600" b="1">
                <a:solidFill>
                  <a:srgbClr val="1F5A7A"/>
                </a:solidFill>
              </a:rPr>
              <a:t>299</a:t>
            </a:r>
          </a:p>
        </p:txBody>
      </p:sp>
      <p:sp>
        <p:nvSpPr>
          <p:cNvPr id="6" name="">
            <a:extLst xmlns:a="http://schemas.openxmlformats.org/drawingml/2006/main">
              <a:ext uri="{FF2B5EF4-FFF2-40B4-BE49-F238E27FC236}">
                <a16:creationId xmlns:a16="http://schemas.microsoft.com/office/drawing/2014/main" id="{05049A46-07B5-450A-9D97-9AB90827F5CD}"/>
              </a:ext>
            </a:extLst>
          </p:cNvPr>
          <p:cNvSpPr>
            <a:spLocks xmlns:a="http://schemas.openxmlformats.org/drawingml/2006/main" noGrp="1"/>
          </p:cNvSpPr>
          <p:nvPr/>
        </p:nvSpPr>
        <p:spPr>
          <a:xfrm xmlns:a="http://schemas.openxmlformats.org/drawingml/2006/main">
            <a:off x="914400" y="28384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released labeled rows</a:t>
            </a:r>
          </a:p>
        </p:txBody>
      </p:sp>
      <p:sp>
        <p:nvSpPr>
          <p:cNvPr id="7" name="">
            <a:extLst xmlns:a="http://schemas.openxmlformats.org/drawingml/2006/main">
              <a:ext uri="{FF2B5EF4-FFF2-40B4-BE49-F238E27FC236}">
                <a16:creationId xmlns:a16="http://schemas.microsoft.com/office/drawing/2014/main" id="{9A1AA8E5-D4AB-4C10-9269-0391D0919160}"/>
              </a:ext>
            </a:extLst>
          </p:cNvPr>
          <p:cNvSpPr>
            <a:spLocks xmlns:a="http://schemas.openxmlformats.org/drawingml/2006/main" noGrp="1"/>
          </p:cNvSpPr>
          <p:nvPr/>
        </p:nvSpPr>
        <p:spPr>
          <a:xfrm xmlns:a="http://schemas.openxmlformats.org/drawingml/2006/main">
            <a:off x="3714750" y="21526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A8C82"/>
                </a:solidFill>
              </a:defRPr>
            </a:pPr>
            <a:r>
              <a:rPr sz="3600" b="1">
                <a:solidFill>
                  <a:srgbClr val="2A8C82"/>
                </a:solidFill>
              </a:rPr>
              <a:t>249</a:t>
            </a:r>
          </a:p>
        </p:txBody>
      </p:sp>
      <p:sp>
        <p:nvSpPr>
          <p:cNvPr id="8" name="">
            <a:extLst xmlns:a="http://schemas.openxmlformats.org/drawingml/2006/main">
              <a:ext uri="{FF2B5EF4-FFF2-40B4-BE49-F238E27FC236}">
                <a16:creationId xmlns:a16="http://schemas.microsoft.com/office/drawing/2014/main" id="{264B21FE-76D4-48C7-917B-E1AF42BFBDBA}"/>
              </a:ext>
            </a:extLst>
          </p:cNvPr>
          <p:cNvSpPr>
            <a:spLocks xmlns:a="http://schemas.openxmlformats.org/drawingml/2006/main" noGrp="1"/>
          </p:cNvSpPr>
          <p:nvPr/>
        </p:nvSpPr>
        <p:spPr>
          <a:xfrm xmlns:a="http://schemas.openxmlformats.org/drawingml/2006/main">
            <a:off x="3714750" y="28384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automated regression tests</a:t>
            </a:r>
          </a:p>
        </p:txBody>
      </p:sp>
      <p:sp>
        <p:nvSpPr>
          <p:cNvPr id="9" name="">
            <a:extLst xmlns:a="http://schemas.openxmlformats.org/drawingml/2006/main">
              <a:ext uri="{FF2B5EF4-FFF2-40B4-BE49-F238E27FC236}">
                <a16:creationId xmlns:a16="http://schemas.microsoft.com/office/drawing/2014/main" id="{3D0AC9AA-B7BF-4895-AB08-541EB4024DEB}"/>
              </a:ext>
            </a:extLst>
          </p:cNvPr>
          <p:cNvSpPr>
            <a:spLocks xmlns:a="http://schemas.openxmlformats.org/drawingml/2006/main" noGrp="1"/>
          </p:cNvSpPr>
          <p:nvPr/>
        </p:nvSpPr>
        <p:spPr>
          <a:xfrm xmlns:a="http://schemas.openxmlformats.org/drawingml/2006/main">
            <a:off x="6667500" y="215265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D59B32"/>
                </a:solidFill>
              </a:defRPr>
            </a:pPr>
            <a:r>
              <a:rPr sz="3600" b="1">
                <a:solidFill>
                  <a:srgbClr val="D59B32"/>
                </a:solidFill>
              </a:rPr>
              <a:t>3</a:t>
            </a:r>
          </a:p>
        </p:txBody>
      </p:sp>
      <p:sp>
        <p:nvSpPr>
          <p:cNvPr id="10" name="">
            <a:extLst xmlns:a="http://schemas.openxmlformats.org/drawingml/2006/main">
              <a:ext uri="{FF2B5EF4-FFF2-40B4-BE49-F238E27FC236}">
                <a16:creationId xmlns:a16="http://schemas.microsoft.com/office/drawing/2014/main" id="{4B703288-FB36-4BB7-A351-19BC27DB1DB6}"/>
              </a:ext>
            </a:extLst>
          </p:cNvPr>
          <p:cNvSpPr>
            <a:spLocks xmlns:a="http://schemas.openxmlformats.org/drawingml/2006/main" noGrp="1"/>
          </p:cNvSpPr>
          <p:nvPr/>
        </p:nvSpPr>
        <p:spPr>
          <a:xfrm xmlns:a="http://schemas.openxmlformats.org/drawingml/2006/main">
            <a:off x="6667500" y="2838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byte-identical inference runs</a:t>
            </a:r>
          </a:p>
        </p:txBody>
      </p:sp>
      <p:sp>
        <p:nvSpPr>
          <p:cNvPr id="11" name="">
            <a:extLst xmlns:a="http://schemas.openxmlformats.org/drawingml/2006/main">
              <a:ext uri="{FF2B5EF4-FFF2-40B4-BE49-F238E27FC236}">
                <a16:creationId xmlns:a16="http://schemas.microsoft.com/office/drawing/2014/main" id="{588BDC76-8B0B-403A-B801-28D1B7ED4A40}"/>
              </a:ext>
            </a:extLst>
          </p:cNvPr>
          <p:cNvSpPr>
            <a:spLocks xmlns:a="http://schemas.openxmlformats.org/drawingml/2006/main" noGrp="1"/>
          </p:cNvSpPr>
          <p:nvPr/>
        </p:nvSpPr>
        <p:spPr>
          <a:xfrm xmlns:a="http://schemas.openxmlformats.org/drawingml/2006/main">
            <a:off x="9277350" y="215265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A8C82"/>
                </a:solidFill>
              </a:defRPr>
            </a:pPr>
            <a:r>
              <a:rPr sz="3600" b="1">
                <a:solidFill>
                  <a:srgbClr val="2A8C82"/>
                </a:solidFill>
              </a:rPr>
              <a:t>0</a:t>
            </a:r>
          </a:p>
        </p:txBody>
      </p:sp>
      <p:sp>
        <p:nvSpPr>
          <p:cNvPr id="12" name="">
            <a:extLst xmlns:a="http://schemas.openxmlformats.org/drawingml/2006/main">
              <a:ext uri="{FF2B5EF4-FFF2-40B4-BE49-F238E27FC236}">
                <a16:creationId xmlns:a16="http://schemas.microsoft.com/office/drawing/2014/main" id="{7829D50C-D8A2-45A8-897C-10082E6554D1}"/>
              </a:ext>
            </a:extLst>
          </p:cNvPr>
          <p:cNvSpPr>
            <a:spLocks xmlns:a="http://schemas.openxmlformats.org/drawingml/2006/main" noGrp="1"/>
          </p:cNvSpPr>
          <p:nvPr/>
        </p:nvSpPr>
        <p:spPr>
          <a:xfrm xmlns:a="http://schemas.openxmlformats.org/drawingml/2006/main">
            <a:off x="9277350" y="2838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174"/>
                </a:solidFill>
              </a:defRPr>
            </a:pPr>
            <a:r>
              <a:rPr sz="1350" b="0">
                <a:solidFill>
                  <a:srgbClr val="526174"/>
                </a:solidFill>
              </a:rPr>
              <a:t>schema or ID-order failures</a:t>
            </a:r>
          </a:p>
        </p:txBody>
      </p:sp>
      <p:sp>
        <p:nvSpPr>
          <p:cNvPr id="13" name="">
            <a:extLst xmlns:a="http://schemas.openxmlformats.org/drawingml/2006/main">
              <a:ext uri="{FF2B5EF4-FFF2-40B4-BE49-F238E27FC236}">
                <a16:creationId xmlns:a16="http://schemas.microsoft.com/office/drawing/2014/main" id="{0AC59BB1-EA8F-42E7-8421-3851A1715F5C}"/>
              </a:ext>
            </a:extLst>
          </p:cNvPr>
          <p:cNvSpPr>
            <a:spLocks xmlns:a="http://schemas.openxmlformats.org/drawingml/2006/main" noGrp="1"/>
          </p:cNvSpPr>
          <p:nvPr/>
        </p:nvSpPr>
        <p:spPr>
          <a:xfrm xmlns:a="http://schemas.openxmlformats.org/drawingml/2006/main">
            <a:off x="914400" y="3695700"/>
            <a:ext cx="103632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4" name="">
            <a:extLst xmlns:a="http://schemas.openxmlformats.org/drawingml/2006/main">
              <a:ext uri="{FF2B5EF4-FFF2-40B4-BE49-F238E27FC236}">
                <a16:creationId xmlns:a16="http://schemas.microsoft.com/office/drawing/2014/main" id="{2397DAD1-EA95-4861-BAF1-4B8568438CA7}"/>
              </a:ext>
            </a:extLst>
          </p:cNvPr>
          <p:cNvSpPr>
            <a:spLocks xmlns:a="http://schemas.openxmlformats.org/drawingml/2006/main" noGrp="1"/>
          </p:cNvSpPr>
          <p:nvPr/>
        </p:nvSpPr>
        <p:spPr>
          <a:xfrm xmlns:a="http://schemas.openxmlformats.org/drawingml/2006/main">
            <a:off x="2457450" y="4457700"/>
            <a:ext cx="40005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5" name="">
            <a:extLst xmlns:a="http://schemas.openxmlformats.org/drawingml/2006/main">
              <a:ext uri="{FF2B5EF4-FFF2-40B4-BE49-F238E27FC236}">
                <a16:creationId xmlns:a16="http://schemas.microsoft.com/office/drawing/2014/main" id="{C031D5D7-F883-4015-9C07-297919EE7431}"/>
              </a:ext>
            </a:extLst>
          </p:cNvPr>
          <p:cNvSpPr>
            <a:spLocks xmlns:a="http://schemas.openxmlformats.org/drawingml/2006/main" noGrp="1"/>
          </p:cNvSpPr>
          <p:nvPr/>
        </p:nvSpPr>
        <p:spPr>
          <a:xfrm xmlns:a="http://schemas.openxmlformats.org/drawingml/2006/main">
            <a:off x="4591050" y="4457700"/>
            <a:ext cx="40005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6" name="">
            <a:extLst xmlns:a="http://schemas.openxmlformats.org/drawingml/2006/main">
              <a:ext uri="{FF2B5EF4-FFF2-40B4-BE49-F238E27FC236}">
                <a16:creationId xmlns:a16="http://schemas.microsoft.com/office/drawing/2014/main" id="{BD2B6089-6177-4D2F-AFD3-6D89327060A5}"/>
              </a:ext>
            </a:extLst>
          </p:cNvPr>
          <p:cNvSpPr>
            <a:spLocks xmlns:a="http://schemas.openxmlformats.org/drawingml/2006/main" noGrp="1"/>
          </p:cNvSpPr>
          <p:nvPr/>
        </p:nvSpPr>
        <p:spPr>
          <a:xfrm xmlns:a="http://schemas.openxmlformats.org/drawingml/2006/main">
            <a:off x="6724650" y="4457700"/>
            <a:ext cx="40005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7" name="">
            <a:extLst xmlns:a="http://schemas.openxmlformats.org/drawingml/2006/main">
              <a:ext uri="{FF2B5EF4-FFF2-40B4-BE49-F238E27FC236}">
                <a16:creationId xmlns:a16="http://schemas.microsoft.com/office/drawing/2014/main" id="{AE27FDFA-5D0D-4D74-BA0F-FA7FDFE3F36A}"/>
              </a:ext>
            </a:extLst>
          </p:cNvPr>
          <p:cNvSpPr>
            <a:spLocks xmlns:a="http://schemas.openxmlformats.org/drawingml/2006/main" noGrp="1"/>
          </p:cNvSpPr>
          <p:nvPr/>
        </p:nvSpPr>
        <p:spPr>
          <a:xfrm xmlns:a="http://schemas.openxmlformats.org/drawingml/2006/main">
            <a:off x="8858250" y="4457700"/>
            <a:ext cx="40005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8" name="">
            <a:extLst xmlns:a="http://schemas.openxmlformats.org/drawingml/2006/main">
              <a:ext uri="{FF2B5EF4-FFF2-40B4-BE49-F238E27FC236}">
                <a16:creationId xmlns:a16="http://schemas.microsoft.com/office/drawing/2014/main" id="{6FA8D2E3-F33F-442A-A477-EF3CECFE4059}"/>
              </a:ext>
            </a:extLst>
          </p:cNvPr>
          <p:cNvSpPr>
            <a:spLocks xmlns:a="http://schemas.openxmlformats.org/drawingml/2006/main" noGrp="1"/>
          </p:cNvSpPr>
          <p:nvPr/>
        </p:nvSpPr>
        <p:spPr>
          <a:xfrm xmlns:a="http://schemas.openxmlformats.org/drawingml/2006/main">
            <a:off x="742950" y="4057650"/>
            <a:ext cx="1714500" cy="1047750"/>
          </a:xfrm>
          <a:prstGeom xmlns:a="http://schemas.openxmlformats.org/drawingml/2006/main" prst="roundRect">
            <a:avLst>
              <a:gd name="adj" fmla="val 12727"/>
            </a:avLst>
          </a:prstGeom>
          <a:solidFill xmlns:a="http://schemas.openxmlformats.org/drawingml/2006/main">
            <a:srgbClr val="FFFFFF"/>
          </a:solidFill>
          <a:ln xmlns:a="http://schemas.openxmlformats.org/drawingml/2006/main" w="9525">
            <a:solidFill>
              <a:srgbClr val="2A8C82"/>
            </a:solidFill>
            <a:prstDash val="solid"/>
          </a:ln>
        </p:spPr>
      </p:sp>
      <p:sp>
        <p:nvSpPr>
          <p:cNvPr id="19" name="">
            <a:extLst xmlns:a="http://schemas.openxmlformats.org/drawingml/2006/main">
              <a:ext uri="{FF2B5EF4-FFF2-40B4-BE49-F238E27FC236}">
                <a16:creationId xmlns:a16="http://schemas.microsoft.com/office/drawing/2014/main" id="{85FAC507-243B-45F5-9FB6-3E7403B0CD4B}"/>
              </a:ext>
            </a:extLst>
          </p:cNvPr>
          <p:cNvSpPr>
            <a:spLocks xmlns:a="http://schemas.openxmlformats.org/drawingml/2006/main" noGrp="1"/>
          </p:cNvSpPr>
          <p:nvPr/>
        </p:nvSpPr>
        <p:spPr>
          <a:xfrm xmlns:a="http://schemas.openxmlformats.org/drawingml/2006/main">
            <a:off x="876300" y="4248150"/>
            <a:ext cx="144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F5A7A"/>
                </a:solidFill>
              </a:defRPr>
            </a:pPr>
            <a:r>
              <a:rPr sz="1425" b="1">
                <a:solidFill>
                  <a:srgbClr val="1F5A7A"/>
                </a:solidFill>
              </a:rPr>
              <a:t>Released labels</a:t>
            </a:r>
          </a:p>
        </p:txBody>
      </p:sp>
      <p:sp>
        <p:nvSpPr>
          <p:cNvPr id="20" name="">
            <a:extLst xmlns:a="http://schemas.openxmlformats.org/drawingml/2006/main">
              <a:ext uri="{FF2B5EF4-FFF2-40B4-BE49-F238E27FC236}">
                <a16:creationId xmlns:a16="http://schemas.microsoft.com/office/drawing/2014/main" id="{06653A2D-471B-445D-8C38-8679B0EB94C7}"/>
              </a:ext>
            </a:extLst>
          </p:cNvPr>
          <p:cNvSpPr>
            <a:spLocks xmlns:a="http://schemas.openxmlformats.org/drawingml/2006/main" noGrp="1"/>
          </p:cNvSpPr>
          <p:nvPr/>
        </p:nvSpPr>
        <p:spPr>
          <a:xfrm xmlns:a="http://schemas.openxmlformats.org/drawingml/2006/main">
            <a:off x="876300" y="4638675"/>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macro-F1 + label 0</a:t>
            </a:r>
          </a:p>
        </p:txBody>
      </p:sp>
      <p:sp>
        <p:nvSpPr>
          <p:cNvPr id="21" name="">
            <a:extLst xmlns:a="http://schemas.openxmlformats.org/drawingml/2006/main">
              <a:ext uri="{FF2B5EF4-FFF2-40B4-BE49-F238E27FC236}">
                <a16:creationId xmlns:a16="http://schemas.microsoft.com/office/drawing/2014/main" id="{CC0C5B61-1E1D-457F-B2E1-FFEEA5675179}"/>
              </a:ext>
            </a:extLst>
          </p:cNvPr>
          <p:cNvSpPr>
            <a:spLocks xmlns:a="http://schemas.openxmlformats.org/drawingml/2006/main" noGrp="1"/>
          </p:cNvSpPr>
          <p:nvPr/>
        </p:nvSpPr>
        <p:spPr>
          <a:xfrm xmlns:a="http://schemas.openxmlformats.org/drawingml/2006/main">
            <a:off x="2876550" y="4057650"/>
            <a:ext cx="1714500" cy="1047750"/>
          </a:xfrm>
          <a:prstGeom xmlns:a="http://schemas.openxmlformats.org/drawingml/2006/main" prst="roundRect">
            <a:avLst>
              <a:gd name="adj" fmla="val 12727"/>
            </a:avLst>
          </a:prstGeom>
          <a:solidFill xmlns:a="http://schemas.openxmlformats.org/drawingml/2006/main">
            <a:srgbClr val="FFFFFF"/>
          </a:solidFill>
          <a:ln xmlns:a="http://schemas.openxmlformats.org/drawingml/2006/main" w="9525">
            <a:solidFill>
              <a:srgbClr val="2A8C82"/>
            </a:solidFill>
            <a:prstDash val="solid"/>
          </a:ln>
        </p:spPr>
      </p:sp>
      <p:sp>
        <p:nvSpPr>
          <p:cNvPr id="22" name="">
            <a:extLst xmlns:a="http://schemas.openxmlformats.org/drawingml/2006/main">
              <a:ext uri="{FF2B5EF4-FFF2-40B4-BE49-F238E27FC236}">
                <a16:creationId xmlns:a16="http://schemas.microsoft.com/office/drawing/2014/main" id="{13AF7728-E64D-4A47-B229-2AD4932B324D}"/>
              </a:ext>
            </a:extLst>
          </p:cNvPr>
          <p:cNvSpPr>
            <a:spLocks xmlns:a="http://schemas.openxmlformats.org/drawingml/2006/main" noGrp="1"/>
          </p:cNvSpPr>
          <p:nvPr/>
        </p:nvSpPr>
        <p:spPr>
          <a:xfrm xmlns:a="http://schemas.openxmlformats.org/drawingml/2006/main">
            <a:off x="3009900" y="4248150"/>
            <a:ext cx="144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F5A7A"/>
                </a:solidFill>
              </a:defRPr>
            </a:pPr>
            <a:r>
              <a:rPr sz="1425" b="1">
                <a:solidFill>
                  <a:srgbClr val="1F5A7A"/>
                </a:solidFill>
              </a:rPr>
              <a:t>Regression suite</a:t>
            </a:r>
          </a:p>
        </p:txBody>
      </p:sp>
      <p:sp>
        <p:nvSpPr>
          <p:cNvPr id="23" name="">
            <a:extLst xmlns:a="http://schemas.openxmlformats.org/drawingml/2006/main">
              <a:ext uri="{FF2B5EF4-FFF2-40B4-BE49-F238E27FC236}">
                <a16:creationId xmlns:a16="http://schemas.microsoft.com/office/drawing/2014/main" id="{375A5280-EC9F-4D70-B7E6-CDB50D4ED65B}"/>
              </a:ext>
            </a:extLst>
          </p:cNvPr>
          <p:cNvSpPr>
            <a:spLocks xmlns:a="http://schemas.openxmlformats.org/drawingml/2006/main" noGrp="1"/>
          </p:cNvSpPr>
          <p:nvPr/>
        </p:nvSpPr>
        <p:spPr>
          <a:xfrm xmlns:a="http://schemas.openxmlformats.org/drawingml/2006/main">
            <a:off x="3009900" y="4638675"/>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behavior preserved</a:t>
            </a:r>
          </a:p>
        </p:txBody>
      </p:sp>
      <p:sp>
        <p:nvSpPr>
          <p:cNvPr id="24" name="">
            <a:extLst xmlns:a="http://schemas.openxmlformats.org/drawingml/2006/main">
              <a:ext uri="{FF2B5EF4-FFF2-40B4-BE49-F238E27FC236}">
                <a16:creationId xmlns:a16="http://schemas.microsoft.com/office/drawing/2014/main" id="{E564E088-86FB-4B00-ACA6-707780E24F97}"/>
              </a:ext>
            </a:extLst>
          </p:cNvPr>
          <p:cNvSpPr>
            <a:spLocks xmlns:a="http://schemas.openxmlformats.org/drawingml/2006/main" noGrp="1"/>
          </p:cNvSpPr>
          <p:nvPr/>
        </p:nvSpPr>
        <p:spPr>
          <a:xfrm xmlns:a="http://schemas.openxmlformats.org/drawingml/2006/main">
            <a:off x="5010150" y="4057650"/>
            <a:ext cx="1714500" cy="1047750"/>
          </a:xfrm>
          <a:prstGeom xmlns:a="http://schemas.openxmlformats.org/drawingml/2006/main" prst="roundRect">
            <a:avLst>
              <a:gd name="adj" fmla="val 12727"/>
            </a:avLst>
          </a:prstGeom>
          <a:solidFill xmlns:a="http://schemas.openxmlformats.org/drawingml/2006/main">
            <a:srgbClr val="FFFFFF"/>
          </a:solidFill>
          <a:ln xmlns:a="http://schemas.openxmlformats.org/drawingml/2006/main" w="9525">
            <a:solidFill>
              <a:srgbClr val="2A8C82"/>
            </a:solidFill>
            <a:prstDash val="solid"/>
          </a:ln>
        </p:spPr>
      </p:sp>
      <p:sp>
        <p:nvSpPr>
          <p:cNvPr id="25" name="">
            <a:extLst xmlns:a="http://schemas.openxmlformats.org/drawingml/2006/main">
              <a:ext uri="{FF2B5EF4-FFF2-40B4-BE49-F238E27FC236}">
                <a16:creationId xmlns:a16="http://schemas.microsoft.com/office/drawing/2014/main" id="{8C7611AC-ADF7-44AE-9DB6-17FD7144F0B9}"/>
              </a:ext>
            </a:extLst>
          </p:cNvPr>
          <p:cNvSpPr>
            <a:spLocks xmlns:a="http://schemas.openxmlformats.org/drawingml/2006/main" noGrp="1"/>
          </p:cNvSpPr>
          <p:nvPr/>
        </p:nvSpPr>
        <p:spPr>
          <a:xfrm xmlns:a="http://schemas.openxmlformats.org/drawingml/2006/main">
            <a:off x="5143500" y="4248150"/>
            <a:ext cx="144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F5A7A"/>
                </a:solidFill>
              </a:defRPr>
            </a:pPr>
            <a:r>
              <a:rPr sz="1425" b="1">
                <a:solidFill>
                  <a:srgbClr val="1F5A7A"/>
                </a:solidFill>
              </a:rPr>
              <a:t>Hash equality</a:t>
            </a:r>
          </a:p>
        </p:txBody>
      </p:sp>
      <p:sp>
        <p:nvSpPr>
          <p:cNvPr id="26" name="">
            <a:extLst xmlns:a="http://schemas.openxmlformats.org/drawingml/2006/main">
              <a:ext uri="{FF2B5EF4-FFF2-40B4-BE49-F238E27FC236}">
                <a16:creationId xmlns:a16="http://schemas.microsoft.com/office/drawing/2014/main" id="{FC78B84C-7EC7-4962-8407-09CA6DACC0BF}"/>
              </a:ext>
            </a:extLst>
          </p:cNvPr>
          <p:cNvSpPr>
            <a:spLocks xmlns:a="http://schemas.openxmlformats.org/drawingml/2006/main" noGrp="1"/>
          </p:cNvSpPr>
          <p:nvPr/>
        </p:nvSpPr>
        <p:spPr>
          <a:xfrm xmlns:a="http://schemas.openxmlformats.org/drawingml/2006/main">
            <a:off x="5143500" y="4638675"/>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same predictions</a:t>
            </a:r>
          </a:p>
        </p:txBody>
      </p:sp>
      <p:sp>
        <p:nvSpPr>
          <p:cNvPr id="27" name="">
            <a:extLst xmlns:a="http://schemas.openxmlformats.org/drawingml/2006/main">
              <a:ext uri="{FF2B5EF4-FFF2-40B4-BE49-F238E27FC236}">
                <a16:creationId xmlns:a16="http://schemas.microsoft.com/office/drawing/2014/main" id="{533904A5-743B-41F1-A58B-43C5E77DA6BF}"/>
              </a:ext>
            </a:extLst>
          </p:cNvPr>
          <p:cNvSpPr>
            <a:spLocks xmlns:a="http://schemas.openxmlformats.org/drawingml/2006/main" noGrp="1"/>
          </p:cNvSpPr>
          <p:nvPr/>
        </p:nvSpPr>
        <p:spPr>
          <a:xfrm xmlns:a="http://schemas.openxmlformats.org/drawingml/2006/main">
            <a:off x="7143750" y="4057650"/>
            <a:ext cx="1714500" cy="1047750"/>
          </a:xfrm>
          <a:prstGeom xmlns:a="http://schemas.openxmlformats.org/drawingml/2006/main" prst="roundRect">
            <a:avLst>
              <a:gd name="adj" fmla="val 12727"/>
            </a:avLst>
          </a:prstGeom>
          <a:solidFill xmlns:a="http://schemas.openxmlformats.org/drawingml/2006/main">
            <a:srgbClr val="FFFFFF"/>
          </a:solidFill>
          <a:ln xmlns:a="http://schemas.openxmlformats.org/drawingml/2006/main" w="9525">
            <a:solidFill>
              <a:srgbClr val="2A8C82"/>
            </a:solidFill>
            <a:prstDash val="solid"/>
          </a:ln>
        </p:spPr>
      </p:sp>
      <p:sp>
        <p:nvSpPr>
          <p:cNvPr id="28" name="">
            <a:extLst xmlns:a="http://schemas.openxmlformats.org/drawingml/2006/main">
              <a:ext uri="{FF2B5EF4-FFF2-40B4-BE49-F238E27FC236}">
                <a16:creationId xmlns:a16="http://schemas.microsoft.com/office/drawing/2014/main" id="{09C81864-2CB0-43B7-8A47-A68C1C005237}"/>
              </a:ext>
            </a:extLst>
          </p:cNvPr>
          <p:cNvSpPr>
            <a:spLocks xmlns:a="http://schemas.openxmlformats.org/drawingml/2006/main" noGrp="1"/>
          </p:cNvSpPr>
          <p:nvPr/>
        </p:nvSpPr>
        <p:spPr>
          <a:xfrm xmlns:a="http://schemas.openxmlformats.org/drawingml/2006/main">
            <a:off x="7277100" y="4248150"/>
            <a:ext cx="144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F5A7A"/>
                </a:solidFill>
              </a:defRPr>
            </a:pPr>
            <a:r>
              <a:rPr sz="1425" b="1">
                <a:solidFill>
                  <a:srgbClr val="1F5A7A"/>
                </a:solidFill>
              </a:rPr>
              <a:t>T4×2 runtime</a:t>
            </a:r>
          </a:p>
        </p:txBody>
      </p:sp>
      <p:sp>
        <p:nvSpPr>
          <p:cNvPr id="29" name="">
            <a:extLst xmlns:a="http://schemas.openxmlformats.org/drawingml/2006/main">
              <a:ext uri="{FF2B5EF4-FFF2-40B4-BE49-F238E27FC236}">
                <a16:creationId xmlns:a16="http://schemas.microsoft.com/office/drawing/2014/main" id="{49980477-90FD-4BAA-8CF9-6363F296D606}"/>
              </a:ext>
            </a:extLst>
          </p:cNvPr>
          <p:cNvSpPr>
            <a:spLocks xmlns:a="http://schemas.openxmlformats.org/drawingml/2006/main" noGrp="1"/>
          </p:cNvSpPr>
          <p:nvPr/>
        </p:nvSpPr>
        <p:spPr>
          <a:xfrm xmlns:a="http://schemas.openxmlformats.org/drawingml/2006/main">
            <a:off x="7277100" y="4638675"/>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5,000 rows in 3:52:02</a:t>
            </a:r>
          </a:p>
        </p:txBody>
      </p:sp>
      <p:sp>
        <p:nvSpPr>
          <p:cNvPr id="30" name="">
            <a:extLst xmlns:a="http://schemas.openxmlformats.org/drawingml/2006/main">
              <a:ext uri="{FF2B5EF4-FFF2-40B4-BE49-F238E27FC236}">
                <a16:creationId xmlns:a16="http://schemas.microsoft.com/office/drawing/2014/main" id="{DAFC78E8-8B93-4CFA-B394-C1EFECCCFE78}"/>
              </a:ext>
            </a:extLst>
          </p:cNvPr>
          <p:cNvSpPr>
            <a:spLocks xmlns:a="http://schemas.openxmlformats.org/drawingml/2006/main" noGrp="1"/>
          </p:cNvSpPr>
          <p:nvPr/>
        </p:nvSpPr>
        <p:spPr>
          <a:xfrm xmlns:a="http://schemas.openxmlformats.org/drawingml/2006/main">
            <a:off x="9277350" y="4057650"/>
            <a:ext cx="1714500" cy="1047750"/>
          </a:xfrm>
          <a:prstGeom xmlns:a="http://schemas.openxmlformats.org/drawingml/2006/main" prst="roundRect">
            <a:avLst>
              <a:gd name="adj" fmla="val 12727"/>
            </a:avLst>
          </a:prstGeom>
          <a:solidFill xmlns:a="http://schemas.openxmlformats.org/drawingml/2006/main">
            <a:srgbClr val="FBF0D8"/>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ECC142BB-B95E-47C3-8AC5-D719E2CF1714}"/>
              </a:ext>
            </a:extLst>
          </p:cNvPr>
          <p:cNvSpPr>
            <a:spLocks xmlns:a="http://schemas.openxmlformats.org/drawingml/2006/main" noGrp="1"/>
          </p:cNvSpPr>
          <p:nvPr/>
        </p:nvSpPr>
        <p:spPr>
          <a:xfrm xmlns:a="http://schemas.openxmlformats.org/drawingml/2006/main">
            <a:off x="9410700" y="4248150"/>
            <a:ext cx="144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D59B32"/>
                </a:solidFill>
              </a:defRPr>
            </a:pPr>
            <a:r>
              <a:rPr sz="1425" b="1">
                <a:solidFill>
                  <a:srgbClr val="D59B32"/>
                </a:solidFill>
              </a:rPr>
              <a:t>Leaderboard</a:t>
            </a:r>
          </a:p>
        </p:txBody>
      </p:sp>
      <p:sp>
        <p:nvSpPr>
          <p:cNvPr id="32" name="">
            <a:extLst xmlns:a="http://schemas.openxmlformats.org/drawingml/2006/main">
              <a:ext uri="{FF2B5EF4-FFF2-40B4-BE49-F238E27FC236}">
                <a16:creationId xmlns:a16="http://schemas.microsoft.com/office/drawing/2014/main" id="{16BC243C-310A-40F1-A23F-0BF4410891B4}"/>
              </a:ext>
            </a:extLst>
          </p:cNvPr>
          <p:cNvSpPr>
            <a:spLocks xmlns:a="http://schemas.openxmlformats.org/drawingml/2006/main" noGrp="1"/>
          </p:cNvSpPr>
          <p:nvPr/>
        </p:nvSpPr>
        <p:spPr>
          <a:xfrm xmlns:a="http://schemas.openxmlformats.org/drawingml/2006/main">
            <a:off x="9410700" y="4638675"/>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26174"/>
                </a:solidFill>
              </a:defRPr>
            </a:pPr>
            <a:r>
              <a:rPr sz="1200" b="0">
                <a:solidFill>
                  <a:srgbClr val="526174"/>
                </a:solidFill>
              </a:rPr>
              <a:t>aggregate score only</a:t>
            </a:r>
          </a:p>
        </p:txBody>
      </p:sp>
      <p:sp>
        <p:nvSpPr>
          <p:cNvPr id="33" name="">
            <a:extLst xmlns:a="http://schemas.openxmlformats.org/drawingml/2006/main">
              <a:ext uri="{FF2B5EF4-FFF2-40B4-BE49-F238E27FC236}">
                <a16:creationId xmlns:a16="http://schemas.microsoft.com/office/drawing/2014/main" id="{A3AC2E9A-D42A-4A34-9DDA-ABA050314487}"/>
              </a:ext>
            </a:extLst>
          </p:cNvPr>
          <p:cNvSpPr>
            <a:spLocks xmlns:a="http://schemas.openxmlformats.org/drawingml/2006/main" noGrp="1"/>
          </p:cNvSpPr>
          <p:nvPr/>
        </p:nvSpPr>
        <p:spPr>
          <a:xfrm xmlns:a="http://schemas.openxmlformats.org/drawingml/2006/main">
            <a:off x="1524000" y="5543550"/>
            <a:ext cx="9144000" cy="514350"/>
          </a:xfrm>
          <a:prstGeom xmlns:a="http://schemas.openxmlformats.org/drawingml/2006/main" prst="roundRect">
            <a:avLst>
              <a:gd name="adj" fmla="val 22222"/>
            </a:avLst>
          </a:prstGeom>
          <a:solidFill xmlns:a="http://schemas.openxmlformats.org/drawingml/2006/main">
            <a:srgbClr val="E7EEF4"/>
          </a:solidFill>
          <a:ln xmlns:a="http://schemas.openxmlformats.org/drawingml/2006/main" w="9525">
            <a:solidFill>
              <a:srgbClr val="1F5A7A"/>
            </a:solidFill>
            <a:prstDash val="solid"/>
          </a:ln>
        </p:spPr>
      </p:sp>
      <p:sp>
        <p:nvSpPr>
          <p:cNvPr id="34" name="">
            <a:extLst xmlns:a="http://schemas.openxmlformats.org/drawingml/2006/main">
              <a:ext uri="{FF2B5EF4-FFF2-40B4-BE49-F238E27FC236}">
                <a16:creationId xmlns:a16="http://schemas.microsoft.com/office/drawing/2014/main" id="{889EFA5D-820B-45C1-BF34-43618FD75B69}"/>
              </a:ext>
            </a:extLst>
          </p:cNvPr>
          <p:cNvSpPr>
            <a:spLocks xmlns:a="http://schemas.openxmlformats.org/drawingml/2006/main" noGrp="1"/>
          </p:cNvSpPr>
          <p:nvPr/>
        </p:nvSpPr>
        <p:spPr>
          <a:xfrm xmlns:a="http://schemas.openxmlformats.org/drawingml/2006/main">
            <a:off x="1752600" y="5686425"/>
            <a:ext cx="868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F5A7A"/>
                </a:solidFill>
              </a:defRPr>
            </a:pPr>
            <a:r>
              <a:rPr sz="1350" b="1">
                <a:solidFill>
                  <a:srgbClr val="1F5A7A"/>
                </a:solidFill>
              </a:rPr>
              <a:t>Accuracy ≠ reproducibility ≠ output integrity ≠ runtime; each claim needs its own evidence.</a:t>
            </a:r>
          </a:p>
        </p:txBody>
      </p:sp>
      <p:sp>
        <p:nvSpPr>
          <p:cNvPr id="35" name="">
            <a:extLst xmlns:a="http://schemas.openxmlformats.org/drawingml/2006/main">
              <a:ext uri="{FF2B5EF4-FFF2-40B4-BE49-F238E27FC236}">
                <a16:creationId xmlns:a16="http://schemas.microsoft.com/office/drawing/2014/main" id="{66E131D1-0821-437A-9046-5B6D7076AA49}"/>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6" name="source-12">
            <a:extLst xmlns:a="http://schemas.openxmlformats.org/drawingml/2006/main">
              <a:ext uri="{FF2B5EF4-FFF2-40B4-BE49-F238E27FC236}">
                <a16:creationId xmlns:a16="http://schemas.microsoft.com/office/drawing/2014/main" id="{0EE445F5-A6B8-4771-8E53-AF9BF4D97631}"/>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[1] Released labels + leaderboard  [7] regression ledger  [8] Phase 2 runtime</a:t>
            </a:r>
          </a:p>
        </p:txBody>
      </p:sp>
      <p:sp>
        <p:nvSpPr>
          <p:cNvPr id="37" name="page-12">
            <a:extLst xmlns:a="http://schemas.openxmlformats.org/drawingml/2006/main">
              <a:ext uri="{FF2B5EF4-FFF2-40B4-BE49-F238E27FC236}">
                <a16:creationId xmlns:a16="http://schemas.microsoft.com/office/drawing/2014/main" id="{F85D3633-A603-4AAD-A9E8-B6A038D9750F}"/>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19</a:t>
            </a:r>
          </a:p>
        </p:txBody>
      </p:sp>
    </p:spTree>
    <p:extLst>
      <p:ext uri="{BB962C8B-B14F-4D97-AF65-F5344CB8AC3E}">
        <p14:creationId xmlns:p14="http://schemas.microsoft.com/office/powerpoint/2010/main" val="1722569808"/>
      </p:ext>
    </p:extLst>
  </p:cSld>
</p:sld>
</file>

<file path=ppt/slides/slide2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3C6C590-AC8D-4D41-809E-7E46F3144D4D}"/>
              </a:ext>
            </a:extLst>
          </p:cNvPr>
          <p:cNvSpPr>
            <a:spLocks xmlns:a="http://schemas.openxmlformats.org/drawingml/2006/main" noGrp="1"/>
          </p:cNvSpPr>
          <p:nvPr/>
        </p:nvSpPr>
        <p:spPr>
          <a:xfrm xmlns:a="http://schemas.openxmlformats.org/drawingml/2006/main">
            <a:off x="685800" y="4000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F5A7A"/>
                </a:solidFill>
              </a:defRPr>
            </a:pPr>
            <a:r>
              <a:rPr sz="1125" b="1">
                <a:solidFill>
                  <a:srgbClr val="1F5A7A"/>
                </a:solidFill>
              </a:rPr>
              <a:t>TECHNICAL APPENDIX</a:t>
            </a:r>
          </a:p>
        </p:txBody>
      </p:sp>
      <p:sp>
        <p:nvSpPr>
          <p:cNvPr id="2" name="">
            <a:extLst xmlns:a="http://schemas.openxmlformats.org/drawingml/2006/main">
              <a:ext uri="{FF2B5EF4-FFF2-40B4-BE49-F238E27FC236}">
                <a16:creationId xmlns:a16="http://schemas.microsoft.com/office/drawing/2014/main" id="{7701A439-0284-41A8-82FA-93596169CFD0}"/>
              </a:ext>
            </a:extLst>
          </p:cNvPr>
          <p:cNvSpPr>
            <a:spLocks xmlns:a="http://schemas.openxmlformats.org/drawingml/2006/main" noGrp="1"/>
          </p:cNvSpPr>
          <p:nvPr/>
        </p:nvSpPr>
        <p:spPr>
          <a:xfrm xmlns:a="http://schemas.openxmlformats.org/drawingml/2006/main">
            <a:off x="685800" y="838200"/>
            <a:ext cx="9048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300" b="1">
                <a:solidFill>
                  <a:srgbClr val="0F172A"/>
                </a:solidFill>
              </a:defRPr>
            </a:pPr>
            <a:r>
              <a:rPr sz="3300" b="1">
                <a:solidFill>
                  <a:srgbClr val="0F172A"/>
                </a:solidFill>
              </a:rPr>
              <a:t>Phase 2 defines a focused</a:t>
            </a:r>
          </a:p>
          <a:p xmlns:a="http://schemas.openxmlformats.org/drawingml/2006/main">
            <a:pPr algn="l">
              <a:buNone/>
              <a:defRPr sz="3300" b="1">
                <a:solidFill>
                  <a:srgbClr val="0F172A"/>
                </a:solidFill>
              </a:defRPr>
            </a:pPr>
            <a:r>
              <a:rPr sz="3300" b="1">
                <a:solidFill>
                  <a:srgbClr val="0F172A"/>
                </a:solidFill>
              </a:rPr>
              <a:t>next-experiment queue</a:t>
            </a:r>
          </a:p>
        </p:txBody>
      </p:sp>
      <p:sp>
        <p:nvSpPr>
          <p:cNvPr id="3" name="">
            <a:extLst xmlns:a="http://schemas.openxmlformats.org/drawingml/2006/main">
              <a:ext uri="{FF2B5EF4-FFF2-40B4-BE49-F238E27FC236}">
                <a16:creationId xmlns:a16="http://schemas.microsoft.com/office/drawing/2014/main" id="{E39312FA-DAE7-402C-9B1B-72ABD0FA420F}"/>
              </a:ext>
            </a:extLst>
          </p:cNvPr>
          <p:cNvSpPr>
            <a:spLocks xmlns:a="http://schemas.openxmlformats.org/drawingml/2006/main" noGrp="1"/>
          </p:cNvSpPr>
          <p:nvPr/>
        </p:nvSpPr>
        <p:spPr>
          <a:xfrm xmlns:a="http://schemas.openxmlformats.org/drawingml/2006/main">
            <a:off x="685800" y="2647950"/>
            <a:ext cx="321945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9C9F5B7B-F077-4CFB-99B4-3607107AEA6E}"/>
              </a:ext>
            </a:extLst>
          </p:cNvPr>
          <p:cNvSpPr>
            <a:spLocks xmlns:a="http://schemas.openxmlformats.org/drawingml/2006/main" noGrp="1"/>
          </p:cNvSpPr>
          <p:nvPr/>
        </p:nvSpPr>
        <p:spPr>
          <a:xfrm xmlns:a="http://schemas.openxmlformats.org/drawingml/2006/main">
            <a:off x="914400" y="28765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2A8C82"/>
                </a:solidFill>
              </a:defRPr>
            </a:pPr>
            <a:r>
              <a:rPr sz="1650" b="1">
                <a:solidFill>
                  <a:srgbClr val="2A8C82"/>
                </a:solidFill>
              </a:rPr>
              <a:t>Observed shift</a:t>
            </a:r>
          </a:p>
        </p:txBody>
      </p:sp>
      <p:sp>
        <p:nvSpPr>
          <p:cNvPr id="5" name="">
            <a:extLst xmlns:a="http://schemas.openxmlformats.org/drawingml/2006/main">
              <a:ext uri="{FF2B5EF4-FFF2-40B4-BE49-F238E27FC236}">
                <a16:creationId xmlns:a16="http://schemas.microsoft.com/office/drawing/2014/main" id="{A34508EC-ADC8-47BD-944D-F8E4B8A94CBA}"/>
              </a:ext>
            </a:extLst>
          </p:cNvPr>
          <p:cNvSpPr>
            <a:spLocks xmlns:a="http://schemas.openxmlformats.org/drawingml/2006/main" noGrp="1"/>
          </p:cNvSpPr>
          <p:nvPr/>
        </p:nvSpPr>
        <p:spPr>
          <a:xfrm xmlns:a="http://schemas.openxmlformats.org/drawingml/2006/main">
            <a:off x="914400" y="3371850"/>
            <a:ext cx="2762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F172A"/>
                </a:solidFill>
              </a:defRPr>
            </a:pPr>
            <a:r>
              <a:rPr sz="1275" b="0">
                <a:solidFill>
                  <a:srgbClr val="0F172A"/>
                </a:solidFill>
              </a:rPr>
              <a:t>Deterministic coverage: 93.72% → 4.14%.</a:t>
            </a:r>
          </a:p>
          <a:p xmlns:a="http://schemas.openxmlformats.org/drawingml/2006/main">
            <a:pPr algn="l">
              <a:buNone/>
              <a:defRPr sz="1275" b="0">
                <a:solidFill>
                  <a:srgbClr val="0F172A"/>
                </a:solidFill>
              </a:defRPr>
            </a:pPr>
            <a:r>
              <a:rPr sz="1275" b="0">
                <a:solidFill>
                  <a:srgbClr val="0F172A"/>
                </a:solidFill>
              </a:rPr>
              <a:t>Judge handled 4,793 / 5,000 rows.</a:t>
            </a:r>
          </a:p>
          <a:p xmlns:a="http://schemas.openxmlformats.org/drawingml/2006/main">
            <a:pPr algn="l">
              <a:buNone/>
              <a:defRPr sz="1275" b="0">
                <a:solidFill>
                  <a:srgbClr val="0F172A"/>
                </a:solidFill>
              </a:defRPr>
            </a:pPr>
            <a:r>
              <a:rPr sz="1275" b="0">
                <a:solidFill>
                  <a:srgbClr val="0F172A"/>
                </a:solidFill>
              </a:rPr>
              <a:t>Accuracy is not yet released.</a:t>
            </a:r>
          </a:p>
        </p:txBody>
      </p:sp>
      <p:sp>
        <p:nvSpPr>
          <p:cNvPr id="6" name="">
            <a:extLst xmlns:a="http://schemas.openxmlformats.org/drawingml/2006/main">
              <a:ext uri="{FF2B5EF4-FFF2-40B4-BE49-F238E27FC236}">
                <a16:creationId xmlns:a16="http://schemas.microsoft.com/office/drawing/2014/main" id="{6C419DA7-6A87-4599-97A5-DC8565EA9D06}"/>
              </a:ext>
            </a:extLst>
          </p:cNvPr>
          <p:cNvSpPr>
            <a:spLocks xmlns:a="http://schemas.openxmlformats.org/drawingml/2006/main" noGrp="1"/>
          </p:cNvSpPr>
          <p:nvPr/>
        </p:nvSpPr>
        <p:spPr>
          <a:xfrm xmlns:a="http://schemas.openxmlformats.org/drawingml/2006/main">
            <a:off x="4438650" y="2647950"/>
            <a:ext cx="321945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9525">
            <a:solidFill>
              <a:srgbClr val="B5483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D87793E-5438-4392-A581-FB5DDAEC7C1C}"/>
              </a:ext>
            </a:extLst>
          </p:cNvPr>
          <p:cNvSpPr>
            <a:spLocks xmlns:a="http://schemas.openxmlformats.org/drawingml/2006/main" noGrp="1"/>
          </p:cNvSpPr>
          <p:nvPr/>
        </p:nvSpPr>
        <p:spPr>
          <a:xfrm xmlns:a="http://schemas.openxmlformats.org/drawingml/2006/main">
            <a:off x="4667250" y="28765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B5483A"/>
                </a:solidFill>
              </a:defRPr>
            </a:pPr>
            <a:r>
              <a:rPr sz="1650" b="1">
                <a:solidFill>
                  <a:srgbClr val="B5483A"/>
                </a:solidFill>
              </a:rPr>
              <a:t>Next experiments</a:t>
            </a:r>
          </a:p>
        </p:txBody>
      </p:sp>
      <p:sp>
        <p:nvSpPr>
          <p:cNvPr id="8" name="">
            <a:extLst xmlns:a="http://schemas.openxmlformats.org/drawingml/2006/main">
              <a:ext uri="{FF2B5EF4-FFF2-40B4-BE49-F238E27FC236}">
                <a16:creationId xmlns:a16="http://schemas.microsoft.com/office/drawing/2014/main" id="{F9D7D7CC-E901-4166-8780-28A3997F008B}"/>
              </a:ext>
            </a:extLst>
          </p:cNvPr>
          <p:cNvSpPr>
            <a:spLocks xmlns:a="http://schemas.openxmlformats.org/drawingml/2006/main" noGrp="1"/>
          </p:cNvSpPr>
          <p:nvPr/>
        </p:nvSpPr>
        <p:spPr>
          <a:xfrm xmlns:a="http://schemas.openxmlformats.org/drawingml/2006/main">
            <a:off x="4667250" y="3371850"/>
            <a:ext cx="2762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F172A"/>
                </a:solidFill>
              </a:defRPr>
            </a:pPr>
            <a:r>
              <a:rPr sz="1275" b="0">
                <a:solidFill>
                  <a:srgbClr val="0F172A"/>
                </a:solidFill>
              </a:rPr>
              <a:t>Label and cluster judged-tail errors.</a:t>
            </a:r>
          </a:p>
          <a:p xmlns:a="http://schemas.openxmlformats.org/drawingml/2006/main">
            <a:pPr algn="l">
              <a:buNone/>
              <a:defRPr sz="1275" b="0">
                <a:solidFill>
                  <a:srgbClr val="0F172A"/>
                </a:solidFill>
              </a:defRPr>
            </a:pPr>
            <a:r>
              <a:rPr sz="1275" b="0">
                <a:solidFill>
                  <a:srgbClr val="0F172A"/>
                </a:solidFill>
              </a:rPr>
              <a:t>Calibrate abstention and judge votes.</a:t>
            </a:r>
          </a:p>
          <a:p xmlns:a="http://schemas.openxmlformats.org/drawingml/2006/main">
            <a:pPr algn="l">
              <a:buNone/>
              <a:defRPr sz="1275" b="0">
                <a:solidFill>
                  <a:srgbClr val="0F172A"/>
                </a:solidFill>
              </a:defRPr>
            </a:pPr>
            <a:r>
              <a:rPr sz="1275" b="0">
                <a:solidFill>
                  <a:srgbClr val="0F172A"/>
                </a:solidFill>
              </a:rPr>
              <a:t>Add licensed civic and news evidence.</a:t>
            </a:r>
          </a:p>
        </p:txBody>
      </p:sp>
      <p:sp>
        <p:nvSpPr>
          <p:cNvPr id="9" name="">
            <a:extLst xmlns:a="http://schemas.openxmlformats.org/drawingml/2006/main">
              <a:ext uri="{FF2B5EF4-FFF2-40B4-BE49-F238E27FC236}">
                <a16:creationId xmlns:a16="http://schemas.microsoft.com/office/drawing/2014/main" id="{8DE7FAC4-CFA3-447F-9C4E-1476C1FCDEB3}"/>
              </a:ext>
            </a:extLst>
          </p:cNvPr>
          <p:cNvSpPr>
            <a:spLocks xmlns:a="http://schemas.openxmlformats.org/drawingml/2006/main" noGrp="1"/>
          </p:cNvSpPr>
          <p:nvPr/>
        </p:nvSpPr>
        <p:spPr>
          <a:xfrm xmlns:a="http://schemas.openxmlformats.org/drawingml/2006/main">
            <a:off x="8153400" y="2647950"/>
            <a:ext cx="321945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E87CC63-2335-46D0-A6C8-2AD8472D2D98}"/>
              </a:ext>
            </a:extLst>
          </p:cNvPr>
          <p:cNvSpPr>
            <a:spLocks xmlns:a="http://schemas.openxmlformats.org/drawingml/2006/main" noGrp="1"/>
          </p:cNvSpPr>
          <p:nvPr/>
        </p:nvSpPr>
        <p:spPr>
          <a:xfrm xmlns:a="http://schemas.openxmlformats.org/drawingml/2006/main">
            <a:off x="8382000" y="28765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D59B32"/>
                </a:solidFill>
              </a:defRPr>
            </a:pPr>
            <a:r>
              <a:rPr sz="1650" b="1">
                <a:solidFill>
                  <a:srgbClr val="D59B32"/>
                </a:solidFill>
              </a:rPr>
              <a:t>Rejected shortcuts</a:t>
            </a:r>
          </a:p>
        </p:txBody>
      </p:sp>
      <p:sp>
        <p:nvSpPr>
          <p:cNvPr id="11" name="">
            <a:extLst xmlns:a="http://schemas.openxmlformats.org/drawingml/2006/main">
              <a:ext uri="{FF2B5EF4-FFF2-40B4-BE49-F238E27FC236}">
                <a16:creationId xmlns:a16="http://schemas.microsoft.com/office/drawing/2014/main" id="{538A2B92-C66B-49B4-9A54-4B7E3F42E171}"/>
              </a:ext>
            </a:extLst>
          </p:cNvPr>
          <p:cNvSpPr>
            <a:spLocks xmlns:a="http://schemas.openxmlformats.org/drawingml/2006/main" noGrp="1"/>
          </p:cNvSpPr>
          <p:nvPr/>
        </p:nvSpPr>
        <p:spPr>
          <a:xfrm xmlns:a="http://schemas.openxmlformats.org/drawingml/2006/main">
            <a:off x="8382000" y="3371850"/>
            <a:ext cx="2762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F172A"/>
                </a:solidFill>
              </a:defRPr>
            </a:pPr>
            <a:r>
              <a:rPr sz="1275" b="0">
                <a:solidFill>
                  <a:srgbClr val="0F172A"/>
                </a:solidFill>
              </a:rPr>
              <a:t>Do not force fuzzy matches.</a:t>
            </a:r>
          </a:p>
          <a:p xmlns:a="http://schemas.openxmlformats.org/drawingml/2006/main">
            <a:pPr algn="l">
              <a:buNone/>
              <a:defRPr sz="1275" b="0">
                <a:solidFill>
                  <a:srgbClr val="0F172A"/>
                </a:solidFill>
              </a:defRPr>
            </a:pPr>
            <a:r>
              <a:rPr sz="1275" b="0">
                <a:solidFill>
                  <a:srgbClr val="0F172A"/>
                </a:solidFill>
              </a:rPr>
              <a:t>Do not fine-tune on only 299 labels.</a:t>
            </a:r>
          </a:p>
          <a:p xmlns:a="http://schemas.openxmlformats.org/drawingml/2006/main">
            <a:pPr algn="l">
              <a:buNone/>
              <a:defRPr sz="1275" b="0">
                <a:solidFill>
                  <a:srgbClr val="0F172A"/>
                </a:solidFill>
              </a:defRPr>
            </a:pPr>
            <a:r>
              <a:rPr sz="1275" b="0">
                <a:solidFill>
                  <a:srgbClr val="0F172A"/>
                </a:solidFill>
              </a:rPr>
              <a:t>Do not call runtime an accuracy result.</a:t>
            </a:r>
          </a:p>
        </p:txBody>
      </p:sp>
      <p:sp>
        <p:nvSpPr>
          <p:cNvPr id="12" name="">
            <a:extLst xmlns:a="http://schemas.openxmlformats.org/drawingml/2006/main">
              <a:ext uri="{FF2B5EF4-FFF2-40B4-BE49-F238E27FC236}">
                <a16:creationId xmlns:a16="http://schemas.microsoft.com/office/drawing/2014/main" id="{8744B878-38BB-41E7-9CDB-A47574C43C45}"/>
              </a:ext>
            </a:extLst>
          </p:cNvPr>
          <p:cNvSpPr>
            <a:spLocks xmlns:a="http://schemas.openxmlformats.org/drawingml/2006/main" noGrp="1"/>
          </p:cNvSpPr>
          <p:nvPr/>
        </p:nvSpPr>
        <p:spPr>
          <a:xfrm xmlns:a="http://schemas.openxmlformats.org/drawingml/2006/main">
            <a:off x="685800" y="542925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1F5A7A"/>
                </a:solidFill>
              </a:defRPr>
            </a:pPr>
            <a:r>
              <a:rPr sz="2700" b="1">
                <a:solidFill>
                  <a:srgbClr val="1F5A7A"/>
                </a:solidFill>
              </a:rPr>
              <a:t>Decision</a:t>
            </a:r>
          </a:p>
        </p:txBody>
      </p:sp>
      <p:sp>
        <p:nvSpPr>
          <p:cNvPr id="13" name="">
            <a:extLst xmlns:a="http://schemas.openxmlformats.org/drawingml/2006/main">
              <a:ext uri="{FF2B5EF4-FFF2-40B4-BE49-F238E27FC236}">
                <a16:creationId xmlns:a16="http://schemas.microsoft.com/office/drawing/2014/main" id="{B5222930-A972-4E65-8A69-CFE761388F8B}"/>
              </a:ext>
            </a:extLst>
          </p:cNvPr>
          <p:cNvSpPr>
            <a:spLocks xmlns:a="http://schemas.openxmlformats.org/drawingml/2006/main" noGrp="1"/>
          </p:cNvSpPr>
          <p:nvPr/>
        </p:nvSpPr>
        <p:spPr>
          <a:xfrm xmlns:a="http://schemas.openxmlformats.org/drawingml/2006/main">
            <a:off x="3714750" y="5467350"/>
            <a:ext cx="7696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350" b="1">
                <a:solidFill>
                  <a:srgbClr val="526174"/>
                </a:solidFill>
              </a:defRPr>
            </a:pPr>
            <a:r>
              <a:rPr sz="1350" b="1">
                <a:solidFill>
                  <a:srgbClr val="526174"/>
                </a:solidFill>
              </a:rPr>
              <a:t>Keep the conservative admission contract; optimize the judge tail only after Phase 2 error labels exist.</a:t>
            </a:r>
          </a:p>
        </p:txBody>
      </p:sp>
      <p:sp>
        <p:nvSpPr>
          <p:cNvPr id="14" name="">
            <a:extLst xmlns:a="http://schemas.openxmlformats.org/drawingml/2006/main">
              <a:ext uri="{FF2B5EF4-FFF2-40B4-BE49-F238E27FC236}">
                <a16:creationId xmlns:a16="http://schemas.microsoft.com/office/drawing/2014/main" id="{F8781430-71AC-4AC8-AAE8-227D6612A7A4}"/>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5" name="">
            <a:extLst xmlns:a="http://schemas.openxmlformats.org/drawingml/2006/main">
              <a:ext uri="{FF2B5EF4-FFF2-40B4-BE49-F238E27FC236}">
                <a16:creationId xmlns:a16="http://schemas.microsoft.com/office/drawing/2014/main" id="{9D17B9C4-5AFB-4BEB-9DA4-65B1E25650A8}"/>
              </a:ext>
            </a:extLst>
          </p:cNvPr>
          <p:cNvSpPr>
            <a:spLocks xmlns:a="http://schemas.openxmlformats.org/drawingml/2006/main" noGrp="1"/>
          </p:cNvSpPr>
          <p:nvPr/>
        </p:nvSpPr>
        <p:spPr>
          <a:xfrm xmlns:a="http://schemas.openxmlformats.org/drawingml/2006/main">
            <a:off x="685800" y="6448425"/>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174"/>
                </a:solidFill>
              </a:defRPr>
            </a:pPr>
            <a:r>
              <a:rPr sz="1050" b="0">
                <a:solidFill>
                  <a:srgbClr val="526174"/>
                </a:solidFill>
              </a:rPr>
              <a:t>[7] Frozen v91 system  [8] organizer-run Phase 2 runtime report</a:t>
            </a:r>
          </a:p>
        </p:txBody>
      </p:sp>
      <p:sp>
        <p:nvSpPr>
          <p:cNvPr id="16" name="">
            <a:extLst xmlns:a="http://schemas.openxmlformats.org/drawingml/2006/main">
              <a:ext uri="{FF2B5EF4-FFF2-40B4-BE49-F238E27FC236}">
                <a16:creationId xmlns:a16="http://schemas.microsoft.com/office/drawing/2014/main" id="{37D8D58A-E0D4-4368-A6D1-D7F564E3069C}"/>
              </a:ext>
            </a:extLst>
          </p:cNvPr>
          <p:cNvSpPr>
            <a:spLocks xmlns:a="http://schemas.openxmlformats.org/drawingml/2006/main" noGrp="1"/>
          </p:cNvSpPr>
          <p:nvPr/>
        </p:nvSpPr>
        <p:spPr>
          <a:xfrm xmlns:a="http://schemas.openxmlformats.org/drawingml/2006/main">
            <a:off x="10810875" y="6448425"/>
            <a:ext cx="695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1F5A7A"/>
                </a:solidFill>
              </a:defRPr>
            </a:pPr>
            <a:r>
              <a:rPr sz="1050" b="1">
                <a:solidFill>
                  <a:srgbClr val="1F5A7A"/>
                </a:solidFill>
              </a:rPr>
              <a:t>20</a:t>
            </a:r>
          </a:p>
        </p:txBody>
      </p:sp>
    </p:spTree>
    <p:extLst>
      <p:ext uri="{BB962C8B-B14F-4D97-AF65-F5344CB8AC3E}">
        <p14:creationId xmlns:p14="http://schemas.microsoft.com/office/powerpoint/2010/main" val="18773956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2026-07-23T07:44:37.5780000Z</dcterms:created>
  <dcterms:modified xsi:type="dcterms:W3CDTF">2026-07-23T07:44:37.5780000Z</dcterms:modified>
</coreProperties>
</file>