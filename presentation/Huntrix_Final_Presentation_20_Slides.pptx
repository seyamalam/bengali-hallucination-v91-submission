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48e78aa4c44418" /><Relationship Type="http://schemas.openxmlformats.org/officeDocument/2006/relationships/extended-properties" Target="/docProps/app.xml" Id="Rafc252da847d4fb1" /><Relationship Type="http://schemas.openxmlformats.org/officeDocument/2006/relationships/officeDocument" Target="/ppt/presentation.xml" Id="Rda9e31a9e6df4df5" /></Relationships>
</file>

<file path=ppt/presentation.xml><?xml version="1.0" encoding="utf-8"?>
<p:presentation xmlns:p="http://schemas.openxmlformats.org/presentationml/2006/main">
  <p:sldMasterIdLst>
    <p:sldMasterId xmlns:r="http://schemas.openxmlformats.org/officeDocument/2006/relationships" id="2147483648" r:id="R4235d551046d43e3"/>
  </p:sldMasterIdLst>
  <p:notesMasterIdLst>
    <p:notesMasterId xmlns:r="http://schemas.openxmlformats.org/officeDocument/2006/relationships" r:id="R87eaaa23a1bb459a"/>
  </p:notesMasterIdLst>
  <p:sldIdLst>
    <p:sldId xmlns:r="http://schemas.openxmlformats.org/officeDocument/2006/relationships" id="256" r:id="Rfef0d2d128b4430c"/>
    <p:sldId xmlns:r="http://schemas.openxmlformats.org/officeDocument/2006/relationships" id="257" r:id="R38127e54bac34ae8"/>
    <p:sldId xmlns:r="http://schemas.openxmlformats.org/officeDocument/2006/relationships" id="258" r:id="Rc0ba68ba115e4994"/>
    <p:sldId xmlns:r="http://schemas.openxmlformats.org/officeDocument/2006/relationships" id="259" r:id="Rf9c080913d974154"/>
    <p:sldId xmlns:r="http://schemas.openxmlformats.org/officeDocument/2006/relationships" id="260" r:id="Reb4fb21d31514a61"/>
    <p:sldId xmlns:r="http://schemas.openxmlformats.org/officeDocument/2006/relationships" id="261" r:id="R379ae6d4e3b64892"/>
    <p:sldId xmlns:r="http://schemas.openxmlformats.org/officeDocument/2006/relationships" id="262" r:id="R36c8e69442d44f61"/>
    <p:sldId xmlns:r="http://schemas.openxmlformats.org/officeDocument/2006/relationships" id="263" r:id="R2b989e3e474b4207"/>
    <p:sldId xmlns:r="http://schemas.openxmlformats.org/officeDocument/2006/relationships" id="264" r:id="Rab398b68e2bf4d0d"/>
    <p:sldId xmlns:r="http://schemas.openxmlformats.org/officeDocument/2006/relationships" id="265" r:id="Rdc0bf10875d64c2e"/>
    <p:sldId xmlns:r="http://schemas.openxmlformats.org/officeDocument/2006/relationships" id="266" r:id="Rf6b040c7e94143af"/>
    <p:sldId xmlns:r="http://schemas.openxmlformats.org/officeDocument/2006/relationships" id="267" r:id="R70b1ceb327124f41"/>
    <p:sldId xmlns:r="http://schemas.openxmlformats.org/officeDocument/2006/relationships" id="268" r:id="R181d5523e2bd435e"/>
    <p:sldId xmlns:r="http://schemas.openxmlformats.org/officeDocument/2006/relationships" id="269" r:id="R7d6343ce11c74816"/>
    <p:sldId xmlns:r="http://schemas.openxmlformats.org/officeDocument/2006/relationships" id="270" r:id="R990d20746b8b4aa4"/>
    <p:sldId xmlns:r="http://schemas.openxmlformats.org/officeDocument/2006/relationships" id="271" r:id="Rcb0a658a92d74a07"/>
    <p:sldId xmlns:r="http://schemas.openxmlformats.org/officeDocument/2006/relationships" id="272" r:id="Ra631cbaf42b04498"/>
    <p:sldId xmlns:r="http://schemas.openxmlformats.org/officeDocument/2006/relationships" id="273" r:id="Rc27c6501f7574d78"/>
    <p:sldId xmlns:r="http://schemas.openxmlformats.org/officeDocument/2006/relationships" id="274" r:id="R66bf8ba026fa4903"/>
    <p:sldId xmlns:r="http://schemas.openxmlformats.org/officeDocument/2006/relationships" id="275" r:id="Re206d792ce7b496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1332ff15fa34302" /><Relationship Type="http://schemas.openxmlformats.org/officeDocument/2006/relationships/slideMaster" Target="/ppt/slideMasters/slideMaster1.xml" Id="R4235d551046d43e3" /><Relationship Type="http://schemas.openxmlformats.org/officeDocument/2006/relationships/notesMaster" Target="/ppt/notesMasters/notesMaster1.xml" Id="R87eaaa23a1bb459a" /><Relationship Type="http://schemas.openxmlformats.org/officeDocument/2006/relationships/presProps" Target="/ppt/presProps.xml" Id="R25903fca5d3340de" /><Relationship Type="http://schemas.openxmlformats.org/officeDocument/2006/relationships/tableStyles" Target="/ppt/tableStyles.xml" Id="R69f5da7088fa4375" /><Relationship Type="http://schemas.openxmlformats.org/officeDocument/2006/relationships/slide" Target="/ppt/slides/slide1.xml" Id="Rfef0d2d128b4430c" /><Relationship Type="http://schemas.openxmlformats.org/officeDocument/2006/relationships/slide" Target="/ppt/slides/slide2.xml" Id="R38127e54bac34ae8" /><Relationship Type="http://schemas.openxmlformats.org/officeDocument/2006/relationships/slide" Target="/ppt/slides/slide3.xml" Id="Rc0ba68ba115e4994" /><Relationship Type="http://schemas.openxmlformats.org/officeDocument/2006/relationships/slide" Target="/ppt/slides/slide4.xml" Id="Rf9c080913d974154" /><Relationship Type="http://schemas.openxmlformats.org/officeDocument/2006/relationships/slide" Target="/ppt/slides/slide5.xml" Id="Reb4fb21d31514a61" /><Relationship Type="http://schemas.openxmlformats.org/officeDocument/2006/relationships/slide" Target="/ppt/slides/slide6.xml" Id="R379ae6d4e3b64892" /><Relationship Type="http://schemas.openxmlformats.org/officeDocument/2006/relationships/slide" Target="/ppt/slides/slide7.xml" Id="R36c8e69442d44f61" /><Relationship Type="http://schemas.openxmlformats.org/officeDocument/2006/relationships/slide" Target="/ppt/slides/slide8.xml" Id="R2b989e3e474b4207" /><Relationship Type="http://schemas.openxmlformats.org/officeDocument/2006/relationships/slide" Target="/ppt/slides/slide9.xml" Id="Rab398b68e2bf4d0d" /><Relationship Type="http://schemas.openxmlformats.org/officeDocument/2006/relationships/slide" Target="/ppt/slides/slide10.xml" Id="Rdc0bf10875d64c2e" /><Relationship Type="http://schemas.openxmlformats.org/officeDocument/2006/relationships/slide" Target="/ppt/slides/slide11.xml" Id="Rf6b040c7e94143af" /><Relationship Type="http://schemas.openxmlformats.org/officeDocument/2006/relationships/slide" Target="/ppt/slides/slide12.xml" Id="R70b1ceb327124f41" /><Relationship Type="http://schemas.openxmlformats.org/officeDocument/2006/relationships/slide" Target="/ppt/slides/slide13.xml" Id="R181d5523e2bd435e" /><Relationship Type="http://schemas.openxmlformats.org/officeDocument/2006/relationships/slide" Target="/ppt/slides/slide14.xml" Id="R7d6343ce11c74816" /><Relationship Type="http://schemas.openxmlformats.org/officeDocument/2006/relationships/slide" Target="/ppt/slides/slide15.xml" Id="R990d20746b8b4aa4" /><Relationship Type="http://schemas.openxmlformats.org/officeDocument/2006/relationships/slide" Target="/ppt/slides/slide16.xml" Id="Rcb0a658a92d74a07" /><Relationship Type="http://schemas.openxmlformats.org/officeDocument/2006/relationships/slide" Target="/ppt/slides/slide17.xml" Id="Ra631cbaf42b04498" /><Relationship Type="http://schemas.openxmlformats.org/officeDocument/2006/relationships/slide" Target="/ppt/slides/slide18.xml" Id="Rc27c6501f7574d78" /><Relationship Type="http://schemas.openxmlformats.org/officeDocument/2006/relationships/slide" Target="/ppt/slides/slide19.xml" Id="R66bf8ba026fa4903" /><Relationship Type="http://schemas.openxmlformats.org/officeDocument/2006/relationships/slide" Target="/ppt/slides/slide20.xml" Id="Re206d792ce7b49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d0d7091fa144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7a835c7b7434dde" /><Relationship Type="http://schemas.openxmlformats.org/officeDocument/2006/relationships/notesMaster" Target="/ppt/notesMasters/notesMaster1.xml" Id="Rfcd844364b8e48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02c2689cc74460" /><Relationship Type="http://schemas.openxmlformats.org/officeDocument/2006/relationships/notesMaster" Target="/ppt/notesMasters/notesMaster1.xml" Id="Rd888d80226a04a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85adfefe5f4cc5" /><Relationship Type="http://schemas.openxmlformats.org/officeDocument/2006/relationships/notesMaster" Target="/ppt/notesMasters/notesMaster1.xml" Id="R07cb1d02173944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c71eea7328d419b" /><Relationship Type="http://schemas.openxmlformats.org/officeDocument/2006/relationships/notesMaster" Target="/ppt/notesMasters/notesMaster1.xml" Id="R71096ee5f75542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9507e2acfb2417b" /><Relationship Type="http://schemas.openxmlformats.org/officeDocument/2006/relationships/notesMaster" Target="/ppt/notesMasters/notesMaster1.xml" Id="Racda0c5c3cf746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ac9b06fcfb874ee3" /><Relationship Type="http://schemas.openxmlformats.org/officeDocument/2006/relationships/notesMaster" Target="/ppt/notesMasters/notesMaster1.xml" Id="Rdcdb5c01caad48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1b6a7c2a8e4e73" /><Relationship Type="http://schemas.openxmlformats.org/officeDocument/2006/relationships/notesMaster" Target="/ppt/notesMasters/notesMaster1.xml" Id="R53a5d04886f346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35c760a4ae944bb" /><Relationship Type="http://schemas.openxmlformats.org/officeDocument/2006/relationships/notesMaster" Target="/ppt/notesMasters/notesMaster1.xml" Id="Rdc56cda6b0d948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58e0e0d70e4e39" /><Relationship Type="http://schemas.openxmlformats.org/officeDocument/2006/relationships/notesMaster" Target="/ppt/notesMasters/notesMaster1.xml" Id="Rda011a6407f343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cb3d86fd02455c" /><Relationship Type="http://schemas.openxmlformats.org/officeDocument/2006/relationships/notesMaster" Target="/ppt/notesMasters/notesMaster1.xml" Id="Recd129b518e945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51108765eac47f7" /><Relationship Type="http://schemas.openxmlformats.org/officeDocument/2006/relationships/notesMaster" Target="/ppt/notesMasters/notesMaster1.xml" Id="Rdafc100ac54d45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26c43b68f3f4ba2" /><Relationship Type="http://schemas.openxmlformats.org/officeDocument/2006/relationships/notesMaster" Target="/ppt/notesMasters/notesMaster1.xml" Id="R2f12ad49a7d443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a12eaaa07884f7b" /><Relationship Type="http://schemas.openxmlformats.org/officeDocument/2006/relationships/notesMaster" Target="/ppt/notesMasters/notesMaster1.xml" Id="R061072c40436417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68ff500755648a4" /><Relationship Type="http://schemas.openxmlformats.org/officeDocument/2006/relationships/notesMaster" Target="/ppt/notesMasters/notesMaster1.xml" Id="R610bd5a7968c456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a313974c8604686" /><Relationship Type="http://schemas.openxmlformats.org/officeDocument/2006/relationships/notesMaster" Target="/ppt/notesMasters/notesMaster1.xml" Id="R5727f3d5e1a34a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7e6f0ae9b7e4946" /><Relationship Type="http://schemas.openxmlformats.org/officeDocument/2006/relationships/notesMaster" Target="/ppt/notesMasters/notesMaster1.xml" Id="Rca60b624f0a44c0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97924bda28f4f3e" /><Relationship Type="http://schemas.openxmlformats.org/officeDocument/2006/relationships/notesMaster" Target="/ppt/notesMasters/notesMaster1.xml" Id="R62d57b575560452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cf21e6f6eee47d8" /><Relationship Type="http://schemas.openxmlformats.org/officeDocument/2006/relationships/notesMaster" Target="/ppt/notesMasters/notesMaster1.xml" Id="Ra2b64d99ec7944b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83919ed142d4405" /><Relationship Type="http://schemas.openxmlformats.org/officeDocument/2006/relationships/notesMaster" Target="/ppt/notesMasters/notesMaster1.xml" Id="R8902663b1a89412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077be07a45a43e4" /><Relationship Type="http://schemas.openxmlformats.org/officeDocument/2006/relationships/notesMaster" Target="/ppt/notesMasters/notesMaster1.xml" Id="R7b946187388b4a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The technical contribution is the combination of selective routing, small task solvers, claim-level verification, typed provenance, and an offline two-T4 fallback. Exact lineage can decide an exact source match. Structured solvers can decide a parsed number or option. Context checks can decide a contradiction inside the supplied passage. Each stage can also return nothing. If the source is only similar, or the relation is unclear,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released example shows why semantic similarity was not enough. The context says that Tareque Masud's latest feature film was Runway and that it was released in 2010. The prompt asks when the film was released. The response says Runway. That is a correct title and the correct entity, but it has the wrong semantic type. The expected predicate is release year, while the response supplies a film title. A retrieval system may see a highly related answer. Our relation gate rejects it and emits label zero. This is the concrete failure mode that motivated the predicate field used in later slides.</a:t>
            </a:r>
          </a:p>
          <a:p xmlns:a="http://schemas.openxmlformats.org/drawingml/2006/main">
            <a:r>
              <a:t/>
            </a:r>
          </a:p>
          <a:p xmlns:a="http://schemas.openxmlformats.org/drawingml/2006/main">
            <a:r>
              <a:t>Sources:</a:t>
            </a:r>
          </a:p>
          <a:p xmlns:a="http://schemas.openxmlformats.org/drawingml/2006/main">
            <a:r>
              <a:t>[1] Competition-released dataset samples.json, sample 4. [7] Frozen v91 predicate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This is the expanded presentation view of Figure 2a in the report. [3]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This is the expanded presentation view of Figure 2b in the report. [7]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This table makes the evolution easier to compare, but it is not a controlled ablation because each version accumulates more than one change. The baseline scored 0.657. A uniform Qwen judge raised that to 0.797 but judged every row under one policy. v6 introduced source and structured routing and reached 0.903, the largest observed step. v37 tightened provenance and reduced the unresolved queue to 312 rows. v85 added a reproducible two-source anchor and left 193 rows. v91 required typed idiom and predicate guards, reached 0.967 publicly, and left 158 rows. The important evidence is the alignment between score movement, queue reduction, and documented architectural changes, not a claim that each row is a pure single-variable experiment.</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We treated reproducibility as a result, not an administrative detail. The codebase had 249 automated tests, including 225 deterministic controls. The notebook reads the organizer's literal test path, loads pinned model, runtime, and evidence assets, and uses a fixed row, prompt, and batch schedule. One local llama.cpp server tensor-splits the model equally across the two T4 GPUs. The final validator preserves incoming IDs and writes exactly id and label. Three full runs produced byte-identical files, the frozen hash matched the scored CSV, and the organizer-run notebook validated 5,000 Phase 2 rows in 3 hours and 52 minutes. These checks establish execution integrity. The later official score measures the aggregate outcome, but it still provides no row-level errors. Orny will cover the measured deployment run next.</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 [9] Official Phase 2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The official standings later reported a score of 0.90144 and rank 7 of 32 teams. That is an aggregate result; the organizers did not release row-level labels.</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The official result was 0.90144 at rank 7 of 32. Because only aggregate standings were released, the remaining errors cannot yet be separated by source or routing branch.</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official Phase 2 score was 0.90144, placing Huntrix seventh among 32 teams, and the full run completed in 3 hours and 52 minutes. The limitations are equally important: we had only 299 released labels, the Phase 2 result is aggregate, and no row-level Phase 2 errors were released. If those labels become available, the next work is to inspect the judged tail, recalibrate uncertain cases, and expand licensed civic and news evidence.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how one binary label can cover very different task families.</a:t>
            </a:r>
          </a:p>
          <a:p xmlns:a="http://schemas.openxmlformats.org/drawingml/2006/main">
            <a:r>
              <a:t/>
            </a:r>
          </a:p>
          <a:p xmlns:a="http://schemas.openxmlformats.org/drawingml/2006/main">
            <a:r>
              <a:t>The label semantics never changed: zero means hallucinated and one means faithful. What changed was the support test. Context rows require claim-level support from the supplied passage. Closed-form rows require the exact requested calculation or option. Language rows require the requested grammatical form or idiom sense. Knowledge rows require source lineage plus aligned entity, predicate, and typed value. Every branch returns the same typed trace or abstains.</a:t>
            </a:r>
          </a:p>
          <a:p xmlns:a="http://schemas.openxmlformats.org/drawingml/2006/main">
            <a:r>
              <a:t/>
            </a:r>
          </a:p>
          <a:p xmlns:a="http://schemas.openxmlformats.org/drawingml/2006/main">
            <a:r>
              <a:t>Sources:</a:t>
            </a:r>
          </a:p>
          <a:p xmlns:a="http://schemas.openxmlformats.org/drawingml/2006/main">
            <a:r>
              <a:t>[1] Competition label definition. [3,4] Task-family references. [7] Frozen v91 trace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which decision wins when evidence disagrees.</a:t>
            </a:r>
          </a:p>
          <a:p xmlns:a="http://schemas.openxmlformats.org/drawingml/2006/main">
            <a:r>
              <a:t/>
            </a:r>
          </a:p>
          <a:p xmlns:a="http://schemas.openxmlformats.org/drawingml/2006/main">
            <a:r>
              <a:t>A direct contradiction is sufficient for label zero. Label one is stricter: every factual claim must be supported and no unsupported addition may remain. Exact typed evidence can decide only when entity, requested predicate, value, and provenance all align. Missing fields, ambiguity, or equal-trust conflict produce null, which is abstention rather than an error. Only that unresolved tail reaches the fixed LLM judge.</a:t>
            </a:r>
          </a:p>
          <a:p xmlns:a="http://schemas.openxmlformats.org/drawingml/2006/main">
            <a:r>
              <a:t/>
            </a:r>
          </a:p>
          <a:p xmlns:a="http://schemas.openxmlformats.org/drawingml/2006/main">
            <a:r>
              <a:t>Source:</a:t>
            </a:r>
          </a:p>
          <a:p xmlns:a="http://schemas.openxmlformats.org/drawingml/2006/main">
            <a:r>
              <a:t>[7] Frozen v91 router, conflict audit, and decision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for a concrete trace.</a:t>
            </a:r>
          </a:p>
          <a:p xmlns:a="http://schemas.openxmlformats.org/drawingml/2006/main">
            <a:r>
              <a:t/>
            </a:r>
          </a:p>
          <a:p xmlns:a="http://schemas.openxmlformats.org/drawingml/2006/main">
            <a:r>
              <a:t>The released passage identifies Runway as Tareque Masud's latest feature film and gives 2010 as the release year. The prompt asks for the year, but the response says Runway. The entity is related, yet the requested predicate and observed value type do not align: a title is not a year. The trace therefore records context_verifier, supplied_context, release_year, and verdict zero. This is why semantic similarity alone was unsafe.</a:t>
            </a:r>
          </a:p>
          <a:p xmlns:a="http://schemas.openxmlformats.org/drawingml/2006/main">
            <a:r>
              <a:t/>
            </a:r>
          </a:p>
          <a:p xmlns:a="http://schemas.openxmlformats.org/drawingml/2006/main">
            <a:r>
              <a:t>Sources:</a:t>
            </a:r>
          </a:p>
          <a:p xmlns:a="http://schemas.openxmlformats.org/drawingml/2006/main">
            <a:r>
              <a:t>[1] Released competition sample. [7] Predicate-alignment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each reported number proves.</a:t>
            </a:r>
          </a:p>
          <a:p xmlns:a="http://schemas.openxmlformats.org/drawingml/2006/main">
            <a:r>
              <a:t/>
            </a:r>
          </a:p>
          <a:p xmlns:a="http://schemas.openxmlformats.org/drawingml/2006/main">
            <a:r>
              <a:t>The 299 released labels can measure classification performance. The 249 automated tests show whether documented behavior was preserved. Three byte-identical runs show deterministic execution. Zero schema or ID-order failures show output integrity. The 5,000-row run establishes runtime compliance. The official Phase 2 result, 0.90144 at rank 7 of 32, measures aggregate held-out performance but still provides no row-level errors. These are complementary evidence layers, not substitutes for one another.</a:t>
            </a:r>
          </a:p>
          <a:p xmlns:a="http://schemas.openxmlformats.org/drawingml/2006/main">
            <a:r>
              <a:t/>
            </a:r>
          </a:p>
          <a:p xmlns:a="http://schemas.openxmlformats.org/drawingml/2006/main">
            <a:r>
              <a:t>Sources:</a:t>
            </a:r>
          </a:p>
          <a:p xmlns:a="http://schemas.openxmlformats.org/drawingml/2006/main">
            <a:r>
              <a:t>[1] Released labels and leaderboard. [7] Regression ledger. [8] Phase 2 runtime evidence.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 Q&amp;A</a:t>
            </a:r>
          </a:p>
          <a:p xmlns:a="http://schemas.openxmlformats.org/drawingml/2006/main">
            <a:r>
              <a:t/>
            </a:r>
          </a:p>
          <a:p xmlns:a="http://schemas.openxmlformats.org/drawingml/2006/main">
            <a:r>
              <a:t>Use when judges ask what changes after the official Phase 2 result.</a:t>
            </a:r>
          </a:p>
          <a:p xmlns:a="http://schemas.openxmlformats.org/drawingml/2006/main">
            <a:r>
              <a:t/>
            </a:r>
          </a:p>
          <a:p xmlns:a="http://schemas.openxmlformats.org/drawingml/2006/main">
            <a:r>
              <a:t>The source shift reduced deterministic coverage from 93.72 percent to 4.14 percent, so 4,793 of 5,000 rows reached the fixed judge. The official score of 0.90144 and rank 7 of 32 show that the system transferred reasonably well, but the aggregate result does not identify its remaining errors. That does not justify forcing approximate evidence. If row-level labels are released, the next work should cluster the judged tail, recalibrate abstention and vote rules, then add licensed civic and recent-news evidence. We would reject three shortcuts: fuzzy matches that bypass predicate checks, fine-tuning on only 299 released labels, and treating runtime success as accuracy.</a:t>
            </a:r>
          </a:p>
          <a:p xmlns:a="http://schemas.openxmlformats.org/drawingml/2006/main">
            <a:r>
              <a:t/>
            </a:r>
          </a:p>
          <a:p xmlns:a="http://schemas.openxmlformats.org/drawingml/2006/main">
            <a:r>
              <a:t>Sources:</a:t>
            </a:r>
          </a:p>
          <a:p xmlns:a="http://schemas.openxmlformats.org/drawingml/2006/main">
            <a:r>
              <a:t>[7] Frozen v91 system. [8] Organizer-run Phase 2 runtime report. [9] Official Phase 2 results 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bfc0860ffe44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abf5afe1a7420e" /><Relationship Type="http://schemas.openxmlformats.org/officeDocument/2006/relationships/slideLayout" Target="/ppt/slideLayouts/slideLayout1.xml" Id="R6193da52e81348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93da52e81348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398276bb46d417e" /><Relationship Type="http://schemas.openxmlformats.org/officeDocument/2006/relationships/notesSlide" Target="/ppt/notesSlides/notesSlide1.xml" Id="R84ad6113c2294c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00108524904642" /><Relationship Type="http://schemas.openxmlformats.org/officeDocument/2006/relationships/notesSlide" Target="/ppt/notesSlides/notesSlide2.xml" Id="R8b7da1f26b674f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d384cd9eaad44e6" /><Relationship Type="http://schemas.openxmlformats.org/officeDocument/2006/relationships/notesSlide" Target="/ppt/notesSlides/notesSlide3.xml" Id="R3523fd593be3458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c3c2940d98c4141" /><Relationship Type="http://schemas.openxmlformats.org/officeDocument/2006/relationships/notesSlide" Target="/ppt/notesSlides/notesSlide4.xml" Id="R7b52a7e5e97c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c92eef24ed245a7" /><Relationship Type="http://schemas.openxmlformats.org/officeDocument/2006/relationships/notesSlide" Target="/ppt/notesSlides/notesSlide5.xml" Id="R3d70ec0f930448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213d61023c4d8a" /><Relationship Type="http://schemas.openxmlformats.org/officeDocument/2006/relationships/notesSlide" Target="/ppt/notesSlides/notesSlide6.xml" Id="Rfcf1bacf3cf944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443f73bc71b4c44" /><Relationship Type="http://schemas.openxmlformats.org/officeDocument/2006/relationships/notesSlide" Target="/ppt/notesSlides/notesSlide7.xml" Id="Rfbe993eb2b544d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6485601a97a455b" /><Relationship Type="http://schemas.openxmlformats.org/officeDocument/2006/relationships/notesSlide" Target="/ppt/notesSlides/notesSlide8.xml" Id="R3e1ae5523fe54d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a59412ae487490d" /><Relationship Type="http://schemas.openxmlformats.org/officeDocument/2006/relationships/notesSlide" Target="/ppt/notesSlides/notesSlide9.xml" Id="R50766e4e50404fa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08dc21bb46044d5" /><Relationship Type="http://schemas.openxmlformats.org/officeDocument/2006/relationships/notesSlide" Target="/ppt/notesSlides/notesSlide10.xml" Id="R98185b0c6ce84f2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5e88ba22ce94e78" /><Relationship Type="http://schemas.openxmlformats.org/officeDocument/2006/relationships/notesSlide" Target="/ppt/notesSlides/notesSlide11.xml" Id="R47e591f9ad7744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2b3d5b78e8b4c65" /><Relationship Type="http://schemas.openxmlformats.org/officeDocument/2006/relationships/notesSlide" Target="/ppt/notesSlides/notesSlide12.xml" Id="Rfcb359c9680143f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b940f4ba5604575" /><Relationship Type="http://schemas.openxmlformats.org/officeDocument/2006/relationships/notesSlide" Target="/ppt/notesSlides/notesSlide13.xml" Id="R7e8a0c2d975f448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d9d8c96b8674faa" /><Relationship Type="http://schemas.openxmlformats.org/officeDocument/2006/relationships/notesSlide" Target="/ppt/notesSlides/notesSlide14.xml" Id="Rc83e027858b640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33d62f46cb54ab1" /><Relationship Type="http://schemas.openxmlformats.org/officeDocument/2006/relationships/notesSlide" Target="/ppt/notesSlides/notesSlide15.xml" Id="Rc32e69dc073642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dff1dd5df86476b" /><Relationship Type="http://schemas.openxmlformats.org/officeDocument/2006/relationships/notesSlide" Target="/ppt/notesSlides/notesSlide16.xml" Id="R1b32cd612f57481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f19e8ef955547c1" /><Relationship Type="http://schemas.openxmlformats.org/officeDocument/2006/relationships/notesSlide" Target="/ppt/notesSlides/notesSlide17.xml" Id="Rade1771e52fc412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3692ff1c4644397" /><Relationship Type="http://schemas.openxmlformats.org/officeDocument/2006/relationships/notesSlide" Target="/ppt/notesSlides/notesSlide18.xml" Id="Rbb929ba852bd4be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47e4b12842b4037" /><Relationship Type="http://schemas.openxmlformats.org/officeDocument/2006/relationships/notesSlide" Target="/ppt/notesSlides/notesSlide19.xml" Id="R84ed661b6e98464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99b3df5dab4450f" /><Relationship Type="http://schemas.openxmlformats.org/officeDocument/2006/relationships/notesSlide" Target="/ppt/notesSlides/notesSlide20.xml" Id="R3567ed72d28449b4"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6A8DF26-6BE0-42CF-B3E8-E67F43CFB69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35EB80A1-2A0C-4F10-B1B1-0CC577C3AEB4}"/>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CE18E8FE-B679-4334-8E19-DDFA025F5A45}"/>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525" b="1">
                <a:solidFill>
                  <a:srgbClr val="0F172A"/>
                </a:solidFill>
              </a:defRPr>
            </a:pPr>
            <a:r>
              <a:rPr sz="3525" b="1">
                <a:solidFill>
                  <a:srgbClr val="0F172A"/>
                </a:solidFill>
              </a:rPr>
              <a:t>Evidence-first selective inference</a:t>
            </a:r>
          </a:p>
          <a:p xmlns:a="http://schemas.openxmlformats.org/drawingml/2006/main">
            <a:pPr algn="l">
              <a:buNone/>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7B6A14FA-74DF-4F2F-B211-DD00B34642B8}"/>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A7E234C8-EE93-4461-8539-AE508AD455F3}"/>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6A5A1960-7CFE-4B14-8CDF-1DAA66E5EF42}"/>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4042306-E46F-4B58-9D04-D6B0D654154C}"/>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A3918071-8E5A-497A-A13F-45323B3D2334}"/>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82F4C6A0-B57B-4034-ADA6-2561B683440A}"/>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4DC3A532-DF95-45D8-85FA-958E99802C7C}"/>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C67A41FD-3413-45FC-AA7D-E7B5F25C0407}"/>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526174"/>
                </a:solidFill>
              </a:defRPr>
            </a:pPr>
            <a:r>
              <a:rPr sz="1200"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31357488-84AD-44C2-80C8-4D93FAB28305}"/>
              </a:ext>
            </a:extLst>
          </p:cNvPr>
          <p:cNvSpPr>
            <a:spLocks xmlns:a="http://schemas.openxmlformats.org/drawingml/2006/main" noGrp="1"/>
          </p:cNvSpPr>
          <p:nvPr/>
        </p:nvSpPr>
        <p:spPr>
          <a:xfrm xmlns:a="http://schemas.openxmlformats.org/drawingml/2006/main">
            <a:off x="914400" y="6477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C7BEE67A-BC27-41F8-8F6A-82E50970D98B}"/>
              </a:ext>
            </a:extLst>
          </p:cNvPr>
          <p:cNvSpPr>
            <a:spLocks xmlns:a="http://schemas.openxmlformats.org/drawingml/2006/main" noGrp="1"/>
          </p:cNvSpPr>
          <p:nvPr/>
        </p:nvSpPr>
        <p:spPr>
          <a:xfrm xmlns:a="http://schemas.openxmlformats.org/drawingml/2006/main">
            <a:off x="10810875" y="647700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01</a:t>
            </a:r>
          </a:p>
        </p:txBody>
      </p:sp>
    </p:spTree>
    <p:extLst>
      <p:ext uri="{BB962C8B-B14F-4D97-AF65-F5344CB8AC3E}">
        <p14:creationId xmlns:p14="http://schemas.microsoft.com/office/powerpoint/2010/main" val="716758062"/>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8A1BB54D-40A7-4131-AA8F-94E7A2D7F3C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060DC2FB-6889-42E5-93C7-9FF171D9D7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EDB27EDC-74EF-4A95-9558-F53C6B6DE7C0}"/>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9A126D8-0CCA-4EDD-9F5D-B10DE4601137}"/>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6143A4ED-172B-4B5C-B499-167E92C9E556}"/>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D41AEE24-4490-427E-A8BF-D65DEEE6DEAA}"/>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AC6F6B49-4715-459D-9FF5-68AD69FACA12}"/>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4992E8A9-6E74-48F0-8DF7-C045EF311DA8}"/>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320B7F74-FF4A-47B0-876E-66FE96C6ED56}"/>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32FE9981-E1C6-47F2-AE38-42D01F71B9EA}"/>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4A21850A-91D2-4E7B-893D-C329867B3676}"/>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374201EA-216B-4CD8-92B0-E03D008B68F9}"/>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D6667195-88F4-42D3-9089-212D43C279C1}"/>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1587C96D-B992-4EB6-83D5-52416EBF641E}"/>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76FFA939-AB49-47F6-BFDA-ABD5021665C3}"/>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E46BDF94-898E-4674-9B9C-DF712B9BA9E0}"/>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6C84E3DB-508A-4453-9836-8F88E0BA42D0}"/>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7BEEA1AE-8476-42EF-8289-A342032A6327}"/>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B6D57B8E-E03A-4013-A238-D6A167A3BF1A}"/>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D22F9F81-FB8E-4DF4-9B98-7B8D41E98F78}"/>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81EC5322-2D30-4D7E-B95B-5C8F6DD955BF}"/>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F412CAF1-26A9-40F4-B12A-5C3756E349FB}"/>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CA05B86D-0377-4D0C-9038-E0680F05CF80}"/>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D56080C3-CF35-4B55-9639-3E2776C3C9C4}"/>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D2A535F5-EB34-4C5B-985D-9B257F9AA4FC}"/>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BD307A9F-B5EB-417D-8907-D4BAF2600034}"/>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7F0C4C40-3F59-44C4-B185-9D0119689C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0F979E75-7588-4B51-B64C-055E8C57085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D99FF97B-59FE-470A-86EE-87C88F7A513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02</a:t>
            </a:r>
          </a:p>
        </p:txBody>
      </p:sp>
    </p:spTree>
    <p:extLst>
      <p:ext uri="{BB962C8B-B14F-4D97-AF65-F5344CB8AC3E}">
        <p14:creationId xmlns:p14="http://schemas.microsoft.com/office/powerpoint/2010/main" val="2118966615"/>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3">
            <a:extLst xmlns:a="http://schemas.openxmlformats.org/drawingml/2006/main">
              <a:ext uri="{FF2B5EF4-FFF2-40B4-BE49-F238E27FC236}">
                <a16:creationId xmlns:a16="http://schemas.microsoft.com/office/drawing/2014/main" id="{B61467C4-E471-42F4-B02A-78A4F4875D7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BE17C739-6F38-4040-B03A-1D3284D9519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FD940233-DFD4-4E34-8BC1-CF38F0B9C2F8}"/>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BD6C581-8B52-4CC4-8E2D-4C81093CEB70}"/>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685AB5A2-68E5-488C-8288-AEDE338C88E1}"/>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2DDF67A9-B0A2-42BC-8B79-123C49302AFD}"/>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47489E50-1A45-4FCD-A5E4-5571C534C006}"/>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F2243D48-28D8-45CB-82AF-44634B38DDB8}"/>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47FEA968-353B-4191-A3E2-3F4C2EC3E746}"/>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3CEE776C-FE6F-4032-BA74-BA7EB81BC73C}"/>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CD660309-BEF3-470B-97A5-4CC7652B1C04}"/>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digits, options,</a:t>
            </a:r>
          </a:p>
          <a:p xmlns:a="http://schemas.openxmlformats.org/drawingml/2006/main">
            <a:pPr algn="ctr">
              <a:buNone/>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25A0EDE7-5784-4941-93A2-288CD83DCE5D}"/>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F66EC480-DE8D-4EFF-8EA0-51DE31B183D2}"/>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BE3D061D-371C-4228-8399-5EE383A7071F}"/>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context, numeric,</a:t>
            </a:r>
          </a:p>
          <a:p xmlns:a="http://schemas.openxmlformats.org/drawingml/2006/main">
            <a:pPr algn="ctr">
              <a:buNone/>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4296F9FA-D919-4E2E-8DC5-C36D8AF60870}"/>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6CB89BF5-4C97-42FF-A318-94A19E118EC9}"/>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CFA43481-11BC-415A-8132-02E185B25D0A}"/>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exact lineage and</a:t>
            </a:r>
          </a:p>
          <a:p xmlns:a="http://schemas.openxmlformats.org/drawingml/2006/main">
            <a:pPr algn="ctr">
              <a:buNone/>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70B442B2-7888-4C5F-8CEE-C5F5F6A025EF}"/>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5E83B1DB-E7E9-4494-819A-8E961AE447BD}"/>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47D17432-AA13-4E40-8E7D-D03F45CEB7A6}"/>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resolved label or</a:t>
            </a:r>
          </a:p>
          <a:p xmlns:a="http://schemas.openxmlformats.org/drawingml/2006/main">
            <a:pPr algn="ctr">
              <a:buNone/>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724903D4-28F7-4213-B923-105D9BC4C634}"/>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63376F8C-DBCF-4DE1-97D2-94A840AB3C35}"/>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5B56EDAA-ED8B-4836-B539-E6F033CC9798}"/>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Qwen binary</a:t>
            </a:r>
          </a:p>
          <a:p xmlns:a="http://schemas.openxmlformats.org/drawingml/2006/main">
            <a:pPr algn="ctr">
              <a:buNone/>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0CCBD389-74E3-4439-953B-B768C89E7775}"/>
              </a:ext>
            </a:extLst>
          </p:cNvPr>
          <p:cNvSpPr>
            <a:spLocks xmlns:a="http://schemas.openxmlformats.org/drawingml/2006/main" noGrp="1"/>
          </p:cNvSpPr>
          <p:nvPr/>
        </p:nvSpPr>
        <p:spPr>
          <a:xfrm xmlns:a="http://schemas.openxmlformats.org/drawingml/2006/main">
            <a:off x="1428750" y="447675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Technical contributions</a:t>
            </a:r>
          </a:p>
        </p:txBody>
      </p:sp>
      <p:sp>
        <p:nvSpPr>
          <p:cNvPr id="25" name="">
            <a:extLst xmlns:a="http://schemas.openxmlformats.org/drawingml/2006/main">
              <a:ext uri="{FF2B5EF4-FFF2-40B4-BE49-F238E27FC236}">
                <a16:creationId xmlns:a16="http://schemas.microsoft.com/office/drawing/2014/main" id="{43568C9F-D533-4920-BD48-4FD3A4A25067}"/>
              </a:ext>
            </a:extLst>
          </p:cNvPr>
          <p:cNvSpPr>
            <a:spLocks xmlns:a="http://schemas.openxmlformats.org/drawingml/2006/main" noGrp="1"/>
          </p:cNvSpPr>
          <p:nvPr/>
        </p:nvSpPr>
        <p:spPr>
          <a:xfrm xmlns:a="http://schemas.openxmlformats.org/drawingml/2006/main">
            <a:off x="1066800" y="49720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Selective routing  •  task solvers  •  claim verification  •  typed provenance  •  offline T4×2</a:t>
            </a:r>
          </a:p>
        </p:txBody>
      </p:sp>
      <p:sp>
        <p:nvSpPr>
          <p:cNvPr id="26" name="">
            <a:extLst xmlns:a="http://schemas.openxmlformats.org/drawingml/2006/main">
              <a:ext uri="{FF2B5EF4-FFF2-40B4-BE49-F238E27FC236}">
                <a16:creationId xmlns:a16="http://schemas.microsoft.com/office/drawing/2014/main" id="{FD30615A-7D2C-4B2B-8107-41F5C8456A4A}"/>
              </a:ext>
            </a:extLst>
          </p:cNvPr>
          <p:cNvSpPr>
            <a:spLocks xmlns:a="http://schemas.openxmlformats.org/drawingml/2006/main" noGrp="1"/>
          </p:cNvSpPr>
          <p:nvPr/>
        </p:nvSpPr>
        <p:spPr>
          <a:xfrm xmlns:a="http://schemas.openxmlformats.org/drawingml/2006/main">
            <a:off x="1809750" y="546735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Every deterministic decision records its source family and requested relation.</a:t>
            </a:r>
          </a:p>
        </p:txBody>
      </p:sp>
      <p:sp>
        <p:nvSpPr>
          <p:cNvPr id="27" name="">
            <a:extLst xmlns:a="http://schemas.openxmlformats.org/drawingml/2006/main">
              <a:ext uri="{FF2B5EF4-FFF2-40B4-BE49-F238E27FC236}">
                <a16:creationId xmlns:a16="http://schemas.microsoft.com/office/drawing/2014/main" id="{34BA0A81-6071-464E-B633-6B5E1055B51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3">
            <a:extLst xmlns:a="http://schemas.openxmlformats.org/drawingml/2006/main">
              <a:ext uri="{FF2B5EF4-FFF2-40B4-BE49-F238E27FC236}">
                <a16:creationId xmlns:a16="http://schemas.microsoft.com/office/drawing/2014/main" id="{F93DD858-C72B-41D2-8A67-DD21C12DC3D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BenHalluEval  [4] Bengali idiom benchmark  [7] Frozen v91 architecture</a:t>
            </a:r>
          </a:p>
        </p:txBody>
      </p:sp>
      <p:sp>
        <p:nvSpPr>
          <p:cNvPr id="29" name="page-3">
            <a:extLst xmlns:a="http://schemas.openxmlformats.org/drawingml/2006/main">
              <a:ext uri="{FF2B5EF4-FFF2-40B4-BE49-F238E27FC236}">
                <a16:creationId xmlns:a16="http://schemas.microsoft.com/office/drawing/2014/main" id="{8DC4715B-0E33-4CB6-9900-8C70CE3D97E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03</a:t>
            </a:r>
          </a:p>
        </p:txBody>
      </p:sp>
    </p:spTree>
    <p:extLst>
      <p:ext uri="{BB962C8B-B14F-4D97-AF65-F5344CB8AC3E}">
        <p14:creationId xmlns:p14="http://schemas.microsoft.com/office/powerpoint/2010/main" val="731911166"/>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Context</a:t>
            </a:r>
          </a:p>
          <a:p xmlns:a="http://schemas.openxmlformats.org/drawingml/2006/main">
            <a:pPr algn="ctr">
              <a:buNone/>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Structured</a:t>
            </a:r>
          </a:p>
          <a:p xmlns:a="http://schemas.openxmlformats.org/drawingml/2006/main">
            <a:pPr algn="ctr">
              <a:buNone/>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Exact source</a:t>
            </a:r>
          </a:p>
          <a:p xmlns:a="http://schemas.openxmlformats.org/drawingml/2006/main">
            <a:pPr algn="ctr">
              <a:buNone/>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Context</a:t>
            </a:r>
          </a:p>
          <a:p xmlns:a="http://schemas.openxmlformats.org/drawingml/2006/main">
            <a:pPr algn="ctr">
              <a:buNone/>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support or contradict</a:t>
            </a:r>
          </a:p>
          <a:p xmlns:a="http://schemas.openxmlformats.org/drawingml/2006/main">
            <a:pPr algn="ctr">
              <a:buNone/>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Structured</a:t>
            </a:r>
          </a:p>
          <a:p xmlns:a="http://schemas.openxmlformats.org/drawingml/2006/main">
            <a:pPr algn="ctr">
              <a:buNone/>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numeric / MCQ</a:t>
            </a:r>
          </a:p>
          <a:p xmlns:a="http://schemas.openxmlformats.org/drawingml/2006/main">
            <a:pPr algn="ctr">
              <a:buNone/>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 tail</a:t>
            </a:r>
          </a:p>
          <a:p xmlns:a="http://schemas.openxmlformats.org/drawingml/2006/main">
            <a:pPr algn="ctr">
              <a:buNone/>
              <a:defRPr sz="1200" b="0">
                <a:solidFill>
                  <a:srgbClr val="526174"/>
                </a:solidFill>
              </a:defRPr>
            </a:pPr>
            <a:r>
              <a:rPr sz="1200" b="0">
                <a:solidFill>
                  <a:srgbClr val="526174"/>
                </a:solidFill>
              </a:rPr>
              <a:t>only</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04</a:t>
            </a:r>
          </a:p>
        </p:txBody>
      </p:sp>
    </p:spTree>
    <p:extLst>
      <p:ext uri="{BB962C8B-B14F-4D97-AF65-F5344CB8AC3E}">
        <p14:creationId xmlns:p14="http://schemas.microsoft.com/office/powerpoint/2010/main" val="47181633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05</a:t>
            </a:r>
          </a:p>
        </p:txBody>
      </p:sp>
    </p:spTree>
    <p:extLst>
      <p:ext uri="{BB962C8B-B14F-4D97-AF65-F5344CB8AC3E}">
        <p14:creationId xmlns:p14="http://schemas.microsoft.com/office/powerpoint/2010/main" val="1248703227"/>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6">
            <a:extLst xmlns:a="http://schemas.openxmlformats.org/drawingml/2006/main">
              <a:ext uri="{FF2B5EF4-FFF2-40B4-BE49-F238E27FC236}">
                <a16:creationId xmlns:a16="http://schemas.microsoft.com/office/drawing/2014/main" id="{42801365-F285-45DD-8B42-D668DEFF3FA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8F6851D2-DB83-451B-BE05-8F2A496193E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correct fact can still answer the wrong relation</a:t>
            </a:r>
          </a:p>
        </p:txBody>
      </p:sp>
      <p:sp>
        <p:nvSpPr>
          <p:cNvPr id="3" name="">
            <a:extLst xmlns:a="http://schemas.openxmlformats.org/drawingml/2006/main">
              <a:ext uri="{FF2B5EF4-FFF2-40B4-BE49-F238E27FC236}">
                <a16:creationId xmlns:a16="http://schemas.microsoft.com/office/drawing/2014/main" id="{79AF736C-198F-41D0-84B1-1B79BD7BDE97}"/>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DB4089A-AC56-4A7F-8546-B04A8294C5C0}"/>
              </a:ext>
            </a:extLst>
          </p:cNvPr>
          <p:cNvSpPr>
            <a:spLocks xmlns:a="http://schemas.openxmlformats.org/drawingml/2006/main" noGrp="1"/>
          </p:cNvSpPr>
          <p:nvPr/>
        </p:nvSpPr>
        <p:spPr>
          <a:xfrm xmlns:a="http://schemas.openxmlformats.org/drawingml/2006/main">
            <a:off x="685800" y="1381125"/>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sample 4 contains both the film title and year; the prompt asks specifically for the year.</a:t>
            </a:r>
          </a:p>
        </p:txBody>
      </p:sp>
      <p:sp>
        <p:nvSpPr>
          <p:cNvPr id="5" name="">
            <a:extLst xmlns:a="http://schemas.openxmlformats.org/drawingml/2006/main">
              <a:ext uri="{FF2B5EF4-FFF2-40B4-BE49-F238E27FC236}">
                <a16:creationId xmlns:a16="http://schemas.microsoft.com/office/drawing/2014/main" id="{FB4470C1-1CEE-4AAA-ABCC-A3AAB88BA8CF}"/>
              </a:ext>
            </a:extLst>
          </p:cNvPr>
          <p:cNvSpPr>
            <a:spLocks xmlns:a="http://schemas.openxmlformats.org/drawingml/2006/main" noGrp="1"/>
          </p:cNvSpPr>
          <p:nvPr/>
        </p:nvSpPr>
        <p:spPr>
          <a:xfrm xmlns:a="http://schemas.openxmlformats.org/drawingml/2006/main">
            <a:off x="6048375" y="3429000"/>
            <a:ext cx="666750" cy="3048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36CF15EE-62AC-4DB2-844C-664FA9DE7A47}"/>
              </a:ext>
            </a:extLst>
          </p:cNvPr>
          <p:cNvSpPr>
            <a:spLocks xmlns:a="http://schemas.openxmlformats.org/drawingml/2006/main" noGrp="1"/>
          </p:cNvSpPr>
          <p:nvPr/>
        </p:nvSpPr>
        <p:spPr>
          <a:xfrm xmlns:a="http://schemas.openxmlformats.org/drawingml/2006/main">
            <a:off x="742950" y="2076450"/>
            <a:ext cx="531495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43737E8B-B18B-4387-9BA8-3FADDB4D103B}"/>
              </a:ext>
            </a:extLst>
          </p:cNvPr>
          <p:cNvSpPr>
            <a:spLocks xmlns:a="http://schemas.openxmlformats.org/drawingml/2006/main" noGrp="1"/>
          </p:cNvSpPr>
          <p:nvPr/>
        </p:nvSpPr>
        <p:spPr>
          <a:xfrm xmlns:a="http://schemas.openxmlformats.org/drawingml/2006/main">
            <a:off x="1028700" y="22860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F5A7A"/>
                </a:solidFill>
              </a:defRPr>
            </a:pPr>
            <a:r>
              <a:rPr sz="1650" b="1">
                <a:solidFill>
                  <a:srgbClr val="1F5A7A"/>
                </a:solidFill>
              </a:rPr>
              <a:t>Released labeled example</a:t>
            </a:r>
          </a:p>
        </p:txBody>
      </p:sp>
      <p:sp>
        <p:nvSpPr>
          <p:cNvPr id="8" name="">
            <a:extLst xmlns:a="http://schemas.openxmlformats.org/drawingml/2006/main">
              <a:ext uri="{FF2B5EF4-FFF2-40B4-BE49-F238E27FC236}">
                <a16:creationId xmlns:a16="http://schemas.microsoft.com/office/drawing/2014/main" id="{7423D10F-44DC-4823-A5CF-77AD5D0C12DF}"/>
              </a:ext>
            </a:extLst>
          </p:cNvPr>
          <p:cNvSpPr>
            <a:spLocks xmlns:a="http://schemas.openxmlformats.org/drawingml/2006/main" noGrp="1"/>
          </p:cNvSpPr>
          <p:nvPr/>
        </p:nvSpPr>
        <p:spPr>
          <a:xfrm xmlns:a="http://schemas.openxmlformats.org/drawingml/2006/main">
            <a:off x="1028700" y="27622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Context (English)</a:t>
            </a:r>
          </a:p>
        </p:txBody>
      </p:sp>
      <p:sp>
        <p:nvSpPr>
          <p:cNvPr id="9" name="">
            <a:extLst xmlns:a="http://schemas.openxmlformats.org/drawingml/2006/main">
              <a:ext uri="{FF2B5EF4-FFF2-40B4-BE49-F238E27FC236}">
                <a16:creationId xmlns:a16="http://schemas.microsoft.com/office/drawing/2014/main" id="{8A3C3A45-5959-4F2D-BD1D-4016EB31B563}"/>
              </a:ext>
            </a:extLst>
          </p:cNvPr>
          <p:cNvSpPr>
            <a:spLocks xmlns:a="http://schemas.openxmlformats.org/drawingml/2006/main" noGrp="1"/>
          </p:cNvSpPr>
          <p:nvPr/>
        </p:nvSpPr>
        <p:spPr>
          <a:xfrm xmlns:a="http://schemas.openxmlformats.org/drawingml/2006/main">
            <a:off x="1028700" y="3067050"/>
            <a:ext cx="4572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0F172A"/>
                </a:solidFill>
              </a:defRPr>
            </a:pPr>
            <a:r>
              <a:rPr sz="1575" b="0">
                <a:solidFill>
                  <a:srgbClr val="0F172A"/>
                </a:solidFill>
              </a:rPr>
              <a:t>Runway, Tareque Masud's latest feature film, was released in 2010.</a:t>
            </a:r>
          </a:p>
        </p:txBody>
      </p:sp>
      <p:sp>
        <p:nvSpPr>
          <p:cNvPr id="10" name="">
            <a:extLst xmlns:a="http://schemas.openxmlformats.org/drawingml/2006/main">
              <a:ext uri="{FF2B5EF4-FFF2-40B4-BE49-F238E27FC236}">
                <a16:creationId xmlns:a16="http://schemas.microsoft.com/office/drawing/2014/main" id="{960123F4-2BED-4500-8C62-9FE703E5186D}"/>
              </a:ext>
            </a:extLst>
          </p:cNvPr>
          <p:cNvSpPr>
            <a:spLocks xmlns:a="http://schemas.openxmlformats.org/drawingml/2006/main" noGrp="1"/>
          </p:cNvSpPr>
          <p:nvPr/>
        </p:nvSpPr>
        <p:spPr>
          <a:xfrm xmlns:a="http://schemas.openxmlformats.org/drawingml/2006/main">
            <a:off x="1028700" y="3790950"/>
            <a:ext cx="4552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39270B24-E48A-4AFB-945B-8F14EE8E1816}"/>
              </a:ext>
            </a:extLst>
          </p:cNvPr>
          <p:cNvSpPr>
            <a:spLocks xmlns:a="http://schemas.openxmlformats.org/drawingml/2006/main" noGrp="1"/>
          </p:cNvSpPr>
          <p:nvPr/>
        </p:nvSpPr>
        <p:spPr>
          <a:xfrm xmlns:a="http://schemas.openxmlformats.org/drawingml/2006/main">
            <a:off x="1028700" y="4000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2A8C82"/>
                </a:solidFill>
              </a:defRPr>
            </a:pPr>
            <a:r>
              <a:rPr sz="1275" b="1">
                <a:solidFill>
                  <a:srgbClr val="2A8C82"/>
                </a:solidFill>
              </a:rPr>
              <a:t>Prompt</a:t>
            </a:r>
          </a:p>
        </p:txBody>
      </p:sp>
      <p:sp>
        <p:nvSpPr>
          <p:cNvPr id="12" name="">
            <a:extLst xmlns:a="http://schemas.openxmlformats.org/drawingml/2006/main">
              <a:ext uri="{FF2B5EF4-FFF2-40B4-BE49-F238E27FC236}">
                <a16:creationId xmlns:a16="http://schemas.microsoft.com/office/drawing/2014/main" id="{D996BB65-A02B-467D-A329-2D889970A8FE}"/>
              </a:ext>
            </a:extLst>
          </p:cNvPr>
          <p:cNvSpPr>
            <a:spLocks xmlns:a="http://schemas.openxmlformats.org/drawingml/2006/main" noGrp="1"/>
          </p:cNvSpPr>
          <p:nvPr/>
        </p:nvSpPr>
        <p:spPr>
          <a:xfrm xmlns:a="http://schemas.openxmlformats.org/drawingml/2006/main">
            <a:off x="1028700" y="4305300"/>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In which year was the film released?</a:t>
            </a:r>
          </a:p>
        </p:txBody>
      </p:sp>
      <p:sp>
        <p:nvSpPr>
          <p:cNvPr id="13" name="">
            <a:extLst xmlns:a="http://schemas.openxmlformats.org/drawingml/2006/main">
              <a:ext uri="{FF2B5EF4-FFF2-40B4-BE49-F238E27FC236}">
                <a16:creationId xmlns:a16="http://schemas.microsoft.com/office/drawing/2014/main" id="{1A39E986-BF7C-4DC8-B5F1-6D8958069A21}"/>
              </a:ext>
            </a:extLst>
          </p:cNvPr>
          <p:cNvSpPr>
            <a:spLocks xmlns:a="http://schemas.openxmlformats.org/drawingml/2006/main" noGrp="1"/>
          </p:cNvSpPr>
          <p:nvPr/>
        </p:nvSpPr>
        <p:spPr>
          <a:xfrm xmlns:a="http://schemas.openxmlformats.org/drawingml/2006/main">
            <a:off x="1028700" y="48768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B5483A"/>
                </a:solidFill>
              </a:defRPr>
            </a:pPr>
            <a:r>
              <a:rPr sz="1275" b="1">
                <a:solidFill>
                  <a:srgbClr val="B5483A"/>
                </a:solidFill>
              </a:rPr>
              <a:t>Response</a:t>
            </a:r>
          </a:p>
        </p:txBody>
      </p:sp>
      <p:sp>
        <p:nvSpPr>
          <p:cNvPr id="14" name="">
            <a:extLst xmlns:a="http://schemas.openxmlformats.org/drawingml/2006/main">
              <a:ext uri="{FF2B5EF4-FFF2-40B4-BE49-F238E27FC236}">
                <a16:creationId xmlns:a16="http://schemas.microsoft.com/office/drawing/2014/main" id="{8DBCA879-03F9-4FDF-844D-459169FDFA9A}"/>
              </a:ext>
            </a:extLst>
          </p:cNvPr>
          <p:cNvSpPr>
            <a:spLocks xmlns:a="http://schemas.openxmlformats.org/drawingml/2006/main" noGrp="1"/>
          </p:cNvSpPr>
          <p:nvPr/>
        </p:nvSpPr>
        <p:spPr>
          <a:xfrm xmlns:a="http://schemas.openxmlformats.org/drawingml/2006/main">
            <a:off x="2247900" y="4819650"/>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B5483A"/>
                </a:solidFill>
              </a:defRPr>
            </a:pPr>
            <a:r>
              <a:rPr sz="1800" b="1">
                <a:solidFill>
                  <a:srgbClr val="B5483A"/>
                </a:solidFill>
              </a:rPr>
              <a:t>Runway</a:t>
            </a:r>
          </a:p>
        </p:txBody>
      </p:sp>
      <p:sp>
        <p:nvSpPr>
          <p:cNvPr id="15" name="">
            <a:extLst xmlns:a="http://schemas.openxmlformats.org/drawingml/2006/main">
              <a:ext uri="{FF2B5EF4-FFF2-40B4-BE49-F238E27FC236}">
                <a16:creationId xmlns:a16="http://schemas.microsoft.com/office/drawing/2014/main" id="{43BF0021-9A4A-4A3E-B404-E503066C0004}"/>
              </a:ext>
            </a:extLst>
          </p:cNvPr>
          <p:cNvSpPr>
            <a:spLocks xmlns:a="http://schemas.openxmlformats.org/drawingml/2006/main" noGrp="1"/>
          </p:cNvSpPr>
          <p:nvPr/>
        </p:nvSpPr>
        <p:spPr>
          <a:xfrm xmlns:a="http://schemas.openxmlformats.org/drawingml/2006/main">
            <a:off x="1028700" y="53149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Released label: 0</a:t>
            </a:r>
          </a:p>
        </p:txBody>
      </p:sp>
      <p:sp>
        <p:nvSpPr>
          <p:cNvPr id="16" name="">
            <a:extLst xmlns:a="http://schemas.openxmlformats.org/drawingml/2006/main">
              <a:ext uri="{FF2B5EF4-FFF2-40B4-BE49-F238E27FC236}">
                <a16:creationId xmlns:a16="http://schemas.microsoft.com/office/drawing/2014/main" id="{5052D6A4-E502-4C1C-B2CC-729143491A66}"/>
              </a:ext>
            </a:extLst>
          </p:cNvPr>
          <p:cNvSpPr>
            <a:spLocks xmlns:a="http://schemas.openxmlformats.org/drawingml/2006/main" noGrp="1"/>
          </p:cNvSpPr>
          <p:nvPr/>
        </p:nvSpPr>
        <p:spPr>
          <a:xfrm xmlns:a="http://schemas.openxmlformats.org/drawingml/2006/main">
            <a:off x="6705600" y="2076450"/>
            <a:ext cx="47625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161519CA-BB45-49E4-A1D0-1F93147C92DE}"/>
              </a:ext>
            </a:extLst>
          </p:cNvPr>
          <p:cNvSpPr>
            <a:spLocks xmlns:a="http://schemas.openxmlformats.org/drawingml/2006/main" noGrp="1"/>
          </p:cNvSpPr>
          <p:nvPr/>
        </p:nvSpPr>
        <p:spPr>
          <a:xfrm xmlns:a="http://schemas.openxmlformats.org/drawingml/2006/main">
            <a:off x="7010400" y="2286000"/>
            <a:ext cx="415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Relation check</a:t>
            </a:r>
          </a:p>
        </p:txBody>
      </p:sp>
      <p:sp>
        <p:nvSpPr>
          <p:cNvPr id="18" name="">
            <a:extLst xmlns:a="http://schemas.openxmlformats.org/drawingml/2006/main">
              <a:ext uri="{FF2B5EF4-FFF2-40B4-BE49-F238E27FC236}">
                <a16:creationId xmlns:a16="http://schemas.microsoft.com/office/drawing/2014/main" id="{25F7D93A-4495-42C5-A1F8-19C1F34CBAAF}"/>
              </a:ext>
            </a:extLst>
          </p:cNvPr>
          <p:cNvSpPr>
            <a:spLocks xmlns:a="http://schemas.openxmlformats.org/drawingml/2006/main" noGrp="1"/>
          </p:cNvSpPr>
          <p:nvPr/>
        </p:nvSpPr>
        <p:spPr>
          <a:xfrm xmlns:a="http://schemas.openxmlformats.org/drawingml/2006/main">
            <a:off x="7029450" y="28003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Entity</a:t>
            </a:r>
          </a:p>
        </p:txBody>
      </p:sp>
      <p:sp>
        <p:nvSpPr>
          <p:cNvPr id="19" name="">
            <a:extLst xmlns:a="http://schemas.openxmlformats.org/drawingml/2006/main">
              <a:ext uri="{FF2B5EF4-FFF2-40B4-BE49-F238E27FC236}">
                <a16:creationId xmlns:a16="http://schemas.microsoft.com/office/drawing/2014/main" id="{63E4F18B-9580-4962-825C-BF513DE0A8AD}"/>
              </a:ext>
            </a:extLst>
          </p:cNvPr>
          <p:cNvSpPr>
            <a:spLocks xmlns:a="http://schemas.openxmlformats.org/drawingml/2006/main" noGrp="1"/>
          </p:cNvSpPr>
          <p:nvPr/>
        </p:nvSpPr>
        <p:spPr>
          <a:xfrm xmlns:a="http://schemas.openxmlformats.org/drawingml/2006/main">
            <a:off x="8782050" y="28003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Runway</a:t>
            </a:r>
          </a:p>
        </p:txBody>
      </p:sp>
      <p:sp>
        <p:nvSpPr>
          <p:cNvPr id="20" name="">
            <a:extLst xmlns:a="http://schemas.openxmlformats.org/drawingml/2006/main">
              <a:ext uri="{FF2B5EF4-FFF2-40B4-BE49-F238E27FC236}">
                <a16:creationId xmlns:a16="http://schemas.microsoft.com/office/drawing/2014/main" id="{704B4357-5E18-4E2A-B885-1239977DFD5F}"/>
              </a:ext>
            </a:extLst>
          </p:cNvPr>
          <p:cNvSpPr>
            <a:spLocks xmlns:a="http://schemas.openxmlformats.org/drawingml/2006/main" noGrp="1"/>
          </p:cNvSpPr>
          <p:nvPr/>
        </p:nvSpPr>
        <p:spPr>
          <a:xfrm xmlns:a="http://schemas.openxmlformats.org/drawingml/2006/main">
            <a:off x="10191750" y="28003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2A8C82"/>
                </a:solidFill>
              </a:defRPr>
            </a:pPr>
            <a:r>
              <a:rPr sz="1200" b="1">
                <a:solidFill>
                  <a:srgbClr val="2A8C82"/>
                </a:solidFill>
              </a:rPr>
              <a:t>matches</a:t>
            </a:r>
          </a:p>
        </p:txBody>
      </p:sp>
      <p:sp>
        <p:nvSpPr>
          <p:cNvPr id="21" name="">
            <a:extLst xmlns:a="http://schemas.openxmlformats.org/drawingml/2006/main">
              <a:ext uri="{FF2B5EF4-FFF2-40B4-BE49-F238E27FC236}">
                <a16:creationId xmlns:a16="http://schemas.microsoft.com/office/drawing/2014/main" id="{58D65BA3-BEC0-478E-930D-F55FB5F0CE76}"/>
              </a:ext>
            </a:extLst>
          </p:cNvPr>
          <p:cNvSpPr>
            <a:spLocks xmlns:a="http://schemas.openxmlformats.org/drawingml/2006/main" noGrp="1"/>
          </p:cNvSpPr>
          <p:nvPr/>
        </p:nvSpPr>
        <p:spPr>
          <a:xfrm xmlns:a="http://schemas.openxmlformats.org/drawingml/2006/main">
            <a:off x="7029450" y="31813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35F87DDA-027D-474F-9F94-A890D5B80CD8}"/>
              </a:ext>
            </a:extLst>
          </p:cNvPr>
          <p:cNvSpPr>
            <a:spLocks xmlns:a="http://schemas.openxmlformats.org/drawingml/2006/main" noGrp="1"/>
          </p:cNvSpPr>
          <p:nvPr/>
        </p:nvSpPr>
        <p:spPr>
          <a:xfrm xmlns:a="http://schemas.openxmlformats.org/drawingml/2006/main">
            <a:off x="7029450" y="3467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Requested predicate</a:t>
            </a:r>
          </a:p>
        </p:txBody>
      </p:sp>
      <p:sp>
        <p:nvSpPr>
          <p:cNvPr id="23" name="">
            <a:extLst xmlns:a="http://schemas.openxmlformats.org/drawingml/2006/main">
              <a:ext uri="{FF2B5EF4-FFF2-40B4-BE49-F238E27FC236}">
                <a16:creationId xmlns:a16="http://schemas.microsoft.com/office/drawing/2014/main" id="{BD62F074-F446-481B-BA64-1D7DCF101FAC}"/>
              </a:ext>
            </a:extLst>
          </p:cNvPr>
          <p:cNvSpPr>
            <a:spLocks xmlns:a="http://schemas.openxmlformats.org/drawingml/2006/main" noGrp="1"/>
          </p:cNvSpPr>
          <p:nvPr/>
        </p:nvSpPr>
        <p:spPr>
          <a:xfrm xmlns:a="http://schemas.openxmlformats.org/drawingml/2006/main">
            <a:off x="8782050" y="34671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release_year</a:t>
            </a:r>
          </a:p>
        </p:txBody>
      </p:sp>
      <p:sp>
        <p:nvSpPr>
          <p:cNvPr id="24" name="">
            <a:extLst xmlns:a="http://schemas.openxmlformats.org/drawingml/2006/main">
              <a:ext uri="{FF2B5EF4-FFF2-40B4-BE49-F238E27FC236}">
                <a16:creationId xmlns:a16="http://schemas.microsoft.com/office/drawing/2014/main" id="{01468A19-A986-4314-A5C9-E38BC14BEC35}"/>
              </a:ext>
            </a:extLst>
          </p:cNvPr>
          <p:cNvSpPr>
            <a:spLocks xmlns:a="http://schemas.openxmlformats.org/drawingml/2006/main" noGrp="1"/>
          </p:cNvSpPr>
          <p:nvPr/>
        </p:nvSpPr>
        <p:spPr>
          <a:xfrm xmlns:a="http://schemas.openxmlformats.org/drawingml/2006/main">
            <a:off x="10191750" y="346710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1F5A7A"/>
                </a:solidFill>
              </a:defRPr>
            </a:pPr>
            <a:r>
              <a:rPr sz="1200" b="1">
                <a:solidFill>
                  <a:srgbClr val="1F5A7A"/>
                </a:solidFill>
              </a:rPr>
              <a:t>expected</a:t>
            </a:r>
          </a:p>
        </p:txBody>
      </p:sp>
      <p:sp>
        <p:nvSpPr>
          <p:cNvPr id="25" name="">
            <a:extLst xmlns:a="http://schemas.openxmlformats.org/drawingml/2006/main">
              <a:ext uri="{FF2B5EF4-FFF2-40B4-BE49-F238E27FC236}">
                <a16:creationId xmlns:a16="http://schemas.microsoft.com/office/drawing/2014/main" id="{BCDB3E40-EA8B-4CE7-AD52-F46BCF025575}"/>
              </a:ext>
            </a:extLst>
          </p:cNvPr>
          <p:cNvSpPr>
            <a:spLocks xmlns:a="http://schemas.openxmlformats.org/drawingml/2006/main" noGrp="1"/>
          </p:cNvSpPr>
          <p:nvPr/>
        </p:nvSpPr>
        <p:spPr>
          <a:xfrm xmlns:a="http://schemas.openxmlformats.org/drawingml/2006/main">
            <a:off x="7029450" y="384810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F8D649F-2C2E-4D17-A627-134C9078B2A6}"/>
              </a:ext>
            </a:extLst>
          </p:cNvPr>
          <p:cNvSpPr>
            <a:spLocks xmlns:a="http://schemas.openxmlformats.org/drawingml/2006/main" noGrp="1"/>
          </p:cNvSpPr>
          <p:nvPr/>
        </p:nvSpPr>
        <p:spPr>
          <a:xfrm xmlns:a="http://schemas.openxmlformats.org/drawingml/2006/main">
            <a:off x="7029450" y="41338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526174"/>
                </a:solidFill>
              </a:defRPr>
            </a:pPr>
            <a:r>
              <a:rPr sz="1275" b="1">
                <a:solidFill>
                  <a:srgbClr val="526174"/>
                </a:solidFill>
              </a:rPr>
              <a:t>Response type</a:t>
            </a:r>
          </a:p>
        </p:txBody>
      </p:sp>
      <p:sp>
        <p:nvSpPr>
          <p:cNvPr id="27" name="">
            <a:extLst xmlns:a="http://schemas.openxmlformats.org/drawingml/2006/main">
              <a:ext uri="{FF2B5EF4-FFF2-40B4-BE49-F238E27FC236}">
                <a16:creationId xmlns:a16="http://schemas.microsoft.com/office/drawing/2014/main" id="{6A3C62A6-9CBF-474A-BE4A-D9E6B1166B0D}"/>
              </a:ext>
            </a:extLst>
          </p:cNvPr>
          <p:cNvSpPr>
            <a:spLocks xmlns:a="http://schemas.openxmlformats.org/drawingml/2006/main" noGrp="1"/>
          </p:cNvSpPr>
          <p:nvPr/>
        </p:nvSpPr>
        <p:spPr>
          <a:xfrm xmlns:a="http://schemas.openxmlformats.org/drawingml/2006/main">
            <a:off x="8782050" y="4133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film_title</a:t>
            </a:r>
          </a:p>
        </p:txBody>
      </p:sp>
      <p:sp>
        <p:nvSpPr>
          <p:cNvPr id="28" name="">
            <a:extLst xmlns:a="http://schemas.openxmlformats.org/drawingml/2006/main">
              <a:ext uri="{FF2B5EF4-FFF2-40B4-BE49-F238E27FC236}">
                <a16:creationId xmlns:a16="http://schemas.microsoft.com/office/drawing/2014/main" id="{B6E67E58-3D35-4880-AC67-62EFF8B2D227}"/>
              </a:ext>
            </a:extLst>
          </p:cNvPr>
          <p:cNvSpPr>
            <a:spLocks xmlns:a="http://schemas.openxmlformats.org/drawingml/2006/main" noGrp="1"/>
          </p:cNvSpPr>
          <p:nvPr/>
        </p:nvSpPr>
        <p:spPr>
          <a:xfrm xmlns:a="http://schemas.openxmlformats.org/drawingml/2006/main">
            <a:off x="10191750" y="41338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1">
                <a:solidFill>
                  <a:srgbClr val="D59B32"/>
                </a:solidFill>
              </a:defRPr>
            </a:pPr>
            <a:r>
              <a:rPr sz="1200" b="1">
                <a:solidFill>
                  <a:srgbClr val="D59B32"/>
                </a:solidFill>
              </a:rPr>
              <a:t>observed</a:t>
            </a:r>
          </a:p>
        </p:txBody>
      </p:sp>
      <p:sp>
        <p:nvSpPr>
          <p:cNvPr id="29" name="">
            <a:extLst xmlns:a="http://schemas.openxmlformats.org/drawingml/2006/main">
              <a:ext uri="{FF2B5EF4-FFF2-40B4-BE49-F238E27FC236}">
                <a16:creationId xmlns:a16="http://schemas.microsoft.com/office/drawing/2014/main" id="{857F2D87-E453-4B9D-9213-8AE73D5B264F}"/>
              </a:ext>
            </a:extLst>
          </p:cNvPr>
          <p:cNvSpPr>
            <a:spLocks xmlns:a="http://schemas.openxmlformats.org/drawingml/2006/main" noGrp="1"/>
          </p:cNvSpPr>
          <p:nvPr/>
        </p:nvSpPr>
        <p:spPr>
          <a:xfrm xmlns:a="http://schemas.openxmlformats.org/drawingml/2006/main">
            <a:off x="7029450" y="45148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CE59EA0-4A49-4400-AAA3-8EAF95457DFC}"/>
              </a:ext>
            </a:extLst>
          </p:cNvPr>
          <p:cNvSpPr>
            <a:spLocks xmlns:a="http://schemas.openxmlformats.org/drawingml/2006/main" noGrp="1"/>
          </p:cNvSpPr>
          <p:nvPr/>
        </p:nvSpPr>
        <p:spPr>
          <a:xfrm xmlns:a="http://schemas.openxmlformats.org/drawingml/2006/main">
            <a:off x="7124700" y="4914900"/>
            <a:ext cx="3924300" cy="590550"/>
          </a:xfrm>
          <a:prstGeom xmlns:a="http://schemas.openxmlformats.org/drawingml/2006/main" prst="roundRect">
            <a:avLst>
              <a:gd name="adj" fmla="val 19355"/>
            </a:avLst>
          </a:prstGeom>
          <a:solidFill xmlns:a="http://schemas.openxmlformats.org/drawingml/2006/main">
            <a:srgbClr val="F7E5E1"/>
          </a:solidFill>
          <a:ln xmlns:a="http://schemas.openxmlformats.org/drawingml/2006/main" w="9525">
            <a:solidFill>
              <a:srgbClr val="B5483A"/>
            </a:solidFill>
            <a:prstDash val="solid"/>
          </a:ln>
        </p:spPr>
      </p:sp>
      <p:sp>
        <p:nvSpPr>
          <p:cNvPr id="31" name="">
            <a:extLst xmlns:a="http://schemas.openxmlformats.org/drawingml/2006/main">
              <a:ext uri="{FF2B5EF4-FFF2-40B4-BE49-F238E27FC236}">
                <a16:creationId xmlns:a16="http://schemas.microsoft.com/office/drawing/2014/main" id="{4B16FD4E-6963-42F1-973A-A6429703465F}"/>
              </a:ext>
            </a:extLst>
          </p:cNvPr>
          <p:cNvSpPr>
            <a:spLocks xmlns:a="http://schemas.openxmlformats.org/drawingml/2006/main" noGrp="1"/>
          </p:cNvSpPr>
          <p:nvPr/>
        </p:nvSpPr>
        <p:spPr>
          <a:xfrm xmlns:a="http://schemas.openxmlformats.org/drawingml/2006/main">
            <a:off x="7353300" y="5076825"/>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predicate mismatch  →  label 0</a:t>
            </a:r>
          </a:p>
        </p:txBody>
      </p:sp>
      <p:sp>
        <p:nvSpPr>
          <p:cNvPr id="32" name="">
            <a:extLst xmlns:a="http://schemas.openxmlformats.org/drawingml/2006/main">
              <a:ext uri="{FF2B5EF4-FFF2-40B4-BE49-F238E27FC236}">
                <a16:creationId xmlns:a16="http://schemas.microsoft.com/office/drawing/2014/main" id="{07FCBF51-C3E5-4A84-B769-2AA74ABEC560}"/>
              </a:ext>
            </a:extLst>
          </p:cNvPr>
          <p:cNvSpPr>
            <a:spLocks xmlns:a="http://schemas.openxmlformats.org/drawingml/2006/main" noGrp="1"/>
          </p:cNvSpPr>
          <p:nvPr/>
        </p:nvSpPr>
        <p:spPr>
          <a:xfrm xmlns:a="http://schemas.openxmlformats.org/drawingml/2006/main">
            <a:off x="6858000" y="58674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Similarity finds a related answer. The relation gate rejects it.</a:t>
            </a:r>
          </a:p>
        </p:txBody>
      </p:sp>
      <p:sp>
        <p:nvSpPr>
          <p:cNvPr id="33" name="">
            <a:extLst xmlns:a="http://schemas.openxmlformats.org/drawingml/2006/main">
              <a:ext uri="{FF2B5EF4-FFF2-40B4-BE49-F238E27FC236}">
                <a16:creationId xmlns:a16="http://schemas.microsoft.com/office/drawing/2014/main" id="{30000E33-A0DE-4A14-8011-7041E298031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6">
            <a:extLst xmlns:a="http://schemas.openxmlformats.org/drawingml/2006/main">
              <a:ext uri="{FF2B5EF4-FFF2-40B4-BE49-F238E27FC236}">
                <a16:creationId xmlns:a16="http://schemas.microsoft.com/office/drawing/2014/main" id="{A4DB96C9-64F6-4880-8856-D71217AA6D3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Competition-released labeled sample 4  [7] v91 predicate gate</a:t>
            </a:r>
          </a:p>
        </p:txBody>
      </p:sp>
      <p:sp>
        <p:nvSpPr>
          <p:cNvPr id="35" name="page-6">
            <a:extLst xmlns:a="http://schemas.openxmlformats.org/drawingml/2006/main">
              <a:ext uri="{FF2B5EF4-FFF2-40B4-BE49-F238E27FC236}">
                <a16:creationId xmlns:a16="http://schemas.microsoft.com/office/drawing/2014/main" id="{E61EBC4D-4E30-4C20-95C3-4FF50712265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06</a:t>
            </a:r>
          </a:p>
        </p:txBody>
      </p:sp>
    </p:spTree>
    <p:extLst>
      <p:ext uri="{BB962C8B-B14F-4D97-AF65-F5344CB8AC3E}">
        <p14:creationId xmlns:p14="http://schemas.microsoft.com/office/powerpoint/2010/main" val="1822816628"/>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7D7A4F50-4021-4493-89C5-44922ADC229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DED1E81-0260-4C0A-824D-29800D6E6F5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0DF7FDC-B97E-4D81-878F-9D718FC60A3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DDC0752-2554-4B47-B863-F4F234CF8CA4}"/>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A30FFEAA-D089-46D3-8740-3C5E26236F8B}"/>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D10DD7F2-F8C5-4BA9-8C68-7191BFB3870A}"/>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291149CA-9347-49D1-9FDB-7A1130944FF1}"/>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DA09B373-81A0-41C0-B69D-6BF24E70B7F5}"/>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51BF6E31-CFF4-4395-B31D-4C671365F92D}"/>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BE40A079-ACAE-4FEE-B8B9-83513ADE6F0F}"/>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10E81093-FB89-48CC-B02F-C331F12FB1E4}"/>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segment into</a:t>
            </a:r>
          </a:p>
          <a:p xmlns:a="http://schemas.openxmlformats.org/drawingml/2006/main">
            <a:pPr algn="ctr">
              <a:buNone/>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4FFD879C-7ECD-4C1B-8BA3-CBE950E84CF2}"/>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7737D56E-467C-4AB0-8668-B7CAD7DFE92F}"/>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D01BEED4-34B0-4961-B94F-54016421078E}"/>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extract atomic</a:t>
            </a:r>
          </a:p>
          <a:p xmlns:a="http://schemas.openxmlformats.org/drawingml/2006/main">
            <a:pPr algn="ctr">
              <a:buNone/>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4ED1ACAF-C688-4069-991C-E4FFA8B68499}"/>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E3A2FA5F-D8A2-4233-AEE3-F99C9D68DE86}"/>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15A6EDA6-51C8-42BD-97A4-1362D177227A}"/>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number,</a:t>
            </a:r>
          </a:p>
          <a:p xmlns:a="http://schemas.openxmlformats.org/drawingml/2006/main">
            <a:pPr algn="ctr">
              <a:buNone/>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44EAAF04-8907-4E4F-AD3C-ADBF85942358}"/>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67AC4948-4EAA-41C2-86F7-AE3DE7AFE462}"/>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4424736B-165B-4143-B347-FA609ADF0CB1}"/>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best applicable</a:t>
            </a:r>
          </a:p>
          <a:p xmlns:a="http://schemas.openxmlformats.org/drawingml/2006/main">
            <a:pPr algn="ctr">
              <a:buNone/>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7F7B1DD6-CB80-4C60-B020-B93463C6169A}"/>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A73AE4B8-27B0-4458-8481-071DE62236FF}"/>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9C90B000-FC96-407D-A12F-08DCF1D7E833}"/>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 support / C contradict</a:t>
            </a:r>
          </a:p>
          <a:p xmlns:a="http://schemas.openxmlformats.org/drawingml/2006/main">
            <a:pPr algn="ctr">
              <a:buNone/>
              <a:defRPr sz="1200" b="0">
                <a:solidFill>
                  <a:srgbClr val="526174"/>
                </a:solidFill>
              </a:defRPr>
            </a:pPr>
            <a:r>
              <a:rPr sz="1200" b="0">
                <a:solidFill>
                  <a:srgbClr val="526174"/>
                </a:solidFill>
              </a:rPr>
              <a:t>/ U unknown</a:t>
            </a:r>
          </a:p>
        </p:txBody>
      </p:sp>
      <p:sp>
        <p:nvSpPr>
          <p:cNvPr id="24" name="">
            <a:extLst xmlns:a="http://schemas.openxmlformats.org/drawingml/2006/main">
              <a:ext uri="{FF2B5EF4-FFF2-40B4-BE49-F238E27FC236}">
                <a16:creationId xmlns:a16="http://schemas.microsoft.com/office/drawing/2014/main" id="{87EBA29B-EF82-4340-BF4B-3F555F45E900}"/>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B897D94A-C1B2-4A5D-B222-8081E6E0AA11}"/>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A5843389-38D1-41D4-8CEF-E17C42001002}"/>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CFDA2308-FEED-4A16-ADD4-8FAA159FF915}"/>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exists i: state(ci) = C</a:t>
            </a:r>
          </a:p>
        </p:txBody>
      </p:sp>
      <p:sp>
        <p:nvSpPr>
          <p:cNvPr id="28" name="">
            <a:extLst xmlns:a="http://schemas.openxmlformats.org/drawingml/2006/main">
              <a:ext uri="{FF2B5EF4-FFF2-40B4-BE49-F238E27FC236}">
                <a16:creationId xmlns:a16="http://schemas.microsoft.com/office/drawing/2014/main" id="{D98C57F3-6C17-4DE1-95C3-72FB6E1E7B95}"/>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F51D6580-B2FF-4920-9F27-F9960A74FBCD}"/>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B419A719-B8AC-49F0-8183-3A084F96BC78}"/>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898074B9-975B-4E38-8660-F9332CA55179}"/>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for all i: state(ci) = S; no extra factual claim</a:t>
            </a:r>
          </a:p>
        </p:txBody>
      </p:sp>
      <p:sp>
        <p:nvSpPr>
          <p:cNvPr id="32" name="">
            <a:extLst xmlns:a="http://schemas.openxmlformats.org/drawingml/2006/main">
              <a:ext uri="{FF2B5EF4-FFF2-40B4-BE49-F238E27FC236}">
                <a16:creationId xmlns:a16="http://schemas.microsoft.com/office/drawing/2014/main" id="{E3C00D96-6D01-4109-8FC9-0FC2B9213737}"/>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4F2F9C0C-1DC6-4375-ADAE-D70731BA1587}"/>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B7CE9F4D-F433-441C-96A8-34D673675D12}"/>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C83E159B-A90E-4919-ACFE-90D8C19FA99F}"/>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9183107D-F567-4281-9A76-9557A44C0C5E}"/>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44D3C8B9-5B59-47A1-8318-AE71EA0C9A2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E5B9D1A5-D4CC-4F4E-A871-C828120885A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8FFB5AD0-C52C-4DF5-B44D-6877374BC84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07</a:t>
            </a:r>
          </a:p>
        </p:txBody>
      </p:sp>
    </p:spTree>
    <p:extLst>
      <p:ext uri="{BB962C8B-B14F-4D97-AF65-F5344CB8AC3E}">
        <p14:creationId xmlns:p14="http://schemas.microsoft.com/office/powerpoint/2010/main" val="1424654819"/>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D85C6EC4-40CF-4EE8-A91B-4914215D9AB8}"/>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0C72DA74-6FA3-4637-AA13-95E5237E96CE}"/>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FABD7773-F378-46D6-A376-D7FE19545DB9}"/>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20ED478E-2C8E-4015-97E1-2EB8E8DD4DD5}"/>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ACAA3E6F-7202-402E-9092-49BFE2D4B776}"/>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A967460-6F3E-48C0-8907-12F9C8A2EBB9}"/>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0D2019EA-A1D7-47B6-9BB7-1D63A227B0D1}"/>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FC59DB85-1346-4518-9C51-D4DD4FCFEEEE}"/>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1D5C912B-36EF-4AE5-899F-B35527818B9F}"/>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0EE2EEEF-3CE9-427D-84EA-D47A4615AF39}"/>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81641F71-C01B-4179-915E-C6ECB777DE6A}"/>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194D14D8-44C3-466D-82A0-8073C7F64941}"/>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36F4F052-AD63-47FA-AD45-8D015AB47A5E}"/>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C0B3EEC1-D034-4C64-92B5-DEE5C554854E}"/>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D36B03E2-464E-4D7B-BE11-46409B2A8474}"/>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C11FE44-4481-4EB3-AA33-FE3630A910C0}"/>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4F3E40AC-F69B-483F-873D-8DAFC1A3434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B7A848B1-D2D3-4947-A71B-9F0728DC1F6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BB6FBEA7-B029-4374-8F9A-F189E13622B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08</a:t>
            </a:r>
          </a:p>
        </p:txBody>
      </p:sp>
    </p:spTree>
    <p:extLst>
      <p:ext uri="{BB962C8B-B14F-4D97-AF65-F5344CB8AC3E}">
        <p14:creationId xmlns:p14="http://schemas.microsoft.com/office/powerpoint/2010/main" val="175299940"/>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trace records why a row was resolved, its source, and the relation that was tested.</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Typed evidence</a:t>
            </a:r>
          </a:p>
          <a:p xmlns:a="http://schemas.openxmlformats.org/drawingml/2006/main">
            <a:pPr algn="ctr">
              <a:buNone/>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value</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commencement date</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B5483A"/>
                </a:solidFill>
              </a:defRPr>
            </a:pPr>
            <a:r>
              <a:rPr sz="1200" b="1">
                <a:solidFill>
                  <a:srgbClr val="B5483A"/>
                </a:solidFill>
              </a:rPr>
              <a:t>If any gate fails: abstain (verdict = null)</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09</a:t>
            </a:r>
          </a:p>
        </p:txBody>
      </p:sp>
    </p:spTree>
    <p:extLst>
      <p:ext uri="{BB962C8B-B14F-4D97-AF65-F5344CB8AC3E}">
        <p14:creationId xmlns:p14="http://schemas.microsoft.com/office/powerpoint/2010/main" val="1439275797"/>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6" name="kicker-10">
            <a:extLst xmlns:a="http://schemas.openxmlformats.org/drawingml/2006/main">
              <a:ext uri="{FF2B5EF4-FFF2-40B4-BE49-F238E27FC236}">
                <a16:creationId xmlns:a16="http://schemas.microsoft.com/office/drawing/2014/main" id="{70DE1D79-8DC7-43D6-9761-6E4E60C79C5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1365A60E-E84E-4C00-AE43-7E62CB205D7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Versioned comparisons locate the main design pivots</a:t>
            </a:r>
          </a:p>
        </p:txBody>
      </p:sp>
      <p:sp>
        <p:nvSpPr>
          <p:cNvPr id="3" name="">
            <a:extLst xmlns:a="http://schemas.openxmlformats.org/drawingml/2006/main">
              <a:ext uri="{FF2B5EF4-FFF2-40B4-BE49-F238E27FC236}">
                <a16:creationId xmlns:a16="http://schemas.microsoft.com/office/drawing/2014/main" id="{3C47268A-662D-4394-849C-AAF82247981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5D304B-EA3C-4248-9DF7-8D4EFAC312A5}"/>
              </a:ext>
            </a:extLst>
          </p:cNvPr>
          <p:cNvSpPr>
            <a:spLocks xmlns:a="http://schemas.openxmlformats.org/drawingml/2006/main" noGrp="1"/>
          </p:cNvSpPr>
          <p:nvPr/>
        </p:nvSpPr>
        <p:spPr>
          <a:xfrm xmlns:a="http://schemas.openxmlformats.org/drawingml/2006/main">
            <a:off x="685800" y="1381125"/>
            <a:ext cx="885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These are cumulative versions, not controlled single-factor ablations.</a:t>
            </a:r>
          </a:p>
        </p:txBody>
      </p:sp>
      <p:sp>
        <p:nvSpPr>
          <p:cNvPr id="5" name="">
            <a:extLst xmlns:a="http://schemas.openxmlformats.org/drawingml/2006/main">
              <a:ext uri="{FF2B5EF4-FFF2-40B4-BE49-F238E27FC236}">
                <a16:creationId xmlns:a16="http://schemas.microsoft.com/office/drawing/2014/main" id="{C6228EE5-54FA-45E2-B593-1FE151A053BA}"/>
              </a:ext>
            </a:extLst>
          </p:cNvPr>
          <p:cNvSpPr>
            <a:spLocks xmlns:a="http://schemas.openxmlformats.org/drawingml/2006/main" noGrp="1"/>
          </p:cNvSpPr>
          <p:nvPr/>
        </p:nvSpPr>
        <p:spPr>
          <a:xfrm xmlns:a="http://schemas.openxmlformats.org/drawingml/2006/main">
            <a:off x="876300" y="20764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Version</a:t>
            </a:r>
          </a:p>
        </p:txBody>
      </p:sp>
      <p:sp>
        <p:nvSpPr>
          <p:cNvPr id="6" name="">
            <a:extLst xmlns:a="http://schemas.openxmlformats.org/drawingml/2006/main">
              <a:ext uri="{FF2B5EF4-FFF2-40B4-BE49-F238E27FC236}">
                <a16:creationId xmlns:a16="http://schemas.microsoft.com/office/drawing/2014/main" id="{F08ABB47-7095-4A05-AC0E-6E719ECD2BEA}"/>
              </a:ext>
            </a:extLst>
          </p:cNvPr>
          <p:cNvSpPr>
            <a:spLocks xmlns:a="http://schemas.openxmlformats.org/drawingml/2006/main" noGrp="1"/>
          </p:cNvSpPr>
          <p:nvPr/>
        </p:nvSpPr>
        <p:spPr>
          <a:xfrm xmlns:a="http://schemas.openxmlformats.org/drawingml/2006/main">
            <a:off x="3524250" y="20764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Public F1</a:t>
            </a:r>
          </a:p>
        </p:txBody>
      </p:sp>
      <p:sp>
        <p:nvSpPr>
          <p:cNvPr id="7" name="">
            <a:extLst xmlns:a="http://schemas.openxmlformats.org/drawingml/2006/main">
              <a:ext uri="{FF2B5EF4-FFF2-40B4-BE49-F238E27FC236}">
                <a16:creationId xmlns:a16="http://schemas.microsoft.com/office/drawing/2014/main" id="{D0E29E5F-02F0-47B4-A94D-4085E3FB43E2}"/>
              </a:ext>
            </a:extLst>
          </p:cNvPr>
          <p:cNvSpPr>
            <a:spLocks xmlns:a="http://schemas.openxmlformats.org/drawingml/2006/main" noGrp="1"/>
          </p:cNvSpPr>
          <p:nvPr/>
        </p:nvSpPr>
        <p:spPr>
          <a:xfrm xmlns:a="http://schemas.openxmlformats.org/drawingml/2006/main">
            <a:off x="5048250" y="20764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Rows judged</a:t>
            </a:r>
          </a:p>
        </p:txBody>
      </p:sp>
      <p:sp>
        <p:nvSpPr>
          <p:cNvPr id="8" name="">
            <a:extLst xmlns:a="http://schemas.openxmlformats.org/drawingml/2006/main">
              <a:ext uri="{FF2B5EF4-FFF2-40B4-BE49-F238E27FC236}">
                <a16:creationId xmlns:a16="http://schemas.microsoft.com/office/drawing/2014/main" id="{ECD69B70-C1AC-4014-9A36-50D942417569}"/>
              </a:ext>
            </a:extLst>
          </p:cNvPr>
          <p:cNvSpPr>
            <a:spLocks xmlns:a="http://schemas.openxmlformats.org/drawingml/2006/main" noGrp="1"/>
          </p:cNvSpPr>
          <p:nvPr/>
        </p:nvSpPr>
        <p:spPr>
          <a:xfrm xmlns:a="http://schemas.openxmlformats.org/drawingml/2006/main">
            <a:off x="70866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Main methodological change</a:t>
            </a:r>
          </a:p>
        </p:txBody>
      </p:sp>
      <p:sp>
        <p:nvSpPr>
          <p:cNvPr id="9" name="">
            <a:extLst xmlns:a="http://schemas.openxmlformats.org/drawingml/2006/main">
              <a:ext uri="{FF2B5EF4-FFF2-40B4-BE49-F238E27FC236}">
                <a16:creationId xmlns:a16="http://schemas.microsoft.com/office/drawing/2014/main" id="{73B804FA-64A6-4B82-B1A8-4F1FB355F668}"/>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0" name="">
            <a:extLst xmlns:a="http://schemas.openxmlformats.org/drawingml/2006/main">
              <a:ext uri="{FF2B5EF4-FFF2-40B4-BE49-F238E27FC236}">
                <a16:creationId xmlns:a16="http://schemas.microsoft.com/office/drawing/2014/main" id="{40BC6826-8277-467A-B9CF-A767D2B30ABF}"/>
              </a:ext>
            </a:extLst>
          </p:cNvPr>
          <p:cNvSpPr>
            <a:spLocks xmlns:a="http://schemas.openxmlformats.org/drawingml/2006/main" noGrp="1"/>
          </p:cNvSpPr>
          <p:nvPr/>
        </p:nvSpPr>
        <p:spPr>
          <a:xfrm xmlns:a="http://schemas.openxmlformats.org/drawingml/2006/main">
            <a:off x="914400" y="25717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Baseline</a:t>
            </a:r>
          </a:p>
        </p:txBody>
      </p:sp>
      <p:sp>
        <p:nvSpPr>
          <p:cNvPr id="11" name="">
            <a:extLst xmlns:a="http://schemas.openxmlformats.org/drawingml/2006/main">
              <a:ext uri="{FF2B5EF4-FFF2-40B4-BE49-F238E27FC236}">
                <a16:creationId xmlns:a16="http://schemas.microsoft.com/office/drawing/2014/main" id="{82471643-58C3-4CF7-8C46-3ADB607B6EB2}"/>
              </a:ext>
            </a:extLst>
          </p:cNvPr>
          <p:cNvSpPr>
            <a:spLocks xmlns:a="http://schemas.openxmlformats.org/drawingml/2006/main" noGrp="1"/>
          </p:cNvSpPr>
          <p:nvPr/>
        </p:nvSpPr>
        <p:spPr>
          <a:xfrm xmlns:a="http://schemas.openxmlformats.org/drawingml/2006/main">
            <a:off x="3524250" y="25717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0.657</a:t>
            </a:r>
          </a:p>
        </p:txBody>
      </p:sp>
      <p:sp>
        <p:nvSpPr>
          <p:cNvPr id="12" name="">
            <a:extLst xmlns:a="http://schemas.openxmlformats.org/drawingml/2006/main">
              <a:ext uri="{FF2B5EF4-FFF2-40B4-BE49-F238E27FC236}">
                <a16:creationId xmlns:a16="http://schemas.microsoft.com/office/drawing/2014/main" id="{E51D2073-5BA9-40FD-87E0-6428604E7466}"/>
              </a:ext>
            </a:extLst>
          </p:cNvPr>
          <p:cNvSpPr>
            <a:spLocks xmlns:a="http://schemas.openxmlformats.org/drawingml/2006/main" noGrp="1"/>
          </p:cNvSpPr>
          <p:nvPr/>
        </p:nvSpPr>
        <p:spPr>
          <a:xfrm xmlns:a="http://schemas.openxmlformats.org/drawingml/2006/main">
            <a:off x="5048250" y="2571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none</a:t>
            </a:r>
          </a:p>
        </p:txBody>
      </p:sp>
      <p:sp>
        <p:nvSpPr>
          <p:cNvPr id="13" name="">
            <a:extLst xmlns:a="http://schemas.openxmlformats.org/drawingml/2006/main">
              <a:ext uri="{FF2B5EF4-FFF2-40B4-BE49-F238E27FC236}">
                <a16:creationId xmlns:a16="http://schemas.microsoft.com/office/drawing/2014/main" id="{32BF2E88-70E7-43C4-A35A-6F2143D5A47A}"/>
              </a:ext>
            </a:extLst>
          </p:cNvPr>
          <p:cNvSpPr>
            <a:spLocks xmlns:a="http://schemas.openxmlformats.org/drawingml/2006/main" noGrp="1"/>
          </p:cNvSpPr>
          <p:nvPr/>
        </p:nvSpPr>
        <p:spPr>
          <a:xfrm xmlns:a="http://schemas.openxmlformats.org/drawingml/2006/main">
            <a:off x="7086600" y="2571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character and embedding reference</a:t>
            </a:r>
          </a:p>
        </p:txBody>
      </p:sp>
      <p:sp>
        <p:nvSpPr>
          <p:cNvPr id="14" name="">
            <a:extLst xmlns:a="http://schemas.openxmlformats.org/drawingml/2006/main">
              <a:ext uri="{FF2B5EF4-FFF2-40B4-BE49-F238E27FC236}">
                <a16:creationId xmlns:a16="http://schemas.microsoft.com/office/drawing/2014/main" id="{4051CF53-48E8-4E69-B5EA-A73FE2A7D748}"/>
              </a:ext>
            </a:extLst>
          </p:cNvPr>
          <p:cNvSpPr>
            <a:spLocks xmlns:a="http://schemas.openxmlformats.org/drawingml/2006/main" noGrp="1"/>
          </p:cNvSpPr>
          <p:nvPr/>
        </p:nvSpPr>
        <p:spPr>
          <a:xfrm xmlns:a="http://schemas.openxmlformats.org/drawingml/2006/main">
            <a:off x="876300" y="29432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CC148678-77FC-47A3-B554-06C8358E5111}"/>
              </a:ext>
            </a:extLst>
          </p:cNvPr>
          <p:cNvSpPr>
            <a:spLocks xmlns:a="http://schemas.openxmlformats.org/drawingml/2006/main" noGrp="1"/>
          </p:cNvSpPr>
          <p:nvPr/>
        </p:nvSpPr>
        <p:spPr>
          <a:xfrm xmlns:a="http://schemas.openxmlformats.org/drawingml/2006/main">
            <a:off x="914400" y="30956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Uniform Qwen</a:t>
            </a:r>
          </a:p>
        </p:txBody>
      </p:sp>
      <p:sp>
        <p:nvSpPr>
          <p:cNvPr id="16" name="">
            <a:extLst xmlns:a="http://schemas.openxmlformats.org/drawingml/2006/main">
              <a:ext uri="{FF2B5EF4-FFF2-40B4-BE49-F238E27FC236}">
                <a16:creationId xmlns:a16="http://schemas.microsoft.com/office/drawing/2014/main" id="{DF54593B-AC23-47E8-9FFC-50FBB5F6575D}"/>
              </a:ext>
            </a:extLst>
          </p:cNvPr>
          <p:cNvSpPr>
            <a:spLocks xmlns:a="http://schemas.openxmlformats.org/drawingml/2006/main" noGrp="1"/>
          </p:cNvSpPr>
          <p:nvPr/>
        </p:nvSpPr>
        <p:spPr>
          <a:xfrm xmlns:a="http://schemas.openxmlformats.org/drawingml/2006/main">
            <a:off x="3524250" y="30956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0.797</a:t>
            </a:r>
          </a:p>
        </p:txBody>
      </p:sp>
      <p:sp>
        <p:nvSpPr>
          <p:cNvPr id="17" name="">
            <a:extLst xmlns:a="http://schemas.openxmlformats.org/drawingml/2006/main">
              <a:ext uri="{FF2B5EF4-FFF2-40B4-BE49-F238E27FC236}">
                <a16:creationId xmlns:a16="http://schemas.microsoft.com/office/drawing/2014/main" id="{756C660D-8537-4B83-8AC7-038C7B37B023}"/>
              </a:ext>
            </a:extLst>
          </p:cNvPr>
          <p:cNvSpPr>
            <a:spLocks xmlns:a="http://schemas.openxmlformats.org/drawingml/2006/main" noGrp="1"/>
          </p:cNvSpPr>
          <p:nvPr/>
        </p:nvSpPr>
        <p:spPr>
          <a:xfrm xmlns:a="http://schemas.openxmlformats.org/drawingml/2006/main">
            <a:off x="5048250" y="30956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all rows</a:t>
            </a:r>
          </a:p>
        </p:txBody>
      </p:sp>
      <p:sp>
        <p:nvSpPr>
          <p:cNvPr id="18" name="">
            <a:extLst xmlns:a="http://schemas.openxmlformats.org/drawingml/2006/main">
              <a:ext uri="{FF2B5EF4-FFF2-40B4-BE49-F238E27FC236}">
                <a16:creationId xmlns:a16="http://schemas.microsoft.com/office/drawing/2014/main" id="{5CB67B70-7A6F-48C1-B90D-F935A9F2BC21}"/>
              </a:ext>
            </a:extLst>
          </p:cNvPr>
          <p:cNvSpPr>
            <a:spLocks xmlns:a="http://schemas.openxmlformats.org/drawingml/2006/main" noGrp="1"/>
          </p:cNvSpPr>
          <p:nvPr/>
        </p:nvSpPr>
        <p:spPr>
          <a:xfrm xmlns:a="http://schemas.openxmlformats.org/drawingml/2006/main">
            <a:off x="7086600" y="30956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general reasoning improved; one policy remained</a:t>
            </a:r>
          </a:p>
        </p:txBody>
      </p:sp>
      <p:sp>
        <p:nvSpPr>
          <p:cNvPr id="19" name="">
            <a:extLst xmlns:a="http://schemas.openxmlformats.org/drawingml/2006/main">
              <a:ext uri="{FF2B5EF4-FFF2-40B4-BE49-F238E27FC236}">
                <a16:creationId xmlns:a16="http://schemas.microsoft.com/office/drawing/2014/main" id="{74E5D18F-E1C2-4EC5-8946-3EAE8CBC7531}"/>
              </a:ext>
            </a:extLst>
          </p:cNvPr>
          <p:cNvSpPr>
            <a:spLocks xmlns:a="http://schemas.openxmlformats.org/drawingml/2006/main" noGrp="1"/>
          </p:cNvSpPr>
          <p:nvPr/>
        </p:nvSpPr>
        <p:spPr>
          <a:xfrm xmlns:a="http://schemas.openxmlformats.org/drawingml/2006/main">
            <a:off x="876300" y="34671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EDB9081F-6888-4BC1-B41A-295A47474768}"/>
              </a:ext>
            </a:extLst>
          </p:cNvPr>
          <p:cNvSpPr>
            <a:spLocks xmlns:a="http://schemas.openxmlformats.org/drawingml/2006/main" noGrp="1"/>
          </p:cNvSpPr>
          <p:nvPr/>
        </p:nvSpPr>
        <p:spPr>
          <a:xfrm xmlns:a="http://schemas.openxmlformats.org/drawingml/2006/main">
            <a:off x="819150" y="3552825"/>
            <a:ext cx="10477500" cy="457200"/>
          </a:xfrm>
          <a:prstGeom xmlns:a="http://schemas.openxmlformats.org/drawingml/2006/main" prst="rect">
            <a:avLst/>
          </a:prstGeom>
          <a:solidFill xmlns:a="http://schemas.openxmlformats.org/drawingml/2006/main">
            <a:srgbClr val="DDF2EE"/>
          </a:solidFill>
          <a:ln xmlns:a="http://schemas.openxmlformats.org/drawingml/2006/main" w="0">
            <a:solidFill>
              <a:srgbClr val="DDF2EE"/>
            </a:solidFill>
            <a:prstDash val="solid"/>
          </a:ln>
        </p:spPr>
      </p:sp>
      <p:sp>
        <p:nvSpPr>
          <p:cNvPr id="21" name="">
            <a:extLst xmlns:a="http://schemas.openxmlformats.org/drawingml/2006/main">
              <a:ext uri="{FF2B5EF4-FFF2-40B4-BE49-F238E27FC236}">
                <a16:creationId xmlns:a16="http://schemas.microsoft.com/office/drawing/2014/main" id="{319312EF-363E-4DAD-9545-7906F12331C8}"/>
              </a:ext>
            </a:extLst>
          </p:cNvPr>
          <p:cNvSpPr>
            <a:spLocks xmlns:a="http://schemas.openxmlformats.org/drawingml/2006/main" noGrp="1"/>
          </p:cNvSpPr>
          <p:nvPr/>
        </p:nvSpPr>
        <p:spPr>
          <a:xfrm xmlns:a="http://schemas.openxmlformats.org/drawingml/2006/main">
            <a:off x="914400" y="361950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2A8C82"/>
                </a:solidFill>
              </a:defRPr>
            </a:pPr>
            <a:r>
              <a:rPr sz="1425" b="1">
                <a:solidFill>
                  <a:srgbClr val="2A8C82"/>
                </a:solidFill>
              </a:rPr>
              <a:t>v6</a:t>
            </a:r>
          </a:p>
        </p:txBody>
      </p:sp>
      <p:sp>
        <p:nvSpPr>
          <p:cNvPr id="22" name="">
            <a:extLst xmlns:a="http://schemas.openxmlformats.org/drawingml/2006/main">
              <a:ext uri="{FF2B5EF4-FFF2-40B4-BE49-F238E27FC236}">
                <a16:creationId xmlns:a16="http://schemas.microsoft.com/office/drawing/2014/main" id="{67F113F1-1B36-45F2-97A8-600DDAD0C6C8}"/>
              </a:ext>
            </a:extLst>
          </p:cNvPr>
          <p:cNvSpPr>
            <a:spLocks xmlns:a="http://schemas.openxmlformats.org/drawingml/2006/main" noGrp="1"/>
          </p:cNvSpPr>
          <p:nvPr/>
        </p:nvSpPr>
        <p:spPr>
          <a:xfrm xmlns:a="http://schemas.openxmlformats.org/drawingml/2006/main">
            <a:off x="3524250" y="36195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0.903</a:t>
            </a:r>
          </a:p>
        </p:txBody>
      </p:sp>
      <p:sp>
        <p:nvSpPr>
          <p:cNvPr id="23" name="">
            <a:extLst xmlns:a="http://schemas.openxmlformats.org/drawingml/2006/main">
              <a:ext uri="{FF2B5EF4-FFF2-40B4-BE49-F238E27FC236}">
                <a16:creationId xmlns:a16="http://schemas.microsoft.com/office/drawing/2014/main" id="{932C4F4C-5B6C-4D5C-9214-209BD07098ED}"/>
              </a:ext>
            </a:extLst>
          </p:cNvPr>
          <p:cNvSpPr>
            <a:spLocks xmlns:a="http://schemas.openxmlformats.org/drawingml/2006/main" noGrp="1"/>
          </p:cNvSpPr>
          <p:nvPr/>
        </p:nvSpPr>
        <p:spPr>
          <a:xfrm xmlns:a="http://schemas.openxmlformats.org/drawingml/2006/main">
            <a:off x="5048250" y="36195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reduced</a:t>
            </a:r>
          </a:p>
        </p:txBody>
      </p:sp>
      <p:sp>
        <p:nvSpPr>
          <p:cNvPr id="24" name="">
            <a:extLst xmlns:a="http://schemas.openxmlformats.org/drawingml/2006/main">
              <a:ext uri="{FF2B5EF4-FFF2-40B4-BE49-F238E27FC236}">
                <a16:creationId xmlns:a16="http://schemas.microsoft.com/office/drawing/2014/main" id="{3C236A13-B93B-46FD-939A-36EEF4B776B9}"/>
              </a:ext>
            </a:extLst>
          </p:cNvPr>
          <p:cNvSpPr>
            <a:spLocks xmlns:a="http://schemas.openxmlformats.org/drawingml/2006/main" noGrp="1"/>
          </p:cNvSpPr>
          <p:nvPr/>
        </p:nvSpPr>
        <p:spPr>
          <a:xfrm xmlns:a="http://schemas.openxmlformats.org/drawingml/2006/main">
            <a:off x="7086600" y="36195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source and structured routing</a:t>
            </a:r>
          </a:p>
        </p:txBody>
      </p:sp>
      <p:sp>
        <p:nvSpPr>
          <p:cNvPr id="25" name="">
            <a:extLst xmlns:a="http://schemas.openxmlformats.org/drawingml/2006/main">
              <a:ext uri="{FF2B5EF4-FFF2-40B4-BE49-F238E27FC236}">
                <a16:creationId xmlns:a16="http://schemas.microsoft.com/office/drawing/2014/main" id="{B12F059F-383F-49FA-9F3E-F0B5EFA473C5}"/>
              </a:ext>
            </a:extLst>
          </p:cNvPr>
          <p:cNvSpPr>
            <a:spLocks xmlns:a="http://schemas.openxmlformats.org/drawingml/2006/main" noGrp="1"/>
          </p:cNvSpPr>
          <p:nvPr/>
        </p:nvSpPr>
        <p:spPr>
          <a:xfrm xmlns:a="http://schemas.openxmlformats.org/drawingml/2006/main">
            <a:off x="876300" y="399097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DA98BE0-6DE4-4B31-8C9D-F58611F2C8E0}"/>
              </a:ext>
            </a:extLst>
          </p:cNvPr>
          <p:cNvSpPr>
            <a:spLocks xmlns:a="http://schemas.openxmlformats.org/drawingml/2006/main" noGrp="1"/>
          </p:cNvSpPr>
          <p:nvPr/>
        </p:nvSpPr>
        <p:spPr>
          <a:xfrm xmlns:a="http://schemas.openxmlformats.org/drawingml/2006/main">
            <a:off x="914400" y="414337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v37</a:t>
            </a:r>
          </a:p>
        </p:txBody>
      </p:sp>
      <p:sp>
        <p:nvSpPr>
          <p:cNvPr id="27" name="">
            <a:extLst xmlns:a="http://schemas.openxmlformats.org/drawingml/2006/main">
              <a:ext uri="{FF2B5EF4-FFF2-40B4-BE49-F238E27FC236}">
                <a16:creationId xmlns:a16="http://schemas.microsoft.com/office/drawing/2014/main" id="{EF79539B-E7EB-42D6-866A-3A21377BA7CE}"/>
              </a:ext>
            </a:extLst>
          </p:cNvPr>
          <p:cNvSpPr>
            <a:spLocks xmlns:a="http://schemas.openxmlformats.org/drawingml/2006/main" noGrp="1"/>
          </p:cNvSpPr>
          <p:nvPr/>
        </p:nvSpPr>
        <p:spPr>
          <a:xfrm xmlns:a="http://schemas.openxmlformats.org/drawingml/2006/main">
            <a:off x="3524250" y="41433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0.961</a:t>
            </a:r>
          </a:p>
        </p:txBody>
      </p:sp>
      <p:sp>
        <p:nvSpPr>
          <p:cNvPr id="28" name="">
            <a:extLst xmlns:a="http://schemas.openxmlformats.org/drawingml/2006/main">
              <a:ext uri="{FF2B5EF4-FFF2-40B4-BE49-F238E27FC236}">
                <a16:creationId xmlns:a16="http://schemas.microsoft.com/office/drawing/2014/main" id="{F28035BB-0D79-43B6-A2E5-26B313048C16}"/>
              </a:ext>
            </a:extLst>
          </p:cNvPr>
          <p:cNvSpPr>
            <a:spLocks xmlns:a="http://schemas.openxmlformats.org/drawingml/2006/main" noGrp="1"/>
          </p:cNvSpPr>
          <p:nvPr/>
        </p:nvSpPr>
        <p:spPr>
          <a:xfrm xmlns:a="http://schemas.openxmlformats.org/drawingml/2006/main">
            <a:off x="5048250" y="41433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526174"/>
                </a:solidFill>
              </a:defRPr>
            </a:pPr>
            <a:r>
              <a:rPr sz="1350" b="1">
                <a:solidFill>
                  <a:srgbClr val="526174"/>
                </a:solidFill>
              </a:rPr>
              <a:t>312</a:t>
            </a:r>
          </a:p>
        </p:txBody>
      </p:sp>
      <p:sp>
        <p:nvSpPr>
          <p:cNvPr id="29" name="">
            <a:extLst xmlns:a="http://schemas.openxmlformats.org/drawingml/2006/main">
              <a:ext uri="{FF2B5EF4-FFF2-40B4-BE49-F238E27FC236}">
                <a16:creationId xmlns:a16="http://schemas.microsoft.com/office/drawing/2014/main" id="{7F693F92-3733-4DB2-90B0-B6085BE41E75}"/>
              </a:ext>
            </a:extLst>
          </p:cNvPr>
          <p:cNvSpPr>
            <a:spLocks xmlns:a="http://schemas.openxmlformats.org/drawingml/2006/main" noGrp="1"/>
          </p:cNvSpPr>
          <p:nvPr/>
        </p:nvSpPr>
        <p:spPr>
          <a:xfrm xmlns:a="http://schemas.openxmlformats.org/drawingml/2006/main">
            <a:off x="7086600" y="4143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stricter provenance gate</a:t>
            </a:r>
          </a:p>
        </p:txBody>
      </p:sp>
      <p:sp>
        <p:nvSpPr>
          <p:cNvPr id="30" name="">
            <a:extLst xmlns:a="http://schemas.openxmlformats.org/drawingml/2006/main">
              <a:ext uri="{FF2B5EF4-FFF2-40B4-BE49-F238E27FC236}">
                <a16:creationId xmlns:a16="http://schemas.microsoft.com/office/drawing/2014/main" id="{8D850C4A-65C5-4EC4-90DD-8702C4D00FC0}"/>
              </a:ext>
            </a:extLst>
          </p:cNvPr>
          <p:cNvSpPr>
            <a:spLocks xmlns:a="http://schemas.openxmlformats.org/drawingml/2006/main" noGrp="1"/>
          </p:cNvSpPr>
          <p:nvPr/>
        </p:nvSpPr>
        <p:spPr>
          <a:xfrm xmlns:a="http://schemas.openxmlformats.org/drawingml/2006/main">
            <a:off x="876300" y="4514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1" name="">
            <a:extLst xmlns:a="http://schemas.openxmlformats.org/drawingml/2006/main">
              <a:ext uri="{FF2B5EF4-FFF2-40B4-BE49-F238E27FC236}">
                <a16:creationId xmlns:a16="http://schemas.microsoft.com/office/drawing/2014/main" id="{4933FA2A-2C4C-44C1-BD05-CAF058C3CC51}"/>
              </a:ext>
            </a:extLst>
          </p:cNvPr>
          <p:cNvSpPr>
            <a:spLocks xmlns:a="http://schemas.openxmlformats.org/drawingml/2006/main" noGrp="1"/>
          </p:cNvSpPr>
          <p:nvPr/>
        </p:nvSpPr>
        <p:spPr>
          <a:xfrm xmlns:a="http://schemas.openxmlformats.org/drawingml/2006/main">
            <a:off x="914400" y="46672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v85</a:t>
            </a:r>
          </a:p>
        </p:txBody>
      </p:sp>
      <p:sp>
        <p:nvSpPr>
          <p:cNvPr id="32" name="">
            <a:extLst xmlns:a="http://schemas.openxmlformats.org/drawingml/2006/main">
              <a:ext uri="{FF2B5EF4-FFF2-40B4-BE49-F238E27FC236}">
                <a16:creationId xmlns:a16="http://schemas.microsoft.com/office/drawing/2014/main" id="{6DC67C3E-91B1-4714-A545-3DB3C04FA1DA}"/>
              </a:ext>
            </a:extLst>
          </p:cNvPr>
          <p:cNvSpPr>
            <a:spLocks xmlns:a="http://schemas.openxmlformats.org/drawingml/2006/main" noGrp="1"/>
          </p:cNvSpPr>
          <p:nvPr/>
        </p:nvSpPr>
        <p:spPr>
          <a:xfrm xmlns:a="http://schemas.openxmlformats.org/drawingml/2006/main">
            <a:off x="3524250" y="4667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0.966</a:t>
            </a:r>
          </a:p>
        </p:txBody>
      </p:sp>
      <p:sp>
        <p:nvSpPr>
          <p:cNvPr id="33" name="">
            <a:extLst xmlns:a="http://schemas.openxmlformats.org/drawingml/2006/main">
              <a:ext uri="{FF2B5EF4-FFF2-40B4-BE49-F238E27FC236}">
                <a16:creationId xmlns:a16="http://schemas.microsoft.com/office/drawing/2014/main" id="{11166A62-E6A0-4C5B-B17D-EFB7990A9FB9}"/>
              </a:ext>
            </a:extLst>
          </p:cNvPr>
          <p:cNvSpPr>
            <a:spLocks xmlns:a="http://schemas.openxmlformats.org/drawingml/2006/main" noGrp="1"/>
          </p:cNvSpPr>
          <p:nvPr/>
        </p:nvSpPr>
        <p:spPr>
          <a:xfrm xmlns:a="http://schemas.openxmlformats.org/drawingml/2006/main">
            <a:off x="5048250" y="46672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526174"/>
                </a:solidFill>
              </a:defRPr>
            </a:pPr>
            <a:r>
              <a:rPr sz="1350" b="1">
                <a:solidFill>
                  <a:srgbClr val="526174"/>
                </a:solidFill>
              </a:rPr>
              <a:t>193</a:t>
            </a:r>
          </a:p>
        </p:txBody>
      </p:sp>
      <p:sp>
        <p:nvSpPr>
          <p:cNvPr id="34" name="">
            <a:extLst xmlns:a="http://schemas.openxmlformats.org/drawingml/2006/main">
              <a:ext uri="{FF2B5EF4-FFF2-40B4-BE49-F238E27FC236}">
                <a16:creationId xmlns:a16="http://schemas.microsoft.com/office/drawing/2014/main" id="{BE0991A4-AE6C-4C95-B379-A6166A5E715E}"/>
              </a:ext>
            </a:extLst>
          </p:cNvPr>
          <p:cNvSpPr>
            <a:spLocks xmlns:a="http://schemas.openxmlformats.org/drawingml/2006/main" noGrp="1"/>
          </p:cNvSpPr>
          <p:nvPr/>
        </p:nvSpPr>
        <p:spPr>
          <a:xfrm xmlns:a="http://schemas.openxmlformats.org/drawingml/2006/main">
            <a:off x="7086600" y="46672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reproducible two-source anchor</a:t>
            </a:r>
          </a:p>
        </p:txBody>
      </p:sp>
      <p:sp>
        <p:nvSpPr>
          <p:cNvPr id="35" name="">
            <a:extLst xmlns:a="http://schemas.openxmlformats.org/drawingml/2006/main">
              <a:ext uri="{FF2B5EF4-FFF2-40B4-BE49-F238E27FC236}">
                <a16:creationId xmlns:a16="http://schemas.microsoft.com/office/drawing/2014/main" id="{6D0D048E-1EFB-4CFA-B52E-5C5D70E2C7BE}"/>
              </a:ext>
            </a:extLst>
          </p:cNvPr>
          <p:cNvSpPr>
            <a:spLocks xmlns:a="http://schemas.openxmlformats.org/drawingml/2006/main" noGrp="1"/>
          </p:cNvSpPr>
          <p:nvPr/>
        </p:nvSpPr>
        <p:spPr>
          <a:xfrm xmlns:a="http://schemas.openxmlformats.org/drawingml/2006/main">
            <a:off x="876300" y="50387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BC334C9B-56F2-48D5-AA12-285571825044}"/>
              </a:ext>
            </a:extLst>
          </p:cNvPr>
          <p:cNvSpPr>
            <a:spLocks xmlns:a="http://schemas.openxmlformats.org/drawingml/2006/main" noGrp="1"/>
          </p:cNvSpPr>
          <p:nvPr/>
        </p:nvSpPr>
        <p:spPr>
          <a:xfrm xmlns:a="http://schemas.openxmlformats.org/drawingml/2006/main">
            <a:off x="819150" y="5124450"/>
            <a:ext cx="10477500" cy="457200"/>
          </a:xfrm>
          <a:prstGeom xmlns:a="http://schemas.openxmlformats.org/drawingml/2006/main" prst="rect">
            <a:avLst/>
          </a:prstGeom>
          <a:solidFill xmlns:a="http://schemas.openxmlformats.org/drawingml/2006/main">
            <a:srgbClr val="FBF0D8"/>
          </a:solidFill>
          <a:ln xmlns:a="http://schemas.openxmlformats.org/drawingml/2006/main" w="0">
            <a:solidFill>
              <a:srgbClr val="FBF0D8"/>
            </a:solidFill>
            <a:prstDash val="solid"/>
          </a:ln>
        </p:spPr>
      </p:sp>
      <p:sp>
        <p:nvSpPr>
          <p:cNvPr id="37" name="">
            <a:extLst xmlns:a="http://schemas.openxmlformats.org/drawingml/2006/main">
              <a:ext uri="{FF2B5EF4-FFF2-40B4-BE49-F238E27FC236}">
                <a16:creationId xmlns:a16="http://schemas.microsoft.com/office/drawing/2014/main" id="{4DA894E2-5D6A-4D38-A0D5-E0FAA5BCFEE6}"/>
              </a:ext>
            </a:extLst>
          </p:cNvPr>
          <p:cNvSpPr>
            <a:spLocks xmlns:a="http://schemas.openxmlformats.org/drawingml/2006/main" noGrp="1"/>
          </p:cNvSpPr>
          <p:nvPr/>
        </p:nvSpPr>
        <p:spPr>
          <a:xfrm xmlns:a="http://schemas.openxmlformats.org/drawingml/2006/main">
            <a:off x="914400" y="51911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D59B32"/>
                </a:solidFill>
              </a:defRPr>
            </a:pPr>
            <a:r>
              <a:rPr sz="1425" b="1">
                <a:solidFill>
                  <a:srgbClr val="D59B32"/>
                </a:solidFill>
              </a:rPr>
              <a:t>v91</a:t>
            </a:r>
          </a:p>
        </p:txBody>
      </p:sp>
      <p:sp>
        <p:nvSpPr>
          <p:cNvPr id="38" name="">
            <a:extLst xmlns:a="http://schemas.openxmlformats.org/drawingml/2006/main">
              <a:ext uri="{FF2B5EF4-FFF2-40B4-BE49-F238E27FC236}">
                <a16:creationId xmlns:a16="http://schemas.microsoft.com/office/drawing/2014/main" id="{F8D14C7C-DC43-44C3-8F96-889B471D8A99}"/>
              </a:ext>
            </a:extLst>
          </p:cNvPr>
          <p:cNvSpPr>
            <a:spLocks xmlns:a="http://schemas.openxmlformats.org/drawingml/2006/main" noGrp="1"/>
          </p:cNvSpPr>
          <p:nvPr/>
        </p:nvSpPr>
        <p:spPr>
          <a:xfrm xmlns:a="http://schemas.openxmlformats.org/drawingml/2006/main">
            <a:off x="3524250" y="51911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0F172A"/>
                </a:solidFill>
              </a:defRPr>
            </a:pPr>
            <a:r>
              <a:rPr sz="1425" b="1">
                <a:solidFill>
                  <a:srgbClr val="0F172A"/>
                </a:solidFill>
              </a:rPr>
              <a:t>0.967</a:t>
            </a:r>
          </a:p>
        </p:txBody>
      </p:sp>
      <p:sp>
        <p:nvSpPr>
          <p:cNvPr id="39" name="">
            <a:extLst xmlns:a="http://schemas.openxmlformats.org/drawingml/2006/main">
              <a:ext uri="{FF2B5EF4-FFF2-40B4-BE49-F238E27FC236}">
                <a16:creationId xmlns:a16="http://schemas.microsoft.com/office/drawing/2014/main" id="{1EBD9334-F942-4086-BCB5-61A440EE63F9}"/>
              </a:ext>
            </a:extLst>
          </p:cNvPr>
          <p:cNvSpPr>
            <a:spLocks xmlns:a="http://schemas.openxmlformats.org/drawingml/2006/main" noGrp="1"/>
          </p:cNvSpPr>
          <p:nvPr/>
        </p:nvSpPr>
        <p:spPr>
          <a:xfrm xmlns:a="http://schemas.openxmlformats.org/drawingml/2006/main">
            <a:off x="5048250" y="51911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526174"/>
                </a:solidFill>
              </a:defRPr>
            </a:pPr>
            <a:r>
              <a:rPr sz="1350" b="1">
                <a:solidFill>
                  <a:srgbClr val="526174"/>
                </a:solidFill>
              </a:rPr>
              <a:t>158</a:t>
            </a:r>
          </a:p>
        </p:txBody>
      </p:sp>
      <p:sp>
        <p:nvSpPr>
          <p:cNvPr id="40" name="">
            <a:extLst xmlns:a="http://schemas.openxmlformats.org/drawingml/2006/main">
              <a:ext uri="{FF2B5EF4-FFF2-40B4-BE49-F238E27FC236}">
                <a16:creationId xmlns:a16="http://schemas.microsoft.com/office/drawing/2014/main" id="{1E35ADB7-6EBD-4DA8-9D12-1C5AF8F68226}"/>
              </a:ext>
            </a:extLst>
          </p:cNvPr>
          <p:cNvSpPr>
            <a:spLocks xmlns:a="http://schemas.openxmlformats.org/drawingml/2006/main" noGrp="1"/>
          </p:cNvSpPr>
          <p:nvPr/>
        </p:nvSpPr>
        <p:spPr>
          <a:xfrm xmlns:a="http://schemas.openxmlformats.org/drawingml/2006/main">
            <a:off x="7086600" y="51911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typed idiom and predicate guards</a:t>
            </a:r>
          </a:p>
        </p:txBody>
      </p:sp>
      <p:sp>
        <p:nvSpPr>
          <p:cNvPr id="41" name="">
            <a:extLst xmlns:a="http://schemas.openxmlformats.org/drawingml/2006/main">
              <a:ext uri="{FF2B5EF4-FFF2-40B4-BE49-F238E27FC236}">
                <a16:creationId xmlns:a16="http://schemas.microsoft.com/office/drawing/2014/main" id="{51F1E0C3-67AE-48EE-9DF0-1DB94A9A1594}"/>
              </a:ext>
            </a:extLst>
          </p:cNvPr>
          <p:cNvSpPr>
            <a:spLocks xmlns:a="http://schemas.openxmlformats.org/drawingml/2006/main" noGrp="1"/>
          </p:cNvSpPr>
          <p:nvPr/>
        </p:nvSpPr>
        <p:spPr>
          <a:xfrm xmlns:a="http://schemas.openxmlformats.org/drawingml/2006/main">
            <a:off x="876300" y="55626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2" name="">
            <a:extLst xmlns:a="http://schemas.openxmlformats.org/drawingml/2006/main">
              <a:ext uri="{FF2B5EF4-FFF2-40B4-BE49-F238E27FC236}">
                <a16:creationId xmlns:a16="http://schemas.microsoft.com/office/drawing/2014/main" id="{9A0EB313-E1E1-4998-A094-F58FE7597B66}"/>
              </a:ext>
            </a:extLst>
          </p:cNvPr>
          <p:cNvSpPr>
            <a:spLocks xmlns:a="http://schemas.openxmlformats.org/drawingml/2006/main" noGrp="1"/>
          </p:cNvSpPr>
          <p:nvPr/>
        </p:nvSpPr>
        <p:spPr>
          <a:xfrm xmlns:a="http://schemas.openxmlformats.org/drawingml/2006/main">
            <a:off x="1524000" y="5886450"/>
            <a:ext cx="914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2A8C82"/>
                </a:solidFill>
              </a:defRPr>
            </a:pPr>
            <a:r>
              <a:rPr sz="1500" b="1">
                <a:solidFill>
                  <a:srgbClr val="2A8C82"/>
                </a:solidFill>
              </a:rPr>
              <a:t>The largest observed step coincided with routing: 0.797 → 0.903.</a:t>
            </a:r>
          </a:p>
        </p:txBody>
      </p:sp>
      <p:sp>
        <p:nvSpPr>
          <p:cNvPr id="43" name="">
            <a:extLst xmlns:a="http://schemas.openxmlformats.org/drawingml/2006/main">
              <a:ext uri="{FF2B5EF4-FFF2-40B4-BE49-F238E27FC236}">
                <a16:creationId xmlns:a16="http://schemas.microsoft.com/office/drawing/2014/main" id="{35BCF703-F8C1-4209-B95A-10EC8329E39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4" name="source-10">
            <a:extLst xmlns:a="http://schemas.openxmlformats.org/drawingml/2006/main">
              <a:ext uri="{FF2B5EF4-FFF2-40B4-BE49-F238E27FC236}">
                <a16:creationId xmlns:a16="http://schemas.microsoft.com/office/drawing/2014/main" id="{C325922F-B7FF-4972-85F3-E668293137C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Scored Phase 1 experiment ledger and Kaggle public leaderboard</a:t>
            </a:r>
          </a:p>
        </p:txBody>
      </p:sp>
      <p:sp>
        <p:nvSpPr>
          <p:cNvPr id="45" name="page-10">
            <a:extLst xmlns:a="http://schemas.openxmlformats.org/drawingml/2006/main">
              <a:ext uri="{FF2B5EF4-FFF2-40B4-BE49-F238E27FC236}">
                <a16:creationId xmlns:a16="http://schemas.microsoft.com/office/drawing/2014/main" id="{48E3BAE2-DC47-4C85-BFB1-CF4EB19F643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10</a:t>
            </a:r>
          </a:p>
        </p:txBody>
      </p:sp>
    </p:spTree>
    <p:extLst>
      <p:ext uri="{BB962C8B-B14F-4D97-AF65-F5344CB8AC3E}">
        <p14:creationId xmlns:p14="http://schemas.microsoft.com/office/powerpoint/2010/main" val="2139972927"/>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FBA6E5D5-3FD8-48FC-84C9-880965CBC98A}"/>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5A9C8C4D-3902-4BE8-AF24-CB099C51556C}"/>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FBE5D8CB-5EAE-49FF-8076-0F178199F79A}"/>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AB23159F-2413-4BF4-BDFE-FB86E247005D}"/>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B1010340-9A9A-4496-93C2-BF0D34567949}"/>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0E84A8EA-2E4B-4EB7-A89F-91D797C3AA03}"/>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2A21159E-1664-448E-A0AA-04FCB2DAFFB9}"/>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0565CAA6-8237-4885-80BA-A476B44D36CD}"/>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FFB3AE57-E655-4D9F-847B-EDE301283FB5}"/>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D530B28B-4CFF-493B-8D5C-35E6FD7671CF}"/>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98972ACF-F41F-4443-BA6D-CCB32007930A}"/>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9E0EB938-7E6F-4D27-BBAF-D44E5347D685}"/>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DD35140A-910A-48A9-BD35-7E4E08C89826}"/>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A28039F2-D0EA-4383-9E35-B19709EEFED3}"/>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727DD5F1-E643-4D99-8A8A-AF94F7BC26AA}"/>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C2AECBDC-1D0D-49F0-8B40-D633C812FE49}"/>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167CDB02-8DF0-4CD6-8BE0-AAB639163919}"/>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363C1570-8C19-4F0F-9E37-4839B6A7C60F}"/>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1E3B809B-72FC-43C9-8B62-085B63D9DE29}"/>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9A1AA02E-B891-4133-A939-2FD48E9ED555}"/>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F831E87-D104-47BC-A892-BCD479F7B849}"/>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9D0D269E-1B19-4849-BE54-1C086F6E7148}"/>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F6C55C9B-1E86-477F-8151-26BC09102323}"/>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744243E3-375E-4DA4-93AA-4294E593C452}"/>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29EFD0DC-B388-4476-A62A-338BC2C07F9D}"/>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606B725C-818B-44BD-9619-91C2C55B01B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F6268502-DD88-4C8E-AFC2-F3735EDC5F3A}"/>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BA6637E6-7E5D-4167-8869-67A5BAC6055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11</a:t>
            </a:r>
          </a:p>
        </p:txBody>
      </p:sp>
    </p:spTree>
    <p:extLst>
      <p:ext uri="{BB962C8B-B14F-4D97-AF65-F5344CB8AC3E}">
        <p14:creationId xmlns:p14="http://schemas.microsoft.com/office/powerpoint/2010/main" val="837753142"/>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Reproducibility was treated as an evaluation result</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Correctness, deterministic execution, output integrity, and runtime were checked separately.</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Literal path</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organizer test path</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Pinned assets</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model + runtime + evidence</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Fixed schedule</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rows + prompts + batches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inference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one tensor-split server</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Validated CSV</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ordered id,label</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3 runs matched byte-for-byte  •  scored CSV hash matched  •  5,000 Phase 2 rows validated in 3:52:02</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Regression suite, freeze manifest, evaluation ledger  [8] Phase 2 runtime evidence</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12</a:t>
            </a:r>
          </a:p>
        </p:txBody>
      </p:sp>
    </p:spTree>
    <p:extLst>
      <p:ext uri="{BB962C8B-B14F-4D97-AF65-F5344CB8AC3E}">
        <p14:creationId xmlns:p14="http://schemas.microsoft.com/office/powerpoint/2010/main" val="1722569808"/>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1515D7EA-7C1E-424C-9365-9E703170CF46}"/>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9CBDE1AC-996D-4140-B259-DE951A849DF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ranked 7/32 with an official score of 0.90144</a:t>
            </a:r>
          </a:p>
        </p:txBody>
      </p:sp>
      <p:sp>
        <p:nvSpPr>
          <p:cNvPr id="3" name="">
            <a:extLst xmlns:a="http://schemas.openxmlformats.org/drawingml/2006/main">
              <a:ext uri="{FF2B5EF4-FFF2-40B4-BE49-F238E27FC236}">
                <a16:creationId xmlns:a16="http://schemas.microsoft.com/office/drawing/2014/main" id="{3F85B47B-9034-4171-8DE0-E26C64512BE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9A8B2D2-345A-4001-ACFB-90DD8BD36ED4}"/>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Official 5,000-row evaluation on Kaggle Tesla T4 x2; runtime 3 h 52 min.</a:t>
            </a:r>
          </a:p>
        </p:txBody>
      </p:sp>
      <p:sp>
        <p:nvSpPr>
          <p:cNvPr id="5" name="">
            <a:extLst xmlns:a="http://schemas.openxmlformats.org/drawingml/2006/main">
              <a:ext uri="{FF2B5EF4-FFF2-40B4-BE49-F238E27FC236}">
                <a16:creationId xmlns:a16="http://schemas.microsoft.com/office/drawing/2014/main" id="{F4F23D1D-E1EF-47E0-9F17-AA0FF61629CA}"/>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0.90144</a:t>
            </a:r>
          </a:p>
        </p:txBody>
      </p:sp>
      <p:sp>
        <p:nvSpPr>
          <p:cNvPr id="6" name="">
            <a:extLst xmlns:a="http://schemas.openxmlformats.org/drawingml/2006/main">
              <a:ext uri="{FF2B5EF4-FFF2-40B4-BE49-F238E27FC236}">
                <a16:creationId xmlns:a16="http://schemas.microsoft.com/office/drawing/2014/main" id="{DDEC418C-6FEF-49FC-ABD6-5D70DA6E4243}"/>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official score</a:t>
            </a:r>
          </a:p>
        </p:txBody>
      </p:sp>
      <p:sp>
        <p:nvSpPr>
          <p:cNvPr id="7" name="">
            <a:extLst xmlns:a="http://schemas.openxmlformats.org/drawingml/2006/main">
              <a:ext uri="{FF2B5EF4-FFF2-40B4-BE49-F238E27FC236}">
                <a16:creationId xmlns:a16="http://schemas.microsoft.com/office/drawing/2014/main" id="{67F1B708-C6AE-4794-AB6B-C81E80CFAAD7}"/>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7 / 32</a:t>
            </a:r>
          </a:p>
        </p:txBody>
      </p:sp>
      <p:sp>
        <p:nvSpPr>
          <p:cNvPr id="8" name="">
            <a:extLst xmlns:a="http://schemas.openxmlformats.org/drawingml/2006/main">
              <a:ext uri="{FF2B5EF4-FFF2-40B4-BE49-F238E27FC236}">
                <a16:creationId xmlns:a16="http://schemas.microsoft.com/office/drawing/2014/main" id="{361C308C-08C1-423D-A8FF-BDA70BBAB123}"/>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official rank</a:t>
            </a:r>
          </a:p>
        </p:txBody>
      </p:sp>
      <p:sp>
        <p:nvSpPr>
          <p:cNvPr id="9" name="">
            <a:extLst xmlns:a="http://schemas.openxmlformats.org/drawingml/2006/main">
              <a:ext uri="{FF2B5EF4-FFF2-40B4-BE49-F238E27FC236}">
                <a16:creationId xmlns:a16="http://schemas.microsoft.com/office/drawing/2014/main" id="{0DE803D9-85D5-4C74-8917-D21B6D2B8322}"/>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81A1FF96-D508-482B-B3E1-50C3C04F1BE8}"/>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80A785F7-F043-46DD-B629-5563143EA3F8}"/>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9745065D-18A3-49F5-B422-FE791C5815D4}"/>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end-to-end runtime</a:t>
            </a:r>
          </a:p>
        </p:txBody>
      </p:sp>
      <p:sp>
        <p:nvSpPr>
          <p:cNvPr id="13" name="">
            <a:extLst xmlns:a="http://schemas.openxmlformats.org/drawingml/2006/main">
              <a:ext uri="{FF2B5EF4-FFF2-40B4-BE49-F238E27FC236}">
                <a16:creationId xmlns:a16="http://schemas.microsoft.com/office/drawing/2014/main" id="{F13DCB45-6328-46C7-9F78-A93788098544}"/>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B818CCB0-86F6-442F-BFD2-A4A73F082115}"/>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AC90211E-356E-4FF0-8C9C-8F3F3A8B5F66}"/>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6A46EC01-E823-45CA-9BF2-4838B5F9BFC8}"/>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C29F6B35-5C93-49F3-9D28-CAF25BF70D11}"/>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8CC1E3D9-14ED-44EB-97B0-4F749CA76901}"/>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78220494-A5A4-48E8-80F9-A264D5CAF2ED}"/>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1696F7E3-707D-428A-8F7C-18B3B033B65F}"/>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D92A2359-2E7A-4443-8169-79B97E0C2059}"/>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6B385DE0-BA4A-471A-B834-285082D85A1D}"/>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9E799F49-DE36-456A-8043-2345AB2A4E41}"/>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301E4E6E-0361-460F-A7F6-EADE60375C1D}"/>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A6E36677-D556-495A-8379-7F9A40FA2D6F}"/>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EA15D5F2-CF9F-4A69-B1AB-FDCFC0CF9CBE}"/>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77AFDDF9-CB7A-43A3-9D9E-6ED4A10C3A7B}"/>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C16E0CB5-88DB-4755-B5D3-7D0910A9EB32}"/>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C6C40E55-62DE-4F90-A086-92F2D927155B}"/>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18ED38FA-5DAA-4734-A0DC-F859F6756EF2}"/>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63C8B2DA-DDDF-4534-B6FF-EE531BB7D501}"/>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A36BCA44-7F28-4598-BBA0-4707B77B62A5}"/>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35FBF6CB-E886-4974-846F-255370A4F36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BFC6A061-DF5B-495E-A48F-0FFD1211856D}"/>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[8] Organizer-run notebook and runtime  [9] Official Phase 2 results</a:t>
            </a:r>
          </a:p>
        </p:txBody>
      </p:sp>
      <p:sp>
        <p:nvSpPr>
          <p:cNvPr id="35" name="page-13">
            <a:extLst xmlns:a="http://schemas.openxmlformats.org/drawingml/2006/main">
              <a:ext uri="{FF2B5EF4-FFF2-40B4-BE49-F238E27FC236}">
                <a16:creationId xmlns:a16="http://schemas.microsoft.com/office/drawing/2014/main" id="{54D3B0D4-1D47-428C-9E2B-904D05515CA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13</a:t>
            </a:r>
          </a:p>
        </p:txBody>
      </p:sp>
    </p:spTree>
    <p:extLst>
      <p:ext uri="{BB962C8B-B14F-4D97-AF65-F5344CB8AC3E}">
        <p14:creationId xmlns:p14="http://schemas.microsoft.com/office/powerpoint/2010/main" val="79480487"/>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7898B36C-2C17-4FA9-BC6A-0D01F26EC5F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E1FA00B2-9F61-4CD6-8714-670B1604275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F1D2DA00-8135-4FC2-8DD1-5ED1F949EC55}"/>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37652AF-533C-46B0-936E-4DDE5982FAC1}"/>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D86C0F2D-5369-48DE-B292-43C5413DBC76}"/>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DBA22544-F6E8-40A1-99A7-97BD1413F865}"/>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66837C75-E250-448F-8CC1-81F0EA41F4BA}"/>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F48A290B-F30C-48FA-9CC3-300B0EF9B466}"/>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1A516C28-5D76-4721-BF70-C535191608A1}"/>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94941702-B6A1-4DF5-974A-723D57DFF41F}"/>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EDA2D85-3F9B-4AA6-B5B6-DBF722A2E122}"/>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AD340C7F-F4D1-402B-B31B-49A49F24DA1F}"/>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1280E1E0-4F88-4641-98FB-BD649F4B9E64}"/>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927C0264-7C1E-408F-8AF4-BF346F231730}"/>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10F51C8C-3815-4750-BB05-4CBBE3068C20}"/>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C9AEC63A-FD5C-453C-8CD6-60CD5E7A6069}"/>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D1723AA7-B375-477F-AB07-268AE8F2EFE5}"/>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FEF20AA6-0E65-4BA0-8217-AA867FE18D93}"/>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93B6DF69-081D-4B90-86C6-FD19C42EDCDF}"/>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8EED23B5-0773-4A3A-AC6E-6E175D1178C9}"/>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79E4F740-8365-4B46-A6FA-859377D5F35B}"/>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0">
                <a:solidFill>
                  <a:srgbClr val="526174"/>
                </a:solidFill>
              </a:defRPr>
            </a:pPr>
            <a:r>
              <a:rPr sz="1425" b="0">
                <a:solidFill>
                  <a:srgbClr val="526174"/>
                </a:solidFill>
              </a:rPr>
              <a:t>context clauses</a:t>
            </a:r>
          </a:p>
          <a:p xmlns:a="http://schemas.openxmlformats.org/drawingml/2006/main">
            <a:pPr algn="ctr">
              <a:buNone/>
              <a:defRPr sz="1425" b="0">
                <a:solidFill>
                  <a:srgbClr val="526174"/>
                </a:solidFill>
              </a:defRPr>
            </a:pPr>
            <a:r>
              <a:rPr sz="1425" b="0">
                <a:solidFill>
                  <a:srgbClr val="526174"/>
                </a:solidFill>
              </a:rPr>
              <a:t>structured solvers</a:t>
            </a:r>
          </a:p>
          <a:p xmlns:a="http://schemas.openxmlformats.org/drawingml/2006/main">
            <a:pPr algn="ctr">
              <a:buNone/>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B7FC16EF-370C-4042-B77A-FE7F4B05B1B4}"/>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A2543E8D-C76C-4378-8C70-6CB3AD1BED34}"/>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8C5E981E-3684-4EDC-890A-D3FF2122BFF8}"/>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526174"/>
                </a:solidFill>
              </a:defRPr>
            </a:pPr>
            <a:r>
              <a:rPr sz="1350" b="0">
                <a:solidFill>
                  <a:srgbClr val="526174"/>
                </a:solidFill>
              </a:rPr>
              <a:t>skip lineage</a:t>
            </a:r>
          </a:p>
          <a:p xmlns:a="http://schemas.openxmlformats.org/drawingml/2006/main">
            <a:pPr algn="ctr">
              <a:buNone/>
              <a:defRPr sz="1350" b="0">
                <a:solidFill>
                  <a:srgbClr val="526174"/>
                </a:solidFill>
              </a:defRPr>
            </a:pPr>
            <a:r>
              <a:rPr sz="1350" b="0">
                <a:solidFill>
                  <a:srgbClr val="526174"/>
                </a:solidFill>
              </a:rPr>
              <a:t>use the fixed judge</a:t>
            </a:r>
          </a:p>
          <a:p xmlns:a="http://schemas.openxmlformats.org/drawingml/2006/main">
            <a:pPr algn="ctr">
              <a:buNone/>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751B1260-DF46-4828-B92D-B2C29E05BEDE}"/>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B6547CB1-52FC-4436-9DBE-F5FC4BE55915}"/>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C4387042-6B0B-4701-B898-EDC0B5A37C7C}"/>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526174"/>
                </a:solidFill>
              </a:defRPr>
            </a:pPr>
            <a:r>
              <a:rPr sz="1275" b="0">
                <a:solidFill>
                  <a:srgbClr val="526174"/>
                </a:solidFill>
              </a:rPr>
              <a:t>Official score 0.90144; rank 7/32; completed in 3:52:02.</a:t>
            </a:r>
          </a:p>
        </p:txBody>
      </p:sp>
      <p:sp>
        <p:nvSpPr>
          <p:cNvPr id="28" name="">
            <a:extLst xmlns:a="http://schemas.openxmlformats.org/drawingml/2006/main">
              <a:ext uri="{FF2B5EF4-FFF2-40B4-BE49-F238E27FC236}">
                <a16:creationId xmlns:a16="http://schemas.microsoft.com/office/drawing/2014/main" id="{20E05A06-5957-4BD6-A7F7-9AAD3AB3A09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93F53662-130E-413B-975B-D87C85E9E30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[2] Source preview  [8] Held-out runtime  [9] Official Phase 2 results</a:t>
            </a:r>
          </a:p>
        </p:txBody>
      </p:sp>
      <p:sp>
        <p:nvSpPr>
          <p:cNvPr id="30" name="page-14">
            <a:extLst xmlns:a="http://schemas.openxmlformats.org/drawingml/2006/main">
              <a:ext uri="{FF2B5EF4-FFF2-40B4-BE49-F238E27FC236}">
                <a16:creationId xmlns:a16="http://schemas.microsoft.com/office/drawing/2014/main" id="{68315756-396F-4268-A6A1-DE3FE1C54A5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14</a:t>
            </a:r>
          </a:p>
        </p:txBody>
      </p:sp>
    </p:spTree>
    <p:extLst>
      <p:ext uri="{BB962C8B-B14F-4D97-AF65-F5344CB8AC3E}">
        <p14:creationId xmlns:p14="http://schemas.microsoft.com/office/powerpoint/2010/main" val="624765838"/>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What the experiments support—</a:t>
            </a:r>
          </a:p>
          <a:p xmlns:a="http://schemas.openxmlformats.org/drawingml/2006/main">
            <a:pPr algn="l">
              <a:buNone/>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Task families need separate policies.</a:t>
            </a:r>
          </a:p>
          <a:p xmlns:a="http://schemas.openxmlformats.org/drawingml/2006/main">
            <a:pPr algn="l">
              <a:buNone/>
              <a:defRPr sz="1275" b="0">
                <a:solidFill>
                  <a:srgbClr val="0F172A"/>
                </a:solidFill>
              </a:defRPr>
            </a:pPr>
            <a:r>
              <a:rPr sz="1275" b="0">
                <a:solidFill>
                  <a:srgbClr val="0F172A"/>
                </a:solidFill>
              </a:rPr>
              <a:t>Predicate alignment prevents relation swaps.</a:t>
            </a:r>
          </a:p>
          <a:p xmlns:a="http://schemas.openxmlformats.org/drawingml/2006/main">
            <a:pPr algn="l">
              <a:buNone/>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Only 299 released labels.</a:t>
            </a:r>
          </a:p>
          <a:p xmlns:a="http://schemas.openxmlformats.org/drawingml/2006/main">
            <a:pPr algn="l">
              <a:buNone/>
              <a:defRPr sz="1275" b="0">
                <a:solidFill>
                  <a:srgbClr val="0F172A"/>
                </a:solidFill>
              </a:defRPr>
            </a:pPr>
            <a:r>
              <a:rPr sz="1275" b="0">
                <a:solidFill>
                  <a:srgbClr val="0F172A"/>
                </a:solidFill>
              </a:rPr>
              <a:t>Phase 2 result is aggregate only.</a:t>
            </a:r>
          </a:p>
          <a:p xmlns:a="http://schemas.openxmlformats.org/drawingml/2006/main">
            <a:pPr algn="l">
              <a:buNone/>
              <a:defRPr sz="1275" b="0">
                <a:solidFill>
                  <a:srgbClr val="0F172A"/>
                </a:solidFill>
              </a:defRPr>
            </a:pPr>
            <a:r>
              <a:rPr sz="1275" b="0">
                <a:solidFill>
                  <a:srgbClr val="0F172A"/>
                </a:solidFill>
              </a:rPr>
              <a:t>No Phase 2 row-level errors.</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If labels are released, inspect Phase 2 errors.</a:t>
            </a:r>
          </a:p>
          <a:p xmlns:a="http://schemas.openxmlformats.org/drawingml/2006/main">
            <a:pPr algn="l">
              <a:buNone/>
              <a:defRPr sz="1275" b="0">
                <a:solidFill>
                  <a:srgbClr val="0F172A"/>
                </a:solidFill>
              </a:defRPr>
            </a:pPr>
            <a:r>
              <a:rPr sz="1275" b="0">
                <a:solidFill>
                  <a:srgbClr val="0F172A"/>
                </a:solidFill>
              </a:rPr>
              <a:t>Calibrate the judged tail.</a:t>
            </a:r>
          </a:p>
          <a:p xmlns:a="http://schemas.openxmlformats.org/drawingml/2006/main">
            <a:pPr algn="l">
              <a:buNone/>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Held-out result: 0.90144, rank 7/32; runtime: 3 h 52 min.</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Final system  [8] Runtime evidence  [9] Official Phase 2 results</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15</a:t>
            </a:r>
          </a:p>
        </p:txBody>
      </p:sp>
    </p:spTree>
    <p:extLst>
      <p:ext uri="{BB962C8B-B14F-4D97-AF65-F5344CB8AC3E}">
        <p14:creationId xmlns:p14="http://schemas.microsoft.com/office/powerpoint/2010/main" val="1877395611"/>
      </p:ext>
    </p:extLst>
  </p:cSld>
</p:sld>
</file>

<file path=ppt/slides/slide1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618A35C3-47C4-48F6-A39A-BF7540858594}"/>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5">
            <a:extLst xmlns:a="http://schemas.openxmlformats.org/drawingml/2006/main">
              <a:ext uri="{FF2B5EF4-FFF2-40B4-BE49-F238E27FC236}">
                <a16:creationId xmlns:a16="http://schemas.microsoft.com/office/drawing/2014/main" id="{929C1CE2-E695-47E4-A694-83011D1A8763}"/>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Evidence standards changed with the row type</a:t>
            </a:r>
          </a:p>
        </p:txBody>
      </p:sp>
      <p:sp>
        <p:nvSpPr>
          <p:cNvPr id="3" name="">
            <a:extLst xmlns:a="http://schemas.openxmlformats.org/drawingml/2006/main">
              <a:ext uri="{FF2B5EF4-FFF2-40B4-BE49-F238E27FC236}">
                <a16:creationId xmlns:a16="http://schemas.microsoft.com/office/drawing/2014/main" id="{042A1347-FE9D-43D3-893B-5EAD4AA415B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A5E9D00-EF1F-4D55-9AE4-D81B295C68DB}"/>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The binary label stayed fixed; the support test changed with the task and available evidence.</a:t>
            </a:r>
          </a:p>
        </p:txBody>
      </p:sp>
      <p:sp>
        <p:nvSpPr>
          <p:cNvPr id="5" name="">
            <a:extLst xmlns:a="http://schemas.openxmlformats.org/drawingml/2006/main">
              <a:ext uri="{FF2B5EF4-FFF2-40B4-BE49-F238E27FC236}">
                <a16:creationId xmlns:a16="http://schemas.microsoft.com/office/drawing/2014/main" id="{EED90EB8-F55C-4460-8A13-A501F78E0060}"/>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610B8C89-8FC4-4790-8C34-84172DB5FE54}"/>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F5A7A"/>
                </a:solidFill>
              </a:defRPr>
            </a:pPr>
            <a:r>
              <a:rPr sz="1650" b="1">
                <a:solidFill>
                  <a:srgbClr val="1F5A7A"/>
                </a:solidFill>
              </a:rPr>
              <a:t>Context</a:t>
            </a:r>
          </a:p>
        </p:txBody>
      </p:sp>
      <p:sp>
        <p:nvSpPr>
          <p:cNvPr id="7" name="">
            <a:extLst xmlns:a="http://schemas.openxmlformats.org/drawingml/2006/main">
              <a:ext uri="{FF2B5EF4-FFF2-40B4-BE49-F238E27FC236}">
                <a16:creationId xmlns:a16="http://schemas.microsoft.com/office/drawing/2014/main" id="{1355E712-AC15-4DED-9D35-25A08FF1B3E0}"/>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6E507E20-8586-46A7-836E-4C0B73834D68}"/>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split response claims</a:t>
            </a:r>
          </a:p>
        </p:txBody>
      </p:sp>
      <p:sp>
        <p:nvSpPr>
          <p:cNvPr id="9" name="">
            <a:extLst xmlns:a="http://schemas.openxmlformats.org/drawingml/2006/main">
              <a:ext uri="{FF2B5EF4-FFF2-40B4-BE49-F238E27FC236}">
                <a16:creationId xmlns:a16="http://schemas.microsoft.com/office/drawing/2014/main" id="{AE467811-FC93-4158-9BA3-3781BFC53D49}"/>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A75D73B8-BA07-4BE0-A075-93BB10F7773A}"/>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check passage support</a:t>
            </a:r>
          </a:p>
        </p:txBody>
      </p:sp>
      <p:sp>
        <p:nvSpPr>
          <p:cNvPr id="11" name="">
            <a:extLst xmlns:a="http://schemas.openxmlformats.org/drawingml/2006/main">
              <a:ext uri="{FF2B5EF4-FFF2-40B4-BE49-F238E27FC236}">
                <a16:creationId xmlns:a16="http://schemas.microsoft.com/office/drawing/2014/main" id="{7C524ADE-CD38-4284-AF6B-41DB71A46F1D}"/>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FC7CCE28-F4AB-4028-A3A5-24A9A3FAC690}"/>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reject extra claims</a:t>
            </a:r>
          </a:p>
        </p:txBody>
      </p:sp>
      <p:sp>
        <p:nvSpPr>
          <p:cNvPr id="13" name="">
            <a:extLst xmlns:a="http://schemas.openxmlformats.org/drawingml/2006/main">
              <a:ext uri="{FF2B5EF4-FFF2-40B4-BE49-F238E27FC236}">
                <a16:creationId xmlns:a16="http://schemas.microsoft.com/office/drawing/2014/main" id="{A07B4E95-ACEB-489F-8094-78BE2AD71B1B}"/>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FD4B71B-9175-4345-ACBB-7B4DA70FBD1C}"/>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2A8C82"/>
                </a:solidFill>
              </a:defRPr>
            </a:pPr>
            <a:r>
              <a:rPr sz="1650" b="1">
                <a:solidFill>
                  <a:srgbClr val="2A8C82"/>
                </a:solidFill>
              </a:rPr>
              <a:t>Closed form</a:t>
            </a:r>
          </a:p>
        </p:txBody>
      </p:sp>
      <p:sp>
        <p:nvSpPr>
          <p:cNvPr id="15" name="">
            <a:extLst xmlns:a="http://schemas.openxmlformats.org/drawingml/2006/main">
              <a:ext uri="{FF2B5EF4-FFF2-40B4-BE49-F238E27FC236}">
                <a16:creationId xmlns:a16="http://schemas.microsoft.com/office/drawing/2014/main" id="{187FB47C-845B-45E6-84ED-964B06B639B6}"/>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3DDB91DA-D18D-4292-BB47-E5641A7945F4}"/>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parse number / option</a:t>
            </a:r>
          </a:p>
        </p:txBody>
      </p:sp>
      <p:sp>
        <p:nvSpPr>
          <p:cNvPr id="17" name="">
            <a:extLst xmlns:a="http://schemas.openxmlformats.org/drawingml/2006/main">
              <a:ext uri="{FF2B5EF4-FFF2-40B4-BE49-F238E27FC236}">
                <a16:creationId xmlns:a16="http://schemas.microsoft.com/office/drawing/2014/main" id="{7E1E3E31-74EC-4429-B379-9B3D415BC0FF}"/>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F0FC9A51-4584-4AC8-803A-96348FA59FD3}"/>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apply requested operation</a:t>
            </a:r>
          </a:p>
        </p:txBody>
      </p:sp>
      <p:sp>
        <p:nvSpPr>
          <p:cNvPr id="19" name="">
            <a:extLst xmlns:a="http://schemas.openxmlformats.org/drawingml/2006/main">
              <a:ext uri="{FF2B5EF4-FFF2-40B4-BE49-F238E27FC236}">
                <a16:creationId xmlns:a16="http://schemas.microsoft.com/office/drawing/2014/main" id="{0E3C90E9-3DBD-4E2F-B683-4AC4F32FED35}"/>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C2313B14-671F-4421-BE8C-E5C3DDED62D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exact result</a:t>
            </a:r>
          </a:p>
        </p:txBody>
      </p:sp>
      <p:sp>
        <p:nvSpPr>
          <p:cNvPr id="21" name="">
            <a:extLst xmlns:a="http://schemas.openxmlformats.org/drawingml/2006/main">
              <a:ext uri="{FF2B5EF4-FFF2-40B4-BE49-F238E27FC236}">
                <a16:creationId xmlns:a16="http://schemas.microsoft.com/office/drawing/2014/main" id="{CECB8BC6-F6BA-4ED8-AD90-EE7CEBCCCB2C}"/>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598A079-97B4-4730-B30A-6139C0D571E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D59B32"/>
                </a:solidFill>
              </a:defRPr>
            </a:pPr>
            <a:r>
              <a:rPr sz="1650" b="1">
                <a:solidFill>
                  <a:srgbClr val="D59B32"/>
                </a:solidFill>
              </a:rPr>
              <a:t>Language</a:t>
            </a:r>
          </a:p>
        </p:txBody>
      </p:sp>
      <p:sp>
        <p:nvSpPr>
          <p:cNvPr id="23" name="">
            <a:extLst xmlns:a="http://schemas.openxmlformats.org/drawingml/2006/main">
              <a:ext uri="{FF2B5EF4-FFF2-40B4-BE49-F238E27FC236}">
                <a16:creationId xmlns:a16="http://schemas.microsoft.com/office/drawing/2014/main" id="{25B6E4C2-6906-488F-9E0F-41703D94AC62}"/>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75EE1D62-4C42-427E-9798-1AF849425FCC}"/>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624A71BB-5E7A-42E2-8688-04E42520BF1E}"/>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3263A4C6-AE77-4C2D-9562-A621B395F31D}"/>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resolve idiom sense</a:t>
            </a:r>
          </a:p>
        </p:txBody>
      </p:sp>
      <p:sp>
        <p:nvSpPr>
          <p:cNvPr id="27" name="">
            <a:extLst xmlns:a="http://schemas.openxmlformats.org/drawingml/2006/main">
              <a:ext uri="{FF2B5EF4-FFF2-40B4-BE49-F238E27FC236}">
                <a16:creationId xmlns:a16="http://schemas.microsoft.com/office/drawing/2014/main" id="{0C3DE6BF-071E-451A-9FBF-C039E5379692}"/>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DB4D1CFC-5FBB-4639-B5A2-2C159D2A5864}"/>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compare requested meaning</a:t>
            </a:r>
          </a:p>
        </p:txBody>
      </p:sp>
      <p:sp>
        <p:nvSpPr>
          <p:cNvPr id="29" name="">
            <a:extLst xmlns:a="http://schemas.openxmlformats.org/drawingml/2006/main">
              <a:ext uri="{FF2B5EF4-FFF2-40B4-BE49-F238E27FC236}">
                <a16:creationId xmlns:a16="http://schemas.microsoft.com/office/drawing/2014/main" id="{B2715886-AFE9-4E27-B173-9C55CA1795ED}"/>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2B7EB13F-123E-4A63-952C-11D03B164556}"/>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B5483A"/>
                </a:solidFill>
              </a:defRPr>
            </a:pPr>
            <a:r>
              <a:rPr sz="1650" b="1">
                <a:solidFill>
                  <a:srgbClr val="B5483A"/>
                </a:solidFill>
              </a:rPr>
              <a:t>Knowledge</a:t>
            </a:r>
          </a:p>
        </p:txBody>
      </p:sp>
      <p:sp>
        <p:nvSpPr>
          <p:cNvPr id="31" name="">
            <a:extLst xmlns:a="http://schemas.openxmlformats.org/drawingml/2006/main">
              <a:ext uri="{FF2B5EF4-FFF2-40B4-BE49-F238E27FC236}">
                <a16:creationId xmlns:a16="http://schemas.microsoft.com/office/drawing/2014/main" id="{7388AA65-AB7B-4A90-8617-D29FB6F7F84B}"/>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4A14B5C4-943A-46B9-8766-6D0187E36836}"/>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match source lineage</a:t>
            </a:r>
          </a:p>
        </p:txBody>
      </p:sp>
      <p:sp>
        <p:nvSpPr>
          <p:cNvPr id="33" name="">
            <a:extLst xmlns:a="http://schemas.openxmlformats.org/drawingml/2006/main">
              <a:ext uri="{FF2B5EF4-FFF2-40B4-BE49-F238E27FC236}">
                <a16:creationId xmlns:a16="http://schemas.microsoft.com/office/drawing/2014/main" id="{85493658-E4EF-4AD9-A95F-629AE027FB4F}"/>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98FCB2CF-1EE7-497A-B286-045814546142}"/>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0">
                <a:solidFill>
                  <a:srgbClr val="526174"/>
                </a:solidFill>
              </a:defRPr>
            </a:pPr>
            <a:r>
              <a:rPr sz="1125" b="0">
                <a:solidFill>
                  <a:srgbClr val="526174"/>
                </a:solidFill>
              </a:rPr>
              <a:t>align entity + predicate</a:t>
            </a:r>
          </a:p>
        </p:txBody>
      </p:sp>
      <p:sp>
        <p:nvSpPr>
          <p:cNvPr id="35" name="">
            <a:extLst xmlns:a="http://schemas.openxmlformats.org/drawingml/2006/main">
              <a:ext uri="{FF2B5EF4-FFF2-40B4-BE49-F238E27FC236}">
                <a16:creationId xmlns:a16="http://schemas.microsoft.com/office/drawing/2014/main" id="{BB1014E1-2CAF-4C22-90C5-68763CD5C692}"/>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7143EFC3-B83B-4C0F-B1F6-2A038B37FE0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a:solidFill>
                  <a:srgbClr val="0F172A"/>
                </a:solidFill>
              </a:defRPr>
            </a:pPr>
            <a:r>
              <a:rPr sz="1125" b="1">
                <a:solidFill>
                  <a:srgbClr val="0F172A"/>
                </a:solidFill>
              </a:rPr>
              <a:t>verify typed value</a:t>
            </a:r>
          </a:p>
        </p:txBody>
      </p:sp>
      <p:sp>
        <p:nvSpPr>
          <p:cNvPr id="37" name="">
            <a:extLst xmlns:a="http://schemas.openxmlformats.org/drawingml/2006/main">
              <a:ext uri="{FF2B5EF4-FFF2-40B4-BE49-F238E27FC236}">
                <a16:creationId xmlns:a16="http://schemas.microsoft.com/office/drawing/2014/main" id="{82C9C97A-FA13-44C0-88EA-E7CB3D941CC1}"/>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8936C3D0-A7A2-4B99-AAED-96BB4E6E1D1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1">
                <a:solidFill>
                  <a:srgbClr val="1F5A7A"/>
                </a:solidFill>
              </a:defRPr>
            </a:pPr>
            <a:r>
              <a:rPr sz="1275" b="1">
                <a:solidFill>
                  <a:srgbClr val="1F5A7A"/>
                </a:solidFill>
              </a:rPr>
              <a:t>Common contract</a:t>
            </a:r>
          </a:p>
        </p:txBody>
      </p:sp>
      <p:sp>
        <p:nvSpPr>
          <p:cNvPr id="39" name="">
            <a:extLst xmlns:a="http://schemas.openxmlformats.org/drawingml/2006/main">
              <a:ext uri="{FF2B5EF4-FFF2-40B4-BE49-F238E27FC236}">
                <a16:creationId xmlns:a16="http://schemas.microsoft.com/office/drawing/2014/main" id="{CD973F10-E094-4278-8BC6-AFABB4541FBC}"/>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0">
                <a:solidFill>
                  <a:srgbClr val="0F172A"/>
                </a:solidFill>
              </a:defRPr>
            </a:pPr>
            <a:r>
              <a:rPr sz="1275" b="0">
                <a:solidFill>
                  <a:srgbClr val="0F172A"/>
                </a:solidFill>
              </a:rPr>
              <a:t>{label 0, label 1, abstain, route, evidence}  —  uncertainty never becomes a guessed label</a:t>
            </a:r>
          </a:p>
        </p:txBody>
      </p:sp>
      <p:sp>
        <p:nvSpPr>
          <p:cNvPr id="40" name="">
            <a:extLst xmlns:a="http://schemas.openxmlformats.org/drawingml/2006/main">
              <a:ext uri="{FF2B5EF4-FFF2-40B4-BE49-F238E27FC236}">
                <a16:creationId xmlns:a16="http://schemas.microsoft.com/office/drawing/2014/main" id="{CB798A52-0FFA-4905-998A-47D62BA2A5A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58B1EABB-07CA-4A7D-BF3A-158969B1B08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Label definition  [3,4] task families  [7] v91 trace contract</a:t>
            </a:r>
          </a:p>
        </p:txBody>
      </p:sp>
      <p:sp>
        <p:nvSpPr>
          <p:cNvPr id="42" name="page-5">
            <a:extLst xmlns:a="http://schemas.openxmlformats.org/drawingml/2006/main">
              <a:ext uri="{FF2B5EF4-FFF2-40B4-BE49-F238E27FC236}">
                <a16:creationId xmlns:a16="http://schemas.microsoft.com/office/drawing/2014/main" id="{F98A9595-74B4-418D-A2AB-9414F3B85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16</a:t>
            </a:r>
          </a:p>
        </p:txBody>
      </p:sp>
    </p:spTree>
    <p:extLst>
      <p:ext uri="{BB962C8B-B14F-4D97-AF65-F5344CB8AC3E}">
        <p14:creationId xmlns:p14="http://schemas.microsoft.com/office/powerpoint/2010/main" val="1248703227"/>
      </p:ext>
    </p:extLst>
  </p:cSld>
</p:sld>
</file>

<file path=ppt/slides/slide1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9F3A29E2-1221-4468-9114-7CE5D9E89E5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4">
            <a:extLst xmlns:a="http://schemas.openxmlformats.org/drawingml/2006/main">
              <a:ext uri="{FF2B5EF4-FFF2-40B4-BE49-F238E27FC236}">
                <a16:creationId xmlns:a16="http://schemas.microsoft.com/office/drawing/2014/main" id="{2B0C3459-5559-4C4D-A634-289E195EFC5D}"/>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Decision precedence kept uncertainty out of labels</a:t>
            </a:r>
          </a:p>
        </p:txBody>
      </p:sp>
      <p:sp>
        <p:nvSpPr>
          <p:cNvPr id="3" name="">
            <a:extLst xmlns:a="http://schemas.openxmlformats.org/drawingml/2006/main">
              <a:ext uri="{FF2B5EF4-FFF2-40B4-BE49-F238E27FC236}">
                <a16:creationId xmlns:a16="http://schemas.microsoft.com/office/drawing/2014/main" id="{7FF0CF03-89CE-4D31-97E5-90C4D54152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042CFD87-2786-49E4-9E4F-E650B08F9E42}"/>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Contradiction can decide zero; complete support can decide one; every ambiguous case abstains.</a:t>
            </a:r>
          </a:p>
        </p:txBody>
      </p:sp>
      <p:sp>
        <p:nvSpPr>
          <p:cNvPr id="5" name="">
            <a:extLst xmlns:a="http://schemas.openxmlformats.org/drawingml/2006/main">
              <a:ext uri="{FF2B5EF4-FFF2-40B4-BE49-F238E27FC236}">
                <a16:creationId xmlns:a16="http://schemas.microsoft.com/office/drawing/2014/main" id="{D34C3FE4-5F11-47A0-AA4E-BADE0B3DB655}"/>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11245FD-0B7E-4D70-81A9-3DEB252C7FCF}"/>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8B47B91-D37D-46CE-B12E-0FA40E89D44F}"/>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7E705D-5DC8-42B1-8C3D-A1790195D05A}"/>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3615CE5E-20BA-411A-B9F4-8155EB90FEEF}"/>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FF512F77-0CC5-44B8-B192-E4568CB4ABF1}"/>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59B66290-E55E-44E6-A36D-A205887DD27D}"/>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8369D14A-B57F-40D3-AE7B-D10869BBBE2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1A0133B5-F642-4C94-9E94-5E1A68C21DA8}"/>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E880372-1C2D-4CB8-9DCC-7002FD4715DE}"/>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DEB854DF-94FC-49B0-AE7F-5A76B79B7293}"/>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CE5C03C8-AACB-45E3-9306-D6A9D9CDF95C}"/>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664F09DA-B9C6-49E4-8464-006A551A00D1}"/>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Conflict?</a:t>
            </a:r>
          </a:p>
        </p:txBody>
      </p:sp>
      <p:sp>
        <p:nvSpPr>
          <p:cNvPr id="18" name="">
            <a:extLst xmlns:a="http://schemas.openxmlformats.org/drawingml/2006/main">
              <a:ext uri="{FF2B5EF4-FFF2-40B4-BE49-F238E27FC236}">
                <a16:creationId xmlns:a16="http://schemas.microsoft.com/office/drawing/2014/main" id="{36488B1E-5E64-4D66-82A3-0349A8B5FDA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851D6612-13E6-45A2-9F0D-12BCD8724060}"/>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Complete</a:t>
            </a:r>
          </a:p>
          <a:p xmlns:a="http://schemas.openxmlformats.org/drawingml/2006/main">
            <a:pPr algn="ctr">
              <a:buNone/>
              <a:defRPr sz="1200" b="1">
                <a:solidFill>
                  <a:srgbClr val="0F172A"/>
                </a:solidFill>
              </a:defRPr>
            </a:pPr>
            <a:r>
              <a:rPr sz="1200" b="1">
                <a:solidFill>
                  <a:srgbClr val="0F172A"/>
                </a:solidFill>
              </a:rPr>
              <a:t>support?</a:t>
            </a:r>
          </a:p>
        </p:txBody>
      </p:sp>
      <p:sp>
        <p:nvSpPr>
          <p:cNvPr id="20" name="">
            <a:extLst xmlns:a="http://schemas.openxmlformats.org/drawingml/2006/main">
              <a:ext uri="{FF2B5EF4-FFF2-40B4-BE49-F238E27FC236}">
                <a16:creationId xmlns:a16="http://schemas.microsoft.com/office/drawing/2014/main" id="{D04359D0-40A4-4ABA-8957-FFF1B78FD945}"/>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5BA6E8FF-30EB-403D-8BE1-8910960A68E9}"/>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0F172A"/>
                </a:solidFill>
              </a:defRPr>
            </a:pPr>
            <a:r>
              <a:rPr sz="1200" b="1">
                <a:solidFill>
                  <a:srgbClr val="0F172A"/>
                </a:solidFill>
              </a:rPr>
              <a:t>Evidence</a:t>
            </a:r>
          </a:p>
          <a:p xmlns:a="http://schemas.openxmlformats.org/drawingml/2006/main">
            <a:pPr algn="ctr">
              <a:buNone/>
              <a:defRPr sz="1200" b="1">
                <a:solidFill>
                  <a:srgbClr val="0F172A"/>
                </a:solidFill>
              </a:defRPr>
            </a:pPr>
            <a:r>
              <a:rPr sz="1200" b="1">
                <a:solidFill>
                  <a:srgbClr val="0F172A"/>
                </a:solidFill>
              </a:rPr>
              <a:t>complete?</a:t>
            </a:r>
          </a:p>
        </p:txBody>
      </p:sp>
      <p:sp>
        <p:nvSpPr>
          <p:cNvPr id="22" name="">
            <a:extLst xmlns:a="http://schemas.openxmlformats.org/drawingml/2006/main">
              <a:ext uri="{FF2B5EF4-FFF2-40B4-BE49-F238E27FC236}">
                <a16:creationId xmlns:a16="http://schemas.microsoft.com/office/drawing/2014/main" id="{73A21A85-17BE-4FE5-A061-673601D29F31}"/>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A1327364-6007-4F9D-87EF-CFDA47E15BC9}"/>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1263DDE-1994-4FCA-9E86-7B71F11993E5}"/>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558718BA-9EC3-453C-A9F2-E35D7945EA27}"/>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613C312-C23D-4BBD-BC20-539BB89BF4C5}"/>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ED5A6609-CA18-4390-8A74-3B017871116B}"/>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EE05702A-0C67-420F-80D9-4479CE0C2442}"/>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288650ED-888C-4EDF-A74A-FB6D22CD71ED}"/>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0</a:t>
            </a:r>
          </a:p>
        </p:txBody>
      </p:sp>
      <p:sp>
        <p:nvSpPr>
          <p:cNvPr id="30" name="">
            <a:extLst xmlns:a="http://schemas.openxmlformats.org/drawingml/2006/main">
              <a:ext uri="{FF2B5EF4-FFF2-40B4-BE49-F238E27FC236}">
                <a16:creationId xmlns:a16="http://schemas.microsoft.com/office/drawing/2014/main" id="{D6CE71F1-8CB5-4444-950C-8D6B01BB390C}"/>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wrong value /</a:t>
            </a:r>
          </a:p>
          <a:p xmlns:a="http://schemas.openxmlformats.org/drawingml/2006/main">
            <a:pPr algn="ctr">
              <a:buNone/>
              <a:defRPr sz="1200" b="0">
                <a:solidFill>
                  <a:srgbClr val="526174"/>
                </a:solidFill>
              </a:defRPr>
            </a:pPr>
            <a:r>
              <a:rPr sz="1200" b="0">
                <a:solidFill>
                  <a:srgbClr val="526174"/>
                </a:solidFill>
              </a:rPr>
              <a:t>relation / claim</a:t>
            </a:r>
          </a:p>
        </p:txBody>
      </p:sp>
      <p:sp>
        <p:nvSpPr>
          <p:cNvPr id="31" name="">
            <a:extLst xmlns:a="http://schemas.openxmlformats.org/drawingml/2006/main">
              <a:ext uri="{FF2B5EF4-FFF2-40B4-BE49-F238E27FC236}">
                <a16:creationId xmlns:a16="http://schemas.microsoft.com/office/drawing/2014/main" id="{0F415C97-59F0-476F-B107-0AA5D8405279}"/>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73FD6DAE-0D6D-4490-AC83-0B81E2F0F129}"/>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Label 1</a:t>
            </a:r>
          </a:p>
        </p:txBody>
      </p:sp>
      <p:sp>
        <p:nvSpPr>
          <p:cNvPr id="33" name="">
            <a:extLst xmlns:a="http://schemas.openxmlformats.org/drawingml/2006/main">
              <a:ext uri="{FF2B5EF4-FFF2-40B4-BE49-F238E27FC236}">
                <a16:creationId xmlns:a16="http://schemas.microsoft.com/office/drawing/2014/main" id="{37360508-0719-4A8D-9580-68C0CF5158BA}"/>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all factual claims</a:t>
            </a:r>
          </a:p>
          <a:p xmlns:a="http://schemas.openxmlformats.org/drawingml/2006/main">
            <a:pPr algn="ctr">
              <a:buNone/>
              <a:defRPr sz="1200" b="0">
                <a:solidFill>
                  <a:srgbClr val="526174"/>
                </a:solidFill>
              </a:defRPr>
            </a:pPr>
            <a:r>
              <a:rPr sz="1200" b="0">
                <a:solidFill>
                  <a:srgbClr val="526174"/>
                </a:solidFill>
              </a:rPr>
              <a:t>supported</a:t>
            </a:r>
          </a:p>
        </p:txBody>
      </p:sp>
      <p:sp>
        <p:nvSpPr>
          <p:cNvPr id="34" name="">
            <a:extLst xmlns:a="http://schemas.openxmlformats.org/drawingml/2006/main">
              <a:ext uri="{FF2B5EF4-FFF2-40B4-BE49-F238E27FC236}">
                <a16:creationId xmlns:a16="http://schemas.microsoft.com/office/drawing/2014/main" id="{35727961-A64C-46A8-B5AD-4D3DB00E40E6}"/>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B6A9D03F-EA33-4C78-B06B-A80E5E9B1CE8}"/>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0F172A"/>
                </a:solidFill>
              </a:defRPr>
            </a:pPr>
            <a:r>
              <a:rPr sz="1350" b="1">
                <a:solidFill>
                  <a:srgbClr val="0F172A"/>
                </a:solidFill>
              </a:rPr>
              <a:t>Typed</a:t>
            </a:r>
          </a:p>
          <a:p xmlns:a="http://schemas.openxmlformats.org/drawingml/2006/main">
            <a:pPr algn="ctr">
              <a:buNone/>
              <a:defRPr sz="1350" b="1">
                <a:solidFill>
                  <a:srgbClr val="0F172A"/>
                </a:solidFill>
              </a:defRPr>
            </a:pPr>
            <a:r>
              <a:rPr sz="1350" b="1">
                <a:solidFill>
                  <a:srgbClr val="0F172A"/>
                </a:solidFill>
              </a:rPr>
              <a:t>verdict</a:t>
            </a:r>
          </a:p>
        </p:txBody>
      </p:sp>
      <p:sp>
        <p:nvSpPr>
          <p:cNvPr id="36" name="">
            <a:extLst xmlns:a="http://schemas.openxmlformats.org/drawingml/2006/main">
              <a:ext uri="{FF2B5EF4-FFF2-40B4-BE49-F238E27FC236}">
                <a16:creationId xmlns:a16="http://schemas.microsoft.com/office/drawing/2014/main" id="{DD58D856-F908-4FE3-988D-1F310A84837F}"/>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entity + predicate</a:t>
            </a:r>
          </a:p>
          <a:p xmlns:a="http://schemas.openxmlformats.org/drawingml/2006/main">
            <a:pPr algn="ctr">
              <a:buNone/>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54ECC40C-34ED-4F4F-9CAE-A63396500667}"/>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6D63C5D2-571E-4814-BCD7-119021C6703F}"/>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D59B32"/>
                </a:solidFill>
              </a:defRPr>
            </a:pPr>
            <a:r>
              <a:rPr sz="1350" b="1">
                <a:solidFill>
                  <a:srgbClr val="D59B32"/>
                </a:solidFill>
              </a:rPr>
              <a:t>Abstain</a:t>
            </a:r>
          </a:p>
        </p:txBody>
      </p:sp>
      <p:sp>
        <p:nvSpPr>
          <p:cNvPr id="39" name="">
            <a:extLst xmlns:a="http://schemas.openxmlformats.org/drawingml/2006/main">
              <a:ext uri="{FF2B5EF4-FFF2-40B4-BE49-F238E27FC236}">
                <a16:creationId xmlns:a16="http://schemas.microsoft.com/office/drawing/2014/main" id="{B0CF0BF7-017A-47DE-9258-A0FA95711CA1}"/>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uncertain</a:t>
            </a:r>
          </a:p>
        </p:txBody>
      </p:sp>
      <p:sp>
        <p:nvSpPr>
          <p:cNvPr id="40" name="">
            <a:extLst xmlns:a="http://schemas.openxmlformats.org/drawingml/2006/main">
              <a:ext uri="{FF2B5EF4-FFF2-40B4-BE49-F238E27FC236}">
                <a16:creationId xmlns:a16="http://schemas.microsoft.com/office/drawing/2014/main" id="{DB69F0D2-2055-4FD8-81D1-473530B16FE0}"/>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46A7AE90-E3ED-4CBF-A7F6-1F6523577072}"/>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A42723E5-DD2F-42AC-AEF8-819A612D311A}"/>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unresolved</a:t>
            </a:r>
          </a:p>
        </p:txBody>
      </p:sp>
      <p:sp>
        <p:nvSpPr>
          <p:cNvPr id="43" name="">
            <a:extLst xmlns:a="http://schemas.openxmlformats.org/drawingml/2006/main">
              <a:ext uri="{FF2B5EF4-FFF2-40B4-BE49-F238E27FC236}">
                <a16:creationId xmlns:a16="http://schemas.microsoft.com/office/drawing/2014/main" id="{6D222451-F7BC-4BAB-BABB-E10DCB7F95D1}"/>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D10C1A1C-5300-4A4E-BF97-B162438F21E0}"/>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F5A7A"/>
                </a:solidFill>
              </a:defRPr>
            </a:pPr>
            <a:r>
              <a:rPr sz="1350" b="1">
                <a:solidFill>
                  <a:srgbClr val="1F5A7A"/>
                </a:solidFill>
              </a:rPr>
              <a:t>Precedence contract</a:t>
            </a:r>
          </a:p>
        </p:txBody>
      </p:sp>
      <p:sp>
        <p:nvSpPr>
          <p:cNvPr id="45" name="">
            <a:extLst xmlns:a="http://schemas.openxmlformats.org/drawingml/2006/main">
              <a:ext uri="{FF2B5EF4-FFF2-40B4-BE49-F238E27FC236}">
                <a16:creationId xmlns:a16="http://schemas.microsoft.com/office/drawing/2014/main" id="{128EBB01-95D5-4B32-BACF-C6ABE50B4FFD}"/>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0">
                <a:solidFill>
                  <a:srgbClr val="0F172A"/>
                </a:solidFill>
              </a:defRPr>
            </a:pPr>
            <a:r>
              <a:rPr sz="1350" b="0">
                <a:solidFill>
                  <a:srgbClr val="0F172A"/>
                </a:solidFill>
              </a:rPr>
              <a:t>contradiction → 0; complete support → 1; exact typed evidence may decide; otherwise null → judge</a:t>
            </a:r>
          </a:p>
        </p:txBody>
      </p:sp>
      <p:sp>
        <p:nvSpPr>
          <p:cNvPr id="46" name="">
            <a:extLst xmlns:a="http://schemas.openxmlformats.org/drawingml/2006/main">
              <a:ext uri="{FF2B5EF4-FFF2-40B4-BE49-F238E27FC236}">
                <a16:creationId xmlns:a16="http://schemas.microsoft.com/office/drawing/2014/main" id="{D229B867-44D1-47ED-B0A8-16AB8F4EFBF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30A32FBD-7239-42BE-A526-C57BC539297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v91 router, conflict audit, and decision trace</a:t>
            </a:r>
          </a:p>
        </p:txBody>
      </p:sp>
      <p:sp>
        <p:nvSpPr>
          <p:cNvPr id="48" name="page-4">
            <a:extLst xmlns:a="http://schemas.openxmlformats.org/drawingml/2006/main">
              <a:ext uri="{FF2B5EF4-FFF2-40B4-BE49-F238E27FC236}">
                <a16:creationId xmlns:a16="http://schemas.microsoft.com/office/drawing/2014/main" id="{C2A1892B-BBE5-435E-BBA7-2ECD4120E2B4}"/>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17</a:t>
            </a:r>
          </a:p>
        </p:txBody>
      </p:sp>
    </p:spTree>
    <p:extLst>
      <p:ext uri="{BB962C8B-B14F-4D97-AF65-F5344CB8AC3E}">
        <p14:creationId xmlns:p14="http://schemas.microsoft.com/office/powerpoint/2010/main" val="471816339"/>
      </p:ext>
    </p:extLst>
  </p:cSld>
</p:sld>
</file>

<file path=ppt/slides/slide1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FD4F8904-FDEF-425C-BF0E-468CED389002}"/>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9">
            <a:extLst xmlns:a="http://schemas.openxmlformats.org/drawingml/2006/main">
              <a:ext uri="{FF2B5EF4-FFF2-40B4-BE49-F238E27FC236}">
                <a16:creationId xmlns:a16="http://schemas.microsoft.com/office/drawing/2014/main" id="{E7EB26C2-5775-4AB0-B293-137EBE47D67F}"/>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One trace exposes the exact reason behind a verdict</a:t>
            </a:r>
          </a:p>
        </p:txBody>
      </p:sp>
      <p:sp>
        <p:nvSpPr>
          <p:cNvPr id="3" name="">
            <a:extLst xmlns:a="http://schemas.openxmlformats.org/drawingml/2006/main">
              <a:ext uri="{FF2B5EF4-FFF2-40B4-BE49-F238E27FC236}">
                <a16:creationId xmlns:a16="http://schemas.microsoft.com/office/drawing/2014/main" id="{A0EB5D59-35D0-4815-A45D-5AAAE1E342F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4B259D92-7CD9-41EC-A78E-9D9F608D8939}"/>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Released example: the response names the film when the prompt asks for its release year.</a:t>
            </a:r>
          </a:p>
        </p:txBody>
      </p:sp>
      <p:sp>
        <p:nvSpPr>
          <p:cNvPr id="5" name="">
            <a:extLst xmlns:a="http://schemas.openxmlformats.org/drawingml/2006/main">
              <a:ext uri="{FF2B5EF4-FFF2-40B4-BE49-F238E27FC236}">
                <a16:creationId xmlns:a16="http://schemas.microsoft.com/office/drawing/2014/main" id="{BFFB90A3-84FF-4531-9E8F-5C8823A440B2}"/>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9D837823-B34C-463A-AEF5-2C921A493580}"/>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3798B6E4-865C-4753-B194-8506BC670E34}"/>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C73B597-FD6E-4FAC-B210-7B5DCF4C5936}"/>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F5A7A"/>
                </a:solidFill>
              </a:defRPr>
            </a:pPr>
            <a:r>
              <a:rPr sz="1575" b="1">
                <a:solidFill>
                  <a:srgbClr val="1F5A7A"/>
                </a:solidFill>
              </a:rPr>
              <a:t>Released row</a:t>
            </a:r>
          </a:p>
          <a:p xmlns:a="http://schemas.openxmlformats.org/drawingml/2006/main">
            <a:pPr algn="ctr">
              <a:buNone/>
              <a:defRPr sz="1575" b="1">
                <a:solidFill>
                  <a:srgbClr val="1F5A7A"/>
                </a:solidFill>
              </a:defRPr>
            </a:pPr>
            <a:r>
              <a:rPr sz="1575" b="1">
                <a:solidFill>
                  <a:srgbClr val="1F5A7A"/>
                </a:solidFill>
              </a:rPr>
              <a:t>trace</a:t>
            </a:r>
          </a:p>
        </p:txBody>
      </p:sp>
      <p:sp>
        <p:nvSpPr>
          <p:cNvPr id="9" name="">
            <a:extLst xmlns:a="http://schemas.openxmlformats.org/drawingml/2006/main">
              <a:ext uri="{FF2B5EF4-FFF2-40B4-BE49-F238E27FC236}">
                <a16:creationId xmlns:a16="http://schemas.microsoft.com/office/drawing/2014/main" id="{8E0C503D-8A45-449A-9505-15B7FDE62E5F}"/>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example</a:t>
            </a:r>
          </a:p>
        </p:txBody>
      </p:sp>
      <p:sp>
        <p:nvSpPr>
          <p:cNvPr id="10" name="">
            <a:extLst xmlns:a="http://schemas.openxmlformats.org/drawingml/2006/main">
              <a:ext uri="{FF2B5EF4-FFF2-40B4-BE49-F238E27FC236}">
                <a16:creationId xmlns:a16="http://schemas.microsoft.com/office/drawing/2014/main" id="{A3CD7114-594C-4C21-B564-93FDD58C0458}"/>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sample 4</a:t>
            </a:r>
          </a:p>
        </p:txBody>
      </p:sp>
      <p:sp>
        <p:nvSpPr>
          <p:cNvPr id="11" name="">
            <a:extLst xmlns:a="http://schemas.openxmlformats.org/drawingml/2006/main">
              <a:ext uri="{FF2B5EF4-FFF2-40B4-BE49-F238E27FC236}">
                <a16:creationId xmlns:a16="http://schemas.microsoft.com/office/drawing/2014/main" id="{037399B5-B7E8-4AE0-A434-341B6DF5B1F4}"/>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539C45A1-5AD9-4752-A7C2-F8C7F5A11A0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 row</a:t>
            </a:r>
          </a:p>
        </p:txBody>
      </p:sp>
      <p:sp>
        <p:nvSpPr>
          <p:cNvPr id="13" name="">
            <a:extLst xmlns:a="http://schemas.openxmlformats.org/drawingml/2006/main">
              <a:ext uri="{FF2B5EF4-FFF2-40B4-BE49-F238E27FC236}">
                <a16:creationId xmlns:a16="http://schemas.microsoft.com/office/drawing/2014/main" id="{31D9D124-62F9-4D2C-BEBD-08F87079FD45}"/>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26578B0F-E77B-41E4-BCB1-B7966D4397C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Tareque Masud</a:t>
            </a:r>
          </a:p>
        </p:txBody>
      </p:sp>
      <p:sp>
        <p:nvSpPr>
          <p:cNvPr id="15" name="">
            <a:extLst xmlns:a="http://schemas.openxmlformats.org/drawingml/2006/main">
              <a:ext uri="{FF2B5EF4-FFF2-40B4-BE49-F238E27FC236}">
                <a16:creationId xmlns:a16="http://schemas.microsoft.com/office/drawing/2014/main" id="{6110DCF0-0612-42C6-8154-E42FEB27E457}"/>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712A859-9040-4990-AB35-D8E0D177C8C6}"/>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 year</a:t>
            </a:r>
          </a:p>
        </p:txBody>
      </p:sp>
      <p:sp>
        <p:nvSpPr>
          <p:cNvPr id="17" name="">
            <a:extLst xmlns:a="http://schemas.openxmlformats.org/drawingml/2006/main">
              <a:ext uri="{FF2B5EF4-FFF2-40B4-BE49-F238E27FC236}">
                <a16:creationId xmlns:a16="http://schemas.microsoft.com/office/drawing/2014/main" id="{65A3423E-4738-402F-AEDC-C2349387C68A}"/>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observed</a:t>
            </a:r>
          </a:p>
        </p:txBody>
      </p:sp>
      <p:sp>
        <p:nvSpPr>
          <p:cNvPr id="18" name="">
            <a:extLst xmlns:a="http://schemas.openxmlformats.org/drawingml/2006/main">
              <a:ext uri="{FF2B5EF4-FFF2-40B4-BE49-F238E27FC236}">
                <a16:creationId xmlns:a16="http://schemas.microsoft.com/office/drawing/2014/main" id="{2D5A5E45-D642-482A-8DC1-0549C94459D8}"/>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Runway (title)</a:t>
            </a:r>
          </a:p>
        </p:txBody>
      </p:sp>
      <p:sp>
        <p:nvSpPr>
          <p:cNvPr id="19" name="">
            <a:extLst xmlns:a="http://schemas.openxmlformats.org/drawingml/2006/main">
              <a:ext uri="{FF2B5EF4-FFF2-40B4-BE49-F238E27FC236}">
                <a16:creationId xmlns:a16="http://schemas.microsoft.com/office/drawing/2014/main" id="{A90400D4-CD85-42A3-B214-A49FB259DFA1}"/>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context</a:t>
            </a:r>
          </a:p>
        </p:txBody>
      </p:sp>
      <p:sp>
        <p:nvSpPr>
          <p:cNvPr id="20" name="">
            <a:extLst xmlns:a="http://schemas.openxmlformats.org/drawingml/2006/main">
              <a:ext uri="{FF2B5EF4-FFF2-40B4-BE49-F238E27FC236}">
                <a16:creationId xmlns:a16="http://schemas.microsoft.com/office/drawing/2014/main" id="{B2D37EA2-B2C7-4956-A8FE-00BC39BF52B5}"/>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 passage</a:t>
            </a:r>
          </a:p>
        </p:txBody>
      </p:sp>
      <p:sp>
        <p:nvSpPr>
          <p:cNvPr id="21" name="">
            <a:extLst xmlns:a="http://schemas.openxmlformats.org/drawingml/2006/main">
              <a:ext uri="{FF2B5EF4-FFF2-40B4-BE49-F238E27FC236}">
                <a16:creationId xmlns:a16="http://schemas.microsoft.com/office/drawing/2014/main" id="{2A885726-8256-43EC-8312-7EED0137FA10}"/>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B479C039-487A-4B6D-BBC1-4D55D56A7B4A}"/>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9C3A9493-E36E-4E94-A189-ECF56BA4C7CC}"/>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39CECD32-B24A-4DF4-A909-35DA87D37995}"/>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0B7EC195-D941-4E15-A6AF-6C80EF179BAB}"/>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film identity</a:t>
            </a:r>
          </a:p>
        </p:txBody>
      </p:sp>
      <p:sp>
        <p:nvSpPr>
          <p:cNvPr id="26" name="">
            <a:extLst xmlns:a="http://schemas.openxmlformats.org/drawingml/2006/main">
              <a:ext uri="{FF2B5EF4-FFF2-40B4-BE49-F238E27FC236}">
                <a16:creationId xmlns:a16="http://schemas.microsoft.com/office/drawing/2014/main" id="{3FFBB91E-F55A-4964-9480-83AC5BFE1B26}"/>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47791DBE-9170-4E0D-8082-95138C83A9A8}"/>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FE7BCCDA-E71B-4FF5-A836-DFD261B778A9}"/>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0F6B292F-19EB-434C-B90B-98EB7607B13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expected: year</a:t>
            </a:r>
          </a:p>
        </p:txBody>
      </p:sp>
      <p:sp>
        <p:nvSpPr>
          <p:cNvPr id="30" name="">
            <a:extLst xmlns:a="http://schemas.openxmlformats.org/drawingml/2006/main">
              <a:ext uri="{FF2B5EF4-FFF2-40B4-BE49-F238E27FC236}">
                <a16:creationId xmlns:a16="http://schemas.microsoft.com/office/drawing/2014/main" id="{D9215995-2AE3-43C5-A1D6-37CB1CB7ABCF}"/>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4224C003-782E-4265-BD94-0998CF314423}"/>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3533A3F9-B210-4C8B-9CC8-39C376DDDB0D}"/>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Value type</a:t>
            </a:r>
          </a:p>
        </p:txBody>
      </p:sp>
      <p:sp>
        <p:nvSpPr>
          <p:cNvPr id="33" name="">
            <a:extLst xmlns:a="http://schemas.openxmlformats.org/drawingml/2006/main">
              <a:ext uri="{FF2B5EF4-FFF2-40B4-BE49-F238E27FC236}">
                <a16:creationId xmlns:a16="http://schemas.microsoft.com/office/drawing/2014/main" id="{80D4CF0A-7F0B-4D51-A864-63A788D57534}"/>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observed: title</a:t>
            </a:r>
          </a:p>
        </p:txBody>
      </p:sp>
      <p:sp>
        <p:nvSpPr>
          <p:cNvPr id="34" name="">
            <a:extLst xmlns:a="http://schemas.openxmlformats.org/drawingml/2006/main">
              <a:ext uri="{FF2B5EF4-FFF2-40B4-BE49-F238E27FC236}">
                <a16:creationId xmlns:a16="http://schemas.microsoft.com/office/drawing/2014/main" id="{F31A5AEB-4924-482C-B0F7-C0A3E10D4AF7}"/>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4BA607CD-7F77-4168-9B05-64A1D9CFEDA9}"/>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B014E69B-04A2-4072-8BAA-CE80552DB8BF}"/>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EDDE125B-F49E-435F-9BF6-76B85996B193}"/>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predicate / type mismatch</a:t>
            </a:r>
          </a:p>
        </p:txBody>
      </p:sp>
      <p:sp>
        <p:nvSpPr>
          <p:cNvPr id="38" name="">
            <a:extLst xmlns:a="http://schemas.openxmlformats.org/drawingml/2006/main">
              <a:ext uri="{FF2B5EF4-FFF2-40B4-BE49-F238E27FC236}">
                <a16:creationId xmlns:a16="http://schemas.microsoft.com/office/drawing/2014/main" id="{90B11AF7-04D8-45F0-8010-678165A0AB62}"/>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75" b="1">
                <a:solidFill>
                  <a:srgbClr val="1F5A7A"/>
                </a:solidFill>
              </a:defRPr>
            </a:pPr>
            <a:r>
              <a:rPr sz="1275" b="1">
                <a:solidFill>
                  <a:srgbClr val="1F5A7A"/>
                </a:solidFill>
              </a:rPr>
              <a:t>accept = entity AND predicate AND value_type AND no_conflict</a:t>
            </a:r>
          </a:p>
        </p:txBody>
      </p:sp>
      <p:sp>
        <p:nvSpPr>
          <p:cNvPr id="39" name="">
            <a:extLst xmlns:a="http://schemas.openxmlformats.org/drawingml/2006/main">
              <a:ext uri="{FF2B5EF4-FFF2-40B4-BE49-F238E27FC236}">
                <a16:creationId xmlns:a16="http://schemas.microsoft.com/office/drawing/2014/main" id="{B507EBC2-B869-4B51-86F1-D1A3DAA56D75}"/>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6F021255-AA67-465D-8792-FDE63762A1E6}"/>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471FC09E-66FF-41AF-B8E5-35D7EC9A5827}"/>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AA1A7357-AAD5-4C1E-A367-FA1E90AFBB7A}"/>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context_verifier</a:t>
            </a:r>
          </a:p>
        </p:txBody>
      </p:sp>
      <p:sp>
        <p:nvSpPr>
          <p:cNvPr id="43" name="">
            <a:extLst xmlns:a="http://schemas.openxmlformats.org/drawingml/2006/main">
              <a:ext uri="{FF2B5EF4-FFF2-40B4-BE49-F238E27FC236}">
                <a16:creationId xmlns:a16="http://schemas.microsoft.com/office/drawing/2014/main" id="{4B29C1E1-4D16-4D12-B6F4-E41042CAE0A7}"/>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BEA81012-4DB7-41DB-ABE6-90915FDF05E3}"/>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supplied_context</a:t>
            </a:r>
          </a:p>
        </p:txBody>
      </p:sp>
      <p:sp>
        <p:nvSpPr>
          <p:cNvPr id="45" name="">
            <a:extLst xmlns:a="http://schemas.openxmlformats.org/drawingml/2006/main">
              <a:ext uri="{FF2B5EF4-FFF2-40B4-BE49-F238E27FC236}">
                <a16:creationId xmlns:a16="http://schemas.microsoft.com/office/drawing/2014/main" id="{D4604A52-3ECC-4B2A-996D-A02F5D678400}"/>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B2FE8C7-1F9B-4F75-9F60-A2EB22E3582A}"/>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a:solidFill>
                  <a:srgbClr val="0F172A"/>
                </a:solidFill>
              </a:defRPr>
            </a:pPr>
            <a:r>
              <a:rPr sz="1200" b="0">
                <a:solidFill>
                  <a:srgbClr val="0F172A"/>
                </a:solidFill>
              </a:rPr>
              <a:t>release_year</a:t>
            </a:r>
          </a:p>
        </p:txBody>
      </p:sp>
      <p:sp>
        <p:nvSpPr>
          <p:cNvPr id="47" name="">
            <a:extLst xmlns:a="http://schemas.openxmlformats.org/drawingml/2006/main">
              <a:ext uri="{FF2B5EF4-FFF2-40B4-BE49-F238E27FC236}">
                <a16:creationId xmlns:a16="http://schemas.microsoft.com/office/drawing/2014/main" id="{D24013D8-8175-45F5-AC4D-5F82D3B269C3}"/>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9027CD96-7C4B-4D62-BBA2-5E7C94C384B6}"/>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0F172A"/>
                </a:solidFill>
              </a:defRPr>
            </a:pPr>
            <a:r>
              <a:rPr sz="1350" b="1">
                <a:solidFill>
                  <a:srgbClr val="0F172A"/>
                </a:solidFill>
              </a:rPr>
              <a:t>0</a:t>
            </a:r>
          </a:p>
        </p:txBody>
      </p:sp>
      <p:sp>
        <p:nvSpPr>
          <p:cNvPr id="49" name="">
            <a:extLst xmlns:a="http://schemas.openxmlformats.org/drawingml/2006/main">
              <a:ext uri="{FF2B5EF4-FFF2-40B4-BE49-F238E27FC236}">
                <a16:creationId xmlns:a16="http://schemas.microsoft.com/office/drawing/2014/main" id="{54F3827E-5F0C-46F3-A20A-6C80E8825CE6}"/>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B5483A"/>
                </a:solidFill>
              </a:defRPr>
            </a:pPr>
            <a:r>
              <a:rPr sz="1200" b="1">
                <a:solidFill>
                  <a:srgbClr val="B5483A"/>
                </a:solidFill>
              </a:rPr>
              <a:t>Gate 2/3 fail: film title ≠ release year → label 0</a:t>
            </a:r>
          </a:p>
        </p:txBody>
      </p:sp>
      <p:sp>
        <p:nvSpPr>
          <p:cNvPr id="50" name="">
            <a:extLst xmlns:a="http://schemas.openxmlformats.org/drawingml/2006/main">
              <a:ext uri="{FF2B5EF4-FFF2-40B4-BE49-F238E27FC236}">
                <a16:creationId xmlns:a16="http://schemas.microsoft.com/office/drawing/2014/main" id="{203DDBB5-0E35-414B-8AAA-F4F2CB33958B}"/>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A6431AA1-8957-41EB-A43C-F915B8BFB872}"/>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competition sample  [7] predicate-alignment trace</a:t>
            </a:r>
          </a:p>
        </p:txBody>
      </p:sp>
      <p:sp>
        <p:nvSpPr>
          <p:cNvPr id="52" name="page-9">
            <a:extLst xmlns:a="http://schemas.openxmlformats.org/drawingml/2006/main">
              <a:ext uri="{FF2B5EF4-FFF2-40B4-BE49-F238E27FC236}">
                <a16:creationId xmlns:a16="http://schemas.microsoft.com/office/drawing/2014/main" id="{E7E35BE0-9965-4622-B65C-4EC702FB9889}"/>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18</a:t>
            </a:r>
          </a:p>
        </p:txBody>
      </p:sp>
      <p:sp>
        <p:nvSpPr>
          <p:cNvPr id="54" name="technical-appendix-kicker-overlay">
            <a:extLst xmlns:a="http://schemas.openxmlformats.org/drawingml/2006/main">
              <a:ext uri="{FF2B5EF4-FFF2-40B4-BE49-F238E27FC236}">
                <a16:creationId xmlns:a16="http://schemas.microsoft.com/office/drawing/2014/main" id="{D704946B-E996-44F8-8F69-90BE41D6B6CA}"/>
              </a:ext>
            </a:extLst>
          </p:cNvPr>
          <p:cNvSpPr>
            <a:spLocks xmlns:a="http://schemas.openxmlformats.org/drawingml/2006/main" noGrp="1"/>
          </p:cNvSpPr>
          <p:nvPr/>
        </p:nvSpPr>
        <p:spPr>
          <a:xfrm xmlns:a="http://schemas.openxmlformats.org/drawingml/2006/main">
            <a:off x="68580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125" b="1">
                <a:solidFill>
                  <a:srgbClr val="1F5A7A"/>
                </a:solidFill>
                <a:latin typeface="Calibri"/>
                <a:ea typeface="Calibri"/>
                <a:cs typeface="Calibri"/>
              </a:defRPr>
            </a:pPr>
            <a:r>
              <a:rPr sz="1125" b="1">
                <a:solidFill>
                  <a:srgbClr val="1F5A7A"/>
                </a:solidFill>
                <a:latin typeface="Calibri"/>
                <a:ea typeface="Calibri"/>
                <a:cs typeface="Calibri"/>
              </a:rPr>
              <a:t>TECHNICAL APPENDIX</a:t>
            </a:r>
          </a:p>
        </p:txBody>
      </p:sp>
    </p:spTree>
    <p:extLst>
      <p:ext uri="{BB962C8B-B14F-4D97-AF65-F5344CB8AC3E}">
        <p14:creationId xmlns:p14="http://schemas.microsoft.com/office/powerpoint/2010/main" val="1439275797"/>
      </p:ext>
    </p:extLst>
  </p:cSld>
</p:sld>
</file>

<file path=ppt/slides/slide1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F660AC61-5E47-4BC2-83AF-4DD649132A8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title-12">
            <a:extLst xmlns:a="http://schemas.openxmlformats.org/drawingml/2006/main">
              <a:ext uri="{FF2B5EF4-FFF2-40B4-BE49-F238E27FC236}">
                <a16:creationId xmlns:a16="http://schemas.microsoft.com/office/drawing/2014/main" id="{99DAA247-2AA8-45DE-B216-3587BDB9321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F172A"/>
                </a:solidFill>
              </a:defRPr>
            </a:pPr>
            <a:r>
              <a:rPr sz="2700" b="1">
                <a:solidFill>
                  <a:srgbClr val="0F172A"/>
                </a:solidFill>
              </a:rPr>
              <a:t>Five evidence layers answer five different questions</a:t>
            </a:r>
          </a:p>
        </p:txBody>
      </p:sp>
      <p:sp>
        <p:nvSpPr>
          <p:cNvPr id="3" name="">
            <a:extLst xmlns:a="http://schemas.openxmlformats.org/drawingml/2006/main">
              <a:ext uri="{FF2B5EF4-FFF2-40B4-BE49-F238E27FC236}">
                <a16:creationId xmlns:a16="http://schemas.microsoft.com/office/drawing/2014/main" id="{25EFA620-8FF6-47B9-BD17-7C606C939C8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E3792FF5-2CF9-407D-971C-4C2B98D6FC63}"/>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26174"/>
                </a:solidFill>
              </a:defRPr>
            </a:pPr>
            <a:r>
              <a:rPr sz="1575" b="0">
                <a:solidFill>
                  <a:srgbClr val="526174"/>
                </a:solidFill>
              </a:rPr>
              <a:t>Only labeled rows measure classification quality; software and runtime checks establish other properties.</a:t>
            </a:r>
          </a:p>
        </p:txBody>
      </p:sp>
      <p:sp>
        <p:nvSpPr>
          <p:cNvPr id="5" name="">
            <a:extLst xmlns:a="http://schemas.openxmlformats.org/drawingml/2006/main">
              <a:ext uri="{FF2B5EF4-FFF2-40B4-BE49-F238E27FC236}">
                <a16:creationId xmlns:a16="http://schemas.microsoft.com/office/drawing/2014/main" id="{E91B8C04-A6A5-40F0-A67D-06296EFC8C79}"/>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1F5A7A"/>
                </a:solidFill>
              </a:defRPr>
            </a:pPr>
            <a:r>
              <a:rPr sz="3600" b="1">
                <a:solidFill>
                  <a:srgbClr val="1F5A7A"/>
                </a:solidFill>
              </a:rPr>
              <a:t>299</a:t>
            </a:r>
          </a:p>
        </p:txBody>
      </p:sp>
      <p:sp>
        <p:nvSpPr>
          <p:cNvPr id="6" name="">
            <a:extLst xmlns:a="http://schemas.openxmlformats.org/drawingml/2006/main">
              <a:ext uri="{FF2B5EF4-FFF2-40B4-BE49-F238E27FC236}">
                <a16:creationId xmlns:a16="http://schemas.microsoft.com/office/drawing/2014/main" id="{05049A46-07B5-450A-9D97-9AB90827F5CD}"/>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released labeled rows</a:t>
            </a:r>
          </a:p>
        </p:txBody>
      </p:sp>
      <p:sp>
        <p:nvSpPr>
          <p:cNvPr id="7" name="">
            <a:extLst xmlns:a="http://schemas.openxmlformats.org/drawingml/2006/main">
              <a:ext uri="{FF2B5EF4-FFF2-40B4-BE49-F238E27FC236}">
                <a16:creationId xmlns:a16="http://schemas.microsoft.com/office/drawing/2014/main" id="{9A1AA8E5-D4AB-4C10-9269-0391D0919160}"/>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249</a:t>
            </a:r>
          </a:p>
        </p:txBody>
      </p:sp>
      <p:sp>
        <p:nvSpPr>
          <p:cNvPr id="8" name="">
            <a:extLst xmlns:a="http://schemas.openxmlformats.org/drawingml/2006/main">
              <a:ext uri="{FF2B5EF4-FFF2-40B4-BE49-F238E27FC236}">
                <a16:creationId xmlns:a16="http://schemas.microsoft.com/office/drawing/2014/main" id="{264B21FE-76D4-48C7-917B-E1AF42BFBDBA}"/>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automated regression tests</a:t>
            </a:r>
          </a:p>
        </p:txBody>
      </p:sp>
      <p:sp>
        <p:nvSpPr>
          <p:cNvPr id="9" name="">
            <a:extLst xmlns:a="http://schemas.openxmlformats.org/drawingml/2006/main">
              <a:ext uri="{FF2B5EF4-FFF2-40B4-BE49-F238E27FC236}">
                <a16:creationId xmlns:a16="http://schemas.microsoft.com/office/drawing/2014/main" id="{3D0AC9AA-B7BF-4895-AB08-541EB4024DEB}"/>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D59B32"/>
                </a:solidFill>
              </a:defRPr>
            </a:pPr>
            <a:r>
              <a:rPr sz="3600" b="1">
                <a:solidFill>
                  <a:srgbClr val="D59B32"/>
                </a:solidFill>
              </a:rPr>
              <a:t>3</a:t>
            </a:r>
          </a:p>
        </p:txBody>
      </p:sp>
      <p:sp>
        <p:nvSpPr>
          <p:cNvPr id="10" name="">
            <a:extLst xmlns:a="http://schemas.openxmlformats.org/drawingml/2006/main">
              <a:ext uri="{FF2B5EF4-FFF2-40B4-BE49-F238E27FC236}">
                <a16:creationId xmlns:a16="http://schemas.microsoft.com/office/drawing/2014/main" id="{4B703288-FB36-4BB7-A351-19BC27DB1DB6}"/>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byte-identical inference runs</a:t>
            </a:r>
          </a:p>
        </p:txBody>
      </p:sp>
      <p:sp>
        <p:nvSpPr>
          <p:cNvPr id="11" name="">
            <a:extLst xmlns:a="http://schemas.openxmlformats.org/drawingml/2006/main">
              <a:ext uri="{FF2B5EF4-FFF2-40B4-BE49-F238E27FC236}">
                <a16:creationId xmlns:a16="http://schemas.microsoft.com/office/drawing/2014/main" id="{588BDC76-8B0B-403A-B801-28D1B7ED4A40}"/>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7829D50C-D8A2-45A8-897C-10082E6554D1}"/>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AC59BB1-EA8F-42E7-8421-3851A1715F5C}"/>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2397DAD1-EA95-4861-BAF1-4B8568438CA7}"/>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C031D5D7-F883-4015-9C07-297919EE7431}"/>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BD2B6089-6177-4D2F-AFD3-6D89327060A5}"/>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AE27FDFA-5D0D-4D74-BA0F-FA7FDFE3F36A}"/>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6FA8D2E3-F33F-442A-A477-EF3CECFE4059}"/>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85FAC507-243B-45F5-9FB6-3E7403B0CD4B}"/>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Released labels</a:t>
            </a:r>
          </a:p>
        </p:txBody>
      </p:sp>
      <p:sp>
        <p:nvSpPr>
          <p:cNvPr id="20" name="">
            <a:extLst xmlns:a="http://schemas.openxmlformats.org/drawingml/2006/main">
              <a:ext uri="{FF2B5EF4-FFF2-40B4-BE49-F238E27FC236}">
                <a16:creationId xmlns:a16="http://schemas.microsoft.com/office/drawing/2014/main" id="{06653A2D-471B-445D-8C38-8679B0EB94C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macro-F1 + label 0</a:t>
            </a:r>
          </a:p>
        </p:txBody>
      </p:sp>
      <p:sp>
        <p:nvSpPr>
          <p:cNvPr id="21" name="">
            <a:extLst xmlns:a="http://schemas.openxmlformats.org/drawingml/2006/main">
              <a:ext uri="{FF2B5EF4-FFF2-40B4-BE49-F238E27FC236}">
                <a16:creationId xmlns:a16="http://schemas.microsoft.com/office/drawing/2014/main" id="{CC0C5B61-1E1D-457F-B2E1-FFEEA5675179}"/>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13AF7728-E64D-4A47-B229-2AD4932B324D}"/>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Regression suite</a:t>
            </a:r>
          </a:p>
        </p:txBody>
      </p:sp>
      <p:sp>
        <p:nvSpPr>
          <p:cNvPr id="23" name="">
            <a:extLst xmlns:a="http://schemas.openxmlformats.org/drawingml/2006/main">
              <a:ext uri="{FF2B5EF4-FFF2-40B4-BE49-F238E27FC236}">
                <a16:creationId xmlns:a16="http://schemas.microsoft.com/office/drawing/2014/main" id="{375A5280-EC9F-4D70-B7E6-CDB50D4ED65B}"/>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behavior preserved</a:t>
            </a:r>
          </a:p>
        </p:txBody>
      </p:sp>
      <p:sp>
        <p:nvSpPr>
          <p:cNvPr id="24" name="">
            <a:extLst xmlns:a="http://schemas.openxmlformats.org/drawingml/2006/main">
              <a:ext uri="{FF2B5EF4-FFF2-40B4-BE49-F238E27FC236}">
                <a16:creationId xmlns:a16="http://schemas.microsoft.com/office/drawing/2014/main" id="{E564E088-86FB-4B00-ACA6-707780E24F97}"/>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C7611AC-ADF7-44AE-9DB6-17FD7144F0B9}"/>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Hash equality</a:t>
            </a:r>
          </a:p>
        </p:txBody>
      </p:sp>
      <p:sp>
        <p:nvSpPr>
          <p:cNvPr id="26" name="">
            <a:extLst xmlns:a="http://schemas.openxmlformats.org/drawingml/2006/main">
              <a:ext uri="{FF2B5EF4-FFF2-40B4-BE49-F238E27FC236}">
                <a16:creationId xmlns:a16="http://schemas.microsoft.com/office/drawing/2014/main" id="{FC78B84C-7EC7-4962-8407-09CA6DACC0BF}"/>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same predictions</a:t>
            </a:r>
          </a:p>
        </p:txBody>
      </p:sp>
      <p:sp>
        <p:nvSpPr>
          <p:cNvPr id="27" name="">
            <a:extLst xmlns:a="http://schemas.openxmlformats.org/drawingml/2006/main">
              <a:ext uri="{FF2B5EF4-FFF2-40B4-BE49-F238E27FC236}">
                <a16:creationId xmlns:a16="http://schemas.microsoft.com/office/drawing/2014/main" id="{533904A5-743B-41F1-A58B-43C5E77DA6BF}"/>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09C81864-2CB0-43B7-8A47-A68C1C005237}"/>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F5A7A"/>
                </a:solidFill>
              </a:defRPr>
            </a:pPr>
            <a:r>
              <a:rPr sz="1425" b="1">
                <a:solidFill>
                  <a:srgbClr val="1F5A7A"/>
                </a:solidFill>
              </a:rPr>
              <a:t>T4×2 runtime</a:t>
            </a:r>
          </a:p>
        </p:txBody>
      </p:sp>
      <p:sp>
        <p:nvSpPr>
          <p:cNvPr id="29" name="">
            <a:extLst xmlns:a="http://schemas.openxmlformats.org/drawingml/2006/main">
              <a:ext uri="{FF2B5EF4-FFF2-40B4-BE49-F238E27FC236}">
                <a16:creationId xmlns:a16="http://schemas.microsoft.com/office/drawing/2014/main" id="{49980477-90FD-4BAA-8CF9-6363F296D606}"/>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5,000 rows in 3:52:02</a:t>
            </a:r>
          </a:p>
        </p:txBody>
      </p:sp>
      <p:sp>
        <p:nvSpPr>
          <p:cNvPr id="30" name="">
            <a:extLst xmlns:a="http://schemas.openxmlformats.org/drawingml/2006/main">
              <a:ext uri="{FF2B5EF4-FFF2-40B4-BE49-F238E27FC236}">
                <a16:creationId xmlns:a16="http://schemas.microsoft.com/office/drawing/2014/main" id="{DAFC78E8-8B93-4CFA-B394-C1EFECCCFE78}"/>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ECC142BB-B95E-47C3-8AC5-D719E2CF1714}"/>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D59B32"/>
                </a:solidFill>
              </a:defRPr>
            </a:pPr>
            <a:r>
              <a:rPr sz="1425" b="1">
                <a:solidFill>
                  <a:srgbClr val="D59B32"/>
                </a:solidFill>
              </a:rPr>
              <a:t>Leaderboard</a:t>
            </a:r>
          </a:p>
        </p:txBody>
      </p:sp>
      <p:sp>
        <p:nvSpPr>
          <p:cNvPr id="32" name="">
            <a:extLst xmlns:a="http://schemas.openxmlformats.org/drawingml/2006/main">
              <a:ext uri="{FF2B5EF4-FFF2-40B4-BE49-F238E27FC236}">
                <a16:creationId xmlns:a16="http://schemas.microsoft.com/office/drawing/2014/main" id="{16BC243C-310A-40F1-A23F-0BF4410891B4}"/>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0">
                <a:solidFill>
                  <a:srgbClr val="526174"/>
                </a:solidFill>
              </a:defRPr>
            </a:pPr>
            <a:r>
              <a:rPr sz="1200" b="0">
                <a:solidFill>
                  <a:srgbClr val="526174"/>
                </a:solidFill>
              </a:rPr>
              <a:t>0.90144; rank 7/32</a:t>
            </a:r>
          </a:p>
        </p:txBody>
      </p:sp>
      <p:sp>
        <p:nvSpPr>
          <p:cNvPr id="33" name="">
            <a:extLst xmlns:a="http://schemas.openxmlformats.org/drawingml/2006/main">
              <a:ext uri="{FF2B5EF4-FFF2-40B4-BE49-F238E27FC236}">
                <a16:creationId xmlns:a16="http://schemas.microsoft.com/office/drawing/2014/main" id="{A3AC2E9A-D42A-4A34-9DDA-ABA050314487}"/>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889EFA5D-820B-45C1-BF34-43618FD75B69}"/>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1F5A7A"/>
                </a:solidFill>
              </a:defRPr>
            </a:pPr>
            <a:r>
              <a:rPr sz="1350" b="1">
                <a:solidFill>
                  <a:srgbClr val="1F5A7A"/>
                </a:solidFill>
              </a:rPr>
              <a:t>Accuracy ≠ reproducibility ≠ output integrity ≠ runtime; each claim needs its own evidence.</a:t>
            </a:r>
          </a:p>
        </p:txBody>
      </p:sp>
      <p:sp>
        <p:nvSpPr>
          <p:cNvPr id="35" name="">
            <a:extLst xmlns:a="http://schemas.openxmlformats.org/drawingml/2006/main">
              <a:ext uri="{FF2B5EF4-FFF2-40B4-BE49-F238E27FC236}">
                <a16:creationId xmlns:a16="http://schemas.microsoft.com/office/drawing/2014/main" id="{66E131D1-0821-437A-9046-5B6D7076AA49}"/>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0EE445F5-A6B8-4771-8E53-AF9BF4D9763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[1] Released labels  [7] regressions  [8] runtime  [9] Phase 2 results</a:t>
            </a:r>
          </a:p>
        </p:txBody>
      </p:sp>
      <p:sp>
        <p:nvSpPr>
          <p:cNvPr id="37" name="page-12">
            <a:extLst xmlns:a="http://schemas.openxmlformats.org/drawingml/2006/main">
              <a:ext uri="{FF2B5EF4-FFF2-40B4-BE49-F238E27FC236}">
                <a16:creationId xmlns:a16="http://schemas.microsoft.com/office/drawing/2014/main" id="{F85D3633-A603-4AAD-A9E8-B6A038D9750F}"/>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19</a:t>
            </a:r>
          </a:p>
        </p:txBody>
      </p:sp>
    </p:spTree>
    <p:extLst>
      <p:ext uri="{BB962C8B-B14F-4D97-AF65-F5344CB8AC3E}">
        <p14:creationId xmlns:p14="http://schemas.microsoft.com/office/powerpoint/2010/main" val="1722569808"/>
      </p:ext>
    </p:extLst>
  </p:cSld>
</p:sld>
</file>

<file path=ppt/slides/slide2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3C6C590-AC8D-4D41-809E-7E46F3144D4D}"/>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a:solidFill>
                  <a:srgbClr val="1F5A7A"/>
                </a:solidFill>
              </a:defRPr>
            </a:pPr>
            <a:r>
              <a:rPr sz="1125" b="1">
                <a:solidFill>
                  <a:srgbClr val="1F5A7A"/>
                </a:solidFill>
              </a:rPr>
              <a:t>TECHNICAL APPENDIX</a:t>
            </a:r>
          </a:p>
        </p:txBody>
      </p:sp>
      <p:sp>
        <p:nvSpPr>
          <p:cNvPr id="2" name="">
            <a:extLst xmlns:a="http://schemas.openxmlformats.org/drawingml/2006/main">
              <a:ext uri="{FF2B5EF4-FFF2-40B4-BE49-F238E27FC236}">
                <a16:creationId xmlns:a16="http://schemas.microsoft.com/office/drawing/2014/main" id="{7701A439-0284-41A8-82FA-93596169CFD0}"/>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Phase 2 defines a focused</a:t>
            </a:r>
          </a:p>
          <a:p xmlns:a="http://schemas.openxmlformats.org/drawingml/2006/main">
            <a:pPr algn="l">
              <a:buNone/>
              <a:defRPr sz="3300" b="1">
                <a:solidFill>
                  <a:srgbClr val="0F172A"/>
                </a:solidFill>
              </a:defRPr>
            </a:pPr>
            <a:r>
              <a:rPr sz="3300" b="1">
                <a:solidFill>
                  <a:srgbClr val="0F172A"/>
                </a:solidFill>
              </a:rPr>
              <a:t>next-experiment queue</a:t>
            </a:r>
          </a:p>
        </p:txBody>
      </p:sp>
      <p:sp>
        <p:nvSpPr>
          <p:cNvPr id="3" name="">
            <a:extLst xmlns:a="http://schemas.openxmlformats.org/drawingml/2006/main">
              <a:ext uri="{FF2B5EF4-FFF2-40B4-BE49-F238E27FC236}">
                <a16:creationId xmlns:a16="http://schemas.microsoft.com/office/drawing/2014/main" id="{E39312FA-DAE7-402C-9B1B-72ABD0FA420F}"/>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9C9F5B7B-F077-4CFB-99B4-3607107AEA6E}"/>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2A8C82"/>
                </a:solidFill>
              </a:defRPr>
            </a:pPr>
            <a:r>
              <a:rPr sz="1650" b="1">
                <a:solidFill>
                  <a:srgbClr val="2A8C82"/>
                </a:solidFill>
              </a:rPr>
              <a:t>Observed shift</a:t>
            </a:r>
          </a:p>
        </p:txBody>
      </p:sp>
      <p:sp>
        <p:nvSpPr>
          <p:cNvPr id="5" name="">
            <a:extLst xmlns:a="http://schemas.openxmlformats.org/drawingml/2006/main">
              <a:ext uri="{FF2B5EF4-FFF2-40B4-BE49-F238E27FC236}">
                <a16:creationId xmlns:a16="http://schemas.microsoft.com/office/drawing/2014/main" id="{A34508EC-ADC8-47BD-944D-F8E4B8A94CBA}"/>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Deterministic coverage: 93.72% → 4.14%.</a:t>
            </a:r>
          </a:p>
          <a:p xmlns:a="http://schemas.openxmlformats.org/drawingml/2006/main">
            <a:pPr algn="l">
              <a:buNone/>
              <a:defRPr sz="1275" b="0">
                <a:solidFill>
                  <a:srgbClr val="0F172A"/>
                </a:solidFill>
              </a:defRPr>
            </a:pPr>
            <a:r>
              <a:rPr sz="1275" b="0">
                <a:solidFill>
                  <a:srgbClr val="0F172A"/>
                </a:solidFill>
              </a:rPr>
              <a:t>Judge handled 4,793 / 5,000 rows.</a:t>
            </a:r>
          </a:p>
          <a:p xmlns:a="http://schemas.openxmlformats.org/drawingml/2006/main">
            <a:pPr algn="l">
              <a:buNone/>
              <a:defRPr sz="1275" b="0">
                <a:solidFill>
                  <a:srgbClr val="0F172A"/>
                </a:solidFill>
              </a:defRPr>
            </a:pPr>
            <a:r>
              <a:rPr sz="1275" b="0">
                <a:solidFill>
                  <a:srgbClr val="0F172A"/>
                </a:solidFill>
              </a:rPr>
              <a:t>Official score: 0.90144; rank 7/32.</a:t>
            </a:r>
          </a:p>
        </p:txBody>
      </p:sp>
      <p:sp>
        <p:nvSpPr>
          <p:cNvPr id="6" name="">
            <a:extLst xmlns:a="http://schemas.openxmlformats.org/drawingml/2006/main">
              <a:ext uri="{FF2B5EF4-FFF2-40B4-BE49-F238E27FC236}">
                <a16:creationId xmlns:a16="http://schemas.microsoft.com/office/drawing/2014/main" id="{6C419DA7-6A87-4599-97A5-DC8565EA9D06}"/>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6D87793E-5438-4392-A581-FB5DDAEC7C1C}"/>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B5483A"/>
                </a:solidFill>
              </a:defRPr>
            </a:pPr>
            <a:r>
              <a:rPr sz="1650" b="1">
                <a:solidFill>
                  <a:srgbClr val="B5483A"/>
                </a:solidFill>
              </a:rPr>
              <a:t>Next experiments</a:t>
            </a:r>
          </a:p>
        </p:txBody>
      </p:sp>
      <p:sp>
        <p:nvSpPr>
          <p:cNvPr id="8" name="">
            <a:extLst xmlns:a="http://schemas.openxmlformats.org/drawingml/2006/main">
              <a:ext uri="{FF2B5EF4-FFF2-40B4-BE49-F238E27FC236}">
                <a16:creationId xmlns:a16="http://schemas.microsoft.com/office/drawing/2014/main" id="{F9D7D7CC-E901-4166-8780-28A3997F008B}"/>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If labels are released, cluster judged-tail errors.</a:t>
            </a:r>
          </a:p>
          <a:p xmlns:a="http://schemas.openxmlformats.org/drawingml/2006/main">
            <a:pPr algn="l">
              <a:buNone/>
              <a:defRPr sz="1275" b="0">
                <a:solidFill>
                  <a:srgbClr val="0F172A"/>
                </a:solidFill>
              </a:defRPr>
            </a:pPr>
            <a:r>
              <a:rPr sz="1275" b="0">
                <a:solidFill>
                  <a:srgbClr val="0F172A"/>
                </a:solidFill>
              </a:rPr>
              <a:t>Calibrate abstention and judge votes.</a:t>
            </a:r>
          </a:p>
          <a:p xmlns:a="http://schemas.openxmlformats.org/drawingml/2006/main">
            <a:pPr algn="l">
              <a:buNone/>
              <a:defRPr sz="1275" b="0">
                <a:solidFill>
                  <a:srgbClr val="0F172A"/>
                </a:solidFill>
              </a:defRPr>
            </a:pPr>
            <a:r>
              <a:rPr sz="1275" b="0">
                <a:solidFill>
                  <a:srgbClr val="0F172A"/>
                </a:solidFill>
              </a:rPr>
              <a:t>Add licensed civic and news evidence.</a:t>
            </a:r>
          </a:p>
        </p:txBody>
      </p:sp>
      <p:sp>
        <p:nvSpPr>
          <p:cNvPr id="9" name="">
            <a:extLst xmlns:a="http://schemas.openxmlformats.org/drawingml/2006/main">
              <a:ext uri="{FF2B5EF4-FFF2-40B4-BE49-F238E27FC236}">
                <a16:creationId xmlns:a16="http://schemas.microsoft.com/office/drawing/2014/main" id="{8DE7FAC4-CFA3-447F-9C4E-1476C1FCDEB3}"/>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E87CC63-2335-46D0-A6C8-2AD8472D2D98}"/>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D59B32"/>
                </a:solidFill>
              </a:defRPr>
            </a:pPr>
            <a:r>
              <a:rPr sz="1650" b="1">
                <a:solidFill>
                  <a:srgbClr val="D59B32"/>
                </a:solidFill>
              </a:rPr>
              <a:t>Rejected shortcuts</a:t>
            </a:r>
          </a:p>
        </p:txBody>
      </p:sp>
      <p:sp>
        <p:nvSpPr>
          <p:cNvPr id="11" name="">
            <a:extLst xmlns:a="http://schemas.openxmlformats.org/drawingml/2006/main">
              <a:ext uri="{FF2B5EF4-FFF2-40B4-BE49-F238E27FC236}">
                <a16:creationId xmlns:a16="http://schemas.microsoft.com/office/drawing/2014/main" id="{538A2B92-C66B-49B4-9A54-4B7E3F42E171}"/>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0F172A"/>
                </a:solidFill>
              </a:defRPr>
            </a:pPr>
            <a:r>
              <a:rPr sz="1275" b="0">
                <a:solidFill>
                  <a:srgbClr val="0F172A"/>
                </a:solidFill>
              </a:rPr>
              <a:t>Do not force fuzzy matches.</a:t>
            </a:r>
          </a:p>
          <a:p xmlns:a="http://schemas.openxmlformats.org/drawingml/2006/main">
            <a:pPr algn="l">
              <a:buNone/>
              <a:defRPr sz="1275" b="0">
                <a:solidFill>
                  <a:srgbClr val="0F172A"/>
                </a:solidFill>
              </a:defRPr>
            </a:pPr>
            <a:r>
              <a:rPr sz="1275" b="0">
                <a:solidFill>
                  <a:srgbClr val="0F172A"/>
                </a:solidFill>
              </a:rPr>
              <a:t>Do not fine-tune on only 299 labels.</a:t>
            </a:r>
          </a:p>
          <a:p xmlns:a="http://schemas.openxmlformats.org/drawingml/2006/main">
            <a:pPr algn="l">
              <a:buNone/>
              <a:defRPr sz="1275" b="0">
                <a:solidFill>
                  <a:srgbClr val="0F172A"/>
                </a:solidFill>
              </a:defRPr>
            </a:pPr>
            <a:r>
              <a:rPr sz="1275" b="0">
                <a:solidFill>
                  <a:srgbClr val="0F172A"/>
                </a:solidFill>
              </a:rPr>
              <a:t>Do not call runtime an accuracy result.</a:t>
            </a:r>
          </a:p>
        </p:txBody>
      </p:sp>
      <p:sp>
        <p:nvSpPr>
          <p:cNvPr id="12" name="">
            <a:extLst xmlns:a="http://schemas.openxmlformats.org/drawingml/2006/main">
              <a:ext uri="{FF2B5EF4-FFF2-40B4-BE49-F238E27FC236}">
                <a16:creationId xmlns:a16="http://schemas.microsoft.com/office/drawing/2014/main" id="{8744B878-38BB-41E7-9CDB-A47574C43C45}"/>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1F5A7A"/>
                </a:solidFill>
              </a:defRPr>
            </a:pPr>
            <a:r>
              <a:rPr sz="2700" b="1">
                <a:solidFill>
                  <a:srgbClr val="1F5A7A"/>
                </a:solidFill>
              </a:rPr>
              <a:t>Decision</a:t>
            </a:r>
          </a:p>
        </p:txBody>
      </p:sp>
      <p:sp>
        <p:nvSpPr>
          <p:cNvPr id="13" name="">
            <a:extLst xmlns:a="http://schemas.openxmlformats.org/drawingml/2006/main">
              <a:ext uri="{FF2B5EF4-FFF2-40B4-BE49-F238E27FC236}">
                <a16:creationId xmlns:a16="http://schemas.microsoft.com/office/drawing/2014/main" id="{B5222930-A972-4E65-8A69-CFE761388F8B}"/>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350" b="1">
                <a:solidFill>
                  <a:srgbClr val="526174"/>
                </a:solidFill>
              </a:defRPr>
            </a:pPr>
            <a:r>
              <a:rPr sz="1350" b="1">
                <a:solidFill>
                  <a:srgbClr val="526174"/>
                </a:solidFill>
              </a:rPr>
              <a:t>Keep the conservative admission contract; optimize the judge tail only after Phase 2 error labels exist.</a:t>
            </a:r>
          </a:p>
        </p:txBody>
      </p:sp>
      <p:sp>
        <p:nvSpPr>
          <p:cNvPr id="14" name="">
            <a:extLst xmlns:a="http://schemas.openxmlformats.org/drawingml/2006/main">
              <a:ext uri="{FF2B5EF4-FFF2-40B4-BE49-F238E27FC236}">
                <a16:creationId xmlns:a16="http://schemas.microsoft.com/office/drawing/2014/main" id="{F8781430-71AC-4AC8-AAE8-227D6612A7A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9D17B9C4-5AFB-4BEB-9DA4-65B1E25650A8}"/>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526174"/>
                </a:solidFill>
              </a:defRPr>
            </a:pPr>
            <a:r>
              <a:rPr sz="1050" b="0">
                <a:solidFill>
                  <a:srgbClr val="526174"/>
                </a:solidFill>
              </a:rPr>
              <a:t>[7] Frozen v91  [8] Runtime report  [9] Official Phase 2 results</a:t>
            </a:r>
          </a:p>
        </p:txBody>
      </p:sp>
      <p:sp>
        <p:nvSpPr>
          <p:cNvPr id="16" name="">
            <a:extLst xmlns:a="http://schemas.openxmlformats.org/drawingml/2006/main">
              <a:ext uri="{FF2B5EF4-FFF2-40B4-BE49-F238E27FC236}">
                <a16:creationId xmlns:a16="http://schemas.microsoft.com/office/drawing/2014/main" id="{37D8D58A-E0D4-4368-A6D1-D7F564E3069C}"/>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1">
                <a:solidFill>
                  <a:srgbClr val="1F5A7A"/>
                </a:solidFill>
              </a:defRPr>
            </a:pPr>
            <a:r>
              <a:rPr sz="1050" b="1">
                <a:solidFill>
                  <a:srgbClr val="1F5A7A"/>
                </a:solidFill>
              </a:rPr>
              <a:t>20</a:t>
            </a:r>
          </a:p>
        </p:txBody>
      </p:sp>
    </p:spTree>
    <p:extLst>
      <p:ext uri="{BB962C8B-B14F-4D97-AF65-F5344CB8AC3E}">
        <p14:creationId xmlns:p14="http://schemas.microsoft.com/office/powerpoint/2010/main" val="18773956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2026-07-23T08:58:56.0580000Z</dcterms:created>
  <dcterms:modified xsi:type="dcterms:W3CDTF">2026-07-23T08:58:56.0590000Z</dcterms:modified>
</coreProperties>
</file>