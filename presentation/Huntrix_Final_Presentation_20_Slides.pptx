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b79430aca243ee" /><Relationship Type="http://schemas.openxmlformats.org/officeDocument/2006/relationships/extended-properties" Target="/docProps/app.xml" Id="Reb2800d6be514423" /><Relationship Type="http://schemas.openxmlformats.org/officeDocument/2006/relationships/officeDocument" Target="/ppt/presentation.xml" Id="R696d923fe3f34010" /></Relationships>
</file>

<file path=ppt/presentation.xml><?xml version="1.0" encoding="utf-8"?>
<p:presentation xmlns:p="http://schemas.openxmlformats.org/presentationml/2006/main">
  <p:sldMasterIdLst>
    <p:sldMasterId xmlns:r="http://schemas.openxmlformats.org/officeDocument/2006/relationships" id="2147483648" r:id="Rdde7fb6d6d5c44d9"/>
  </p:sldMasterIdLst>
  <p:notesMasterIdLst>
    <p:notesMasterId xmlns:r="http://schemas.openxmlformats.org/officeDocument/2006/relationships" r:id="Re8dd339997a04b23"/>
  </p:notesMasterIdLst>
  <p:sldIdLst>
    <p:sldId xmlns:r="http://schemas.openxmlformats.org/officeDocument/2006/relationships" id="256" r:id="R7178d7f0b2b349c2"/>
    <p:sldId xmlns:r="http://schemas.openxmlformats.org/officeDocument/2006/relationships" id="257" r:id="Re27b1793c18a4d11"/>
    <p:sldId xmlns:r="http://schemas.openxmlformats.org/officeDocument/2006/relationships" id="258" r:id="R8bf6625f506a421e"/>
    <p:sldId xmlns:r="http://schemas.openxmlformats.org/officeDocument/2006/relationships" id="259" r:id="Rbfca55d9271b48b5"/>
    <p:sldId xmlns:r="http://schemas.openxmlformats.org/officeDocument/2006/relationships" id="260" r:id="Rea4f3f4d6c1d4fa6"/>
    <p:sldId xmlns:r="http://schemas.openxmlformats.org/officeDocument/2006/relationships" id="261" r:id="R70fec675cf6f4d3f"/>
    <p:sldId xmlns:r="http://schemas.openxmlformats.org/officeDocument/2006/relationships" id="262" r:id="R3de3ed234ebf437b"/>
    <p:sldId xmlns:r="http://schemas.openxmlformats.org/officeDocument/2006/relationships" id="263" r:id="R37a75e4f418041ab"/>
    <p:sldId xmlns:r="http://schemas.openxmlformats.org/officeDocument/2006/relationships" id="264" r:id="R608e63d75eef4418"/>
    <p:sldId xmlns:r="http://schemas.openxmlformats.org/officeDocument/2006/relationships" id="265" r:id="R8ee22a7a83784766"/>
    <p:sldId xmlns:r="http://schemas.openxmlformats.org/officeDocument/2006/relationships" id="266" r:id="R3f1373e37ba44ee2"/>
    <p:sldId xmlns:r="http://schemas.openxmlformats.org/officeDocument/2006/relationships" id="267" r:id="R0489fe6dda5d4de4"/>
    <p:sldId xmlns:r="http://schemas.openxmlformats.org/officeDocument/2006/relationships" id="268" r:id="R2eba5cc957e147c4"/>
    <p:sldId xmlns:r="http://schemas.openxmlformats.org/officeDocument/2006/relationships" id="269" r:id="Rc76e1775b13543eb"/>
    <p:sldId xmlns:r="http://schemas.openxmlformats.org/officeDocument/2006/relationships" id="270" r:id="R3e881cadc44c4878"/>
    <p:sldId xmlns:r="http://schemas.openxmlformats.org/officeDocument/2006/relationships" id="271" r:id="Re58e773922ad4a71"/>
    <p:sldId xmlns:r="http://schemas.openxmlformats.org/officeDocument/2006/relationships" id="272" r:id="Rbe70d74748774ca1"/>
    <p:sldId xmlns:r="http://schemas.openxmlformats.org/officeDocument/2006/relationships" id="273" r:id="Rf865eaff551d4210"/>
    <p:sldId xmlns:r="http://schemas.openxmlformats.org/officeDocument/2006/relationships" id="274" r:id="R2c3007aa7352433b"/>
    <p:sldId xmlns:r="http://schemas.openxmlformats.org/officeDocument/2006/relationships" id="275" r:id="R9becf8136fe34ecd"/>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088a299e744a79" /><Relationship Type="http://schemas.openxmlformats.org/officeDocument/2006/relationships/slideMaster" Target="/ppt/slideMasters/slideMaster1.xml" Id="Rdde7fb6d6d5c44d9" /><Relationship Type="http://schemas.openxmlformats.org/officeDocument/2006/relationships/notesMaster" Target="/ppt/notesMasters/notesMaster1.xml" Id="Re8dd339997a04b23" /><Relationship Type="http://schemas.openxmlformats.org/officeDocument/2006/relationships/presProps" Target="/ppt/presProps.xml" Id="R687d9f00e1244c47" /><Relationship Type="http://schemas.openxmlformats.org/officeDocument/2006/relationships/tableStyles" Target="/ppt/tableStyles.xml" Id="R1219409838074478" /><Relationship Type="http://schemas.openxmlformats.org/officeDocument/2006/relationships/slide" Target="/ppt/slides/slide1.xml" Id="R7178d7f0b2b349c2" /><Relationship Type="http://schemas.openxmlformats.org/officeDocument/2006/relationships/slide" Target="/ppt/slides/slide2.xml" Id="Re27b1793c18a4d11" /><Relationship Type="http://schemas.openxmlformats.org/officeDocument/2006/relationships/slide" Target="/ppt/slides/slide3.xml" Id="R8bf6625f506a421e" /><Relationship Type="http://schemas.openxmlformats.org/officeDocument/2006/relationships/slide" Target="/ppt/slides/slide4.xml" Id="Rbfca55d9271b48b5" /><Relationship Type="http://schemas.openxmlformats.org/officeDocument/2006/relationships/slide" Target="/ppt/slides/slide5.xml" Id="Rea4f3f4d6c1d4fa6" /><Relationship Type="http://schemas.openxmlformats.org/officeDocument/2006/relationships/slide" Target="/ppt/slides/slide6.xml" Id="R70fec675cf6f4d3f" /><Relationship Type="http://schemas.openxmlformats.org/officeDocument/2006/relationships/slide" Target="/ppt/slides/slide7.xml" Id="R3de3ed234ebf437b" /><Relationship Type="http://schemas.openxmlformats.org/officeDocument/2006/relationships/slide" Target="/ppt/slides/slide8.xml" Id="R37a75e4f418041ab" /><Relationship Type="http://schemas.openxmlformats.org/officeDocument/2006/relationships/slide" Target="/ppt/slides/slide9.xml" Id="R608e63d75eef4418" /><Relationship Type="http://schemas.openxmlformats.org/officeDocument/2006/relationships/slide" Target="/ppt/slides/slide10.xml" Id="R8ee22a7a83784766" /><Relationship Type="http://schemas.openxmlformats.org/officeDocument/2006/relationships/slide" Target="/ppt/slides/slide11.xml" Id="R3f1373e37ba44ee2" /><Relationship Type="http://schemas.openxmlformats.org/officeDocument/2006/relationships/slide" Target="/ppt/slides/slide12.xml" Id="R0489fe6dda5d4de4" /><Relationship Type="http://schemas.openxmlformats.org/officeDocument/2006/relationships/slide" Target="/ppt/slides/slide13.xml" Id="R2eba5cc957e147c4" /><Relationship Type="http://schemas.openxmlformats.org/officeDocument/2006/relationships/slide" Target="/ppt/slides/slide14.xml" Id="Rc76e1775b13543eb" /><Relationship Type="http://schemas.openxmlformats.org/officeDocument/2006/relationships/slide" Target="/ppt/slides/slide15.xml" Id="R3e881cadc44c4878" /><Relationship Type="http://schemas.openxmlformats.org/officeDocument/2006/relationships/slide" Target="/ppt/slides/slide16.xml" Id="Re58e773922ad4a71" /><Relationship Type="http://schemas.openxmlformats.org/officeDocument/2006/relationships/slide" Target="/ppt/slides/slide17.xml" Id="Rbe70d74748774ca1" /><Relationship Type="http://schemas.openxmlformats.org/officeDocument/2006/relationships/slide" Target="/ppt/slides/slide18.xml" Id="Rf865eaff551d4210" /><Relationship Type="http://schemas.openxmlformats.org/officeDocument/2006/relationships/slide" Target="/ppt/slides/slide19.xml" Id="R2c3007aa7352433b" /><Relationship Type="http://schemas.openxmlformats.org/officeDocument/2006/relationships/slide" Target="/ppt/slides/slide20.xml" Id="R9becf8136fe34e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d3faac0ff6340d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f0cfd58cf7494a" /><Relationship Type="http://schemas.openxmlformats.org/officeDocument/2006/relationships/notesMaster" Target="/ppt/notesMasters/notesMaster1.xml" Id="R5c328907639b4d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1e02d450874981" /><Relationship Type="http://schemas.openxmlformats.org/officeDocument/2006/relationships/notesMaster" Target="/ppt/notesMasters/notesMaster1.xml" Id="R1b25a4494e78472b"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9885465a3d46f7" /><Relationship Type="http://schemas.openxmlformats.org/officeDocument/2006/relationships/notesMaster" Target="/ppt/notesMasters/notesMaster1.xml" Id="R9ea86372e1984f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1a9329f545db4885" /><Relationship Type="http://schemas.openxmlformats.org/officeDocument/2006/relationships/notesMaster" Target="/ppt/notesMasters/notesMaster1.xml" Id="Refe6fcdce99b48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e56c7faef5f8441f" /><Relationship Type="http://schemas.openxmlformats.org/officeDocument/2006/relationships/notesMaster" Target="/ppt/notesMasters/notesMaster1.xml" Id="Rfb755bd3b29044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5778efaddbad4bcc" /><Relationship Type="http://schemas.openxmlformats.org/officeDocument/2006/relationships/notesMaster" Target="/ppt/notesMasters/notesMaster1.xml" Id="R99a0ca8644354f1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9b10e994f8b4b46" /><Relationship Type="http://schemas.openxmlformats.org/officeDocument/2006/relationships/notesMaster" Target="/ppt/notesMasters/notesMaster1.xml" Id="Rbf75d87790f44736" /></Relationships>
</file>

<file path=ppt/notesSlides/_rels/notesSlide8.xml.rels>&#65279;<?xml version="1.0" encoding="utf-8"?><Relationships xmlns="http://schemas.openxmlformats.org/package/2006/relationships"><Relationship Type="http://schemas.openxmlformats.org/officeDocument/2006/relationships/slide" Target="/ppt/slides/slide8.xml" Id="Rdc3dbd71e7554981" /><Relationship Type="http://schemas.openxmlformats.org/officeDocument/2006/relationships/notesMaster" Target="/ppt/notesMasters/notesMaster1.xml" Id="R684d3e78527741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52639f6c47dd4a4b" /><Relationship Type="http://schemas.openxmlformats.org/officeDocument/2006/relationships/notesMaster" Target="/ppt/notesMasters/notesMaster1.xml" Id="R41c6a01f987b4e2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472e50b28c0481f" /><Relationship Type="http://schemas.openxmlformats.org/officeDocument/2006/relationships/notesMaster" Target="/ppt/notesMasters/notesMaster1.xml" Id="R4372f9be35c94f3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5b43784891f46ce" /><Relationship Type="http://schemas.openxmlformats.org/officeDocument/2006/relationships/notesMaster" Target="/ppt/notesMasters/notesMaster1.xml" Id="R23d33c971213438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495392ad043457b" /><Relationship Type="http://schemas.openxmlformats.org/officeDocument/2006/relationships/notesMaster" Target="/ppt/notesMasters/notesMaster1.xml" Id="R338d3bb83ca442b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fd39bb1483b4f34" /><Relationship Type="http://schemas.openxmlformats.org/officeDocument/2006/relationships/notesMaster" Target="/ppt/notesMasters/notesMaster1.xml" Id="R2f84b8e73a524f8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05c315f75514be4" /><Relationship Type="http://schemas.openxmlformats.org/officeDocument/2006/relationships/notesMaster" Target="/ppt/notesMasters/notesMaster1.xml" Id="R36d970fadcc04fe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9cd937967e44535" /><Relationship Type="http://schemas.openxmlformats.org/officeDocument/2006/relationships/notesMaster" Target="/ppt/notesMasters/notesMaster1.xml" Id="Rbc9c4d797d3f4fc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22d19023be140bf" /><Relationship Type="http://schemas.openxmlformats.org/officeDocument/2006/relationships/notesMaster" Target="/ppt/notesMasters/notesMaster1.xml" Id="Rb61fb19aef2146d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85f8ef1e2c84a99" /><Relationship Type="http://schemas.openxmlformats.org/officeDocument/2006/relationships/notesMaster" Target="/ppt/notesMasters/notesMaster1.xml" Id="R8e1567c1733c4ed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cff92a85d4243ed" /><Relationship Type="http://schemas.openxmlformats.org/officeDocument/2006/relationships/notesMaster" Target="/ppt/notesMasters/notesMaster1.xml" Id="R8b67acf62480423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e9c129b8a0a4ca9" /><Relationship Type="http://schemas.openxmlformats.org/officeDocument/2006/relationships/notesMaster" Target="/ppt/notesMasters/notesMaster1.xml" Id="Rc847c59027d14df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5d1880c0d42487e" /><Relationship Type="http://schemas.openxmlformats.org/officeDocument/2006/relationships/notesMaster" Target="/ppt/notesMasters/notesMaster1.xml" Id="R48035f633eda4e8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30 seconds</a:t>
            </a:r>
          </a:p>
          <a:p xmlns:a="http://schemas.openxmlformats.org/drawingml/2006/main">
            <a:r>
              <a:t/>
            </a:r>
          </a:p>
          <a:p xmlns:a="http://schemas.openxmlformats.org/drawingml/2006/main">
            <a:r>
              <a:t>Script:</a:t>
            </a:r>
          </a:p>
          <a:p xmlns:a="http://schemas.openxmlformats.org/drawingml/2006/main">
            <a:r>
              <a:t>Good morning. We are Team Huntrix. Our question was simple: when is a Bengali hallucination decision exact enough for a deterministic method, and when should the system abstain to a language-model judge? We will show the architecture that emerged, the experiments that changed it, and what the organizer-run Phase 2 evaluation revealed about generalization and runtime.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35 seconds</a:t>
            </a:r>
          </a:p>
          <a:p xmlns:a="http://schemas.openxmlformats.org/drawingml/2006/main">
            <a:r>
              <a:t/>
            </a:r>
          </a:p>
          <a:p xmlns:a="http://schemas.openxmlformats.org/drawingml/2006/main">
            <a:r>
              <a:t>Script:</a:t>
            </a:r>
          </a:p>
          <a:p xmlns:a="http://schemas.openxmlformats.org/drawingml/2006/main">
            <a:r>
              <a:t>The output was binary, but the reasoning was not. Some rows required context entailment; others required arithmetic, option parsing, morphology, idioms, law, history, or literature. A single generic prompt applied one evidence policy to every task. It produced a useful baseline, but it also confused a related fact with an answer to the requested relation. That observation led us from uniform judging to task routing.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40 seconds</a:t>
            </a:r>
          </a:p>
          <a:p xmlns:a="http://schemas.openxmlformats.org/drawingml/2006/main">
            <a:r>
              <a:t>Clock checkpoint: 1:45</a:t>
            </a:r>
          </a:p>
          <a:p xmlns:a="http://schemas.openxmlformats.org/drawingml/2006/main">
            <a:r>
              <a:t/>
            </a:r>
          </a:p>
          <a:p xmlns:a="http://schemas.openxmlformats.org/drawingml/2006/main">
            <a:r>
              <a:t>Script:</a:t>
            </a:r>
          </a:p>
          <a:p xmlns:a="http://schemas.openxmlformats.org/drawingml/2006/main">
            <a:r>
              <a:t>This is the final selective cascade, matching Figure 1 in our paper. We normalize the row, then try exact lineage, structured solvers, context verification, and typed evidence. Each deterministic branch may return zero, one, or abstain. A label is emitted only when the source and requested relation align. Unresolved rows reach the fixed Qwen judge. The important design choice is that abstention is a valid outcome, not a failure.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40 seconds</a:t>
            </a:r>
          </a:p>
          <a:p xmlns:a="http://schemas.openxmlformats.org/drawingml/2006/main">
            <a:r>
              <a:t/>
            </a:r>
          </a:p>
          <a:p xmlns:a="http://schemas.openxmlformats.org/drawingml/2006/main">
            <a:r>
              <a:t>Script:</a:t>
            </a:r>
          </a:p>
          <a:p xmlns:a="http://schemas.openxmlformats.org/drawingml/2006/main">
            <a:r>
              <a:t>The router first separates answer-bearing context from no-context tasks. Context rows go to claim verification. No-context rows may enter numeric, multiple-choice, morphology, lineage, or typed-evidence paths. Every route uses the same contract: return a label with provenance, or return null. Approximate retrieval can propose a candidate, but it cannot force a verdict. Ambiguity or equal-trust conflict therefore moves forward instead of contaminating deterministic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35 seconds</a:t>
            </a:r>
          </a:p>
          <a:p xmlns:a="http://schemas.openxmlformats.org/drawingml/2006/main">
            <a:r>
              <a:t/>
            </a:r>
          </a:p>
          <a:p xmlns:a="http://schemas.openxmlformats.org/drawingml/2006/main">
            <a:r>
              <a:t>Script:</a:t>
            </a:r>
          </a:p>
          <a:p xmlns:a="http://schemas.openxmlformats.org/drawingml/2006/main">
            <a:r>
              <a:t>The deterministic layer was a set of small task-specific parsers, not one keyword system. Numeric rules normalized Bengali digits, units, dates, and ranges. Multiple-choice rules mapped answer aliases. Morphology rules checked the requested grammatical form, while idiom rules separated literal and figurative meaning. Despite different parsing logic, every solver returned the same fields: entity, predicate, value, source, and verdict. Missing or conflicting fields produced abstention.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35 seconds</a:t>
            </a:r>
          </a:p>
          <a:p xmlns:a="http://schemas.openxmlformats.org/drawingml/2006/main">
            <a:r>
              <a:t/>
            </a:r>
          </a:p>
          <a:p xmlns:a="http://schemas.openxmlformats.org/drawingml/2006/main">
            <a:r>
              <a:t>Script:</a:t>
            </a:r>
          </a:p>
          <a:p xmlns:a="http://schemas.openxmlformats.org/drawingml/2006/main">
            <a:r>
              <a:t>This example explains the predicate guard. The passage says that *Runway* was released in 2010. The prompt asks for the release year, but the response gives the film title. The response is related to the correct entity, yet its semantic type is wrong: a title is not a year. Similarity-based retrieval may accept it; our relation check emits label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40 seconds</a:t>
            </a:r>
          </a:p>
          <a:p xmlns:a="http://schemas.openxmlformats.org/drawingml/2006/main">
            <a:r>
              <a:t>Clock checkpoint: 4:15</a:t>
            </a:r>
          </a:p>
          <a:p xmlns:a="http://schemas.openxmlformats.org/drawingml/2006/main">
            <a:r>
              <a:t/>
            </a:r>
          </a:p>
          <a:p xmlns:a="http://schemas.openxmlformats.org/drawingml/2006/main">
            <a:r>
              <a:t>Script:</a:t>
            </a:r>
          </a:p>
          <a:p xmlns:a="http://schemas.openxmlformats.org/drawingml/2006/main">
            <a:r>
              <a:t>For context rows, we split the passage into clauses and the response into atomic claims. Entity, number, negation, and predicate anchors select the applicable clause. Each claim becomes supported, contradicted, or unknown. One contradiction is enough for label zero. Label one requires every factual claim to be supported with no unsupported addition. Everything between those cases abstains. This catches responses that copy most of the passage but alter one decisive fact.</a:t>
            </a:r>
          </a:p>
          <a:p xmlns:a="http://schemas.openxmlformats.org/drawingml/2006/main">
            <a:r>
              <a:t/>
            </a:r>
          </a:p>
          <a:p xmlns:a="http://schemas.openxmlformats.org/drawingml/2006/main">
            <a:r>
              <a:t>Handoff: Abtahee will cover the fallback judge, evidence gates, experiment history, and Phase 2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35 seconds</a:t>
            </a:r>
          </a:p>
          <a:p xmlns:a="http://schemas.openxmlformats.org/drawingml/2006/main">
            <a:r>
              <a:t/>
            </a:r>
          </a:p>
          <a:p xmlns:a="http://schemas.openxmlformats.org/drawingml/2006/main">
            <a:r>
              <a:t>Script:</a:t>
            </a:r>
          </a:p>
          <a:p xmlns:a="http://schemas.openxmlformats.org/drawingml/2006/main">
            <a:r>
              <a:t>The Phase 1 fallback used quantized Qwen3.6-27B across two T4 GPUs. Context rows received one entailment view. No-context rows received up to three short checks and required unanimous positive votes for label one. Thinking was disabled and generation was constrained to one binary token. Fixed row order, prompt order, seeds, and batches made the judge deterministic. In Phase 1, only 158 unresolved rows reached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40 seconds</a:t>
            </a:r>
          </a:p>
          <a:p xmlns:a="http://schemas.openxmlformats.org/drawingml/2006/main">
            <a:r>
              <a:t/>
            </a:r>
          </a:p>
          <a:p xmlns:a="http://schemas.openxmlformats.org/drawingml/2006/main">
            <a:r>
              <a:t>Script:</a:t>
            </a:r>
          </a:p>
          <a:p xmlns:a="http://schemas.openxmlformats.org/drawingml/2006/main">
            <a:r>
              <a:t>This is Figure 2b from the paper. A candidate fact carried its provenance, entity, predicate, and value. It could decide a row only if four gates passed: the entity matched, the requested predicate matched, the value was equivalent, and no equal-trust source contradicted it. Any failed gate returned abstention. This prevented a relevant source from answering a neighboring question and gave every deterministic verdict an inspectable decision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40 seconds</a:t>
            </a:r>
          </a:p>
          <a:p xmlns:a="http://schemas.openxmlformats.org/drawingml/2006/main">
            <a:r>
              <a:t>Clock checkpoint: 6:10</a:t>
            </a:r>
          </a:p>
          <a:p xmlns:a="http://schemas.openxmlformats.org/drawingml/2006/main">
            <a:r>
              <a:t/>
            </a:r>
          </a:p>
          <a:p xmlns:a="http://schemas.openxmlformats.org/drawingml/2006/main">
            <a:r>
              <a:t>Script:</a:t>
            </a:r>
          </a:p>
          <a:p xmlns:a="http://schemas.openxmlformats.org/drawingml/2006/main">
            <a:r>
              <a:t>The left curve shows public macro-F1 across selected versions; the right chart shows the shrinking judge queue. A uniform Qwen judge reached 0.797. The largest jump came with source and structured routing in v6, which reached 0.903. Later provenance and relation guards raised the score more gradually while reducing the Phase 1 judge queue from 620 early rows to 158 in v91. These are cumulative versions, not controlled single-factor ablations.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35 seconds</a:t>
            </a:r>
          </a:p>
          <a:p xmlns:a="http://schemas.openxmlformats.org/drawingml/2006/main">
            <a:r>
              <a:t/>
            </a:r>
          </a:p>
          <a:p xmlns:a="http://schemas.openxmlformats.org/drawingml/2006/main">
            <a:r>
              <a:t>Script:</a:t>
            </a:r>
          </a:p>
          <a:p xmlns:a="http://schemas.openxmlformats.org/drawingml/2006/main">
            <a:r>
              <a:t>Failed runs changed the next hypothesis. Prompt voting was unstable, so prompt variation was not treated as independent evidence. TF-IDF missed cultural facts, so it remained only a fallback. Raw retrieval repeatedly found the correct entity but the wrong predicate, so it was restricted to candidate generation. When v87 changed plausible facts and reduced the public score, we reverted it and added the source-plus-predicate admission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40 seconds</a:t>
            </a:r>
          </a:p>
          <a:p xmlns:a="http://schemas.openxmlformats.org/drawingml/2006/main">
            <a:r>
              <a:t/>
            </a:r>
          </a:p>
          <a:p xmlns:a="http://schemas.openxmlformats.org/drawingml/2006/main">
            <a:r>
              <a:t>Script:</a:t>
            </a:r>
          </a:p>
          <a:p xmlns:a="http://schemas.openxmlformats.org/drawingml/2006/main">
            <a:r>
              <a:t>The final notebook used pinned model, runtime, and evidence assets with a fixed schedule. The codebase had 249 automated tests, including 225 deterministic controls. Three full Phase 1 runs produced byte-identical CSVs, and the frozen output matched the scored submission. The notebook preserved incoming IDs and wrote only `id,label`. The organizer then ran the same pipeline on 5,000 Phase 2 rows without schema, ordering, or runtime failure.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40 seconds</a:t>
            </a:r>
          </a:p>
          <a:p xmlns:a="http://schemas.openxmlformats.org/drawingml/2006/main">
            <a:r>
              <a:t>Clock checkpoint: 8:05</a:t>
            </a:r>
          </a:p>
          <a:p xmlns:a="http://schemas.openxmlformats.org/drawingml/2006/main">
            <a:r>
              <a:t/>
            </a:r>
          </a:p>
          <a:p xmlns:a="http://schemas.openxmlformats.org/drawingml/2006/main">
            <a:r>
              <a:t>Script:</a:t>
            </a:r>
          </a:p>
          <a:p xmlns:a="http://schemas.openxmlformats.org/drawingml/2006/main">
            <a:r>
              <a:t>On the organizer-run 5,000-row set, the router resolved 207 rows and sent 4,793 to Qwen. End-to-end inference took 3 hours, 52 minutes, and 1.91 seconds on two T4 GPUs, using about 43 percent of the nine-hour budget. Output validation passed for all 5,000 ordered IDs. The official Phase 2 score was 0.90144, ranking seventh among 32 teams.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35 seconds</a:t>
            </a:r>
          </a:p>
          <a:p xmlns:a="http://schemas.openxmlformats.org/drawingml/2006/main">
            <a:r>
              <a:t/>
            </a:r>
          </a:p>
          <a:p xmlns:a="http://schemas.openxmlformats.org/drawingml/2006/main">
            <a:r>
              <a:t>Script:</a:t>
            </a:r>
          </a:p>
          <a:p xmlns:a="http://schemas.openxmlformats.org/drawingml/2006/main">
            <a:r>
              <a:t>The broader Phase 2 sources changed system behavior sharply. Deterministic coverage fell from 93.72 percent in Phase 1 to 4.14 percent. The router did not compensate by forcing approximate evidence; it abstained, so 95.86 percent of rows reached Qwen. Runtime increased but remained comfortably compliant. Because only the aggregate score was released, we cannot yet attribute the remaining errors to individual sources or branches.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35 seconds</a:t>
            </a:r>
          </a:p>
          <a:p xmlns:a="http://schemas.openxmlformats.org/drawingml/2006/main">
            <a:r>
              <a:t>Clock checkpoint: 9:15</a:t>
            </a:r>
          </a:p>
          <a:p xmlns:a="http://schemas.openxmlformats.org/drawingml/2006/main">
            <a:r>
              <a:t/>
            </a:r>
          </a:p>
          <a:p xmlns:a="http://schemas.openxmlformats.org/drawingml/2006/main">
            <a:r>
              <a:t>Script:</a:t>
            </a:r>
          </a:p>
          <a:p xmlns:a="http://schemas.openxmlformats.org/drawingml/2006/main">
            <a:r>
              <a:t>Our experiments support three conclusions. Different task families benefit from different evidence policies. Predicate alignment prevents relation swaps. Explicit abstention protects the pipeline under source shift. The limitations are 299 released labels and no row-level Phase 2 feedback. With those labels, our next step would be to analyse the judged tail and expand licensed civic and news evidence. Thank you. We are ready for your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how one binary label can cover very different task families.</a:t>
            </a:r>
          </a:p>
          <a:p xmlns:a="http://schemas.openxmlformats.org/drawingml/2006/main">
            <a:r>
              <a:t/>
            </a:r>
          </a:p>
          <a:p xmlns:a="http://schemas.openxmlformats.org/drawingml/2006/main">
            <a:r>
              <a:t>The label semantics never changed: zero means hallucinated and one means faithful. What changed was the support test. Context rows require claim-level support from the supplied passage. Closed-form rows require the exact requested calculation or option. Language rows require the requested grammatical form or idiom sense. Knowledge rows require source lineage plus aligned entity, predicate, and typed value. Every branch returns the same typed trace or abstains.</a:t>
            </a:r>
          </a:p>
          <a:p xmlns:a="http://schemas.openxmlformats.org/drawingml/2006/main">
            <a:r>
              <a:t/>
            </a:r>
          </a:p>
          <a:p xmlns:a="http://schemas.openxmlformats.org/drawingml/2006/main">
            <a:r>
              <a:t>Sources:</a:t>
            </a:r>
          </a:p>
          <a:p xmlns:a="http://schemas.openxmlformats.org/drawingml/2006/main">
            <a:r>
              <a:t>[1] Competition label definition. [3,4] Task-family references. [7] Frozen v91 trace contract.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which decision wins when evidence disagrees.</a:t>
            </a:r>
          </a:p>
          <a:p xmlns:a="http://schemas.openxmlformats.org/drawingml/2006/main">
            <a:r>
              <a:t/>
            </a:r>
          </a:p>
          <a:p xmlns:a="http://schemas.openxmlformats.org/drawingml/2006/main">
            <a:r>
              <a:t>A direct contradiction is sufficient for label zero. Label one is stricter: every factual claim must be supported and no unsupported addition may remain. Exact typed evidence can decide only when entity, requested predicate, value, and provenance all align. Missing fields, ambiguity, or equal-trust conflict produce null, which is abstention rather than an error. Only that unresolved tail reaches the fixed LLM judge.</a:t>
            </a:r>
          </a:p>
          <a:p xmlns:a="http://schemas.openxmlformats.org/drawingml/2006/main">
            <a:r>
              <a:t/>
            </a:r>
          </a:p>
          <a:p xmlns:a="http://schemas.openxmlformats.org/drawingml/2006/main">
            <a:r>
              <a:t>Source:</a:t>
            </a:r>
          </a:p>
          <a:p xmlns:a="http://schemas.openxmlformats.org/drawingml/2006/main">
            <a:r>
              <a:t>[7] Frozen v91 router, conflict audit, and decision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for a concrete trace.</a:t>
            </a:r>
          </a:p>
          <a:p xmlns:a="http://schemas.openxmlformats.org/drawingml/2006/main">
            <a:r>
              <a:t/>
            </a:r>
          </a:p>
          <a:p xmlns:a="http://schemas.openxmlformats.org/drawingml/2006/main">
            <a:r>
              <a:t>The released passage identifies Runway as Tareque Masud's latest feature film and gives 2010 as the release year. The prompt asks for the year, but the response says Runway. The entity is related, yet the requested predicate and observed value type do not align: a title is not a year. The trace therefore records context_verifier, supplied_context, release_year, and verdict zero. This is why semantic similarity alone was unsafe.</a:t>
            </a:r>
          </a:p>
          <a:p xmlns:a="http://schemas.openxmlformats.org/drawingml/2006/main">
            <a:r>
              <a:t/>
            </a:r>
          </a:p>
          <a:p xmlns:a="http://schemas.openxmlformats.org/drawingml/2006/main">
            <a:r>
              <a:t>Sources:</a:t>
            </a:r>
          </a:p>
          <a:p xmlns:a="http://schemas.openxmlformats.org/drawingml/2006/main">
            <a:r>
              <a:t>[1] Released competition sample. [7] Predicate-alignment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what each reported number proves.</a:t>
            </a:r>
          </a:p>
          <a:p xmlns:a="http://schemas.openxmlformats.org/drawingml/2006/main">
            <a:r>
              <a:t/>
            </a:r>
          </a:p>
          <a:p xmlns:a="http://schemas.openxmlformats.org/drawingml/2006/main">
            <a:r>
              <a:t>The 299 released labels can measure classification performance. The 249 automated tests show whether documented behavior was preserved. Three byte-identical runs show deterministic execution. Zero schema or ID-order failures show output integrity. The 5,000-row run establishes runtime compliance. The official Phase 2 result, 0.90144 at rank 7 of 32, measures aggregate held-out performance but still provides no row-level errors. These are complementary evidence layers, not substitutes for one another.</a:t>
            </a:r>
          </a:p>
          <a:p xmlns:a="http://schemas.openxmlformats.org/drawingml/2006/main">
            <a:r>
              <a:t/>
            </a:r>
          </a:p>
          <a:p xmlns:a="http://schemas.openxmlformats.org/drawingml/2006/main">
            <a:r>
              <a:t>Sources:</a:t>
            </a:r>
          </a:p>
          <a:p xmlns:a="http://schemas.openxmlformats.org/drawingml/2006/main">
            <a:r>
              <a:t>[1] Released labels and leaderboard. [7] Regression ledger. [8] Phase 2 runtime evidence.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what changes after the official Phase 2 result.</a:t>
            </a:r>
          </a:p>
          <a:p xmlns:a="http://schemas.openxmlformats.org/drawingml/2006/main">
            <a:r>
              <a:t/>
            </a:r>
          </a:p>
          <a:p xmlns:a="http://schemas.openxmlformats.org/drawingml/2006/main">
            <a:r>
              <a:t>The source shift reduced deterministic coverage from 93.72 percent to 4.14 percent, so 4,793 of 5,000 rows reached the fixed judge. The official score of 0.90144 and rank 7 of 32 show that the system transferred reasonably well, but the aggregate result does not identify its remaining errors. That does not justify forcing approximate evidence. If row-level labels are released, the next work should cluster the judged tail, recalibrate abstention and vote rules, then add licensed civic and recent-news evidence. We would reject three shortcuts: fuzzy matches that bypass predicate checks, fine-tuning on only 299 released labels, and treating runtime success as accuracy.</a:t>
            </a:r>
          </a:p>
          <a:p xmlns:a="http://schemas.openxmlformats.org/drawingml/2006/main">
            <a:r>
              <a:t/>
            </a:r>
          </a:p>
          <a:p xmlns:a="http://schemas.openxmlformats.org/drawingml/2006/main">
            <a:r>
              <a:t>Sources:</a:t>
            </a:r>
          </a:p>
          <a:p xmlns:a="http://schemas.openxmlformats.org/drawingml/2006/main">
            <a:r>
              <a:t>[7] Frozen v91 system. [8] Organizer-run Phase 2 runtime report.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58fb42113c7475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5a3690534aa42b5" /><Relationship Type="http://schemas.openxmlformats.org/officeDocument/2006/relationships/slideLayout" Target="/ppt/slideLayouts/slideLayout1.xml" Id="R26aec069957f4dc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6aec069957f4d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6e989e67d804df2" /><Relationship Type="http://schemas.openxmlformats.org/officeDocument/2006/relationships/notesSlide" Target="/ppt/notesSlides/notesSlide1.xml" Id="Rb58850d645d04f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00d51306b874fac" /><Relationship Type="http://schemas.openxmlformats.org/officeDocument/2006/relationships/notesSlide" Target="/ppt/notesSlides/notesSlide2.xml" Id="Rca0923144bec4ca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6f07a328a184678" /><Relationship Type="http://schemas.openxmlformats.org/officeDocument/2006/relationships/image" Target="/ppt/media/image.png" Id="Rf9428e328ad84e08" /><Relationship Type="http://schemas.openxmlformats.org/officeDocument/2006/relationships/notesSlide" Target="/ppt/notesSlides/notesSlide3.xml" Id="Redde22ae96ed4d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1326bcfe8e94520" /><Relationship Type="http://schemas.openxmlformats.org/officeDocument/2006/relationships/notesSlide" Target="/ppt/notesSlides/notesSlide4.xml" Id="Re9c723bf43f049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ba945234fc74f8d" /><Relationship Type="http://schemas.openxmlformats.org/officeDocument/2006/relationships/notesSlide" Target="/ppt/notesSlides/notesSlide5.xml" Id="R2941c7d29658456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245be2eb3a149fd" /><Relationship Type="http://schemas.openxmlformats.org/officeDocument/2006/relationships/notesSlide" Target="/ppt/notesSlides/notesSlide6.xml" Id="Rd7a9aa98d7a143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eb59135f2c644e5" /><Relationship Type="http://schemas.openxmlformats.org/officeDocument/2006/relationships/image" Target="/ppt/media/image2.png" Id="Rc4ab3728e5d84e21" /><Relationship Type="http://schemas.openxmlformats.org/officeDocument/2006/relationships/notesSlide" Target="/ppt/notesSlides/notesSlide7.xml" Id="R6b21d665fe614ba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d1d2148d46641fb" /><Relationship Type="http://schemas.openxmlformats.org/officeDocument/2006/relationships/notesSlide" Target="/ppt/notesSlides/notesSlide8.xml" Id="R9ba68724e088466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d1fa904429a48a3" /><Relationship Type="http://schemas.openxmlformats.org/officeDocument/2006/relationships/image" Target="/ppt/media/image3.png" Id="Recc72d9f60704f99" /><Relationship Type="http://schemas.openxmlformats.org/officeDocument/2006/relationships/notesSlide" Target="/ppt/notesSlides/notesSlide9.xml" Id="R001d6d2cd2f647e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de178a350384f2a" /><Relationship Type="http://schemas.openxmlformats.org/officeDocument/2006/relationships/image" Target="/ppt/media/image4.png" Id="R8f4f7c3cdc9c4eb9" /><Relationship Type="http://schemas.openxmlformats.org/officeDocument/2006/relationships/notesSlide" Target="/ppt/notesSlides/notesSlide10.xml" Id="Rd24099adce6d496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cf3912976f44d6d" /><Relationship Type="http://schemas.openxmlformats.org/officeDocument/2006/relationships/notesSlide" Target="/ppt/notesSlides/notesSlide11.xml" Id="R26247e685fc54d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8f31fa9e37146a2" /><Relationship Type="http://schemas.openxmlformats.org/officeDocument/2006/relationships/notesSlide" Target="/ppt/notesSlides/notesSlide12.xml" Id="Rdbd2f4d1af8a420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bdd43b2f0824662" /><Relationship Type="http://schemas.openxmlformats.org/officeDocument/2006/relationships/notesSlide" Target="/ppt/notesSlides/notesSlide13.xml" Id="Rf993afded0444db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afbaafa23e3497d" /><Relationship Type="http://schemas.openxmlformats.org/officeDocument/2006/relationships/notesSlide" Target="/ppt/notesSlides/notesSlide14.xml" Id="R72b3c39068ed454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8445390bbe048f4" /><Relationship Type="http://schemas.openxmlformats.org/officeDocument/2006/relationships/notesSlide" Target="/ppt/notesSlides/notesSlide15.xml" Id="R745ec19d500e46e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9fa338bc86a4790" /><Relationship Type="http://schemas.openxmlformats.org/officeDocument/2006/relationships/notesSlide" Target="/ppt/notesSlides/notesSlide16.xml" Id="Re4e19d1df0f945c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7cffa5f928046a5" /><Relationship Type="http://schemas.openxmlformats.org/officeDocument/2006/relationships/notesSlide" Target="/ppt/notesSlides/notesSlide17.xml" Id="Rc7984755969a4f4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a89a11158424fdc" /><Relationship Type="http://schemas.openxmlformats.org/officeDocument/2006/relationships/notesSlide" Target="/ppt/notesSlides/notesSlide18.xml" Id="R8b257962812b4f2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e44c332b6254fa7" /><Relationship Type="http://schemas.openxmlformats.org/officeDocument/2006/relationships/notesSlide" Target="/ppt/notesSlides/notesSlide19.xml" Id="R8663183d9b5d46e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2aeb46bc8134578" /><Relationship Type="http://schemas.openxmlformats.org/officeDocument/2006/relationships/notesSlide" Target="/ppt/notesSlides/notesSlide20.xml" Id="R19c4676adaa04f7a" /></Relationships>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6A8DF26-6BE0-42CF-B3E8-E67F43CFB69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2" name="">
            <a:extLst xmlns:a="http://schemas.openxmlformats.org/drawingml/2006/main">
              <a:ext uri="{FF2B5EF4-FFF2-40B4-BE49-F238E27FC236}">
                <a16:creationId xmlns:a16="http://schemas.microsoft.com/office/drawing/2014/main" id="{35EB80A1-2A0C-4F10-B1B1-0CC577C3AEB4}"/>
              </a:ext>
            </a:extLst>
          </p:cNvPr>
          <p:cNvSpPr>
            <a:spLocks xmlns:a="http://schemas.openxmlformats.org/drawingml/2006/main" noGrp="1"/>
          </p:cNvSpPr>
          <p:nvPr/>
        </p:nvSpPr>
        <p:spPr>
          <a:xfrm xmlns:a="http://schemas.openxmlformats.org/drawingml/2006/main">
            <a:off x="876300" y="6667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1F5A7A"/>
                </a:solidFill>
              </a:defRPr>
            </a:pPr>
            <a:r>
              <a:rPr sz="1200" b="1">
                <a:solidFill>
                  <a:srgbClr val="1F5A7A"/>
                </a:solidFill>
              </a:rPr>
              <a:t>BENGALI HALLUCINATION DETECTION</a:t>
            </a:r>
          </a:p>
        </p:txBody>
      </p:sp>
      <p:sp>
        <p:nvSpPr>
          <p:cNvPr id="3" name="">
            <a:extLst xmlns:a="http://schemas.openxmlformats.org/drawingml/2006/main">
              <a:ext uri="{FF2B5EF4-FFF2-40B4-BE49-F238E27FC236}">
                <a16:creationId xmlns:a16="http://schemas.microsoft.com/office/drawing/2014/main" id="{CE18E8FE-B679-4334-8E19-DDFA025F5A45}"/>
              </a:ext>
            </a:extLst>
          </p:cNvPr>
          <p:cNvSpPr>
            <a:spLocks xmlns:a="http://schemas.openxmlformats.org/drawingml/2006/main" noGrp="1"/>
          </p:cNvSpPr>
          <p:nvPr/>
        </p:nvSpPr>
        <p:spPr>
          <a:xfrm xmlns:a="http://schemas.openxmlformats.org/drawingml/2006/main">
            <a:off x="876300" y="1162050"/>
            <a:ext cx="8953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525" b="1">
                <a:solidFill>
                  <a:srgbClr val="0F172A"/>
                </a:solidFill>
              </a:defRPr>
            </a:pPr>
            <a:r>
              <a:rPr sz="3525" b="1">
                <a:solidFill>
                  <a:srgbClr val="0F172A"/>
                </a:solidFill>
              </a:rPr>
              <a:t>Evidence-first selective inference</a:t>
            </a:r>
          </a:p>
          <a:p xmlns:a="http://schemas.openxmlformats.org/drawingml/2006/main">
            <a:pPr algn="l">
              <a:buNone/>
              <a:defRPr sz="3525" b="1">
                <a:solidFill>
                  <a:srgbClr val="0F172A"/>
                </a:solidFill>
              </a:defRPr>
            </a:pPr>
            <a:r>
              <a:rPr sz="3525" b="1">
                <a:solidFill>
                  <a:srgbClr val="0F172A"/>
                </a:solidFill>
              </a:rPr>
              <a:t>for Bengali hallucination detection</a:t>
            </a:r>
          </a:p>
        </p:txBody>
      </p:sp>
      <p:sp>
        <p:nvSpPr>
          <p:cNvPr id="4" name="">
            <a:extLst xmlns:a="http://schemas.openxmlformats.org/drawingml/2006/main">
              <a:ext uri="{FF2B5EF4-FFF2-40B4-BE49-F238E27FC236}">
                <a16:creationId xmlns:a16="http://schemas.microsoft.com/office/drawing/2014/main" id="{7B6A14FA-74DF-4F2F-B211-DD00B34642B8}"/>
              </a:ext>
            </a:extLst>
          </p:cNvPr>
          <p:cNvSpPr>
            <a:spLocks xmlns:a="http://schemas.openxmlformats.org/drawingml/2006/main" noGrp="1"/>
          </p:cNvSpPr>
          <p:nvPr/>
        </p:nvSpPr>
        <p:spPr>
          <a:xfrm xmlns:a="http://schemas.openxmlformats.org/drawingml/2006/main">
            <a:off x="914400" y="2762250"/>
            <a:ext cx="828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a:solidFill>
                  <a:srgbClr val="526174"/>
                </a:solidFill>
              </a:defRPr>
            </a:pPr>
            <a:r>
              <a:rPr sz="1800" b="0">
                <a:solidFill>
                  <a:srgbClr val="526174"/>
                </a:solidFill>
              </a:rPr>
              <a:t>A study of routing, abstention, provenance, and domain shift</a:t>
            </a:r>
          </a:p>
        </p:txBody>
      </p:sp>
      <p:sp>
        <p:nvSpPr>
          <p:cNvPr id="5" name="">
            <a:extLst xmlns:a="http://schemas.openxmlformats.org/drawingml/2006/main">
              <a:ext uri="{FF2B5EF4-FFF2-40B4-BE49-F238E27FC236}">
                <a16:creationId xmlns:a16="http://schemas.microsoft.com/office/drawing/2014/main" id="{A7E234C8-EE93-4461-8539-AE508AD455F3}"/>
              </a:ext>
            </a:extLst>
          </p:cNvPr>
          <p:cNvSpPr>
            <a:spLocks xmlns:a="http://schemas.openxmlformats.org/drawingml/2006/main" noGrp="1"/>
          </p:cNvSpPr>
          <p:nvPr/>
        </p:nvSpPr>
        <p:spPr>
          <a:xfrm xmlns:a="http://schemas.openxmlformats.org/drawingml/2006/main">
            <a:off x="914400" y="3390900"/>
            <a:ext cx="9906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6A5A1960-7CFE-4B14-8CDF-1DAA66E5EF42}"/>
              </a:ext>
            </a:extLst>
          </p:cNvPr>
          <p:cNvSpPr>
            <a:spLocks xmlns:a="http://schemas.openxmlformats.org/drawingml/2006/main" noGrp="1"/>
          </p:cNvSpPr>
          <p:nvPr/>
        </p:nvSpPr>
        <p:spPr>
          <a:xfrm xmlns:a="http://schemas.openxmlformats.org/drawingml/2006/main">
            <a:off x="914400" y="3714750"/>
            <a:ext cx="885825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4042306-E46F-4B58-9D04-D6B0D654154C}"/>
              </a:ext>
            </a:extLst>
          </p:cNvPr>
          <p:cNvSpPr>
            <a:spLocks xmlns:a="http://schemas.openxmlformats.org/drawingml/2006/main" noGrp="1"/>
          </p:cNvSpPr>
          <p:nvPr/>
        </p:nvSpPr>
        <p:spPr>
          <a:xfrm xmlns:a="http://schemas.openxmlformats.org/drawingml/2006/main">
            <a:off x="1200150" y="39433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Research question</a:t>
            </a:r>
          </a:p>
        </p:txBody>
      </p:sp>
      <p:sp>
        <p:nvSpPr>
          <p:cNvPr id="8" name="">
            <a:extLst xmlns:a="http://schemas.openxmlformats.org/drawingml/2006/main">
              <a:ext uri="{FF2B5EF4-FFF2-40B4-BE49-F238E27FC236}">
                <a16:creationId xmlns:a16="http://schemas.microsoft.com/office/drawing/2014/main" id="{A3918071-8E5A-497A-A13F-45323B3D2334}"/>
              </a:ext>
            </a:extLst>
          </p:cNvPr>
          <p:cNvSpPr>
            <a:spLocks xmlns:a="http://schemas.openxmlformats.org/drawingml/2006/main" noGrp="1"/>
          </p:cNvSpPr>
          <p:nvPr/>
        </p:nvSpPr>
        <p:spPr>
          <a:xfrm xmlns:a="http://schemas.openxmlformats.org/drawingml/2006/main">
            <a:off x="3333750" y="3886200"/>
            <a:ext cx="6057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When should exact evidence decide, and when should the system abstain to a language-model judge?</a:t>
            </a:r>
          </a:p>
        </p:txBody>
      </p:sp>
      <p:sp>
        <p:nvSpPr>
          <p:cNvPr id="9" name="">
            <a:extLst xmlns:a="http://schemas.openxmlformats.org/drawingml/2006/main">
              <a:ext uri="{FF2B5EF4-FFF2-40B4-BE49-F238E27FC236}">
                <a16:creationId xmlns:a16="http://schemas.microsoft.com/office/drawing/2014/main" id="{82F4C6A0-B57B-4034-ADA6-2561B683440A}"/>
              </a:ext>
            </a:extLst>
          </p:cNvPr>
          <p:cNvSpPr>
            <a:spLocks xmlns:a="http://schemas.openxmlformats.org/drawingml/2006/main" noGrp="1"/>
          </p:cNvSpPr>
          <p:nvPr/>
        </p:nvSpPr>
        <p:spPr>
          <a:xfrm xmlns:a="http://schemas.openxmlformats.org/drawingml/2006/main">
            <a:off x="1200150" y="44958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We trace the hypotheses, failed experiments, routing policies, regression gates, and Phase 2 shift.</a:t>
            </a:r>
          </a:p>
        </p:txBody>
      </p:sp>
      <p:sp>
        <p:nvSpPr>
          <p:cNvPr id="10" name="">
            <a:extLst xmlns:a="http://schemas.openxmlformats.org/drawingml/2006/main">
              <a:ext uri="{FF2B5EF4-FFF2-40B4-BE49-F238E27FC236}">
                <a16:creationId xmlns:a16="http://schemas.microsoft.com/office/drawing/2014/main" id="{4DC3A532-DF95-45D8-85FA-958E99802C7C}"/>
              </a:ext>
            </a:extLst>
          </p:cNvPr>
          <p:cNvSpPr>
            <a:spLocks xmlns:a="http://schemas.openxmlformats.org/drawingml/2006/main" noGrp="1"/>
          </p:cNvSpPr>
          <p:nvPr/>
        </p:nvSpPr>
        <p:spPr>
          <a:xfrm xmlns:a="http://schemas.openxmlformats.org/drawingml/2006/main">
            <a:off x="914400" y="56197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0F172A"/>
                </a:solidFill>
              </a:defRPr>
            </a:pPr>
            <a:r>
              <a:rPr sz="1275" b="1">
                <a:solidFill>
                  <a:srgbClr val="0F172A"/>
                </a:solidFill>
              </a:rPr>
              <a:t>Touhidul Alam Seyam  |  MD. Abtahee Kabir  |  Joyeta Barua Moni  |  Noore Tamanna Orny</a:t>
            </a:r>
          </a:p>
        </p:txBody>
      </p:sp>
      <p:sp>
        <p:nvSpPr>
          <p:cNvPr id="11" name="">
            <a:extLst xmlns:a="http://schemas.openxmlformats.org/drawingml/2006/main">
              <a:ext uri="{FF2B5EF4-FFF2-40B4-BE49-F238E27FC236}">
                <a16:creationId xmlns:a16="http://schemas.microsoft.com/office/drawing/2014/main" id="{C67A41FD-3413-45FC-AA7D-E7B5F25C0407}"/>
              </a:ext>
            </a:extLst>
          </p:cNvPr>
          <p:cNvSpPr>
            <a:spLocks xmlns:a="http://schemas.openxmlformats.org/drawingml/2006/main" noGrp="1"/>
          </p:cNvSpPr>
          <p:nvPr/>
        </p:nvSpPr>
        <p:spPr>
          <a:xfrm xmlns:a="http://schemas.openxmlformats.org/drawingml/2006/main">
            <a:off x="914400" y="5953125"/>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526174"/>
                </a:solidFill>
              </a:defRPr>
            </a:pPr>
            <a:r>
              <a:rPr sz="1200" b="0">
                <a:solidFill>
                  <a:srgbClr val="526174"/>
                </a:solidFill>
              </a:rPr>
              <a:t>BGC Trust University Bangladesh  |  Chittagong University of Engineering &amp; Technology</a:t>
            </a:r>
          </a:p>
        </p:txBody>
      </p:sp>
      <p:sp>
        <p:nvSpPr>
          <p:cNvPr id="12" name="">
            <a:extLst xmlns:a="http://schemas.openxmlformats.org/drawingml/2006/main">
              <a:ext uri="{FF2B5EF4-FFF2-40B4-BE49-F238E27FC236}">
                <a16:creationId xmlns:a16="http://schemas.microsoft.com/office/drawing/2014/main" id="{31357488-84AD-44C2-80C8-4D93FAB28305}"/>
              </a:ext>
            </a:extLst>
          </p:cNvPr>
          <p:cNvSpPr>
            <a:spLocks xmlns:a="http://schemas.openxmlformats.org/drawingml/2006/main" noGrp="1"/>
          </p:cNvSpPr>
          <p:nvPr/>
        </p:nvSpPr>
        <p:spPr>
          <a:xfrm xmlns:a="http://schemas.openxmlformats.org/drawingml/2006/main">
            <a:off x="914400" y="6477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 task  [3,4] Bengali hallucination and idiom studies  [7] Experiment ledger</a:t>
            </a:r>
          </a:p>
        </p:txBody>
      </p:sp>
      <p:sp>
        <p:nvSpPr>
          <p:cNvPr id="13" name="">
            <a:extLst xmlns:a="http://schemas.openxmlformats.org/drawingml/2006/main">
              <a:ext uri="{FF2B5EF4-FFF2-40B4-BE49-F238E27FC236}">
                <a16:creationId xmlns:a16="http://schemas.microsoft.com/office/drawing/2014/main" id="{C7BEE67A-BC27-41F8-8F6A-82E50970D98B}"/>
              </a:ext>
            </a:extLst>
          </p:cNvPr>
          <p:cNvSpPr>
            <a:spLocks xmlns:a="http://schemas.openxmlformats.org/drawingml/2006/main" noGrp="1"/>
          </p:cNvSpPr>
          <p:nvPr/>
        </p:nvSpPr>
        <p:spPr>
          <a:xfrm xmlns:a="http://schemas.openxmlformats.org/drawingml/2006/main">
            <a:off x="10810875" y="647700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01</a:t>
            </a:r>
          </a:p>
        </p:txBody>
      </p:sp>
    </p:spTree>
    <p:extLst>
      <p:ext uri="{BB962C8B-B14F-4D97-AF65-F5344CB8AC3E}">
        <p14:creationId xmlns:p14="http://schemas.microsoft.com/office/powerpoint/2010/main" val="716758062"/>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2">
            <a:extLst xmlns:a="http://schemas.openxmlformats.org/drawingml/2006/main">
              <a:ext uri="{FF2B5EF4-FFF2-40B4-BE49-F238E27FC236}">
                <a16:creationId xmlns:a16="http://schemas.microsoft.com/office/drawing/2014/main" id="{8A1BB54D-40A7-4131-AA8F-94E7A2D7F3CB}"/>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2">
            <a:extLst xmlns:a="http://schemas.openxmlformats.org/drawingml/2006/main">
              <a:ext uri="{FF2B5EF4-FFF2-40B4-BE49-F238E27FC236}">
                <a16:creationId xmlns:a16="http://schemas.microsoft.com/office/drawing/2014/main" id="{060DC2FB-6889-42E5-93C7-9FF171D9D7D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One binary label hid many different reasoning tasks</a:t>
            </a:r>
          </a:p>
        </p:txBody>
      </p:sp>
      <p:sp>
        <p:nvSpPr>
          <p:cNvPr id="3" name="">
            <a:extLst xmlns:a="http://schemas.openxmlformats.org/drawingml/2006/main">
              <a:ext uri="{FF2B5EF4-FFF2-40B4-BE49-F238E27FC236}">
                <a16:creationId xmlns:a16="http://schemas.microsoft.com/office/drawing/2014/main" id="{EDB27EDC-74EF-4A95-9558-F53C6B6DE7C0}"/>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9A126D8-0CCA-4EDD-9F5D-B10DE4601137}"/>
              </a:ext>
            </a:extLst>
          </p:cNvPr>
          <p:cNvSpPr>
            <a:spLocks xmlns:a="http://schemas.openxmlformats.org/drawingml/2006/main" noGrp="1"/>
          </p:cNvSpPr>
          <p:nvPr/>
        </p:nvSpPr>
        <p:spPr>
          <a:xfrm xmlns:a="http://schemas.openxmlformats.org/drawingml/2006/main">
            <a:off x="685800" y="14097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The same label had to cover context faithfulness, language knowledge, and outside facts.</a:t>
            </a:r>
          </a:p>
        </p:txBody>
      </p:sp>
      <p:sp>
        <p:nvSpPr>
          <p:cNvPr id="5" name="">
            <a:extLst xmlns:a="http://schemas.openxmlformats.org/drawingml/2006/main">
              <a:ext uri="{FF2B5EF4-FFF2-40B4-BE49-F238E27FC236}">
                <a16:creationId xmlns:a16="http://schemas.microsoft.com/office/drawing/2014/main" id="{6143A4ED-172B-4B5C-B499-167E92C9E556}"/>
              </a:ext>
            </a:extLst>
          </p:cNvPr>
          <p:cNvSpPr>
            <a:spLocks xmlns:a="http://schemas.openxmlformats.org/drawingml/2006/main" noGrp="1"/>
          </p:cNvSpPr>
          <p:nvPr/>
        </p:nvSpPr>
        <p:spPr>
          <a:xfrm xmlns:a="http://schemas.openxmlformats.org/drawingml/2006/main">
            <a:off x="1104900" y="2971800"/>
            <a:ext cx="9953625" cy="0"/>
          </a:xfrm>
          <a:prstGeom xmlns:a="http://schemas.openxmlformats.org/drawingml/2006/main" prst="line">
            <a:avLst/>
          </a:prstGeom>
          <a:noFill xmlns:a="http://schemas.openxmlformats.org/drawingml/2006/main"/>
          <a:ln xmlns:a="http://schemas.openxmlformats.org/drawingml/2006/main" w="47625">
            <a:solidFill>
              <a:srgbClr val="D8E0EA"/>
            </a:solidFill>
            <a:prstDash val="solid"/>
          </a:ln>
        </p:spPr>
      </p:sp>
      <p:sp>
        <p:nvSpPr>
          <p:cNvPr id="6" name="">
            <a:extLst xmlns:a="http://schemas.openxmlformats.org/drawingml/2006/main">
              <a:ext uri="{FF2B5EF4-FFF2-40B4-BE49-F238E27FC236}">
                <a16:creationId xmlns:a16="http://schemas.microsoft.com/office/drawing/2014/main" id="{D41AEE24-4490-427E-A8BF-D65DEEE6DEAA}"/>
              </a:ext>
            </a:extLst>
          </p:cNvPr>
          <p:cNvSpPr>
            <a:spLocks xmlns:a="http://schemas.openxmlformats.org/drawingml/2006/main" noGrp="1"/>
          </p:cNvSpPr>
          <p:nvPr/>
        </p:nvSpPr>
        <p:spPr>
          <a:xfrm xmlns:a="http://schemas.openxmlformats.org/drawingml/2006/main">
            <a:off x="1009650"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AC6F6B49-4715-459D-9FF5-68AD69FACA12}"/>
              </a:ext>
            </a:extLst>
          </p:cNvPr>
          <p:cNvSpPr>
            <a:spLocks xmlns:a="http://schemas.openxmlformats.org/drawingml/2006/main" noGrp="1"/>
          </p:cNvSpPr>
          <p:nvPr/>
        </p:nvSpPr>
        <p:spPr>
          <a:xfrm xmlns:a="http://schemas.openxmlformats.org/drawingml/2006/main">
            <a:off x="5524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Context</a:t>
            </a:r>
          </a:p>
        </p:txBody>
      </p:sp>
      <p:sp>
        <p:nvSpPr>
          <p:cNvPr id="8" name="">
            <a:extLst xmlns:a="http://schemas.openxmlformats.org/drawingml/2006/main">
              <a:ext uri="{FF2B5EF4-FFF2-40B4-BE49-F238E27FC236}">
                <a16:creationId xmlns:a16="http://schemas.microsoft.com/office/drawing/2014/main" id="{4992E8A9-6E74-48F0-8DF7-C045EF311DA8}"/>
              </a:ext>
            </a:extLst>
          </p:cNvPr>
          <p:cNvSpPr>
            <a:spLocks xmlns:a="http://schemas.openxmlformats.org/drawingml/2006/main" noGrp="1"/>
          </p:cNvSpPr>
          <p:nvPr/>
        </p:nvSpPr>
        <p:spPr>
          <a:xfrm xmlns:a="http://schemas.openxmlformats.org/drawingml/2006/main">
            <a:off x="3905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entailment</a:t>
            </a:r>
          </a:p>
        </p:txBody>
      </p:sp>
      <p:sp>
        <p:nvSpPr>
          <p:cNvPr id="9" name="">
            <a:extLst xmlns:a="http://schemas.openxmlformats.org/drawingml/2006/main">
              <a:ext uri="{FF2B5EF4-FFF2-40B4-BE49-F238E27FC236}">
                <a16:creationId xmlns:a16="http://schemas.microsoft.com/office/drawing/2014/main" id="{320B7F74-FF4A-47B0-876E-66FE96C6ED56}"/>
              </a:ext>
            </a:extLst>
          </p:cNvPr>
          <p:cNvSpPr>
            <a:spLocks xmlns:a="http://schemas.openxmlformats.org/drawingml/2006/main" noGrp="1"/>
          </p:cNvSpPr>
          <p:nvPr/>
        </p:nvSpPr>
        <p:spPr>
          <a:xfrm xmlns:a="http://schemas.openxmlformats.org/drawingml/2006/main">
            <a:off x="30003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10" name="">
            <a:extLst xmlns:a="http://schemas.openxmlformats.org/drawingml/2006/main">
              <a:ext uri="{FF2B5EF4-FFF2-40B4-BE49-F238E27FC236}">
                <a16:creationId xmlns:a16="http://schemas.microsoft.com/office/drawing/2014/main" id="{32FE9981-E1C6-47F2-AE38-42D01F71B9EA}"/>
              </a:ext>
            </a:extLst>
          </p:cNvPr>
          <p:cNvSpPr>
            <a:spLocks xmlns:a="http://schemas.openxmlformats.org/drawingml/2006/main" noGrp="1"/>
          </p:cNvSpPr>
          <p:nvPr/>
        </p:nvSpPr>
        <p:spPr>
          <a:xfrm xmlns:a="http://schemas.openxmlformats.org/drawingml/2006/main">
            <a:off x="25431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Numbers</a:t>
            </a:r>
          </a:p>
        </p:txBody>
      </p:sp>
      <p:sp>
        <p:nvSpPr>
          <p:cNvPr id="11" name="">
            <a:extLst xmlns:a="http://schemas.openxmlformats.org/drawingml/2006/main">
              <a:ext uri="{FF2B5EF4-FFF2-40B4-BE49-F238E27FC236}">
                <a16:creationId xmlns:a16="http://schemas.microsoft.com/office/drawing/2014/main" id="{4A21850A-91D2-4E7B-893D-C329867B3676}"/>
              </a:ext>
            </a:extLst>
          </p:cNvPr>
          <p:cNvSpPr>
            <a:spLocks xmlns:a="http://schemas.openxmlformats.org/drawingml/2006/main" noGrp="1"/>
          </p:cNvSpPr>
          <p:nvPr/>
        </p:nvSpPr>
        <p:spPr>
          <a:xfrm xmlns:a="http://schemas.openxmlformats.org/drawingml/2006/main">
            <a:off x="23812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dates and ranges</a:t>
            </a:r>
          </a:p>
        </p:txBody>
      </p:sp>
      <p:sp>
        <p:nvSpPr>
          <p:cNvPr id="12" name="">
            <a:extLst xmlns:a="http://schemas.openxmlformats.org/drawingml/2006/main">
              <a:ext uri="{FF2B5EF4-FFF2-40B4-BE49-F238E27FC236}">
                <a16:creationId xmlns:a16="http://schemas.microsoft.com/office/drawing/2014/main" id="{374201EA-216B-4CD8-92B0-E03D008B68F9}"/>
              </a:ext>
            </a:extLst>
          </p:cNvPr>
          <p:cNvSpPr>
            <a:spLocks xmlns:a="http://schemas.openxmlformats.org/drawingml/2006/main" noGrp="1"/>
          </p:cNvSpPr>
          <p:nvPr/>
        </p:nvSpPr>
        <p:spPr>
          <a:xfrm xmlns:a="http://schemas.openxmlformats.org/drawingml/2006/main">
            <a:off x="4991100" y="2847975"/>
            <a:ext cx="228600" cy="228600"/>
          </a:xfrm>
          <a:prstGeom xmlns:a="http://schemas.openxmlformats.org/drawingml/2006/main" prst="ellipse">
            <a:avLst/>
          </a:prstGeom>
          <a:solidFill xmlns:a="http://schemas.openxmlformats.org/drawingml/2006/main">
            <a:srgbClr val="D59B32"/>
          </a:solidFill>
          <a:ln xmlns:a="http://schemas.openxmlformats.org/drawingml/2006/main" w="0">
            <a:solidFill>
              <a:srgbClr val="D59B32"/>
            </a:solidFill>
            <a:prstDash val="solid"/>
          </a:ln>
        </p:spPr>
      </p:sp>
      <p:sp>
        <p:nvSpPr>
          <p:cNvPr id="13" name="">
            <a:extLst xmlns:a="http://schemas.openxmlformats.org/drawingml/2006/main">
              <a:ext uri="{FF2B5EF4-FFF2-40B4-BE49-F238E27FC236}">
                <a16:creationId xmlns:a16="http://schemas.microsoft.com/office/drawing/2014/main" id="{D6667195-88F4-42D3-9089-212D43C279C1}"/>
              </a:ext>
            </a:extLst>
          </p:cNvPr>
          <p:cNvSpPr>
            <a:spLocks xmlns:a="http://schemas.openxmlformats.org/drawingml/2006/main" noGrp="1"/>
          </p:cNvSpPr>
          <p:nvPr/>
        </p:nvSpPr>
        <p:spPr>
          <a:xfrm xmlns:a="http://schemas.openxmlformats.org/drawingml/2006/main">
            <a:off x="453390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MCQ</a:t>
            </a:r>
          </a:p>
        </p:txBody>
      </p:sp>
      <p:sp>
        <p:nvSpPr>
          <p:cNvPr id="14" name="">
            <a:extLst xmlns:a="http://schemas.openxmlformats.org/drawingml/2006/main">
              <a:ext uri="{FF2B5EF4-FFF2-40B4-BE49-F238E27FC236}">
                <a16:creationId xmlns:a16="http://schemas.microsoft.com/office/drawing/2014/main" id="{1587C96D-B992-4EB6-83D5-52416EBF641E}"/>
              </a:ext>
            </a:extLst>
          </p:cNvPr>
          <p:cNvSpPr>
            <a:spLocks xmlns:a="http://schemas.openxmlformats.org/drawingml/2006/main" noGrp="1"/>
          </p:cNvSpPr>
          <p:nvPr/>
        </p:nvSpPr>
        <p:spPr>
          <a:xfrm xmlns:a="http://schemas.openxmlformats.org/drawingml/2006/main">
            <a:off x="437197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option parsing</a:t>
            </a:r>
          </a:p>
        </p:txBody>
      </p:sp>
      <p:sp>
        <p:nvSpPr>
          <p:cNvPr id="15" name="">
            <a:extLst xmlns:a="http://schemas.openxmlformats.org/drawingml/2006/main">
              <a:ext uri="{FF2B5EF4-FFF2-40B4-BE49-F238E27FC236}">
                <a16:creationId xmlns:a16="http://schemas.microsoft.com/office/drawing/2014/main" id="{76FFA939-AB49-47F6-BFDA-ABD5021665C3}"/>
              </a:ext>
            </a:extLst>
          </p:cNvPr>
          <p:cNvSpPr>
            <a:spLocks xmlns:a="http://schemas.openxmlformats.org/drawingml/2006/main" noGrp="1"/>
          </p:cNvSpPr>
          <p:nvPr/>
        </p:nvSpPr>
        <p:spPr>
          <a:xfrm xmlns:a="http://schemas.openxmlformats.org/drawingml/2006/main">
            <a:off x="6981825"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16" name="">
            <a:extLst xmlns:a="http://schemas.openxmlformats.org/drawingml/2006/main">
              <a:ext uri="{FF2B5EF4-FFF2-40B4-BE49-F238E27FC236}">
                <a16:creationId xmlns:a16="http://schemas.microsoft.com/office/drawing/2014/main" id="{E46BDF94-898E-4674-9B9C-DF712B9BA9E0}"/>
              </a:ext>
            </a:extLst>
          </p:cNvPr>
          <p:cNvSpPr>
            <a:spLocks xmlns:a="http://schemas.openxmlformats.org/drawingml/2006/main" noGrp="1"/>
          </p:cNvSpPr>
          <p:nvPr/>
        </p:nvSpPr>
        <p:spPr>
          <a:xfrm xmlns:a="http://schemas.openxmlformats.org/drawingml/2006/main">
            <a:off x="652462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Language</a:t>
            </a:r>
          </a:p>
        </p:txBody>
      </p:sp>
      <p:sp>
        <p:nvSpPr>
          <p:cNvPr id="17" name="">
            <a:extLst xmlns:a="http://schemas.openxmlformats.org/drawingml/2006/main">
              <a:ext uri="{FF2B5EF4-FFF2-40B4-BE49-F238E27FC236}">
                <a16:creationId xmlns:a16="http://schemas.microsoft.com/office/drawing/2014/main" id="{6C84E3DB-508A-4453-9836-8F88E0BA42D0}"/>
              </a:ext>
            </a:extLst>
          </p:cNvPr>
          <p:cNvSpPr>
            <a:spLocks xmlns:a="http://schemas.openxmlformats.org/drawingml/2006/main" noGrp="1"/>
          </p:cNvSpPr>
          <p:nvPr/>
        </p:nvSpPr>
        <p:spPr>
          <a:xfrm xmlns:a="http://schemas.openxmlformats.org/drawingml/2006/main">
            <a:off x="636270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morphology</a:t>
            </a:r>
          </a:p>
        </p:txBody>
      </p:sp>
      <p:sp>
        <p:nvSpPr>
          <p:cNvPr id="18" name="">
            <a:extLst xmlns:a="http://schemas.openxmlformats.org/drawingml/2006/main">
              <a:ext uri="{FF2B5EF4-FFF2-40B4-BE49-F238E27FC236}">
                <a16:creationId xmlns:a16="http://schemas.microsoft.com/office/drawing/2014/main" id="{7BEEA1AE-8476-42EF-8289-A342032A6327}"/>
              </a:ext>
            </a:extLst>
          </p:cNvPr>
          <p:cNvSpPr>
            <a:spLocks xmlns:a="http://schemas.openxmlformats.org/drawingml/2006/main" noGrp="1"/>
          </p:cNvSpPr>
          <p:nvPr/>
        </p:nvSpPr>
        <p:spPr>
          <a:xfrm xmlns:a="http://schemas.openxmlformats.org/drawingml/2006/main">
            <a:off x="8972550" y="2847975"/>
            <a:ext cx="228600" cy="228600"/>
          </a:xfrm>
          <a:prstGeom xmlns:a="http://schemas.openxmlformats.org/drawingml/2006/main" prst="ellipse">
            <a:avLst/>
          </a:prstGeom>
          <a:solidFill xmlns:a="http://schemas.openxmlformats.org/drawingml/2006/main">
            <a:srgbClr val="B5483A"/>
          </a:solidFill>
          <a:ln xmlns:a="http://schemas.openxmlformats.org/drawingml/2006/main" w="0">
            <a:solidFill>
              <a:srgbClr val="B5483A"/>
            </a:solidFill>
            <a:prstDash val="solid"/>
          </a:ln>
        </p:spPr>
      </p:sp>
      <p:sp>
        <p:nvSpPr>
          <p:cNvPr id="19" name="">
            <a:extLst xmlns:a="http://schemas.openxmlformats.org/drawingml/2006/main">
              <a:ext uri="{FF2B5EF4-FFF2-40B4-BE49-F238E27FC236}">
                <a16:creationId xmlns:a16="http://schemas.microsoft.com/office/drawing/2014/main" id="{B6D57B8E-E03A-4013-A238-D6A167A3BF1A}"/>
              </a:ext>
            </a:extLst>
          </p:cNvPr>
          <p:cNvSpPr>
            <a:spLocks xmlns:a="http://schemas.openxmlformats.org/drawingml/2006/main" noGrp="1"/>
          </p:cNvSpPr>
          <p:nvPr/>
        </p:nvSpPr>
        <p:spPr>
          <a:xfrm xmlns:a="http://schemas.openxmlformats.org/drawingml/2006/main">
            <a:off x="85153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Idioms</a:t>
            </a:r>
          </a:p>
        </p:txBody>
      </p:sp>
      <p:sp>
        <p:nvSpPr>
          <p:cNvPr id="20" name="">
            <a:extLst xmlns:a="http://schemas.openxmlformats.org/drawingml/2006/main">
              <a:ext uri="{FF2B5EF4-FFF2-40B4-BE49-F238E27FC236}">
                <a16:creationId xmlns:a16="http://schemas.microsoft.com/office/drawing/2014/main" id="{D22F9F81-FB8E-4DF4-9B98-7B8D41E98F78}"/>
              </a:ext>
            </a:extLst>
          </p:cNvPr>
          <p:cNvSpPr>
            <a:spLocks xmlns:a="http://schemas.openxmlformats.org/drawingml/2006/main" noGrp="1"/>
          </p:cNvSpPr>
          <p:nvPr/>
        </p:nvSpPr>
        <p:spPr>
          <a:xfrm xmlns:a="http://schemas.openxmlformats.org/drawingml/2006/main">
            <a:off x="83534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literal vs figurative</a:t>
            </a:r>
          </a:p>
        </p:txBody>
      </p:sp>
      <p:sp>
        <p:nvSpPr>
          <p:cNvPr id="21" name="">
            <a:extLst xmlns:a="http://schemas.openxmlformats.org/drawingml/2006/main">
              <a:ext uri="{FF2B5EF4-FFF2-40B4-BE49-F238E27FC236}">
                <a16:creationId xmlns:a16="http://schemas.microsoft.com/office/drawing/2014/main" id="{81EC5322-2D30-4D7E-B95B-5C8F6DD955BF}"/>
              </a:ext>
            </a:extLst>
          </p:cNvPr>
          <p:cNvSpPr>
            <a:spLocks xmlns:a="http://schemas.openxmlformats.org/drawingml/2006/main" noGrp="1"/>
          </p:cNvSpPr>
          <p:nvPr/>
        </p:nvSpPr>
        <p:spPr>
          <a:xfrm xmlns:a="http://schemas.openxmlformats.org/drawingml/2006/main">
            <a:off x="109632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22" name="">
            <a:extLst xmlns:a="http://schemas.openxmlformats.org/drawingml/2006/main">
              <a:ext uri="{FF2B5EF4-FFF2-40B4-BE49-F238E27FC236}">
                <a16:creationId xmlns:a16="http://schemas.microsoft.com/office/drawing/2014/main" id="{F412CAF1-26A9-40F4-B12A-5C3756E349FB}"/>
              </a:ext>
            </a:extLst>
          </p:cNvPr>
          <p:cNvSpPr>
            <a:spLocks xmlns:a="http://schemas.openxmlformats.org/drawingml/2006/main" noGrp="1"/>
          </p:cNvSpPr>
          <p:nvPr/>
        </p:nvSpPr>
        <p:spPr>
          <a:xfrm xmlns:a="http://schemas.openxmlformats.org/drawingml/2006/main">
            <a:off x="105060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Facts</a:t>
            </a:r>
          </a:p>
        </p:txBody>
      </p:sp>
      <p:sp>
        <p:nvSpPr>
          <p:cNvPr id="23" name="">
            <a:extLst xmlns:a="http://schemas.openxmlformats.org/drawingml/2006/main">
              <a:ext uri="{FF2B5EF4-FFF2-40B4-BE49-F238E27FC236}">
                <a16:creationId xmlns:a16="http://schemas.microsoft.com/office/drawing/2014/main" id="{CA05B86D-0377-4D0C-9038-E0680F05CF80}"/>
              </a:ext>
            </a:extLst>
          </p:cNvPr>
          <p:cNvSpPr>
            <a:spLocks xmlns:a="http://schemas.openxmlformats.org/drawingml/2006/main" noGrp="1"/>
          </p:cNvSpPr>
          <p:nvPr/>
        </p:nvSpPr>
        <p:spPr>
          <a:xfrm xmlns:a="http://schemas.openxmlformats.org/drawingml/2006/main">
            <a:off x="103441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history and law</a:t>
            </a:r>
          </a:p>
        </p:txBody>
      </p:sp>
      <p:sp>
        <p:nvSpPr>
          <p:cNvPr id="24" name="">
            <a:extLst xmlns:a="http://schemas.openxmlformats.org/drawingml/2006/main">
              <a:ext uri="{FF2B5EF4-FFF2-40B4-BE49-F238E27FC236}">
                <a16:creationId xmlns:a16="http://schemas.microsoft.com/office/drawing/2014/main" id="{D56080C3-CF35-4B55-9639-3E2776C3C9C4}"/>
              </a:ext>
            </a:extLst>
          </p:cNvPr>
          <p:cNvSpPr>
            <a:spLocks xmlns:a="http://schemas.openxmlformats.org/drawingml/2006/main" noGrp="1"/>
          </p:cNvSpPr>
          <p:nvPr/>
        </p:nvSpPr>
        <p:spPr>
          <a:xfrm xmlns:a="http://schemas.openxmlformats.org/drawingml/2006/main">
            <a:off x="1657350" y="4648200"/>
            <a:ext cx="8877300" cy="1028700"/>
          </a:xfrm>
          <a:prstGeom xmlns:a="http://schemas.openxmlformats.org/drawingml/2006/main" prst="roundRect">
            <a:avLst>
              <a:gd name="adj" fmla="val 12963"/>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D2A535F5-EB34-4C5B-985D-9B257F9AA4FC}"/>
              </a:ext>
            </a:extLst>
          </p:cNvPr>
          <p:cNvSpPr>
            <a:spLocks xmlns:a="http://schemas.openxmlformats.org/drawingml/2006/main" noGrp="1"/>
          </p:cNvSpPr>
          <p:nvPr/>
        </p:nvSpPr>
        <p:spPr>
          <a:xfrm xmlns:a="http://schemas.openxmlformats.org/drawingml/2006/main">
            <a:off x="2057400" y="48577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0F172A"/>
                </a:solidFill>
              </a:defRPr>
            </a:pPr>
            <a:r>
              <a:rPr sz="1950" b="1">
                <a:solidFill>
                  <a:srgbClr val="0F172A"/>
                </a:solidFill>
              </a:rPr>
              <a:t>A single judge prompt treated all six as the same problem.</a:t>
            </a:r>
          </a:p>
        </p:txBody>
      </p:sp>
      <p:sp>
        <p:nvSpPr>
          <p:cNvPr id="26" name="">
            <a:extLst xmlns:a="http://schemas.openxmlformats.org/drawingml/2006/main">
              <a:ext uri="{FF2B5EF4-FFF2-40B4-BE49-F238E27FC236}">
                <a16:creationId xmlns:a16="http://schemas.microsoft.com/office/drawing/2014/main" id="{BD307A9F-B5EB-417D-8907-D4BAF2600034}"/>
              </a:ext>
            </a:extLst>
          </p:cNvPr>
          <p:cNvSpPr>
            <a:spLocks xmlns:a="http://schemas.openxmlformats.org/drawingml/2006/main" noGrp="1"/>
          </p:cNvSpPr>
          <p:nvPr/>
        </p:nvSpPr>
        <p:spPr>
          <a:xfrm xmlns:a="http://schemas.openxmlformats.org/drawingml/2006/main">
            <a:off x="2057400" y="5257800"/>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That worked as a baseline, but it was prompt-sensitive and weak on culturally specific relations.</a:t>
            </a:r>
          </a:p>
        </p:txBody>
      </p:sp>
      <p:sp>
        <p:nvSpPr>
          <p:cNvPr id="27" name="">
            <a:extLst xmlns:a="http://schemas.openxmlformats.org/drawingml/2006/main">
              <a:ext uri="{FF2B5EF4-FFF2-40B4-BE49-F238E27FC236}">
                <a16:creationId xmlns:a16="http://schemas.microsoft.com/office/drawing/2014/main" id="{7F0C4C40-3F59-44C4-B185-9D0119689C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2">
            <a:extLst xmlns:a="http://schemas.openxmlformats.org/drawingml/2006/main">
              <a:ext uri="{FF2B5EF4-FFF2-40B4-BE49-F238E27FC236}">
                <a16:creationId xmlns:a16="http://schemas.microsoft.com/office/drawing/2014/main" id="{0F979E75-7588-4B51-B64C-055E8C57085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 task definition  [3] BenHalluEval task taxonomy  [4] Bengali idiom benchmark</a:t>
            </a:r>
          </a:p>
        </p:txBody>
      </p:sp>
      <p:sp>
        <p:nvSpPr>
          <p:cNvPr id="29" name="page-2">
            <a:extLst xmlns:a="http://schemas.openxmlformats.org/drawingml/2006/main">
              <a:ext uri="{FF2B5EF4-FFF2-40B4-BE49-F238E27FC236}">
                <a16:creationId xmlns:a16="http://schemas.microsoft.com/office/drawing/2014/main" id="{D99FF97B-59FE-470A-86EE-87C88F7A513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02</a:t>
            </a:r>
          </a:p>
        </p:txBody>
      </p:sp>
    </p:spTree>
    <p:extLst>
      <p:ext uri="{BB962C8B-B14F-4D97-AF65-F5344CB8AC3E}">
        <p14:creationId xmlns:p14="http://schemas.microsoft.com/office/powerpoint/2010/main" val="2118966615"/>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3">
            <a:extLst xmlns:a="http://schemas.openxmlformats.org/drawingml/2006/main">
              <a:ext uri="{FF2B5EF4-FFF2-40B4-BE49-F238E27FC236}">
                <a16:creationId xmlns:a16="http://schemas.microsoft.com/office/drawing/2014/main" id="{B61467C4-E471-42F4-B02A-78A4F4875D7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3">
            <a:extLst xmlns:a="http://schemas.openxmlformats.org/drawingml/2006/main">
              <a:ext uri="{FF2B5EF4-FFF2-40B4-BE49-F238E27FC236}">
                <a16:creationId xmlns:a16="http://schemas.microsoft.com/office/drawing/2014/main" id="{BE17C739-6F38-4040-B03A-1D3284D95192}"/>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The working hypothesis became a selective cascade</a:t>
            </a:r>
          </a:p>
        </p:txBody>
      </p:sp>
      <p:sp>
        <p:nvSpPr>
          <p:cNvPr id="3" name="">
            <a:extLst xmlns:a="http://schemas.openxmlformats.org/drawingml/2006/main">
              <a:ext uri="{FF2B5EF4-FFF2-40B4-BE49-F238E27FC236}">
                <a16:creationId xmlns:a16="http://schemas.microsoft.com/office/drawing/2014/main" id="{FD940233-DFD4-4E34-8BC1-CF38F0B9C2F8}"/>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BD6C581-8B52-4CC4-8E2D-4C81093CEB70}"/>
              </a:ext>
            </a:extLst>
          </p:cNvPr>
          <p:cNvSpPr>
            <a:spLocks xmlns:a="http://schemas.openxmlformats.org/drawingml/2006/main" noGrp="1"/>
          </p:cNvSpPr>
          <p:nvPr/>
        </p:nvSpPr>
        <p:spPr>
          <a:xfrm xmlns:a="http://schemas.openxmlformats.org/drawingml/2006/main">
            <a:off x="685800" y="1381125"/>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Every stage could answer, or abstain. Abstention was a normal outcome, not a failure.</a:t>
            </a:r>
          </a:p>
        </p:txBody>
      </p:sp>
      <p:sp>
        <p:nvSpPr>
          <p:cNvPr id="27" name="">
            <a:extLst xmlns:a="http://schemas.openxmlformats.org/drawingml/2006/main">
              <a:ext uri="{FF2B5EF4-FFF2-40B4-BE49-F238E27FC236}">
                <a16:creationId xmlns:a16="http://schemas.microsoft.com/office/drawing/2014/main" id="{34BA0A81-6071-464E-B633-6B5E1055B51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3">
            <a:extLst xmlns:a="http://schemas.openxmlformats.org/drawingml/2006/main">
              <a:ext uri="{FF2B5EF4-FFF2-40B4-BE49-F238E27FC236}">
                <a16:creationId xmlns:a16="http://schemas.microsoft.com/office/drawing/2014/main" id="{F93DD858-C72B-41D2-8A67-DD21C12DC3D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[3] BenHalluEval  [4] Bengali idiom benchmark  [7] Frozen v91 architecture</a:t>
            </a:r>
          </a:p>
        </p:txBody>
      </p:sp>
      <p:sp>
        <p:nvSpPr>
          <p:cNvPr id="29" name="page-3">
            <a:extLst xmlns:a="http://schemas.openxmlformats.org/drawingml/2006/main">
              <a:ext uri="{FF2B5EF4-FFF2-40B4-BE49-F238E27FC236}">
                <a16:creationId xmlns:a16="http://schemas.microsoft.com/office/drawing/2014/main" id="{8DC4715B-0E33-4CB6-9900-8C70CE3D97E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03</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f9428e328ad84e08"/>
          <a:stretch xmlns:a="http://schemas.openxmlformats.org/drawingml/2006/main"/>
        </p:blipFill>
        <p:spPr>
          <a:xfrm xmlns:a="http://schemas.openxmlformats.org/drawingml/2006/main">
            <a:off x="685800" y="2564693"/>
            <a:ext cx="11277600" cy="2681114"/>
          </a:xfrm>
          <a:prstGeom xmlns:a="http://schemas.openxmlformats.org/drawingml/2006/main" prst="rect">
            <a:avLst/>
          </a:prstGeom>
        </p:spPr>
      </p:pic>
    </p:spTree>
    <p:extLst>
      <p:ext uri="{BB962C8B-B14F-4D97-AF65-F5344CB8AC3E}">
        <p14:creationId xmlns:p14="http://schemas.microsoft.com/office/powerpoint/2010/main" val="731911166"/>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9F3A29E2-1221-4468-9114-7CE5D9E89E5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4">
            <a:extLst xmlns:a="http://schemas.openxmlformats.org/drawingml/2006/main">
              <a:ext uri="{FF2B5EF4-FFF2-40B4-BE49-F238E27FC236}">
                <a16:creationId xmlns:a16="http://schemas.microsoft.com/office/drawing/2014/main" id="{2B0C3459-5559-4C4D-A634-289E195EFC5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Routing made abstention an explicit state</a:t>
            </a:r>
          </a:p>
        </p:txBody>
      </p:sp>
      <p:sp>
        <p:nvSpPr>
          <p:cNvPr id="3" name="">
            <a:extLst xmlns:a="http://schemas.openxmlformats.org/drawingml/2006/main">
              <a:ext uri="{FF2B5EF4-FFF2-40B4-BE49-F238E27FC236}">
                <a16:creationId xmlns:a16="http://schemas.microsoft.com/office/drawing/2014/main" id="{7FF0CF03-89CE-4D31-97E5-90C4D54152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2CFD87-2786-49E4-9E4F-E650B08F9E42}"/>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A branch could return 0, 1, or abstain. Only abstentions moved to the next branch.</a:t>
            </a:r>
          </a:p>
        </p:txBody>
      </p:sp>
      <p:sp>
        <p:nvSpPr>
          <p:cNvPr id="5" name="">
            <a:extLst xmlns:a="http://schemas.openxmlformats.org/drawingml/2006/main">
              <a:ext uri="{FF2B5EF4-FFF2-40B4-BE49-F238E27FC236}">
                <a16:creationId xmlns:a16="http://schemas.microsoft.com/office/drawing/2014/main" id="{D34C3FE4-5F11-47A0-AA4E-BADE0B3DB655}"/>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11245FD-0B7E-4D70-81A9-3DEB252C7FCF}"/>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8B47B91-D37D-46CE-B12E-0FA40E89D44F}"/>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527E705D-5DC8-42B1-8C3D-A1790195D05A}"/>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3615CE5E-20BA-411A-B9F4-8155EB90FEEF}"/>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FF512F77-0CC5-44B8-B192-E4568CB4ABF1}"/>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59B66290-E55E-44E6-A36D-A205887DD27D}"/>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8369D14A-B57F-40D3-AE7B-D10869BBBE2E}"/>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1A0133B5-F642-4C94-9E94-5E1A68C21DA8}"/>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E880372-1C2D-4CB8-9DCC-7002FD4715DE}"/>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DEB854DF-94FC-49B0-AE7F-5A76B79B7293}"/>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input</a:t>
            </a:r>
          </a:p>
        </p:txBody>
      </p:sp>
      <p:sp>
        <p:nvSpPr>
          <p:cNvPr id="16" name="">
            <a:extLst xmlns:a="http://schemas.openxmlformats.org/drawingml/2006/main">
              <a:ext uri="{FF2B5EF4-FFF2-40B4-BE49-F238E27FC236}">
                <a16:creationId xmlns:a16="http://schemas.microsoft.com/office/drawing/2014/main" id="{CE5C03C8-AACB-45E3-9306-D6A9D9CDF95C}"/>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664F09DA-B9C6-49E4-8464-006A551A00D1}"/>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Context</a:t>
            </a:r>
          </a:p>
          <a:p xmlns:a="http://schemas.openxmlformats.org/drawingml/2006/main">
            <a:pPr algn="ctr">
              <a:buNone/>
              <a:defRPr sz="1200" b="1">
                <a:solidFill>
                  <a:srgbClr val="0F172A"/>
                </a:solidFill>
              </a:defRPr>
            </a:pPr>
            <a:r>
              <a:rPr sz="1200" b="1">
                <a:solidFill>
                  <a:srgbClr val="0F172A"/>
                </a:solidFill>
              </a:rPr>
              <a:t>present?</a:t>
            </a:r>
          </a:p>
        </p:txBody>
      </p:sp>
      <p:sp>
        <p:nvSpPr>
          <p:cNvPr id="18" name="">
            <a:extLst xmlns:a="http://schemas.openxmlformats.org/drawingml/2006/main">
              <a:ext uri="{FF2B5EF4-FFF2-40B4-BE49-F238E27FC236}">
                <a16:creationId xmlns:a16="http://schemas.microsoft.com/office/drawing/2014/main" id="{36488B1E-5E64-4D66-82A3-0349A8B5FDA3}"/>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851D6612-13E6-45A2-9F0D-12BCD8724060}"/>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Structured</a:t>
            </a:r>
          </a:p>
          <a:p xmlns:a="http://schemas.openxmlformats.org/drawingml/2006/main">
            <a:pPr algn="ctr">
              <a:buNone/>
              <a:defRPr sz="1200" b="1">
                <a:solidFill>
                  <a:srgbClr val="0F172A"/>
                </a:solidFill>
              </a:defRPr>
            </a:pPr>
            <a:r>
              <a:rPr sz="1200" b="1">
                <a:solidFill>
                  <a:srgbClr val="0F172A"/>
                </a:solidFill>
              </a:rPr>
              <a:t>task?</a:t>
            </a:r>
          </a:p>
        </p:txBody>
      </p:sp>
      <p:sp>
        <p:nvSpPr>
          <p:cNvPr id="20" name="">
            <a:extLst xmlns:a="http://schemas.openxmlformats.org/drawingml/2006/main">
              <a:ext uri="{FF2B5EF4-FFF2-40B4-BE49-F238E27FC236}">
                <a16:creationId xmlns:a16="http://schemas.microsoft.com/office/drawing/2014/main" id="{D04359D0-40A4-4ABA-8957-FFF1B78FD945}"/>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5BA6E8FF-30EB-403D-8BE1-8910960A68E9}"/>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Exact source</a:t>
            </a:r>
          </a:p>
          <a:p xmlns:a="http://schemas.openxmlformats.org/drawingml/2006/main">
            <a:pPr algn="ctr">
              <a:buNone/>
              <a:defRPr sz="1200" b="1">
                <a:solidFill>
                  <a:srgbClr val="0F172A"/>
                </a:solidFill>
              </a:defRPr>
            </a:pPr>
            <a:r>
              <a:rPr sz="1200" b="1">
                <a:solidFill>
                  <a:srgbClr val="0F172A"/>
                </a:solidFill>
              </a:rPr>
              <a:t>lineage?</a:t>
            </a:r>
          </a:p>
        </p:txBody>
      </p:sp>
      <p:sp>
        <p:nvSpPr>
          <p:cNvPr id="22" name="">
            <a:extLst xmlns:a="http://schemas.openxmlformats.org/drawingml/2006/main">
              <a:ext uri="{FF2B5EF4-FFF2-40B4-BE49-F238E27FC236}">
                <a16:creationId xmlns:a16="http://schemas.microsoft.com/office/drawing/2014/main" id="{73A21A85-17BE-4FE5-A061-673601D29F31}"/>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3" name="">
            <a:extLst xmlns:a="http://schemas.openxmlformats.org/drawingml/2006/main">
              <a:ext uri="{FF2B5EF4-FFF2-40B4-BE49-F238E27FC236}">
                <a16:creationId xmlns:a16="http://schemas.microsoft.com/office/drawing/2014/main" id="{A1327364-6007-4F9D-87EF-CFDA47E15BC9}"/>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4" name="">
            <a:extLst xmlns:a="http://schemas.openxmlformats.org/drawingml/2006/main">
              <a:ext uri="{FF2B5EF4-FFF2-40B4-BE49-F238E27FC236}">
                <a16:creationId xmlns:a16="http://schemas.microsoft.com/office/drawing/2014/main" id="{51263DDE-1994-4FCA-9E86-7B71F11993E5}"/>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5" name="">
            <a:extLst xmlns:a="http://schemas.openxmlformats.org/drawingml/2006/main">
              <a:ext uri="{FF2B5EF4-FFF2-40B4-BE49-F238E27FC236}">
                <a16:creationId xmlns:a16="http://schemas.microsoft.com/office/drawing/2014/main" id="{558718BA-9EC3-453C-A9F2-E35D7945EA27}"/>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6" name="">
            <a:extLst xmlns:a="http://schemas.openxmlformats.org/drawingml/2006/main">
              <a:ext uri="{FF2B5EF4-FFF2-40B4-BE49-F238E27FC236}">
                <a16:creationId xmlns:a16="http://schemas.microsoft.com/office/drawing/2014/main" id="{1613C312-C23D-4BBD-BC20-539BB89BF4C5}"/>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7" name="">
            <a:extLst xmlns:a="http://schemas.openxmlformats.org/drawingml/2006/main">
              <a:ext uri="{FF2B5EF4-FFF2-40B4-BE49-F238E27FC236}">
                <a16:creationId xmlns:a16="http://schemas.microsoft.com/office/drawing/2014/main" id="{ED5A6609-CA18-4390-8A74-3B017871116B}"/>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8" name="">
            <a:extLst xmlns:a="http://schemas.openxmlformats.org/drawingml/2006/main">
              <a:ext uri="{FF2B5EF4-FFF2-40B4-BE49-F238E27FC236}">
                <a16:creationId xmlns:a16="http://schemas.microsoft.com/office/drawing/2014/main" id="{EE05702A-0C67-420F-80D9-4479CE0C2442}"/>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288650ED-888C-4EDF-A74A-FB6D22CD71ED}"/>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Context</a:t>
            </a:r>
          </a:p>
          <a:p xmlns:a="http://schemas.openxmlformats.org/drawingml/2006/main">
            <a:pPr algn="ctr">
              <a:buNone/>
              <a:defRPr sz="1350" b="1">
                <a:solidFill>
                  <a:srgbClr val="0F172A"/>
                </a:solidFill>
              </a:defRPr>
            </a:pPr>
            <a:r>
              <a:rPr sz="1350" b="1">
                <a:solidFill>
                  <a:srgbClr val="0F172A"/>
                </a:solidFill>
              </a:rPr>
              <a:t>verifier</a:t>
            </a:r>
          </a:p>
        </p:txBody>
      </p:sp>
      <p:sp>
        <p:nvSpPr>
          <p:cNvPr id="30" name="">
            <a:extLst xmlns:a="http://schemas.openxmlformats.org/drawingml/2006/main">
              <a:ext uri="{FF2B5EF4-FFF2-40B4-BE49-F238E27FC236}">
                <a16:creationId xmlns:a16="http://schemas.microsoft.com/office/drawing/2014/main" id="{D6CE71F1-8CB5-4444-950C-8D6B01BB390C}"/>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support or contradict</a:t>
            </a:r>
          </a:p>
          <a:p xmlns:a="http://schemas.openxmlformats.org/drawingml/2006/main">
            <a:pPr algn="ctr">
              <a:buNone/>
              <a:defRPr sz="1200" b="0">
                <a:solidFill>
                  <a:srgbClr val="526174"/>
                </a:solidFill>
              </a:defRPr>
            </a:pPr>
            <a:r>
              <a:rPr sz="1200" b="0">
                <a:solidFill>
                  <a:srgbClr val="526174"/>
                </a:solidFill>
              </a:rPr>
              <a:t>extra-claim check</a:t>
            </a:r>
          </a:p>
        </p:txBody>
      </p:sp>
      <p:sp>
        <p:nvSpPr>
          <p:cNvPr id="31" name="">
            <a:extLst xmlns:a="http://schemas.openxmlformats.org/drawingml/2006/main">
              <a:ext uri="{FF2B5EF4-FFF2-40B4-BE49-F238E27FC236}">
                <a16:creationId xmlns:a16="http://schemas.microsoft.com/office/drawing/2014/main" id="{0F415C97-59F0-476F-B107-0AA5D8405279}"/>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73FD6DAE-0D6D-4490-AC83-0B81E2F0F129}"/>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Structured</a:t>
            </a:r>
          </a:p>
          <a:p xmlns:a="http://schemas.openxmlformats.org/drawingml/2006/main">
            <a:pPr algn="ctr">
              <a:buNone/>
              <a:defRPr sz="1350" b="1">
                <a:solidFill>
                  <a:srgbClr val="0F172A"/>
                </a:solidFill>
              </a:defRPr>
            </a:pPr>
            <a:r>
              <a:rPr sz="1350" b="1">
                <a:solidFill>
                  <a:srgbClr val="0F172A"/>
                </a:solidFill>
              </a:rPr>
              <a:t>solver</a:t>
            </a:r>
          </a:p>
        </p:txBody>
      </p:sp>
      <p:sp>
        <p:nvSpPr>
          <p:cNvPr id="33" name="">
            <a:extLst xmlns:a="http://schemas.openxmlformats.org/drawingml/2006/main">
              <a:ext uri="{FF2B5EF4-FFF2-40B4-BE49-F238E27FC236}">
                <a16:creationId xmlns:a16="http://schemas.microsoft.com/office/drawing/2014/main" id="{37360508-0719-4A8D-9580-68C0CF5158BA}"/>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numeric / MCQ</a:t>
            </a:r>
          </a:p>
          <a:p xmlns:a="http://schemas.openxmlformats.org/drawingml/2006/main">
            <a:pPr algn="ctr">
              <a:buNone/>
              <a:defRPr sz="1200" b="0">
                <a:solidFill>
                  <a:srgbClr val="526174"/>
                </a:solidFill>
              </a:defRPr>
            </a:pPr>
            <a:r>
              <a:rPr sz="1200" b="0">
                <a:solidFill>
                  <a:srgbClr val="526174"/>
                </a:solidFill>
              </a:rPr>
              <a:t>morphology</a:t>
            </a:r>
          </a:p>
        </p:txBody>
      </p:sp>
      <p:sp>
        <p:nvSpPr>
          <p:cNvPr id="34" name="">
            <a:extLst xmlns:a="http://schemas.openxmlformats.org/drawingml/2006/main">
              <a:ext uri="{FF2B5EF4-FFF2-40B4-BE49-F238E27FC236}">
                <a16:creationId xmlns:a16="http://schemas.microsoft.com/office/drawing/2014/main" id="{35727961-A64C-46A8-B5AD-4D3DB00E40E6}"/>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B6A9D03F-EA33-4C78-B06B-A80E5E9B1CE8}"/>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Typed</a:t>
            </a:r>
          </a:p>
          <a:p xmlns:a="http://schemas.openxmlformats.org/drawingml/2006/main">
            <a:pPr algn="ctr">
              <a:buNone/>
              <a:defRPr sz="1350" b="1">
                <a:solidFill>
                  <a:srgbClr val="0F172A"/>
                </a:solidFill>
              </a:defRPr>
            </a:pPr>
            <a:r>
              <a:rPr sz="1350" b="1">
                <a:solidFill>
                  <a:srgbClr val="0F172A"/>
                </a:solidFill>
              </a:rPr>
              <a:t>evidence</a:t>
            </a:r>
          </a:p>
        </p:txBody>
      </p:sp>
      <p:sp>
        <p:nvSpPr>
          <p:cNvPr id="36" name="">
            <a:extLst xmlns:a="http://schemas.openxmlformats.org/drawingml/2006/main">
              <a:ext uri="{FF2B5EF4-FFF2-40B4-BE49-F238E27FC236}">
                <a16:creationId xmlns:a16="http://schemas.microsoft.com/office/drawing/2014/main" id="{DD58D856-F908-4FE3-988D-1F310A84837F}"/>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entity + predicate</a:t>
            </a:r>
          </a:p>
          <a:p xmlns:a="http://schemas.openxmlformats.org/drawingml/2006/main">
            <a:pPr algn="ctr">
              <a:buNone/>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54ECC40C-34ED-4F4F-9CAE-A63396500667}"/>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6D63C5D2-571E-4814-BCD7-119021C6703F}"/>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59B32"/>
                </a:solidFill>
              </a:defRPr>
            </a:pPr>
            <a:r>
              <a:rPr sz="1350" b="1">
                <a:solidFill>
                  <a:srgbClr val="D59B32"/>
                </a:solidFill>
              </a:rPr>
              <a:t>Fallback</a:t>
            </a:r>
          </a:p>
        </p:txBody>
      </p:sp>
      <p:sp>
        <p:nvSpPr>
          <p:cNvPr id="39" name="">
            <a:extLst xmlns:a="http://schemas.openxmlformats.org/drawingml/2006/main">
              <a:ext uri="{FF2B5EF4-FFF2-40B4-BE49-F238E27FC236}">
                <a16:creationId xmlns:a16="http://schemas.microsoft.com/office/drawing/2014/main" id="{B0CF0BF7-017A-47DE-9258-A0FA95711CA1}"/>
              </a:ext>
            </a:extLst>
          </p:cNvPr>
          <p:cNvSpPr>
            <a:spLocks xmlns:a="http://schemas.openxmlformats.org/drawingml/2006/main" noGrp="1"/>
          </p:cNvSpPr>
          <p:nvPr/>
        </p:nvSpPr>
        <p:spPr>
          <a:xfrm xmlns:a="http://schemas.openxmlformats.org/drawingml/2006/main">
            <a:off x="7924800" y="26384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a:t>
            </a:r>
          </a:p>
        </p:txBody>
      </p:sp>
      <p:sp>
        <p:nvSpPr>
          <p:cNvPr id="40" name="">
            <a:extLst xmlns:a="http://schemas.openxmlformats.org/drawingml/2006/main">
              <a:ext uri="{FF2B5EF4-FFF2-40B4-BE49-F238E27FC236}">
                <a16:creationId xmlns:a16="http://schemas.microsoft.com/office/drawing/2014/main" id="{DB69F0D2-2055-4FD8-81D1-473530B16FE0}"/>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46A7AE90-E3ED-4CBF-A7F6-1F6523577072}"/>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A42723E5-DD2F-42AC-AEF8-819A612D311A}"/>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 tail</a:t>
            </a:r>
          </a:p>
          <a:p xmlns:a="http://schemas.openxmlformats.org/drawingml/2006/main">
            <a:pPr algn="ctr">
              <a:buNone/>
              <a:defRPr sz="1200" b="0">
                <a:solidFill>
                  <a:srgbClr val="526174"/>
                </a:solidFill>
              </a:defRPr>
            </a:pPr>
            <a:r>
              <a:rPr sz="1200" b="0">
                <a:solidFill>
                  <a:srgbClr val="526174"/>
                </a:solidFill>
              </a:rPr>
              <a:t>only</a:t>
            </a:r>
          </a:p>
        </p:txBody>
      </p:sp>
      <p:sp>
        <p:nvSpPr>
          <p:cNvPr id="43" name="">
            <a:extLst xmlns:a="http://schemas.openxmlformats.org/drawingml/2006/main">
              <a:ext uri="{FF2B5EF4-FFF2-40B4-BE49-F238E27FC236}">
                <a16:creationId xmlns:a16="http://schemas.microsoft.com/office/drawing/2014/main" id="{6D222451-F7BC-4BAB-BABB-E10DCB7F95D1}"/>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D10C1A1C-5300-4A4E-BF97-B162438F21E0}"/>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Decision contract</a:t>
            </a:r>
          </a:p>
        </p:txBody>
      </p:sp>
      <p:sp>
        <p:nvSpPr>
          <p:cNvPr id="45" name="">
            <a:extLst xmlns:a="http://schemas.openxmlformats.org/drawingml/2006/main">
              <a:ext uri="{FF2B5EF4-FFF2-40B4-BE49-F238E27FC236}">
                <a16:creationId xmlns:a16="http://schemas.microsoft.com/office/drawing/2014/main" id="{128EBB01-95D5-4B32-BACF-C6ABE50B4FFD}"/>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F172A"/>
                </a:solidFill>
              </a:defRPr>
            </a:pPr>
            <a:r>
              <a:rPr sz="1350" b="0">
                <a:solidFill>
                  <a:srgbClr val="0F172A"/>
                </a:solidFill>
              </a:rPr>
              <a:t>branch(row) -&gt; {0, 1, null};  null means abstain, never a guessed label</a:t>
            </a:r>
          </a:p>
        </p:txBody>
      </p:sp>
      <p:sp>
        <p:nvSpPr>
          <p:cNvPr id="46" name="">
            <a:extLst xmlns:a="http://schemas.openxmlformats.org/drawingml/2006/main">
              <a:ext uri="{FF2B5EF4-FFF2-40B4-BE49-F238E27FC236}">
                <a16:creationId xmlns:a16="http://schemas.microsoft.com/office/drawing/2014/main" id="{D229B867-44D1-47ED-B0A8-16AB8F4EFBF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30A32FBD-7239-42BE-A526-C57BC539297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[3] Task decomposition  [7] v91 router implementation and trace schema</a:t>
            </a:r>
          </a:p>
        </p:txBody>
      </p:sp>
      <p:sp>
        <p:nvSpPr>
          <p:cNvPr id="48" name="page-4">
            <a:extLst xmlns:a="http://schemas.openxmlformats.org/drawingml/2006/main">
              <a:ext uri="{FF2B5EF4-FFF2-40B4-BE49-F238E27FC236}">
                <a16:creationId xmlns:a16="http://schemas.microsoft.com/office/drawing/2014/main" id="{C2A1892B-BBE5-435E-BBA7-2ECD4120E2B4}"/>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04</a:t>
            </a:r>
          </a:p>
        </p:txBody>
      </p:sp>
    </p:spTree>
    <p:extLst>
      <p:ext uri="{BB962C8B-B14F-4D97-AF65-F5344CB8AC3E}">
        <p14:creationId xmlns:p14="http://schemas.microsoft.com/office/powerpoint/2010/main" val="471816339"/>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618A35C3-47C4-48F6-A39A-BF754085859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5">
            <a:extLst xmlns:a="http://schemas.openxmlformats.org/drawingml/2006/main">
              <a:ext uri="{FF2B5EF4-FFF2-40B4-BE49-F238E27FC236}">
                <a16:creationId xmlns:a16="http://schemas.microsoft.com/office/drawing/2014/main" id="{929C1CE2-E695-47E4-A694-83011D1A876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Structured solvers shared one decision contract</a:t>
            </a:r>
          </a:p>
        </p:txBody>
      </p:sp>
      <p:sp>
        <p:nvSpPr>
          <p:cNvPr id="3" name="">
            <a:extLst xmlns:a="http://schemas.openxmlformats.org/drawingml/2006/main">
              <a:ext uri="{FF2B5EF4-FFF2-40B4-BE49-F238E27FC236}">
                <a16:creationId xmlns:a16="http://schemas.microsoft.com/office/drawing/2014/main" id="{042A1347-FE9D-43D3-893B-5EAD4AA415B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A5E9D00-EF1F-4D55-9AE4-D81B295C68DB}"/>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Each solver parsed a task-specific representation, verified the requested relation, then answered or abstained.</a:t>
            </a:r>
          </a:p>
        </p:txBody>
      </p:sp>
      <p:sp>
        <p:nvSpPr>
          <p:cNvPr id="5" name="">
            <a:extLst xmlns:a="http://schemas.openxmlformats.org/drawingml/2006/main">
              <a:ext uri="{FF2B5EF4-FFF2-40B4-BE49-F238E27FC236}">
                <a16:creationId xmlns:a16="http://schemas.microsoft.com/office/drawing/2014/main" id="{EED90EB8-F55C-4460-8A13-A501F78E0060}"/>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10B8C89-8FC4-4790-8C34-84172DB5FE54}"/>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Numbers</a:t>
            </a:r>
          </a:p>
        </p:txBody>
      </p:sp>
      <p:sp>
        <p:nvSpPr>
          <p:cNvPr id="7" name="">
            <a:extLst xmlns:a="http://schemas.openxmlformats.org/drawingml/2006/main">
              <a:ext uri="{FF2B5EF4-FFF2-40B4-BE49-F238E27FC236}">
                <a16:creationId xmlns:a16="http://schemas.microsoft.com/office/drawing/2014/main" id="{1355E712-AC15-4DED-9D35-25A08FF1B3E0}"/>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6E507E20-8586-46A7-836E-4C0B73834D68}"/>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normalize Bengali digits</a:t>
            </a:r>
          </a:p>
        </p:txBody>
      </p:sp>
      <p:sp>
        <p:nvSpPr>
          <p:cNvPr id="9" name="">
            <a:extLst xmlns:a="http://schemas.openxmlformats.org/drawingml/2006/main">
              <a:ext uri="{FF2B5EF4-FFF2-40B4-BE49-F238E27FC236}">
                <a16:creationId xmlns:a16="http://schemas.microsoft.com/office/drawing/2014/main" id="{AE467811-FC93-4158-9BA3-3781BFC53D49}"/>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A75D73B8-BA07-4BE0-A075-93BB10F7773A}"/>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units / dates / ranges</a:t>
            </a:r>
          </a:p>
        </p:txBody>
      </p:sp>
      <p:sp>
        <p:nvSpPr>
          <p:cNvPr id="11" name="">
            <a:extLst xmlns:a="http://schemas.openxmlformats.org/drawingml/2006/main">
              <a:ext uri="{FF2B5EF4-FFF2-40B4-BE49-F238E27FC236}">
                <a16:creationId xmlns:a16="http://schemas.microsoft.com/office/drawing/2014/main" id="{7C524ADE-CD38-4284-AF6B-41DB71A46F1D}"/>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FC7CCE28-F4AB-4028-A3A5-24A9A3FAC690}"/>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relation</a:t>
            </a:r>
          </a:p>
        </p:txBody>
      </p:sp>
      <p:sp>
        <p:nvSpPr>
          <p:cNvPr id="13" name="">
            <a:extLst xmlns:a="http://schemas.openxmlformats.org/drawingml/2006/main">
              <a:ext uri="{FF2B5EF4-FFF2-40B4-BE49-F238E27FC236}">
                <a16:creationId xmlns:a16="http://schemas.microsoft.com/office/drawing/2014/main" id="{A07B4E95-ACEB-489F-8094-78BE2AD71B1B}"/>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FD4B71B-9175-4345-ACBB-7B4DA70FBD1C}"/>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MCQ</a:t>
            </a:r>
          </a:p>
        </p:txBody>
      </p:sp>
      <p:sp>
        <p:nvSpPr>
          <p:cNvPr id="15" name="">
            <a:extLst xmlns:a="http://schemas.openxmlformats.org/drawingml/2006/main">
              <a:ext uri="{FF2B5EF4-FFF2-40B4-BE49-F238E27FC236}">
                <a16:creationId xmlns:a16="http://schemas.microsoft.com/office/drawing/2014/main" id="{187FB47C-845B-45E6-84ED-964B06B639B6}"/>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3DDB91DA-D18D-4292-BB47-E5641A7945F4}"/>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extract option set</a:t>
            </a:r>
          </a:p>
        </p:txBody>
      </p:sp>
      <p:sp>
        <p:nvSpPr>
          <p:cNvPr id="17" name="">
            <a:extLst xmlns:a="http://schemas.openxmlformats.org/drawingml/2006/main">
              <a:ext uri="{FF2B5EF4-FFF2-40B4-BE49-F238E27FC236}">
                <a16:creationId xmlns:a16="http://schemas.microsoft.com/office/drawing/2014/main" id="{7E1E3E31-74EC-4429-B379-9B3D415BC0FF}"/>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F0FC9A51-4584-4AC8-803A-96348FA59FD3}"/>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map aliases to options</a:t>
            </a:r>
          </a:p>
        </p:txBody>
      </p:sp>
      <p:sp>
        <p:nvSpPr>
          <p:cNvPr id="19" name="">
            <a:extLst xmlns:a="http://schemas.openxmlformats.org/drawingml/2006/main">
              <a:ext uri="{FF2B5EF4-FFF2-40B4-BE49-F238E27FC236}">
                <a16:creationId xmlns:a16="http://schemas.microsoft.com/office/drawing/2014/main" id="{0E3C90E9-3DBD-4E2F-B683-4AC4F32FED35}"/>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C2313B14-671F-4421-BE8C-E5C3DDED62D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validate selected option</a:t>
            </a:r>
          </a:p>
        </p:txBody>
      </p:sp>
      <p:sp>
        <p:nvSpPr>
          <p:cNvPr id="21" name="">
            <a:extLst xmlns:a="http://schemas.openxmlformats.org/drawingml/2006/main">
              <a:ext uri="{FF2B5EF4-FFF2-40B4-BE49-F238E27FC236}">
                <a16:creationId xmlns:a16="http://schemas.microsoft.com/office/drawing/2014/main" id="{CECB8BC6-F6BA-4ED8-AD90-EE7CEBCCCB2C}"/>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D598A079-97B4-4730-B30A-6139C0D571ED}"/>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59B32"/>
                </a:solidFill>
              </a:defRPr>
            </a:pPr>
            <a:r>
              <a:rPr sz="1650" b="1">
                <a:solidFill>
                  <a:srgbClr val="D59B32"/>
                </a:solidFill>
              </a:rPr>
              <a:t>Morphology</a:t>
            </a:r>
          </a:p>
        </p:txBody>
      </p:sp>
      <p:sp>
        <p:nvSpPr>
          <p:cNvPr id="23" name="">
            <a:extLst xmlns:a="http://schemas.openxmlformats.org/drawingml/2006/main">
              <a:ext uri="{FF2B5EF4-FFF2-40B4-BE49-F238E27FC236}">
                <a16:creationId xmlns:a16="http://schemas.microsoft.com/office/drawing/2014/main" id="{25B6E4C2-6906-488F-9E0F-41703D94AC62}"/>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75EE1D62-4C42-427E-9798-1AF849425FCC}"/>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624A71BB-5E7A-42E2-8688-04E42520BF1E}"/>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263A4C6-AE77-4C2D-9562-A621B395F31D}"/>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parse root / suffix / class</a:t>
            </a:r>
          </a:p>
        </p:txBody>
      </p:sp>
      <p:sp>
        <p:nvSpPr>
          <p:cNvPr id="27" name="">
            <a:extLst xmlns:a="http://schemas.openxmlformats.org/drawingml/2006/main">
              <a:ext uri="{FF2B5EF4-FFF2-40B4-BE49-F238E27FC236}">
                <a16:creationId xmlns:a16="http://schemas.microsoft.com/office/drawing/2014/main" id="{0C3DE6BF-071E-451A-9FBF-C039E5379692}"/>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DB4D1CFC-5FBB-4639-B5A2-2C159D2A5864}"/>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analysis</a:t>
            </a:r>
          </a:p>
        </p:txBody>
      </p:sp>
      <p:sp>
        <p:nvSpPr>
          <p:cNvPr id="29" name="">
            <a:extLst xmlns:a="http://schemas.openxmlformats.org/drawingml/2006/main">
              <a:ext uri="{FF2B5EF4-FFF2-40B4-BE49-F238E27FC236}">
                <a16:creationId xmlns:a16="http://schemas.microsoft.com/office/drawing/2014/main" id="{B2715886-AFE9-4E27-B173-9C55CA1795ED}"/>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2B7EB13F-123E-4A63-952C-11D03B164556}"/>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Idiom &amp; lexical</a:t>
            </a:r>
          </a:p>
        </p:txBody>
      </p:sp>
      <p:sp>
        <p:nvSpPr>
          <p:cNvPr id="31" name="">
            <a:extLst xmlns:a="http://schemas.openxmlformats.org/drawingml/2006/main">
              <a:ext uri="{FF2B5EF4-FFF2-40B4-BE49-F238E27FC236}">
                <a16:creationId xmlns:a16="http://schemas.microsoft.com/office/drawing/2014/main" id="{7388AA65-AB7B-4A90-8617-D29FB6F7F84B}"/>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4A14B5C4-943A-46B9-8766-6D0187E36836}"/>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select literal or figurative</a:t>
            </a:r>
          </a:p>
        </p:txBody>
      </p:sp>
      <p:sp>
        <p:nvSpPr>
          <p:cNvPr id="33" name="">
            <a:extLst xmlns:a="http://schemas.openxmlformats.org/drawingml/2006/main">
              <a:ext uri="{FF2B5EF4-FFF2-40B4-BE49-F238E27FC236}">
                <a16:creationId xmlns:a16="http://schemas.microsoft.com/office/drawing/2014/main" id="{85493658-E4EF-4AD9-A95F-629AE027FB4F}"/>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98FCB2CF-1EE7-497A-B286-045814546142}"/>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retrieve exact sense</a:t>
            </a:r>
          </a:p>
        </p:txBody>
      </p:sp>
      <p:sp>
        <p:nvSpPr>
          <p:cNvPr id="35" name="">
            <a:extLst xmlns:a="http://schemas.openxmlformats.org/drawingml/2006/main">
              <a:ext uri="{FF2B5EF4-FFF2-40B4-BE49-F238E27FC236}">
                <a16:creationId xmlns:a16="http://schemas.microsoft.com/office/drawing/2014/main" id="{BB1014E1-2CAF-4C22-90C5-68763CD5C692}"/>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7143EFC3-B83B-4C0F-B1F6-2A038B37FE08}"/>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meaning</a:t>
            </a:r>
          </a:p>
        </p:txBody>
      </p:sp>
      <p:sp>
        <p:nvSpPr>
          <p:cNvPr id="37" name="">
            <a:extLst xmlns:a="http://schemas.openxmlformats.org/drawingml/2006/main">
              <a:ext uri="{FF2B5EF4-FFF2-40B4-BE49-F238E27FC236}">
                <a16:creationId xmlns:a16="http://schemas.microsoft.com/office/drawing/2014/main" id="{82C9C97A-FA13-44C0-88EA-E7CB3D941CC1}"/>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8936C3D0-A7A2-4B99-AAED-96BB4E6E1D18}"/>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Common output</a:t>
            </a:r>
          </a:p>
        </p:txBody>
      </p:sp>
      <p:sp>
        <p:nvSpPr>
          <p:cNvPr id="39" name="">
            <a:extLst xmlns:a="http://schemas.openxmlformats.org/drawingml/2006/main">
              <a:ext uri="{FF2B5EF4-FFF2-40B4-BE49-F238E27FC236}">
                <a16:creationId xmlns:a16="http://schemas.microsoft.com/office/drawing/2014/main" id="{CD973F10-E094-4278-8BC6-AFABB4541FBC}"/>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0F172A"/>
                </a:solidFill>
              </a:defRPr>
            </a:pPr>
            <a:r>
              <a:rPr sz="1275" b="0">
                <a:solidFill>
                  <a:srgbClr val="0F172A"/>
                </a:solidFill>
              </a:rPr>
              <a:t>{entity, predicate, parsed value, source, verdict}  —  incomplete or conflicting fields return null</a:t>
            </a:r>
          </a:p>
        </p:txBody>
      </p:sp>
      <p:sp>
        <p:nvSpPr>
          <p:cNvPr id="40" name="">
            <a:extLst xmlns:a="http://schemas.openxmlformats.org/drawingml/2006/main">
              <a:ext uri="{FF2B5EF4-FFF2-40B4-BE49-F238E27FC236}">
                <a16:creationId xmlns:a16="http://schemas.microsoft.com/office/drawing/2014/main" id="{CB798A52-0FFA-4905-998A-47D62BA2A5A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58B1EABB-07CA-4A7D-BF3A-158969B1B08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v91 structured solvers, relation schema, and regression cases</a:t>
            </a:r>
          </a:p>
        </p:txBody>
      </p:sp>
      <p:sp>
        <p:nvSpPr>
          <p:cNvPr id="42" name="page-5">
            <a:extLst xmlns:a="http://schemas.openxmlformats.org/drawingml/2006/main">
              <a:ext uri="{FF2B5EF4-FFF2-40B4-BE49-F238E27FC236}">
                <a16:creationId xmlns:a16="http://schemas.microsoft.com/office/drawing/2014/main" id="{F98A9595-74B4-418D-A2AB-9414F3B855F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05</a:t>
            </a:r>
          </a:p>
        </p:txBody>
      </p:sp>
    </p:spTree>
    <p:extLst>
      <p:ext uri="{BB962C8B-B14F-4D97-AF65-F5344CB8AC3E}">
        <p14:creationId xmlns:p14="http://schemas.microsoft.com/office/powerpoint/2010/main" val="1248703227"/>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6">
            <a:extLst xmlns:a="http://schemas.openxmlformats.org/drawingml/2006/main">
              <a:ext uri="{FF2B5EF4-FFF2-40B4-BE49-F238E27FC236}">
                <a16:creationId xmlns:a16="http://schemas.microsoft.com/office/drawing/2014/main" id="{42801365-F285-45DD-8B42-D668DEFF3FA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6">
            <a:extLst xmlns:a="http://schemas.openxmlformats.org/drawingml/2006/main">
              <a:ext uri="{FF2B5EF4-FFF2-40B4-BE49-F238E27FC236}">
                <a16:creationId xmlns:a16="http://schemas.microsoft.com/office/drawing/2014/main" id="{8F6851D2-DB83-451B-BE05-8F2A496193E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A correct fact can still answer the wrong relation</a:t>
            </a:r>
          </a:p>
        </p:txBody>
      </p:sp>
      <p:sp>
        <p:nvSpPr>
          <p:cNvPr id="3" name="">
            <a:extLst xmlns:a="http://schemas.openxmlformats.org/drawingml/2006/main">
              <a:ext uri="{FF2B5EF4-FFF2-40B4-BE49-F238E27FC236}">
                <a16:creationId xmlns:a16="http://schemas.microsoft.com/office/drawing/2014/main" id="{79AF736C-198F-41D0-84B1-1B79BD7BDE97}"/>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DB4089A-AC56-4A7F-8546-B04A8294C5C0}"/>
              </a:ext>
            </a:extLst>
          </p:cNvPr>
          <p:cNvSpPr>
            <a:spLocks xmlns:a="http://schemas.openxmlformats.org/drawingml/2006/main" noGrp="1"/>
          </p:cNvSpPr>
          <p:nvPr/>
        </p:nvSpPr>
        <p:spPr>
          <a:xfrm xmlns:a="http://schemas.openxmlformats.org/drawingml/2006/main">
            <a:off x="685800" y="1381125"/>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Released sample 4 contains both the film title and year; the prompt asks specifically for the year.</a:t>
            </a:r>
          </a:p>
        </p:txBody>
      </p:sp>
      <p:sp>
        <p:nvSpPr>
          <p:cNvPr id="5" name="">
            <a:extLst xmlns:a="http://schemas.openxmlformats.org/drawingml/2006/main">
              <a:ext uri="{FF2B5EF4-FFF2-40B4-BE49-F238E27FC236}">
                <a16:creationId xmlns:a16="http://schemas.microsoft.com/office/drawing/2014/main" id="{FB4470C1-1CEE-4AAA-ABCC-A3AAB88BA8CF}"/>
              </a:ext>
            </a:extLst>
          </p:cNvPr>
          <p:cNvSpPr>
            <a:spLocks xmlns:a="http://schemas.openxmlformats.org/drawingml/2006/main" noGrp="1"/>
          </p:cNvSpPr>
          <p:nvPr/>
        </p:nvSpPr>
        <p:spPr>
          <a:xfrm xmlns:a="http://schemas.openxmlformats.org/drawingml/2006/main">
            <a:off x="6048375" y="3429000"/>
            <a:ext cx="666750" cy="3048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36CF15EE-62AC-4DB2-844C-664FA9DE7A47}"/>
              </a:ext>
            </a:extLst>
          </p:cNvPr>
          <p:cNvSpPr>
            <a:spLocks xmlns:a="http://schemas.openxmlformats.org/drawingml/2006/main" noGrp="1"/>
          </p:cNvSpPr>
          <p:nvPr/>
        </p:nvSpPr>
        <p:spPr>
          <a:xfrm xmlns:a="http://schemas.openxmlformats.org/drawingml/2006/main">
            <a:off x="742950" y="2076450"/>
            <a:ext cx="531495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3737E8B-B18B-4387-9BA8-3FADDB4D103B}"/>
              </a:ext>
            </a:extLst>
          </p:cNvPr>
          <p:cNvSpPr>
            <a:spLocks xmlns:a="http://schemas.openxmlformats.org/drawingml/2006/main" noGrp="1"/>
          </p:cNvSpPr>
          <p:nvPr/>
        </p:nvSpPr>
        <p:spPr>
          <a:xfrm xmlns:a="http://schemas.openxmlformats.org/drawingml/2006/main">
            <a:off x="1028700" y="228600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F5A7A"/>
                </a:solidFill>
              </a:defRPr>
            </a:pPr>
            <a:r>
              <a:rPr sz="1650" b="1">
                <a:solidFill>
                  <a:srgbClr val="1F5A7A"/>
                </a:solidFill>
              </a:rPr>
              <a:t>Released labeled example</a:t>
            </a:r>
          </a:p>
        </p:txBody>
      </p:sp>
      <p:sp>
        <p:nvSpPr>
          <p:cNvPr id="8" name="">
            <a:extLst xmlns:a="http://schemas.openxmlformats.org/drawingml/2006/main">
              <a:ext uri="{FF2B5EF4-FFF2-40B4-BE49-F238E27FC236}">
                <a16:creationId xmlns:a16="http://schemas.microsoft.com/office/drawing/2014/main" id="{7423D10F-44DC-4823-A5CF-77AD5D0C12DF}"/>
              </a:ext>
            </a:extLst>
          </p:cNvPr>
          <p:cNvSpPr>
            <a:spLocks xmlns:a="http://schemas.openxmlformats.org/drawingml/2006/main" noGrp="1"/>
          </p:cNvSpPr>
          <p:nvPr/>
        </p:nvSpPr>
        <p:spPr>
          <a:xfrm xmlns:a="http://schemas.openxmlformats.org/drawingml/2006/main">
            <a:off x="1028700" y="27622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2A8C82"/>
                </a:solidFill>
              </a:defRPr>
            </a:pPr>
            <a:r>
              <a:rPr sz="1275" b="1">
                <a:solidFill>
                  <a:srgbClr val="2A8C82"/>
                </a:solidFill>
              </a:rPr>
              <a:t>Context (English)</a:t>
            </a:r>
          </a:p>
        </p:txBody>
      </p:sp>
      <p:sp>
        <p:nvSpPr>
          <p:cNvPr id="9" name="">
            <a:extLst xmlns:a="http://schemas.openxmlformats.org/drawingml/2006/main">
              <a:ext uri="{FF2B5EF4-FFF2-40B4-BE49-F238E27FC236}">
                <a16:creationId xmlns:a16="http://schemas.microsoft.com/office/drawing/2014/main" id="{8A3C3A45-5959-4F2D-BD1D-4016EB31B563}"/>
              </a:ext>
            </a:extLst>
          </p:cNvPr>
          <p:cNvSpPr>
            <a:spLocks xmlns:a="http://schemas.openxmlformats.org/drawingml/2006/main" noGrp="1"/>
          </p:cNvSpPr>
          <p:nvPr/>
        </p:nvSpPr>
        <p:spPr>
          <a:xfrm xmlns:a="http://schemas.openxmlformats.org/drawingml/2006/main">
            <a:off x="1028700" y="3067050"/>
            <a:ext cx="4572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0F172A"/>
                </a:solidFill>
              </a:defRPr>
            </a:pPr>
            <a:r>
              <a:rPr sz="1575" b="0">
                <a:solidFill>
                  <a:srgbClr val="0F172A"/>
                </a:solidFill>
              </a:rPr>
              <a:t>Runway, Tareque Masud's latest feature film, was released in 2010.</a:t>
            </a:r>
          </a:p>
        </p:txBody>
      </p:sp>
      <p:sp>
        <p:nvSpPr>
          <p:cNvPr id="10" name="">
            <a:extLst xmlns:a="http://schemas.openxmlformats.org/drawingml/2006/main">
              <a:ext uri="{FF2B5EF4-FFF2-40B4-BE49-F238E27FC236}">
                <a16:creationId xmlns:a16="http://schemas.microsoft.com/office/drawing/2014/main" id="{960123F4-2BED-4500-8C62-9FE703E5186D}"/>
              </a:ext>
            </a:extLst>
          </p:cNvPr>
          <p:cNvSpPr>
            <a:spLocks xmlns:a="http://schemas.openxmlformats.org/drawingml/2006/main" noGrp="1"/>
          </p:cNvSpPr>
          <p:nvPr/>
        </p:nvSpPr>
        <p:spPr>
          <a:xfrm xmlns:a="http://schemas.openxmlformats.org/drawingml/2006/main">
            <a:off x="1028700" y="3790950"/>
            <a:ext cx="4552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39270B24-E48A-4AFB-945B-8F14EE8E1816}"/>
              </a:ext>
            </a:extLst>
          </p:cNvPr>
          <p:cNvSpPr>
            <a:spLocks xmlns:a="http://schemas.openxmlformats.org/drawingml/2006/main" noGrp="1"/>
          </p:cNvSpPr>
          <p:nvPr/>
        </p:nvSpPr>
        <p:spPr>
          <a:xfrm xmlns:a="http://schemas.openxmlformats.org/drawingml/2006/main">
            <a:off x="1028700" y="4000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2A8C82"/>
                </a:solidFill>
              </a:defRPr>
            </a:pPr>
            <a:r>
              <a:rPr sz="1275" b="1">
                <a:solidFill>
                  <a:srgbClr val="2A8C82"/>
                </a:solidFill>
              </a:rPr>
              <a:t>Prompt</a:t>
            </a:r>
          </a:p>
        </p:txBody>
      </p:sp>
      <p:sp>
        <p:nvSpPr>
          <p:cNvPr id="12" name="">
            <a:extLst xmlns:a="http://schemas.openxmlformats.org/drawingml/2006/main">
              <a:ext uri="{FF2B5EF4-FFF2-40B4-BE49-F238E27FC236}">
                <a16:creationId xmlns:a16="http://schemas.microsoft.com/office/drawing/2014/main" id="{D996BB65-A02B-467D-A329-2D889970A8FE}"/>
              </a:ext>
            </a:extLst>
          </p:cNvPr>
          <p:cNvSpPr>
            <a:spLocks xmlns:a="http://schemas.openxmlformats.org/drawingml/2006/main" noGrp="1"/>
          </p:cNvSpPr>
          <p:nvPr/>
        </p:nvSpPr>
        <p:spPr>
          <a:xfrm xmlns:a="http://schemas.openxmlformats.org/drawingml/2006/main">
            <a:off x="1028700" y="4305300"/>
            <a:ext cx="457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In which year was the film released?</a:t>
            </a:r>
          </a:p>
        </p:txBody>
      </p:sp>
      <p:sp>
        <p:nvSpPr>
          <p:cNvPr id="13" name="">
            <a:extLst xmlns:a="http://schemas.openxmlformats.org/drawingml/2006/main">
              <a:ext uri="{FF2B5EF4-FFF2-40B4-BE49-F238E27FC236}">
                <a16:creationId xmlns:a16="http://schemas.microsoft.com/office/drawing/2014/main" id="{1A39E986-BF7C-4DC8-B5F1-6D8958069A21}"/>
              </a:ext>
            </a:extLst>
          </p:cNvPr>
          <p:cNvSpPr>
            <a:spLocks xmlns:a="http://schemas.openxmlformats.org/drawingml/2006/main" noGrp="1"/>
          </p:cNvSpPr>
          <p:nvPr/>
        </p:nvSpPr>
        <p:spPr>
          <a:xfrm xmlns:a="http://schemas.openxmlformats.org/drawingml/2006/main">
            <a:off x="1028700" y="48768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B5483A"/>
                </a:solidFill>
              </a:defRPr>
            </a:pPr>
            <a:r>
              <a:rPr sz="1275" b="1">
                <a:solidFill>
                  <a:srgbClr val="B5483A"/>
                </a:solidFill>
              </a:rPr>
              <a:t>Response</a:t>
            </a:r>
          </a:p>
        </p:txBody>
      </p:sp>
      <p:sp>
        <p:nvSpPr>
          <p:cNvPr id="14" name="">
            <a:extLst xmlns:a="http://schemas.openxmlformats.org/drawingml/2006/main">
              <a:ext uri="{FF2B5EF4-FFF2-40B4-BE49-F238E27FC236}">
                <a16:creationId xmlns:a16="http://schemas.microsoft.com/office/drawing/2014/main" id="{8DBCA879-03F9-4FDF-844D-459169FDFA9A}"/>
              </a:ext>
            </a:extLst>
          </p:cNvPr>
          <p:cNvSpPr>
            <a:spLocks xmlns:a="http://schemas.openxmlformats.org/drawingml/2006/main" noGrp="1"/>
          </p:cNvSpPr>
          <p:nvPr/>
        </p:nvSpPr>
        <p:spPr>
          <a:xfrm xmlns:a="http://schemas.openxmlformats.org/drawingml/2006/main">
            <a:off x="2247900" y="4819650"/>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B5483A"/>
                </a:solidFill>
              </a:defRPr>
            </a:pPr>
            <a:r>
              <a:rPr sz="1800" b="1">
                <a:solidFill>
                  <a:srgbClr val="B5483A"/>
                </a:solidFill>
              </a:rPr>
              <a:t>Runway</a:t>
            </a:r>
          </a:p>
        </p:txBody>
      </p:sp>
      <p:sp>
        <p:nvSpPr>
          <p:cNvPr id="15" name="">
            <a:extLst xmlns:a="http://schemas.openxmlformats.org/drawingml/2006/main">
              <a:ext uri="{FF2B5EF4-FFF2-40B4-BE49-F238E27FC236}">
                <a16:creationId xmlns:a16="http://schemas.microsoft.com/office/drawing/2014/main" id="{43BF0021-9A4A-4A3E-B404-E503066C0004}"/>
              </a:ext>
            </a:extLst>
          </p:cNvPr>
          <p:cNvSpPr>
            <a:spLocks xmlns:a="http://schemas.openxmlformats.org/drawingml/2006/main" noGrp="1"/>
          </p:cNvSpPr>
          <p:nvPr/>
        </p:nvSpPr>
        <p:spPr>
          <a:xfrm xmlns:a="http://schemas.openxmlformats.org/drawingml/2006/main">
            <a:off x="1028700" y="53149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B5483A"/>
                </a:solidFill>
              </a:defRPr>
            </a:pPr>
            <a:r>
              <a:rPr sz="1350" b="1">
                <a:solidFill>
                  <a:srgbClr val="B5483A"/>
                </a:solidFill>
              </a:rPr>
              <a:t>Released label: 0</a:t>
            </a:r>
          </a:p>
        </p:txBody>
      </p:sp>
      <p:sp>
        <p:nvSpPr>
          <p:cNvPr id="16" name="">
            <a:extLst xmlns:a="http://schemas.openxmlformats.org/drawingml/2006/main">
              <a:ext uri="{FF2B5EF4-FFF2-40B4-BE49-F238E27FC236}">
                <a16:creationId xmlns:a16="http://schemas.microsoft.com/office/drawing/2014/main" id="{5052D6A4-E502-4C1C-B2CC-729143491A66}"/>
              </a:ext>
            </a:extLst>
          </p:cNvPr>
          <p:cNvSpPr>
            <a:spLocks xmlns:a="http://schemas.openxmlformats.org/drawingml/2006/main" noGrp="1"/>
          </p:cNvSpPr>
          <p:nvPr/>
        </p:nvSpPr>
        <p:spPr>
          <a:xfrm xmlns:a="http://schemas.openxmlformats.org/drawingml/2006/main">
            <a:off x="6705600" y="2076450"/>
            <a:ext cx="476250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161519CA-BB45-49E4-A1D0-1F93147C92DE}"/>
              </a:ext>
            </a:extLst>
          </p:cNvPr>
          <p:cNvSpPr>
            <a:spLocks xmlns:a="http://schemas.openxmlformats.org/drawingml/2006/main" noGrp="1"/>
          </p:cNvSpPr>
          <p:nvPr/>
        </p:nvSpPr>
        <p:spPr>
          <a:xfrm xmlns:a="http://schemas.openxmlformats.org/drawingml/2006/main">
            <a:off x="7010400" y="2286000"/>
            <a:ext cx="415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Relation check</a:t>
            </a:r>
          </a:p>
        </p:txBody>
      </p:sp>
      <p:sp>
        <p:nvSpPr>
          <p:cNvPr id="18" name="">
            <a:extLst xmlns:a="http://schemas.openxmlformats.org/drawingml/2006/main">
              <a:ext uri="{FF2B5EF4-FFF2-40B4-BE49-F238E27FC236}">
                <a16:creationId xmlns:a16="http://schemas.microsoft.com/office/drawing/2014/main" id="{25F7D93A-4495-42C5-A1F8-19C1F34CBAAF}"/>
              </a:ext>
            </a:extLst>
          </p:cNvPr>
          <p:cNvSpPr>
            <a:spLocks xmlns:a="http://schemas.openxmlformats.org/drawingml/2006/main" noGrp="1"/>
          </p:cNvSpPr>
          <p:nvPr/>
        </p:nvSpPr>
        <p:spPr>
          <a:xfrm xmlns:a="http://schemas.openxmlformats.org/drawingml/2006/main">
            <a:off x="7029450" y="28003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Entity</a:t>
            </a:r>
          </a:p>
        </p:txBody>
      </p:sp>
      <p:sp>
        <p:nvSpPr>
          <p:cNvPr id="19" name="">
            <a:extLst xmlns:a="http://schemas.openxmlformats.org/drawingml/2006/main">
              <a:ext uri="{FF2B5EF4-FFF2-40B4-BE49-F238E27FC236}">
                <a16:creationId xmlns:a16="http://schemas.microsoft.com/office/drawing/2014/main" id="{63E4F18B-9580-4962-825C-BF513DE0A8AD}"/>
              </a:ext>
            </a:extLst>
          </p:cNvPr>
          <p:cNvSpPr>
            <a:spLocks xmlns:a="http://schemas.openxmlformats.org/drawingml/2006/main" noGrp="1"/>
          </p:cNvSpPr>
          <p:nvPr/>
        </p:nvSpPr>
        <p:spPr>
          <a:xfrm xmlns:a="http://schemas.openxmlformats.org/drawingml/2006/main">
            <a:off x="8782050" y="28003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Runway</a:t>
            </a:r>
          </a:p>
        </p:txBody>
      </p:sp>
      <p:sp>
        <p:nvSpPr>
          <p:cNvPr id="20" name="">
            <a:extLst xmlns:a="http://schemas.openxmlformats.org/drawingml/2006/main">
              <a:ext uri="{FF2B5EF4-FFF2-40B4-BE49-F238E27FC236}">
                <a16:creationId xmlns:a16="http://schemas.microsoft.com/office/drawing/2014/main" id="{704B4357-5E18-4E2A-B885-1239977DFD5F}"/>
              </a:ext>
            </a:extLst>
          </p:cNvPr>
          <p:cNvSpPr>
            <a:spLocks xmlns:a="http://schemas.openxmlformats.org/drawingml/2006/main" noGrp="1"/>
          </p:cNvSpPr>
          <p:nvPr/>
        </p:nvSpPr>
        <p:spPr>
          <a:xfrm xmlns:a="http://schemas.openxmlformats.org/drawingml/2006/main">
            <a:off x="10191750" y="28003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2A8C82"/>
                </a:solidFill>
              </a:defRPr>
            </a:pPr>
            <a:r>
              <a:rPr sz="1200" b="1">
                <a:solidFill>
                  <a:srgbClr val="2A8C82"/>
                </a:solidFill>
              </a:rPr>
              <a:t>matches</a:t>
            </a:r>
          </a:p>
        </p:txBody>
      </p:sp>
      <p:sp>
        <p:nvSpPr>
          <p:cNvPr id="21" name="">
            <a:extLst xmlns:a="http://schemas.openxmlformats.org/drawingml/2006/main">
              <a:ext uri="{FF2B5EF4-FFF2-40B4-BE49-F238E27FC236}">
                <a16:creationId xmlns:a16="http://schemas.microsoft.com/office/drawing/2014/main" id="{58D65BA3-BEC0-478E-930D-F55FB5F0CE76}"/>
              </a:ext>
            </a:extLst>
          </p:cNvPr>
          <p:cNvSpPr>
            <a:spLocks xmlns:a="http://schemas.openxmlformats.org/drawingml/2006/main" noGrp="1"/>
          </p:cNvSpPr>
          <p:nvPr/>
        </p:nvSpPr>
        <p:spPr>
          <a:xfrm xmlns:a="http://schemas.openxmlformats.org/drawingml/2006/main">
            <a:off x="7029450" y="31813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2" name="">
            <a:extLst xmlns:a="http://schemas.openxmlformats.org/drawingml/2006/main">
              <a:ext uri="{FF2B5EF4-FFF2-40B4-BE49-F238E27FC236}">
                <a16:creationId xmlns:a16="http://schemas.microsoft.com/office/drawing/2014/main" id="{35F87DDA-027D-474F-9F94-A890D5B80CD8}"/>
              </a:ext>
            </a:extLst>
          </p:cNvPr>
          <p:cNvSpPr>
            <a:spLocks xmlns:a="http://schemas.openxmlformats.org/drawingml/2006/main" noGrp="1"/>
          </p:cNvSpPr>
          <p:nvPr/>
        </p:nvSpPr>
        <p:spPr>
          <a:xfrm xmlns:a="http://schemas.openxmlformats.org/drawingml/2006/main">
            <a:off x="7029450" y="346710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Requested predicate</a:t>
            </a:r>
          </a:p>
        </p:txBody>
      </p:sp>
      <p:sp>
        <p:nvSpPr>
          <p:cNvPr id="23" name="">
            <a:extLst xmlns:a="http://schemas.openxmlformats.org/drawingml/2006/main">
              <a:ext uri="{FF2B5EF4-FFF2-40B4-BE49-F238E27FC236}">
                <a16:creationId xmlns:a16="http://schemas.microsoft.com/office/drawing/2014/main" id="{BD62F074-F446-481B-BA64-1D7DCF101FAC}"/>
              </a:ext>
            </a:extLst>
          </p:cNvPr>
          <p:cNvSpPr>
            <a:spLocks xmlns:a="http://schemas.openxmlformats.org/drawingml/2006/main" noGrp="1"/>
          </p:cNvSpPr>
          <p:nvPr/>
        </p:nvSpPr>
        <p:spPr>
          <a:xfrm xmlns:a="http://schemas.openxmlformats.org/drawingml/2006/main">
            <a:off x="8782050" y="34671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release_year</a:t>
            </a:r>
          </a:p>
        </p:txBody>
      </p:sp>
      <p:sp>
        <p:nvSpPr>
          <p:cNvPr id="24" name="">
            <a:extLst xmlns:a="http://schemas.openxmlformats.org/drawingml/2006/main">
              <a:ext uri="{FF2B5EF4-FFF2-40B4-BE49-F238E27FC236}">
                <a16:creationId xmlns:a16="http://schemas.microsoft.com/office/drawing/2014/main" id="{01468A19-A986-4314-A5C9-E38BC14BEC35}"/>
              </a:ext>
            </a:extLst>
          </p:cNvPr>
          <p:cNvSpPr>
            <a:spLocks xmlns:a="http://schemas.openxmlformats.org/drawingml/2006/main" noGrp="1"/>
          </p:cNvSpPr>
          <p:nvPr/>
        </p:nvSpPr>
        <p:spPr>
          <a:xfrm xmlns:a="http://schemas.openxmlformats.org/drawingml/2006/main">
            <a:off x="10191750" y="346710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1F5A7A"/>
                </a:solidFill>
              </a:defRPr>
            </a:pPr>
            <a:r>
              <a:rPr sz="1200" b="1">
                <a:solidFill>
                  <a:srgbClr val="1F5A7A"/>
                </a:solidFill>
              </a:rPr>
              <a:t>expected</a:t>
            </a:r>
          </a:p>
        </p:txBody>
      </p:sp>
      <p:sp>
        <p:nvSpPr>
          <p:cNvPr id="25" name="">
            <a:extLst xmlns:a="http://schemas.openxmlformats.org/drawingml/2006/main">
              <a:ext uri="{FF2B5EF4-FFF2-40B4-BE49-F238E27FC236}">
                <a16:creationId xmlns:a16="http://schemas.microsoft.com/office/drawing/2014/main" id="{BCDB3E40-EA8B-4CE7-AD52-F46BCF025575}"/>
              </a:ext>
            </a:extLst>
          </p:cNvPr>
          <p:cNvSpPr>
            <a:spLocks xmlns:a="http://schemas.openxmlformats.org/drawingml/2006/main" noGrp="1"/>
          </p:cNvSpPr>
          <p:nvPr/>
        </p:nvSpPr>
        <p:spPr>
          <a:xfrm xmlns:a="http://schemas.openxmlformats.org/drawingml/2006/main">
            <a:off x="7029450" y="384810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AF8D649F-2C2E-4D17-A627-134C9078B2A6}"/>
              </a:ext>
            </a:extLst>
          </p:cNvPr>
          <p:cNvSpPr>
            <a:spLocks xmlns:a="http://schemas.openxmlformats.org/drawingml/2006/main" noGrp="1"/>
          </p:cNvSpPr>
          <p:nvPr/>
        </p:nvSpPr>
        <p:spPr>
          <a:xfrm xmlns:a="http://schemas.openxmlformats.org/drawingml/2006/main">
            <a:off x="7029450" y="41338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Response type</a:t>
            </a:r>
          </a:p>
        </p:txBody>
      </p:sp>
      <p:sp>
        <p:nvSpPr>
          <p:cNvPr id="27" name="">
            <a:extLst xmlns:a="http://schemas.openxmlformats.org/drawingml/2006/main">
              <a:ext uri="{FF2B5EF4-FFF2-40B4-BE49-F238E27FC236}">
                <a16:creationId xmlns:a16="http://schemas.microsoft.com/office/drawing/2014/main" id="{6A3C62A6-9CBF-474A-BE4A-D9E6B1166B0D}"/>
              </a:ext>
            </a:extLst>
          </p:cNvPr>
          <p:cNvSpPr>
            <a:spLocks xmlns:a="http://schemas.openxmlformats.org/drawingml/2006/main" noGrp="1"/>
          </p:cNvSpPr>
          <p:nvPr/>
        </p:nvSpPr>
        <p:spPr>
          <a:xfrm xmlns:a="http://schemas.openxmlformats.org/drawingml/2006/main">
            <a:off x="8782050" y="41338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film_title</a:t>
            </a:r>
          </a:p>
        </p:txBody>
      </p:sp>
      <p:sp>
        <p:nvSpPr>
          <p:cNvPr id="28" name="">
            <a:extLst xmlns:a="http://schemas.openxmlformats.org/drawingml/2006/main">
              <a:ext uri="{FF2B5EF4-FFF2-40B4-BE49-F238E27FC236}">
                <a16:creationId xmlns:a16="http://schemas.microsoft.com/office/drawing/2014/main" id="{B6E67E58-3D35-4880-AC67-62EFF8B2D227}"/>
              </a:ext>
            </a:extLst>
          </p:cNvPr>
          <p:cNvSpPr>
            <a:spLocks xmlns:a="http://schemas.openxmlformats.org/drawingml/2006/main" noGrp="1"/>
          </p:cNvSpPr>
          <p:nvPr/>
        </p:nvSpPr>
        <p:spPr>
          <a:xfrm xmlns:a="http://schemas.openxmlformats.org/drawingml/2006/main">
            <a:off x="10191750" y="41338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D59B32"/>
                </a:solidFill>
              </a:defRPr>
            </a:pPr>
            <a:r>
              <a:rPr sz="1200" b="1">
                <a:solidFill>
                  <a:srgbClr val="D59B32"/>
                </a:solidFill>
              </a:rPr>
              <a:t>observed</a:t>
            </a:r>
          </a:p>
        </p:txBody>
      </p:sp>
      <p:sp>
        <p:nvSpPr>
          <p:cNvPr id="29" name="">
            <a:extLst xmlns:a="http://schemas.openxmlformats.org/drawingml/2006/main">
              <a:ext uri="{FF2B5EF4-FFF2-40B4-BE49-F238E27FC236}">
                <a16:creationId xmlns:a16="http://schemas.microsoft.com/office/drawing/2014/main" id="{857F2D87-E453-4B9D-9213-8AE73D5B264F}"/>
              </a:ext>
            </a:extLst>
          </p:cNvPr>
          <p:cNvSpPr>
            <a:spLocks xmlns:a="http://schemas.openxmlformats.org/drawingml/2006/main" noGrp="1"/>
          </p:cNvSpPr>
          <p:nvPr/>
        </p:nvSpPr>
        <p:spPr>
          <a:xfrm xmlns:a="http://schemas.openxmlformats.org/drawingml/2006/main">
            <a:off x="7029450" y="45148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3CE59EA0-4A49-4400-AAA3-8EAF95457DFC}"/>
              </a:ext>
            </a:extLst>
          </p:cNvPr>
          <p:cNvSpPr>
            <a:spLocks xmlns:a="http://schemas.openxmlformats.org/drawingml/2006/main" noGrp="1"/>
          </p:cNvSpPr>
          <p:nvPr/>
        </p:nvSpPr>
        <p:spPr>
          <a:xfrm xmlns:a="http://schemas.openxmlformats.org/drawingml/2006/main">
            <a:off x="7124700" y="4914900"/>
            <a:ext cx="3924300" cy="590550"/>
          </a:xfrm>
          <a:prstGeom xmlns:a="http://schemas.openxmlformats.org/drawingml/2006/main" prst="roundRect">
            <a:avLst>
              <a:gd name="adj" fmla="val 19355"/>
            </a:avLst>
          </a:prstGeom>
          <a:solidFill xmlns:a="http://schemas.openxmlformats.org/drawingml/2006/main">
            <a:srgbClr val="F7E5E1"/>
          </a:solidFill>
          <a:ln xmlns:a="http://schemas.openxmlformats.org/drawingml/2006/main" w="9525">
            <a:solidFill>
              <a:srgbClr val="B5483A"/>
            </a:solidFill>
            <a:prstDash val="solid"/>
          </a:ln>
        </p:spPr>
      </p:sp>
      <p:sp>
        <p:nvSpPr>
          <p:cNvPr id="31" name="">
            <a:extLst xmlns:a="http://schemas.openxmlformats.org/drawingml/2006/main">
              <a:ext uri="{FF2B5EF4-FFF2-40B4-BE49-F238E27FC236}">
                <a16:creationId xmlns:a16="http://schemas.microsoft.com/office/drawing/2014/main" id="{4B16FD4E-6963-42F1-973A-A6429703465F}"/>
              </a:ext>
            </a:extLst>
          </p:cNvPr>
          <p:cNvSpPr>
            <a:spLocks xmlns:a="http://schemas.openxmlformats.org/drawingml/2006/main" noGrp="1"/>
          </p:cNvSpPr>
          <p:nvPr/>
        </p:nvSpPr>
        <p:spPr>
          <a:xfrm xmlns:a="http://schemas.openxmlformats.org/drawingml/2006/main">
            <a:off x="7353300" y="5076825"/>
            <a:ext cx="3467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predicate mismatch  →  label 0</a:t>
            </a:r>
          </a:p>
        </p:txBody>
      </p:sp>
      <p:sp>
        <p:nvSpPr>
          <p:cNvPr id="32" name="">
            <a:extLst xmlns:a="http://schemas.openxmlformats.org/drawingml/2006/main">
              <a:ext uri="{FF2B5EF4-FFF2-40B4-BE49-F238E27FC236}">
                <a16:creationId xmlns:a16="http://schemas.microsoft.com/office/drawing/2014/main" id="{07FCBF51-C3E5-4A84-B769-2AA74ABEC560}"/>
              </a:ext>
            </a:extLst>
          </p:cNvPr>
          <p:cNvSpPr>
            <a:spLocks xmlns:a="http://schemas.openxmlformats.org/drawingml/2006/main" noGrp="1"/>
          </p:cNvSpPr>
          <p:nvPr/>
        </p:nvSpPr>
        <p:spPr>
          <a:xfrm xmlns:a="http://schemas.openxmlformats.org/drawingml/2006/main">
            <a:off x="6858000" y="58674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Similarity finds a related answer. The relation gate rejects it.</a:t>
            </a:r>
          </a:p>
        </p:txBody>
      </p:sp>
      <p:sp>
        <p:nvSpPr>
          <p:cNvPr id="33" name="">
            <a:extLst xmlns:a="http://schemas.openxmlformats.org/drawingml/2006/main">
              <a:ext uri="{FF2B5EF4-FFF2-40B4-BE49-F238E27FC236}">
                <a16:creationId xmlns:a16="http://schemas.microsoft.com/office/drawing/2014/main" id="{30000E33-A0DE-4A14-8011-7041E298031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6">
            <a:extLst xmlns:a="http://schemas.openxmlformats.org/drawingml/2006/main">
              <a:ext uri="{FF2B5EF4-FFF2-40B4-BE49-F238E27FC236}">
                <a16:creationId xmlns:a16="http://schemas.microsoft.com/office/drawing/2014/main" id="{A4DB96C9-64F6-4880-8856-D71217AA6D3D}"/>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Competition-released labeled sample 4  [7] v91 predicate gate</a:t>
            </a:r>
          </a:p>
        </p:txBody>
      </p:sp>
      <p:sp>
        <p:nvSpPr>
          <p:cNvPr id="35" name="page-6">
            <a:extLst xmlns:a="http://schemas.openxmlformats.org/drawingml/2006/main">
              <a:ext uri="{FF2B5EF4-FFF2-40B4-BE49-F238E27FC236}">
                <a16:creationId xmlns:a16="http://schemas.microsoft.com/office/drawing/2014/main" id="{E61EBC4D-4E30-4C20-95C3-4FF50712265D}"/>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06</a:t>
            </a:r>
          </a:p>
        </p:txBody>
      </p:sp>
    </p:spTree>
    <p:extLst>
      <p:ext uri="{BB962C8B-B14F-4D97-AF65-F5344CB8AC3E}">
        <p14:creationId xmlns:p14="http://schemas.microsoft.com/office/powerpoint/2010/main" val="1822816628"/>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0" name="kicker-7">
            <a:extLst xmlns:a="http://schemas.openxmlformats.org/drawingml/2006/main">
              <a:ext uri="{FF2B5EF4-FFF2-40B4-BE49-F238E27FC236}">
                <a16:creationId xmlns:a16="http://schemas.microsoft.com/office/drawing/2014/main" id="{7D7A4F50-4021-4493-89C5-44922ADC2290}"/>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7">
            <a:extLst xmlns:a="http://schemas.openxmlformats.org/drawingml/2006/main">
              <a:ext uri="{FF2B5EF4-FFF2-40B4-BE49-F238E27FC236}">
                <a16:creationId xmlns:a16="http://schemas.microsoft.com/office/drawing/2014/main" id="{EDED1E81-0260-4C0A-824D-29800D6E6F5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Context rows were reduced to claim-level entailment tests</a:t>
            </a:r>
          </a:p>
        </p:txBody>
      </p:sp>
      <p:sp>
        <p:nvSpPr>
          <p:cNvPr id="3" name="">
            <a:extLst xmlns:a="http://schemas.openxmlformats.org/drawingml/2006/main">
              <a:ext uri="{FF2B5EF4-FFF2-40B4-BE49-F238E27FC236}">
                <a16:creationId xmlns:a16="http://schemas.microsoft.com/office/drawing/2014/main" id="{00DF7FDC-B97E-4D81-878F-9D718FC60A3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DDC0752-2554-4B47-B863-F4F234CF8CA4}"/>
              </a:ext>
            </a:extLst>
          </p:cNvPr>
          <p:cNvSpPr>
            <a:spLocks xmlns:a="http://schemas.openxmlformats.org/drawingml/2006/main" noGrp="1"/>
          </p:cNvSpPr>
          <p:nvPr/>
        </p:nvSpPr>
        <p:spPr>
          <a:xfrm xmlns:a="http://schemas.openxmlformats.org/drawingml/2006/main">
            <a:off x="685800" y="13811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verifier compared atomic response claims against the relevant context clause, not against global word overlap.</a:t>
            </a:r>
          </a:p>
        </p:txBody>
      </p:sp>
      <p:sp>
        <p:nvSpPr>
          <p:cNvPr id="37" name="">
            <a:extLst xmlns:a="http://schemas.openxmlformats.org/drawingml/2006/main">
              <a:ext uri="{FF2B5EF4-FFF2-40B4-BE49-F238E27FC236}">
                <a16:creationId xmlns:a16="http://schemas.microsoft.com/office/drawing/2014/main" id="{44D3C8B9-5B59-47A1-8318-AE71EA0C9A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8" name="source-7">
            <a:extLst xmlns:a="http://schemas.openxmlformats.org/drawingml/2006/main">
              <a:ext uri="{FF2B5EF4-FFF2-40B4-BE49-F238E27FC236}">
                <a16:creationId xmlns:a16="http://schemas.microsoft.com/office/drawing/2014/main" id="{E5B9D1A5-D4CC-4F4E-A871-C828120885A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Report Fig. 2a  |  [3] Context-faithfulness design  [7] v91 clause and claim verifier</a:t>
            </a:r>
          </a:p>
        </p:txBody>
      </p:sp>
      <p:sp>
        <p:nvSpPr>
          <p:cNvPr id="39" name="page-7">
            <a:extLst xmlns:a="http://schemas.openxmlformats.org/drawingml/2006/main">
              <a:ext uri="{FF2B5EF4-FFF2-40B4-BE49-F238E27FC236}">
                <a16:creationId xmlns:a16="http://schemas.microsoft.com/office/drawing/2014/main" id="{8FFB5AD0-C52C-4DF5-B44D-6877374BC84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07</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c4ab3728e5d84e21"/>
          <a:stretch xmlns:a="http://schemas.openxmlformats.org/drawingml/2006/main"/>
        </p:blipFill>
        <p:spPr>
          <a:xfrm xmlns:a="http://schemas.openxmlformats.org/drawingml/2006/main">
            <a:off x="723900" y="2540979"/>
            <a:ext cx="10572750" cy="2566618"/>
          </a:xfrm>
          <a:prstGeom xmlns:a="http://schemas.openxmlformats.org/drawingml/2006/main" prst="rect">
            <a:avLst/>
          </a:prstGeom>
        </p:spPr>
      </p:pic>
    </p:spTree>
    <p:extLst>
      <p:ext uri="{BB962C8B-B14F-4D97-AF65-F5344CB8AC3E}">
        <p14:creationId xmlns:p14="http://schemas.microsoft.com/office/powerpoint/2010/main" val="1424654819"/>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8">
            <a:extLst xmlns:a="http://schemas.openxmlformats.org/drawingml/2006/main">
              <a:ext uri="{FF2B5EF4-FFF2-40B4-BE49-F238E27FC236}">
                <a16:creationId xmlns:a16="http://schemas.microsoft.com/office/drawing/2014/main" id="{D85C6EC4-40CF-4EE8-A91B-4914215D9AB8}"/>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8">
            <a:extLst xmlns:a="http://schemas.openxmlformats.org/drawingml/2006/main">
              <a:ext uri="{FF2B5EF4-FFF2-40B4-BE49-F238E27FC236}">
                <a16:creationId xmlns:a16="http://schemas.microsoft.com/office/drawing/2014/main" id="{0C72DA74-6FA3-4637-AA13-95E5237E96CE}"/>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Qwen judged 158 rows, not the whole test set</a:t>
            </a:r>
          </a:p>
        </p:txBody>
      </p:sp>
      <p:sp>
        <p:nvSpPr>
          <p:cNvPr id="3" name="">
            <a:extLst xmlns:a="http://schemas.openxmlformats.org/drawingml/2006/main">
              <a:ext uri="{FF2B5EF4-FFF2-40B4-BE49-F238E27FC236}">
                <a16:creationId xmlns:a16="http://schemas.microsoft.com/office/drawing/2014/main" id="{FABD7773-F378-46D6-A376-D7FE19545DB9}"/>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20ED478E-2C8E-4015-97E1-2EB8E8DD4DD5}"/>
              </a:ext>
            </a:extLst>
          </p:cNvPr>
          <p:cNvSpPr>
            <a:spLocks xmlns:a="http://schemas.openxmlformats.org/drawingml/2006/main" noGrp="1"/>
          </p:cNvSpPr>
          <p:nvPr/>
        </p:nvSpPr>
        <p:spPr>
          <a:xfrm xmlns:a="http://schemas.openxmlformats.org/drawingml/2006/main">
            <a:off x="685800" y="139065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The fallback was short, deterministic, and biased toward catching hallucinations.</a:t>
            </a:r>
          </a:p>
        </p:txBody>
      </p:sp>
      <p:sp>
        <p:nvSpPr>
          <p:cNvPr id="5" name="">
            <a:extLst xmlns:a="http://schemas.openxmlformats.org/drawingml/2006/main">
              <a:ext uri="{FF2B5EF4-FFF2-40B4-BE49-F238E27FC236}">
                <a16:creationId xmlns:a16="http://schemas.microsoft.com/office/drawing/2014/main" id="{ACAA3E6F-7202-402E-9092-49BFE2D4B776}"/>
              </a:ext>
            </a:extLst>
          </p:cNvPr>
          <p:cNvSpPr>
            <a:spLocks xmlns:a="http://schemas.openxmlformats.org/drawingml/2006/main" noGrp="1"/>
          </p:cNvSpPr>
          <p:nvPr/>
        </p:nvSpPr>
        <p:spPr>
          <a:xfrm xmlns:a="http://schemas.openxmlformats.org/drawingml/2006/main">
            <a:off x="914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CA967460-6F3E-48C0-8907-12F9C8A2EBB9}"/>
              </a:ext>
            </a:extLst>
          </p:cNvPr>
          <p:cNvSpPr>
            <a:spLocks xmlns:a="http://schemas.openxmlformats.org/drawingml/2006/main" noGrp="1"/>
          </p:cNvSpPr>
          <p:nvPr/>
        </p:nvSpPr>
        <p:spPr>
          <a:xfrm xmlns:a="http://schemas.openxmlformats.org/drawingml/2006/main">
            <a:off x="1257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2A8C82"/>
                </a:solidFill>
              </a:defRPr>
            </a:pPr>
            <a:r>
              <a:rPr sz="2025" b="1">
                <a:solidFill>
                  <a:srgbClr val="2A8C82"/>
                </a:solidFill>
              </a:rPr>
              <a:t>Context row</a:t>
            </a:r>
          </a:p>
        </p:txBody>
      </p:sp>
      <p:sp>
        <p:nvSpPr>
          <p:cNvPr id="7" name="">
            <a:extLst xmlns:a="http://schemas.openxmlformats.org/drawingml/2006/main">
              <a:ext uri="{FF2B5EF4-FFF2-40B4-BE49-F238E27FC236}">
                <a16:creationId xmlns:a16="http://schemas.microsoft.com/office/drawing/2014/main" id="{0D2019EA-A1D7-47B6-9BB7-1D63A227B0D1}"/>
              </a:ext>
            </a:extLst>
          </p:cNvPr>
          <p:cNvSpPr>
            <a:spLocks xmlns:a="http://schemas.openxmlformats.org/drawingml/2006/main" noGrp="1"/>
          </p:cNvSpPr>
          <p:nvPr/>
        </p:nvSpPr>
        <p:spPr>
          <a:xfrm xmlns:a="http://schemas.openxmlformats.org/drawingml/2006/main">
            <a:off x="1257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F172A"/>
                </a:solidFill>
              </a:defRPr>
            </a:pPr>
            <a:r>
              <a:rPr sz="2550" b="1">
                <a:solidFill>
                  <a:srgbClr val="0F172A"/>
                </a:solidFill>
              </a:rPr>
              <a:t>1 entailment view</a:t>
            </a:r>
          </a:p>
        </p:txBody>
      </p:sp>
      <p:sp>
        <p:nvSpPr>
          <p:cNvPr id="8" name="">
            <a:extLst xmlns:a="http://schemas.openxmlformats.org/drawingml/2006/main">
              <a:ext uri="{FF2B5EF4-FFF2-40B4-BE49-F238E27FC236}">
                <a16:creationId xmlns:a16="http://schemas.microsoft.com/office/drawing/2014/main" id="{FC59DB85-1346-4518-9C51-D4DD4FCFEEEE}"/>
              </a:ext>
            </a:extLst>
          </p:cNvPr>
          <p:cNvSpPr>
            <a:spLocks xmlns:a="http://schemas.openxmlformats.org/drawingml/2006/main" noGrp="1"/>
          </p:cNvSpPr>
          <p:nvPr/>
        </p:nvSpPr>
        <p:spPr>
          <a:xfrm xmlns:a="http://schemas.openxmlformats.org/drawingml/2006/main">
            <a:off x="1257300" y="35623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Compare the response against the supplied passage.</a:t>
            </a:r>
          </a:p>
        </p:txBody>
      </p:sp>
      <p:sp>
        <p:nvSpPr>
          <p:cNvPr id="9" name="">
            <a:extLst xmlns:a="http://schemas.openxmlformats.org/drawingml/2006/main">
              <a:ext uri="{FF2B5EF4-FFF2-40B4-BE49-F238E27FC236}">
                <a16:creationId xmlns:a16="http://schemas.microsoft.com/office/drawing/2014/main" id="{1D5C912B-36EF-4AE5-899F-B35527818B9F}"/>
              </a:ext>
            </a:extLst>
          </p:cNvPr>
          <p:cNvSpPr>
            <a:spLocks xmlns:a="http://schemas.openxmlformats.org/drawingml/2006/main" noGrp="1"/>
          </p:cNvSpPr>
          <p:nvPr/>
        </p:nvSpPr>
        <p:spPr>
          <a:xfrm xmlns:a="http://schemas.openxmlformats.org/drawingml/2006/main">
            <a:off x="1257300" y="432435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B5483A"/>
                </a:solidFill>
              </a:defRPr>
            </a:pPr>
            <a:r>
              <a:rPr sz="1350" b="1">
                <a:solidFill>
                  <a:srgbClr val="B5483A"/>
                </a:solidFill>
              </a:rPr>
              <a:t>Any contradiction returns 0.</a:t>
            </a:r>
          </a:p>
        </p:txBody>
      </p:sp>
      <p:sp>
        <p:nvSpPr>
          <p:cNvPr id="10" name="">
            <a:extLst xmlns:a="http://schemas.openxmlformats.org/drawingml/2006/main">
              <a:ext uri="{FF2B5EF4-FFF2-40B4-BE49-F238E27FC236}">
                <a16:creationId xmlns:a16="http://schemas.microsoft.com/office/drawing/2014/main" id="{0EE2EEEF-3CE9-427D-84EA-D47A4615AF39}"/>
              </a:ext>
            </a:extLst>
          </p:cNvPr>
          <p:cNvSpPr>
            <a:spLocks xmlns:a="http://schemas.openxmlformats.org/drawingml/2006/main" noGrp="1"/>
          </p:cNvSpPr>
          <p:nvPr/>
        </p:nvSpPr>
        <p:spPr>
          <a:xfrm xmlns:a="http://schemas.openxmlformats.org/drawingml/2006/main">
            <a:off x="6629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81641F71-C01B-4179-915E-C6ECB777DE6A}"/>
              </a:ext>
            </a:extLst>
          </p:cNvPr>
          <p:cNvSpPr>
            <a:spLocks xmlns:a="http://schemas.openxmlformats.org/drawingml/2006/main" noGrp="1"/>
          </p:cNvSpPr>
          <p:nvPr/>
        </p:nvSpPr>
        <p:spPr>
          <a:xfrm xmlns:a="http://schemas.openxmlformats.org/drawingml/2006/main">
            <a:off x="6972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D59B32"/>
                </a:solidFill>
              </a:defRPr>
            </a:pPr>
            <a:r>
              <a:rPr sz="2025" b="1">
                <a:solidFill>
                  <a:srgbClr val="D59B32"/>
                </a:solidFill>
              </a:rPr>
              <a:t>No-context row</a:t>
            </a:r>
          </a:p>
        </p:txBody>
      </p:sp>
      <p:sp>
        <p:nvSpPr>
          <p:cNvPr id="12" name="">
            <a:extLst xmlns:a="http://schemas.openxmlformats.org/drawingml/2006/main">
              <a:ext uri="{FF2B5EF4-FFF2-40B4-BE49-F238E27FC236}">
                <a16:creationId xmlns:a16="http://schemas.microsoft.com/office/drawing/2014/main" id="{194D14D8-44C3-466D-82A0-8073C7F64941}"/>
              </a:ext>
            </a:extLst>
          </p:cNvPr>
          <p:cNvSpPr>
            <a:spLocks xmlns:a="http://schemas.openxmlformats.org/drawingml/2006/main" noGrp="1"/>
          </p:cNvSpPr>
          <p:nvPr/>
        </p:nvSpPr>
        <p:spPr>
          <a:xfrm xmlns:a="http://schemas.openxmlformats.org/drawingml/2006/main">
            <a:off x="6972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F172A"/>
                </a:solidFill>
              </a:defRPr>
            </a:pPr>
            <a:r>
              <a:rPr sz="2550" b="1">
                <a:solidFill>
                  <a:srgbClr val="0F172A"/>
                </a:solidFill>
              </a:rPr>
              <a:t>Up to 3 short views</a:t>
            </a:r>
          </a:p>
        </p:txBody>
      </p:sp>
      <p:sp>
        <p:nvSpPr>
          <p:cNvPr id="13" name="">
            <a:extLst xmlns:a="http://schemas.openxmlformats.org/drawingml/2006/main">
              <a:ext uri="{FF2B5EF4-FFF2-40B4-BE49-F238E27FC236}">
                <a16:creationId xmlns:a16="http://schemas.microsoft.com/office/drawing/2014/main" id="{36F4F052-AD63-47FA-AD45-8D015AB47A5E}"/>
              </a:ext>
            </a:extLst>
          </p:cNvPr>
          <p:cNvSpPr>
            <a:spLocks xmlns:a="http://schemas.openxmlformats.org/drawingml/2006/main" noGrp="1"/>
          </p:cNvSpPr>
          <p:nvPr/>
        </p:nvSpPr>
        <p:spPr>
          <a:xfrm xmlns:a="http://schemas.openxmlformats.org/drawingml/2006/main">
            <a:off x="6972300" y="3562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Fact check  |  exam grading  |  zero-bias check</a:t>
            </a:r>
          </a:p>
        </p:txBody>
      </p:sp>
      <p:sp>
        <p:nvSpPr>
          <p:cNvPr id="14" name="">
            <a:extLst xmlns:a="http://schemas.openxmlformats.org/drawingml/2006/main">
              <a:ext uri="{FF2B5EF4-FFF2-40B4-BE49-F238E27FC236}">
                <a16:creationId xmlns:a16="http://schemas.microsoft.com/office/drawing/2014/main" id="{C0B3EEC1-D034-4C64-92B5-DEE5C554854E}"/>
              </a:ext>
            </a:extLst>
          </p:cNvPr>
          <p:cNvSpPr>
            <a:spLocks xmlns:a="http://schemas.openxmlformats.org/drawingml/2006/main" noGrp="1"/>
          </p:cNvSpPr>
          <p:nvPr/>
        </p:nvSpPr>
        <p:spPr>
          <a:xfrm xmlns:a="http://schemas.openxmlformats.org/drawingml/2006/main">
            <a:off x="6972300" y="43243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B5483A"/>
                </a:solidFill>
              </a:defRPr>
            </a:pPr>
            <a:r>
              <a:rPr sz="1350" b="1">
                <a:solidFill>
                  <a:srgbClr val="B5483A"/>
                </a:solidFill>
              </a:rPr>
              <a:t>Label 1 requires unanimous positive votes.</a:t>
            </a:r>
          </a:p>
        </p:txBody>
      </p:sp>
      <p:sp>
        <p:nvSpPr>
          <p:cNvPr id="15" name="">
            <a:extLst xmlns:a="http://schemas.openxmlformats.org/drawingml/2006/main">
              <a:ext uri="{FF2B5EF4-FFF2-40B4-BE49-F238E27FC236}">
                <a16:creationId xmlns:a16="http://schemas.microsoft.com/office/drawing/2014/main" id="{D36B03E2-464E-4D7B-BE11-46409B2A8474}"/>
              </a:ext>
            </a:extLst>
          </p:cNvPr>
          <p:cNvSpPr>
            <a:spLocks xmlns:a="http://schemas.openxmlformats.org/drawingml/2006/main" noGrp="1"/>
          </p:cNvSpPr>
          <p:nvPr/>
        </p:nvSpPr>
        <p:spPr>
          <a:xfrm xmlns:a="http://schemas.openxmlformats.org/drawingml/2006/main">
            <a:off x="2381250" y="5391150"/>
            <a:ext cx="7429500" cy="590550"/>
          </a:xfrm>
          <a:prstGeom xmlns:a="http://schemas.openxmlformats.org/drawingml/2006/main" prst="roundRect">
            <a:avLst>
              <a:gd name="adj" fmla="val 22581"/>
            </a:avLst>
          </a:prstGeom>
          <a:solidFill xmlns:a="http://schemas.openxmlformats.org/drawingml/2006/main">
            <a:srgbClr val="E7EEF4"/>
          </a:solidFill>
          <a:ln xmlns:a="http://schemas.openxmlformats.org/drawingml/2006/main" w="9525">
            <a:solidFill>
              <a:srgbClr val="1F5A7A"/>
            </a:solidFill>
            <a:prstDash val="solid"/>
          </a:ln>
        </p:spPr>
      </p:sp>
      <p:sp>
        <p:nvSpPr>
          <p:cNvPr id="16" name="">
            <a:extLst xmlns:a="http://schemas.openxmlformats.org/drawingml/2006/main">
              <a:ext uri="{FF2B5EF4-FFF2-40B4-BE49-F238E27FC236}">
                <a16:creationId xmlns:a16="http://schemas.microsoft.com/office/drawing/2014/main" id="{2C11FE44-4481-4EB3-AA33-FE3630A910C0}"/>
              </a:ext>
            </a:extLst>
          </p:cNvPr>
          <p:cNvSpPr>
            <a:spLocks xmlns:a="http://schemas.openxmlformats.org/drawingml/2006/main" noGrp="1"/>
          </p:cNvSpPr>
          <p:nvPr/>
        </p:nvSpPr>
        <p:spPr>
          <a:xfrm xmlns:a="http://schemas.openxmlformats.org/drawingml/2006/main">
            <a:off x="2667000" y="55530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Qwen3.6-27B Q4_K_P  |  one-token grammar  |  fixed seeds and batches</a:t>
            </a:r>
          </a:p>
        </p:txBody>
      </p:sp>
      <p:sp>
        <p:nvSpPr>
          <p:cNvPr id="17" name="">
            <a:extLst xmlns:a="http://schemas.openxmlformats.org/drawingml/2006/main">
              <a:ext uri="{FF2B5EF4-FFF2-40B4-BE49-F238E27FC236}">
                <a16:creationId xmlns:a16="http://schemas.microsoft.com/office/drawing/2014/main" id="{4F3E40AC-F69B-483F-873D-8DAFC1A3434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8">
            <a:extLst xmlns:a="http://schemas.openxmlformats.org/drawingml/2006/main">
              <a:ext uri="{FF2B5EF4-FFF2-40B4-BE49-F238E27FC236}">
                <a16:creationId xmlns:a16="http://schemas.microsoft.com/office/drawing/2014/main" id="{B7A848B1-D2D3-4947-A71B-9F0728DC1F6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[5] Qwen3.6 model card  [6] llama.cpp b9637  [7] Frozen judge configuration</a:t>
            </a:r>
          </a:p>
        </p:txBody>
      </p:sp>
      <p:sp>
        <p:nvSpPr>
          <p:cNvPr id="19" name="page-8">
            <a:extLst xmlns:a="http://schemas.openxmlformats.org/drawingml/2006/main">
              <a:ext uri="{FF2B5EF4-FFF2-40B4-BE49-F238E27FC236}">
                <a16:creationId xmlns:a16="http://schemas.microsoft.com/office/drawing/2014/main" id="{BB6FBEA7-B029-4374-8F9A-F189E13622BB}"/>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08</a:t>
            </a:r>
          </a:p>
        </p:txBody>
      </p:sp>
    </p:spTree>
    <p:extLst>
      <p:ext uri="{BB962C8B-B14F-4D97-AF65-F5344CB8AC3E}">
        <p14:creationId xmlns:p14="http://schemas.microsoft.com/office/powerpoint/2010/main" val="175299940"/>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FD4F8904-FDEF-425C-BF0E-468CED38900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9">
            <a:extLst xmlns:a="http://schemas.openxmlformats.org/drawingml/2006/main">
              <a:ext uri="{FF2B5EF4-FFF2-40B4-BE49-F238E27FC236}">
                <a16:creationId xmlns:a16="http://schemas.microsoft.com/office/drawing/2014/main" id="{E7EB26C2-5775-4AB0-B293-137EBE47D67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A source record was accepted only after four fields aligned</a:t>
            </a:r>
          </a:p>
        </p:txBody>
      </p:sp>
      <p:sp>
        <p:nvSpPr>
          <p:cNvPr id="3" name="">
            <a:extLst xmlns:a="http://schemas.openxmlformats.org/drawingml/2006/main">
              <a:ext uri="{FF2B5EF4-FFF2-40B4-BE49-F238E27FC236}">
                <a16:creationId xmlns:a16="http://schemas.microsoft.com/office/drawing/2014/main" id="{A0EB5D59-35D0-4815-A45D-5AAAE1E342F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B259D92-7CD9-41EC-A78E-9D9F608D8939}"/>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trace records why a row was resolved, its source, and the relation that was tested.</a:t>
            </a:r>
          </a:p>
        </p:txBody>
      </p:sp>
      <p:sp>
        <p:nvSpPr>
          <p:cNvPr id="50" name="">
            <a:extLst xmlns:a="http://schemas.openxmlformats.org/drawingml/2006/main">
              <a:ext uri="{FF2B5EF4-FFF2-40B4-BE49-F238E27FC236}">
                <a16:creationId xmlns:a16="http://schemas.microsoft.com/office/drawing/2014/main" id="{203DDBB5-0E35-414B-8AAA-F4F2CB33958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A6431AA1-8957-41EB-A43C-F915B8BFB872}"/>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Report Fig. 2b  |  [7] v91 evidence schema, provenance ledger and decision trace</a:t>
            </a:r>
          </a:p>
        </p:txBody>
      </p:sp>
      <p:sp>
        <p:nvSpPr>
          <p:cNvPr id="52" name="page-9">
            <a:extLst xmlns:a="http://schemas.openxmlformats.org/drawingml/2006/main">
              <a:ext uri="{FF2B5EF4-FFF2-40B4-BE49-F238E27FC236}">
                <a16:creationId xmlns:a16="http://schemas.microsoft.com/office/drawing/2014/main" id="{E7E35BE0-9965-4622-B65C-4EC702FB9889}"/>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09</a:t>
            </a:r>
          </a:p>
        </p:txBody>
      </p:sp>
      <p:pic>
        <p:nvPicPr>
          <p:cNvPr id="62" name=""/>
          <p:cNvPicPr>
            <a:picLocks xmlns:a="http://schemas.openxmlformats.org/drawingml/2006/main" noChangeAspect="1"/>
          </p:cNvPicPr>
          <p:nvPr/>
        </p:nvPicPr>
        <p:blipFill>
          <a:blip xmlns:r="http://schemas.openxmlformats.org/officeDocument/2006/relationships" xmlns:a="http://schemas.openxmlformats.org/drawingml/2006/main" r:embed="Recc72d9f60704f99"/>
          <a:stretch xmlns:a="http://schemas.openxmlformats.org/drawingml/2006/main"/>
        </p:blipFill>
        <p:spPr>
          <a:xfrm xmlns:a="http://schemas.openxmlformats.org/drawingml/2006/main">
            <a:off x="781050" y="2636876"/>
            <a:ext cx="10629900" cy="2289099"/>
          </a:xfrm>
          <a:prstGeom xmlns:a="http://schemas.openxmlformats.org/drawingml/2006/main" prst="rect">
            <a:avLst/>
          </a:prstGeom>
        </p:spPr>
      </p:pic>
    </p:spTree>
    <p:extLst>
      <p:ext uri="{BB962C8B-B14F-4D97-AF65-F5344CB8AC3E}">
        <p14:creationId xmlns:p14="http://schemas.microsoft.com/office/powerpoint/2010/main" val="1439275797"/>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6" name="kicker-10">
            <a:extLst xmlns:a="http://schemas.openxmlformats.org/drawingml/2006/main">
              <a:ext uri="{FF2B5EF4-FFF2-40B4-BE49-F238E27FC236}">
                <a16:creationId xmlns:a16="http://schemas.microsoft.com/office/drawing/2014/main" id="{70DE1D79-8DC7-43D6-9761-6E4E60C79C5C}"/>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0">
            <a:extLst xmlns:a="http://schemas.openxmlformats.org/drawingml/2006/main">
              <a:ext uri="{FF2B5EF4-FFF2-40B4-BE49-F238E27FC236}">
                <a16:creationId xmlns:a16="http://schemas.microsoft.com/office/drawing/2014/main" id="{1365A60E-E84E-4C00-AE43-7E62CB205D7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Versioned comparisons locate the main design pivots</a:t>
            </a:r>
          </a:p>
        </p:txBody>
      </p:sp>
      <p:sp>
        <p:nvSpPr>
          <p:cNvPr id="3" name="">
            <a:extLst xmlns:a="http://schemas.openxmlformats.org/drawingml/2006/main">
              <a:ext uri="{FF2B5EF4-FFF2-40B4-BE49-F238E27FC236}">
                <a16:creationId xmlns:a16="http://schemas.microsoft.com/office/drawing/2014/main" id="{3C47268A-662D-4394-849C-AAF82247981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5D304B-EA3C-4248-9DF7-8D4EFAC312A5}"/>
              </a:ext>
            </a:extLst>
          </p:cNvPr>
          <p:cNvSpPr>
            <a:spLocks xmlns:a="http://schemas.openxmlformats.org/drawingml/2006/main" noGrp="1"/>
          </p:cNvSpPr>
          <p:nvPr/>
        </p:nvSpPr>
        <p:spPr>
          <a:xfrm xmlns:a="http://schemas.openxmlformats.org/drawingml/2006/main">
            <a:off x="685800" y="1381125"/>
            <a:ext cx="885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These are cumulative versions, not controlled single-factor ablations.</a:t>
            </a:r>
          </a:p>
        </p:txBody>
      </p:sp>
      <p:sp>
        <p:nvSpPr>
          <p:cNvPr id="42" name="">
            <a:extLst xmlns:a="http://schemas.openxmlformats.org/drawingml/2006/main">
              <a:ext uri="{FF2B5EF4-FFF2-40B4-BE49-F238E27FC236}">
                <a16:creationId xmlns:a16="http://schemas.microsoft.com/office/drawing/2014/main" id="{9A0EB313-E1E1-4998-A094-F58FE7597B66}"/>
              </a:ext>
            </a:extLst>
          </p:cNvPr>
          <p:cNvSpPr>
            <a:spLocks xmlns:a="http://schemas.openxmlformats.org/drawingml/2006/main" noGrp="1"/>
          </p:cNvSpPr>
          <p:nvPr/>
        </p:nvSpPr>
        <p:spPr>
          <a:xfrm xmlns:a="http://schemas.openxmlformats.org/drawingml/2006/main">
            <a:off x="1524000" y="5886450"/>
            <a:ext cx="914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2A8C82"/>
                </a:solidFill>
              </a:defRPr>
            </a:pPr>
            <a:r>
              <a:rPr sz="1500" b="1">
                <a:solidFill>
                  <a:srgbClr val="2A8C82"/>
                </a:solidFill>
              </a:rPr>
              <a:t>The largest observed step coincided with routing: 0.797 → 0.903.</a:t>
            </a:r>
          </a:p>
        </p:txBody>
      </p:sp>
      <p:sp>
        <p:nvSpPr>
          <p:cNvPr id="43" name="">
            <a:extLst xmlns:a="http://schemas.openxmlformats.org/drawingml/2006/main">
              <a:ext uri="{FF2B5EF4-FFF2-40B4-BE49-F238E27FC236}">
                <a16:creationId xmlns:a16="http://schemas.microsoft.com/office/drawing/2014/main" id="{35BCF703-F8C1-4209-B95A-10EC8329E39E}"/>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4" name="source-10">
            <a:extLst xmlns:a="http://schemas.openxmlformats.org/drawingml/2006/main">
              <a:ext uri="{FF2B5EF4-FFF2-40B4-BE49-F238E27FC236}">
                <a16:creationId xmlns:a16="http://schemas.microsoft.com/office/drawing/2014/main" id="{C325922F-B7FF-4972-85F3-E668293137C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Scored Phase 1 experiment ledger and Kaggle public leaderboard</a:t>
            </a:r>
          </a:p>
        </p:txBody>
      </p:sp>
      <p:sp>
        <p:nvSpPr>
          <p:cNvPr id="45" name="page-10">
            <a:extLst xmlns:a="http://schemas.openxmlformats.org/drawingml/2006/main">
              <a:ext uri="{FF2B5EF4-FFF2-40B4-BE49-F238E27FC236}">
                <a16:creationId xmlns:a16="http://schemas.microsoft.com/office/drawing/2014/main" id="{48E3BAE2-DC47-4C85-BFB1-CF4EB19F643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10</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8f4f7c3cdc9c4eb9"/>
          <a:stretch xmlns:a="http://schemas.openxmlformats.org/drawingml/2006/main"/>
        </p:blipFill>
        <p:spPr>
          <a:xfrm xmlns:a="http://schemas.openxmlformats.org/drawingml/2006/main">
            <a:off x="819150" y="2217008"/>
            <a:ext cx="10477500" cy="3681284"/>
          </a:xfrm>
          <a:prstGeom xmlns:a="http://schemas.openxmlformats.org/drawingml/2006/main" prst="rect">
            <a:avLst/>
          </a:prstGeom>
        </p:spPr>
      </p:pic>
    </p:spTree>
    <p:extLst>
      <p:ext uri="{BB962C8B-B14F-4D97-AF65-F5344CB8AC3E}">
        <p14:creationId xmlns:p14="http://schemas.microsoft.com/office/powerpoint/2010/main" val="2139972927"/>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11">
            <a:extLst xmlns:a="http://schemas.openxmlformats.org/drawingml/2006/main">
              <a:ext uri="{FF2B5EF4-FFF2-40B4-BE49-F238E27FC236}">
                <a16:creationId xmlns:a16="http://schemas.microsoft.com/office/drawing/2014/main" id="{FBA6E5D5-3FD8-48FC-84C9-880965CBC98A}"/>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1">
            <a:extLst xmlns:a="http://schemas.openxmlformats.org/drawingml/2006/main">
              <a:ext uri="{FF2B5EF4-FFF2-40B4-BE49-F238E27FC236}">
                <a16:creationId xmlns:a16="http://schemas.microsoft.com/office/drawing/2014/main" id="{5A9C8C4D-3902-4BE8-AF24-CB099C51556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Decision logs turned failed runs into routing rules</a:t>
            </a:r>
          </a:p>
        </p:txBody>
      </p:sp>
      <p:sp>
        <p:nvSpPr>
          <p:cNvPr id="3" name="">
            <a:extLst xmlns:a="http://schemas.openxmlformats.org/drawingml/2006/main">
              <a:ext uri="{FF2B5EF4-FFF2-40B4-BE49-F238E27FC236}">
                <a16:creationId xmlns:a16="http://schemas.microsoft.com/office/drawing/2014/main" id="{FBE5D8CB-5EAE-49FF-8076-0F178199F79A}"/>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AB23159F-2413-4BF4-BDFE-FB86E247005D}"/>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Each negative result changed what later versions were allowed to decide.</a:t>
            </a:r>
          </a:p>
        </p:txBody>
      </p:sp>
      <p:sp>
        <p:nvSpPr>
          <p:cNvPr id="5" name="">
            <a:extLst xmlns:a="http://schemas.openxmlformats.org/drawingml/2006/main">
              <a:ext uri="{FF2B5EF4-FFF2-40B4-BE49-F238E27FC236}">
                <a16:creationId xmlns:a16="http://schemas.microsoft.com/office/drawing/2014/main" id="{B1010340-9A9A-4496-93C2-BF0D34567949}"/>
              </a:ext>
            </a:extLst>
          </p:cNvPr>
          <p:cNvSpPr>
            <a:spLocks xmlns:a="http://schemas.openxmlformats.org/drawingml/2006/main" noGrp="1"/>
          </p:cNvSpPr>
          <p:nvPr/>
        </p:nvSpPr>
        <p:spPr>
          <a:xfrm xmlns:a="http://schemas.openxmlformats.org/drawingml/2006/main">
            <a:off x="876300" y="20764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Experiment</a:t>
            </a:r>
          </a:p>
        </p:txBody>
      </p:sp>
      <p:sp>
        <p:nvSpPr>
          <p:cNvPr id="6" name="">
            <a:extLst xmlns:a="http://schemas.openxmlformats.org/drawingml/2006/main">
              <a:ext uri="{FF2B5EF4-FFF2-40B4-BE49-F238E27FC236}">
                <a16:creationId xmlns:a16="http://schemas.microsoft.com/office/drawing/2014/main" id="{0E84A8EA-2E4B-4EB7-A89F-91D797C3AA03}"/>
              </a:ext>
            </a:extLst>
          </p:cNvPr>
          <p:cNvSpPr>
            <a:spLocks xmlns:a="http://schemas.openxmlformats.org/drawingml/2006/main" noGrp="1"/>
          </p:cNvSpPr>
          <p:nvPr/>
        </p:nvSpPr>
        <p:spPr>
          <a:xfrm xmlns:a="http://schemas.openxmlformats.org/drawingml/2006/main">
            <a:off x="3733800" y="20764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Observed result</a:t>
            </a:r>
          </a:p>
        </p:txBody>
      </p:sp>
      <p:sp>
        <p:nvSpPr>
          <p:cNvPr id="7" name="">
            <a:extLst xmlns:a="http://schemas.openxmlformats.org/drawingml/2006/main">
              <a:ext uri="{FF2B5EF4-FFF2-40B4-BE49-F238E27FC236}">
                <a16:creationId xmlns:a16="http://schemas.microsoft.com/office/drawing/2014/main" id="{2A21159E-1664-448E-A0AA-04FCB2DAFFB9}"/>
              </a:ext>
            </a:extLst>
          </p:cNvPr>
          <p:cNvSpPr>
            <a:spLocks xmlns:a="http://schemas.openxmlformats.org/drawingml/2006/main" noGrp="1"/>
          </p:cNvSpPr>
          <p:nvPr/>
        </p:nvSpPr>
        <p:spPr>
          <a:xfrm xmlns:a="http://schemas.openxmlformats.org/drawingml/2006/main">
            <a:off x="7086600" y="20764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Decision recorded</a:t>
            </a:r>
          </a:p>
        </p:txBody>
      </p:sp>
      <p:sp>
        <p:nvSpPr>
          <p:cNvPr id="8" name="">
            <a:extLst xmlns:a="http://schemas.openxmlformats.org/drawingml/2006/main">
              <a:ext uri="{FF2B5EF4-FFF2-40B4-BE49-F238E27FC236}">
                <a16:creationId xmlns:a16="http://schemas.microsoft.com/office/drawing/2014/main" id="{0565CAA6-8237-4885-80BA-A476B44D36CD}"/>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9" name="">
            <a:extLst xmlns:a="http://schemas.openxmlformats.org/drawingml/2006/main">
              <a:ext uri="{FF2B5EF4-FFF2-40B4-BE49-F238E27FC236}">
                <a16:creationId xmlns:a16="http://schemas.microsoft.com/office/drawing/2014/main" id="{FFB3AE57-E655-4D9F-847B-EDE301283FB5}"/>
              </a:ext>
            </a:extLst>
          </p:cNvPr>
          <p:cNvSpPr>
            <a:spLocks xmlns:a="http://schemas.openxmlformats.org/drawingml/2006/main" noGrp="1"/>
          </p:cNvSpPr>
          <p:nvPr/>
        </p:nvSpPr>
        <p:spPr>
          <a:xfrm xmlns:a="http://schemas.openxmlformats.org/drawingml/2006/main">
            <a:off x="876300" y="25717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Prompt voting</a:t>
            </a:r>
          </a:p>
        </p:txBody>
      </p:sp>
      <p:sp>
        <p:nvSpPr>
          <p:cNvPr id="10" name="">
            <a:extLst xmlns:a="http://schemas.openxmlformats.org/drawingml/2006/main">
              <a:ext uri="{FF2B5EF4-FFF2-40B4-BE49-F238E27FC236}">
                <a16:creationId xmlns:a16="http://schemas.microsoft.com/office/drawing/2014/main" id="{D530B28B-4CFF-493B-8D5C-35E6FD7671CF}"/>
              </a:ext>
            </a:extLst>
          </p:cNvPr>
          <p:cNvSpPr>
            <a:spLocks xmlns:a="http://schemas.openxmlformats.org/drawingml/2006/main" noGrp="1"/>
          </p:cNvSpPr>
          <p:nvPr/>
        </p:nvSpPr>
        <p:spPr>
          <a:xfrm xmlns:a="http://schemas.openxmlformats.org/drawingml/2006/main">
            <a:off x="3733800" y="25717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0.851 local, 0.783 public</a:t>
            </a:r>
          </a:p>
        </p:txBody>
      </p:sp>
      <p:sp>
        <p:nvSpPr>
          <p:cNvPr id="11" name="">
            <a:extLst xmlns:a="http://schemas.openxmlformats.org/drawingml/2006/main">
              <a:ext uri="{FF2B5EF4-FFF2-40B4-BE49-F238E27FC236}">
                <a16:creationId xmlns:a16="http://schemas.microsoft.com/office/drawing/2014/main" id="{98972ACF-F41F-4443-BA6D-CCB32007930A}"/>
              </a:ext>
            </a:extLst>
          </p:cNvPr>
          <p:cNvSpPr>
            <a:spLocks xmlns:a="http://schemas.openxmlformats.org/drawingml/2006/main" noGrp="1"/>
          </p:cNvSpPr>
          <p:nvPr/>
        </p:nvSpPr>
        <p:spPr>
          <a:xfrm xmlns:a="http://schemas.openxmlformats.org/drawingml/2006/main">
            <a:off x="7086600" y="25717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Stop prompt churn; require new evidence</a:t>
            </a:r>
          </a:p>
        </p:txBody>
      </p:sp>
      <p:sp>
        <p:nvSpPr>
          <p:cNvPr id="12" name="">
            <a:extLst xmlns:a="http://schemas.openxmlformats.org/drawingml/2006/main">
              <a:ext uri="{FF2B5EF4-FFF2-40B4-BE49-F238E27FC236}">
                <a16:creationId xmlns:a16="http://schemas.microsoft.com/office/drawing/2014/main" id="{9E0EB938-7E6F-4D27-BBAF-D44E5347D685}"/>
              </a:ext>
            </a:extLst>
          </p:cNvPr>
          <p:cNvSpPr>
            <a:spLocks xmlns:a="http://schemas.openxmlformats.org/drawingml/2006/main" noGrp="1"/>
          </p:cNvSpPr>
          <p:nvPr/>
        </p:nvSpPr>
        <p:spPr>
          <a:xfrm xmlns:a="http://schemas.openxmlformats.org/drawingml/2006/main">
            <a:off x="876300" y="32194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3" name="">
            <a:extLst xmlns:a="http://schemas.openxmlformats.org/drawingml/2006/main">
              <a:ext uri="{FF2B5EF4-FFF2-40B4-BE49-F238E27FC236}">
                <a16:creationId xmlns:a16="http://schemas.microsoft.com/office/drawing/2014/main" id="{DD35140A-910A-48A9-BD35-7E4E08C89826}"/>
              </a:ext>
            </a:extLst>
          </p:cNvPr>
          <p:cNvSpPr>
            <a:spLocks xmlns:a="http://schemas.openxmlformats.org/drawingml/2006/main" noGrp="1"/>
          </p:cNvSpPr>
          <p:nvPr/>
        </p:nvSpPr>
        <p:spPr>
          <a:xfrm xmlns:a="http://schemas.openxmlformats.org/drawingml/2006/main">
            <a:off x="876300" y="3409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TF-IDF verifier</a:t>
            </a:r>
          </a:p>
        </p:txBody>
      </p:sp>
      <p:sp>
        <p:nvSpPr>
          <p:cNvPr id="14" name="">
            <a:extLst xmlns:a="http://schemas.openxmlformats.org/drawingml/2006/main">
              <a:ext uri="{FF2B5EF4-FFF2-40B4-BE49-F238E27FC236}">
                <a16:creationId xmlns:a16="http://schemas.microsoft.com/office/drawing/2014/main" id="{A28039F2-D0EA-4383-9E35-B19709EEFED3}"/>
              </a:ext>
            </a:extLst>
          </p:cNvPr>
          <p:cNvSpPr>
            <a:spLocks xmlns:a="http://schemas.openxmlformats.org/drawingml/2006/main" noGrp="1"/>
          </p:cNvSpPr>
          <p:nvPr/>
        </p:nvSpPr>
        <p:spPr>
          <a:xfrm xmlns:a="http://schemas.openxmlformats.org/drawingml/2006/main">
            <a:off x="3733800" y="3409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0.826 out of fold</a:t>
            </a:r>
          </a:p>
        </p:txBody>
      </p:sp>
      <p:sp>
        <p:nvSpPr>
          <p:cNvPr id="15" name="">
            <a:extLst xmlns:a="http://schemas.openxmlformats.org/drawingml/2006/main">
              <a:ext uri="{FF2B5EF4-FFF2-40B4-BE49-F238E27FC236}">
                <a16:creationId xmlns:a16="http://schemas.microsoft.com/office/drawing/2014/main" id="{727DD5F1-E643-4D99-8A8A-AF94F7BC26AA}"/>
              </a:ext>
            </a:extLst>
          </p:cNvPr>
          <p:cNvSpPr>
            <a:spLocks xmlns:a="http://schemas.openxmlformats.org/drawingml/2006/main" noGrp="1"/>
          </p:cNvSpPr>
          <p:nvPr/>
        </p:nvSpPr>
        <p:spPr>
          <a:xfrm xmlns:a="http://schemas.openxmlformats.org/drawingml/2006/main">
            <a:off x="7086600" y="34099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Keep as a portable fallback, not a scorer</a:t>
            </a:r>
          </a:p>
        </p:txBody>
      </p:sp>
      <p:sp>
        <p:nvSpPr>
          <p:cNvPr id="16" name="">
            <a:extLst xmlns:a="http://schemas.openxmlformats.org/drawingml/2006/main">
              <a:ext uri="{FF2B5EF4-FFF2-40B4-BE49-F238E27FC236}">
                <a16:creationId xmlns:a16="http://schemas.microsoft.com/office/drawing/2014/main" id="{C2AECBDC-1D0D-49F0-8B40-D633C812FE49}"/>
              </a:ext>
            </a:extLst>
          </p:cNvPr>
          <p:cNvSpPr>
            <a:spLocks xmlns:a="http://schemas.openxmlformats.org/drawingml/2006/main" noGrp="1"/>
          </p:cNvSpPr>
          <p:nvPr/>
        </p:nvSpPr>
        <p:spPr>
          <a:xfrm xmlns:a="http://schemas.openxmlformats.org/drawingml/2006/main">
            <a:off x="876300" y="40576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167CDB02-8DF0-4CD6-8BE0-AAB639163919}"/>
              </a:ext>
            </a:extLst>
          </p:cNvPr>
          <p:cNvSpPr>
            <a:spLocks xmlns:a="http://schemas.openxmlformats.org/drawingml/2006/main" noGrp="1"/>
          </p:cNvSpPr>
          <p:nvPr/>
        </p:nvSpPr>
        <p:spPr>
          <a:xfrm xmlns:a="http://schemas.openxmlformats.org/drawingml/2006/main">
            <a:off x="876300" y="42481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Raw QA retrieval</a:t>
            </a:r>
          </a:p>
        </p:txBody>
      </p:sp>
      <p:sp>
        <p:nvSpPr>
          <p:cNvPr id="18" name="">
            <a:extLst xmlns:a="http://schemas.openxmlformats.org/drawingml/2006/main">
              <a:ext uri="{FF2B5EF4-FFF2-40B4-BE49-F238E27FC236}">
                <a16:creationId xmlns:a16="http://schemas.microsoft.com/office/drawing/2014/main" id="{363C1570-8C19-4F0F-9E37-4839B6A7C60F}"/>
              </a:ext>
            </a:extLst>
          </p:cNvPr>
          <p:cNvSpPr>
            <a:spLocks xmlns:a="http://schemas.openxmlformats.org/drawingml/2006/main" noGrp="1"/>
          </p:cNvSpPr>
          <p:nvPr/>
        </p:nvSpPr>
        <p:spPr>
          <a:xfrm xmlns:a="http://schemas.openxmlformats.org/drawingml/2006/main">
            <a:off x="3733800" y="42481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Relevant passage, wrong relation</a:t>
            </a:r>
          </a:p>
        </p:txBody>
      </p:sp>
      <p:sp>
        <p:nvSpPr>
          <p:cNvPr id="19" name="">
            <a:extLst xmlns:a="http://schemas.openxmlformats.org/drawingml/2006/main">
              <a:ext uri="{FF2B5EF4-FFF2-40B4-BE49-F238E27FC236}">
                <a16:creationId xmlns:a16="http://schemas.microsoft.com/office/drawing/2014/main" id="{1E3B809B-72FC-43C9-8B62-085B63D9DE29}"/>
              </a:ext>
            </a:extLst>
          </p:cNvPr>
          <p:cNvSpPr>
            <a:spLocks xmlns:a="http://schemas.openxmlformats.org/drawingml/2006/main" noGrp="1"/>
          </p:cNvSpPr>
          <p:nvPr/>
        </p:nvSpPr>
        <p:spPr>
          <a:xfrm xmlns:a="http://schemas.openxmlformats.org/drawingml/2006/main">
            <a:off x="7086600" y="42481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Retrieval proposes; it never decides</a:t>
            </a:r>
          </a:p>
        </p:txBody>
      </p:sp>
      <p:sp>
        <p:nvSpPr>
          <p:cNvPr id="20" name="">
            <a:extLst xmlns:a="http://schemas.openxmlformats.org/drawingml/2006/main">
              <a:ext uri="{FF2B5EF4-FFF2-40B4-BE49-F238E27FC236}">
                <a16:creationId xmlns:a16="http://schemas.microsoft.com/office/drawing/2014/main" id="{9A1AA02E-B891-4133-A939-2FD48E9ED555}"/>
              </a:ext>
            </a:extLst>
          </p:cNvPr>
          <p:cNvSpPr>
            <a:spLocks xmlns:a="http://schemas.openxmlformats.org/drawingml/2006/main" noGrp="1"/>
          </p:cNvSpPr>
          <p:nvPr/>
        </p:nvSpPr>
        <p:spPr>
          <a:xfrm xmlns:a="http://schemas.openxmlformats.org/drawingml/2006/main">
            <a:off x="876300" y="4895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5F831E87-D104-47BC-A892-BCD479F7B849}"/>
              </a:ext>
            </a:extLst>
          </p:cNvPr>
          <p:cNvSpPr>
            <a:spLocks xmlns:a="http://schemas.openxmlformats.org/drawingml/2006/main" noGrp="1"/>
          </p:cNvSpPr>
          <p:nvPr/>
        </p:nvSpPr>
        <p:spPr>
          <a:xfrm xmlns:a="http://schemas.openxmlformats.org/drawingml/2006/main">
            <a:off x="876300" y="50863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v87 fact edits</a:t>
            </a:r>
          </a:p>
        </p:txBody>
      </p:sp>
      <p:sp>
        <p:nvSpPr>
          <p:cNvPr id="22" name="">
            <a:extLst xmlns:a="http://schemas.openxmlformats.org/drawingml/2006/main">
              <a:ext uri="{FF2B5EF4-FFF2-40B4-BE49-F238E27FC236}">
                <a16:creationId xmlns:a16="http://schemas.microsoft.com/office/drawing/2014/main" id="{9D0D269E-1B19-4849-BE54-1C086F6E7148}"/>
              </a:ext>
            </a:extLst>
          </p:cNvPr>
          <p:cNvSpPr>
            <a:spLocks xmlns:a="http://schemas.openxmlformats.org/drawingml/2006/main" noGrp="1"/>
          </p:cNvSpPr>
          <p:nvPr/>
        </p:nvSpPr>
        <p:spPr>
          <a:xfrm xmlns:a="http://schemas.openxmlformats.org/drawingml/2006/main">
            <a:off x="3733800" y="50863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B5483A"/>
                </a:solidFill>
              </a:defRPr>
            </a:pPr>
            <a:r>
              <a:rPr sz="1425" b="1">
                <a:solidFill>
                  <a:srgbClr val="B5483A"/>
                </a:solidFill>
              </a:rPr>
              <a:t>0.966 to 0.965 public</a:t>
            </a:r>
          </a:p>
        </p:txBody>
      </p:sp>
      <p:sp>
        <p:nvSpPr>
          <p:cNvPr id="23" name="">
            <a:extLst xmlns:a="http://schemas.openxmlformats.org/drawingml/2006/main">
              <a:ext uri="{FF2B5EF4-FFF2-40B4-BE49-F238E27FC236}">
                <a16:creationId xmlns:a16="http://schemas.microsoft.com/office/drawing/2014/main" id="{F6C55C9B-1E86-477F-8151-26BC09102323}"/>
              </a:ext>
            </a:extLst>
          </p:cNvPr>
          <p:cNvSpPr>
            <a:spLocks xmlns:a="http://schemas.openxmlformats.org/drawingml/2006/main" noGrp="1"/>
          </p:cNvSpPr>
          <p:nvPr/>
        </p:nvSpPr>
        <p:spPr>
          <a:xfrm xmlns:a="http://schemas.openxmlformats.org/drawingml/2006/main">
            <a:off x="7086600" y="50863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Require source + predicate; revert</a:t>
            </a:r>
          </a:p>
        </p:txBody>
      </p:sp>
      <p:sp>
        <p:nvSpPr>
          <p:cNvPr id="24" name="">
            <a:extLst xmlns:a="http://schemas.openxmlformats.org/drawingml/2006/main">
              <a:ext uri="{FF2B5EF4-FFF2-40B4-BE49-F238E27FC236}">
                <a16:creationId xmlns:a16="http://schemas.microsoft.com/office/drawing/2014/main" id="{744243E3-375E-4DA4-93AA-4294E593C452}"/>
              </a:ext>
            </a:extLst>
          </p:cNvPr>
          <p:cNvSpPr>
            <a:spLocks xmlns:a="http://schemas.openxmlformats.org/drawingml/2006/main" noGrp="1"/>
          </p:cNvSpPr>
          <p:nvPr/>
        </p:nvSpPr>
        <p:spPr>
          <a:xfrm xmlns:a="http://schemas.openxmlformats.org/drawingml/2006/main">
            <a:off x="876300" y="57340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29EFD0DC-B388-4476-A62A-338BC2C07F9D}"/>
              </a:ext>
            </a:extLst>
          </p:cNvPr>
          <p:cNvSpPr>
            <a:spLocks xmlns:a="http://schemas.openxmlformats.org/drawingml/2006/main" noGrp="1"/>
          </p:cNvSpPr>
          <p:nvPr/>
        </p:nvSpPr>
        <p:spPr>
          <a:xfrm xmlns:a="http://schemas.openxmlformats.org/drawingml/2006/main">
            <a:off x="1295400" y="5886450"/>
            <a:ext cx="960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B5483A"/>
                </a:solidFill>
              </a:defRPr>
            </a:pPr>
            <a:r>
              <a:rPr sz="1500" b="1">
                <a:solidFill>
                  <a:srgbClr val="B5483A"/>
                </a:solidFill>
              </a:rPr>
              <a:t>Admission rule: a change must add an evidence trace and preserve the regression suite.</a:t>
            </a:r>
          </a:p>
        </p:txBody>
      </p:sp>
      <p:sp>
        <p:nvSpPr>
          <p:cNvPr id="26" name="">
            <a:extLst xmlns:a="http://schemas.openxmlformats.org/drawingml/2006/main">
              <a:ext uri="{FF2B5EF4-FFF2-40B4-BE49-F238E27FC236}">
                <a16:creationId xmlns:a16="http://schemas.microsoft.com/office/drawing/2014/main" id="{606B725C-818B-44BD-9619-91C2C55B01B6}"/>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11">
            <a:extLst xmlns:a="http://schemas.openxmlformats.org/drawingml/2006/main">
              <a:ext uri="{FF2B5EF4-FFF2-40B4-BE49-F238E27FC236}">
                <a16:creationId xmlns:a16="http://schemas.microsoft.com/office/drawing/2014/main" id="{F6268502-DD88-4C8E-AFC2-F3735EDC5F3A}"/>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Rejected and scored experiment records in EXPERIMENT.log</a:t>
            </a:r>
          </a:p>
        </p:txBody>
      </p:sp>
      <p:sp>
        <p:nvSpPr>
          <p:cNvPr id="28" name="page-11">
            <a:extLst xmlns:a="http://schemas.openxmlformats.org/drawingml/2006/main">
              <a:ext uri="{FF2B5EF4-FFF2-40B4-BE49-F238E27FC236}">
                <a16:creationId xmlns:a16="http://schemas.microsoft.com/office/drawing/2014/main" id="{BA6637E6-7E5D-4167-8869-67A5BAC6055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11</a:t>
            </a:r>
          </a:p>
        </p:txBody>
      </p:sp>
    </p:spTree>
    <p:extLst>
      <p:ext uri="{BB962C8B-B14F-4D97-AF65-F5344CB8AC3E}">
        <p14:creationId xmlns:p14="http://schemas.microsoft.com/office/powerpoint/2010/main" val="837753142"/>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8" name="kicker-12">
            <a:extLst xmlns:a="http://schemas.openxmlformats.org/drawingml/2006/main">
              <a:ext uri="{FF2B5EF4-FFF2-40B4-BE49-F238E27FC236}">
                <a16:creationId xmlns:a16="http://schemas.microsoft.com/office/drawing/2014/main" id="{F660AC61-5E47-4BC2-83AF-4DD649132A8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2">
            <a:extLst xmlns:a="http://schemas.openxmlformats.org/drawingml/2006/main">
              <a:ext uri="{FF2B5EF4-FFF2-40B4-BE49-F238E27FC236}">
                <a16:creationId xmlns:a16="http://schemas.microsoft.com/office/drawing/2014/main" id="{99DAA247-2AA8-45DE-B216-3587BDB9321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Reproducibility was treated as an evaluation result</a:t>
            </a:r>
          </a:p>
        </p:txBody>
      </p:sp>
      <p:sp>
        <p:nvSpPr>
          <p:cNvPr id="3" name="">
            <a:extLst xmlns:a="http://schemas.openxmlformats.org/drawingml/2006/main">
              <a:ext uri="{FF2B5EF4-FFF2-40B4-BE49-F238E27FC236}">
                <a16:creationId xmlns:a16="http://schemas.microsoft.com/office/drawing/2014/main" id="{25EFA620-8FF6-47B9-BD17-7C606C939C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3792FF5-2CF9-407D-971C-4C2B98D6FC63}"/>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Correctness, deterministic execution, output integrity, and runtime were checked separately.</a:t>
            </a:r>
          </a:p>
        </p:txBody>
      </p:sp>
      <p:sp>
        <p:nvSpPr>
          <p:cNvPr id="5" name="">
            <a:extLst xmlns:a="http://schemas.openxmlformats.org/drawingml/2006/main">
              <a:ext uri="{FF2B5EF4-FFF2-40B4-BE49-F238E27FC236}">
                <a16:creationId xmlns:a16="http://schemas.microsoft.com/office/drawing/2014/main" id="{E91B8C04-A6A5-40F0-A67D-06296EFC8C79}"/>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249</a:t>
            </a:r>
          </a:p>
        </p:txBody>
      </p:sp>
      <p:sp>
        <p:nvSpPr>
          <p:cNvPr id="6" name="">
            <a:extLst xmlns:a="http://schemas.openxmlformats.org/drawingml/2006/main">
              <a:ext uri="{FF2B5EF4-FFF2-40B4-BE49-F238E27FC236}">
                <a16:creationId xmlns:a16="http://schemas.microsoft.com/office/drawing/2014/main" id="{05049A46-07B5-450A-9D97-9AB90827F5CD}"/>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automated regression tests</a:t>
            </a:r>
          </a:p>
        </p:txBody>
      </p:sp>
      <p:sp>
        <p:nvSpPr>
          <p:cNvPr id="7" name="">
            <a:extLst xmlns:a="http://schemas.openxmlformats.org/drawingml/2006/main">
              <a:ext uri="{FF2B5EF4-FFF2-40B4-BE49-F238E27FC236}">
                <a16:creationId xmlns:a16="http://schemas.microsoft.com/office/drawing/2014/main" id="{9A1AA8E5-D4AB-4C10-9269-0391D0919160}"/>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3</a:t>
            </a:r>
          </a:p>
        </p:txBody>
      </p:sp>
      <p:sp>
        <p:nvSpPr>
          <p:cNvPr id="8" name="">
            <a:extLst xmlns:a="http://schemas.openxmlformats.org/drawingml/2006/main">
              <a:ext uri="{FF2B5EF4-FFF2-40B4-BE49-F238E27FC236}">
                <a16:creationId xmlns:a16="http://schemas.microsoft.com/office/drawing/2014/main" id="{264B21FE-76D4-48C7-917B-E1AF42BFBDBA}"/>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byte-identical inference runs</a:t>
            </a:r>
          </a:p>
        </p:txBody>
      </p:sp>
      <p:sp>
        <p:nvSpPr>
          <p:cNvPr id="9" name="">
            <a:extLst xmlns:a="http://schemas.openxmlformats.org/drawingml/2006/main">
              <a:ext uri="{FF2B5EF4-FFF2-40B4-BE49-F238E27FC236}">
                <a16:creationId xmlns:a16="http://schemas.microsoft.com/office/drawing/2014/main" id="{3D0AC9AA-B7BF-4895-AB08-541EB4024DEB}"/>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225</a:t>
            </a:r>
          </a:p>
        </p:txBody>
      </p:sp>
      <p:sp>
        <p:nvSpPr>
          <p:cNvPr id="10" name="">
            <a:extLst xmlns:a="http://schemas.openxmlformats.org/drawingml/2006/main">
              <a:ext uri="{FF2B5EF4-FFF2-40B4-BE49-F238E27FC236}">
                <a16:creationId xmlns:a16="http://schemas.microsoft.com/office/drawing/2014/main" id="{4B703288-FB36-4BB7-A351-19BC27DB1DB6}"/>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deterministic controls</a:t>
            </a:r>
          </a:p>
        </p:txBody>
      </p:sp>
      <p:sp>
        <p:nvSpPr>
          <p:cNvPr id="11" name="">
            <a:extLst xmlns:a="http://schemas.openxmlformats.org/drawingml/2006/main">
              <a:ext uri="{FF2B5EF4-FFF2-40B4-BE49-F238E27FC236}">
                <a16:creationId xmlns:a16="http://schemas.microsoft.com/office/drawing/2014/main" id="{588BDC76-8B0B-403A-B801-28D1B7ED4A40}"/>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7829D50C-D8A2-45A8-897C-10082E6554D1}"/>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0AC59BB1-EA8F-42E7-8421-3851A1715F5C}"/>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397DAD1-EA95-4861-BAF1-4B8568438CA7}"/>
              </a:ext>
            </a:extLst>
          </p:cNvPr>
          <p:cNvSpPr>
            <a:spLocks xmlns:a="http://schemas.openxmlformats.org/drawingml/2006/main" noGrp="1"/>
          </p:cNvSpPr>
          <p:nvPr/>
        </p:nvSpPr>
        <p:spPr>
          <a:xfrm xmlns:a="http://schemas.openxmlformats.org/drawingml/2006/main">
            <a:off x="24574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5" name="">
            <a:extLst xmlns:a="http://schemas.openxmlformats.org/drawingml/2006/main">
              <a:ext uri="{FF2B5EF4-FFF2-40B4-BE49-F238E27FC236}">
                <a16:creationId xmlns:a16="http://schemas.microsoft.com/office/drawing/2014/main" id="{C031D5D7-F883-4015-9C07-297919EE7431}"/>
              </a:ext>
            </a:extLst>
          </p:cNvPr>
          <p:cNvSpPr>
            <a:spLocks xmlns:a="http://schemas.openxmlformats.org/drawingml/2006/main" noGrp="1"/>
          </p:cNvSpPr>
          <p:nvPr/>
        </p:nvSpPr>
        <p:spPr>
          <a:xfrm xmlns:a="http://schemas.openxmlformats.org/drawingml/2006/main">
            <a:off x="45910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6" name="">
            <a:extLst xmlns:a="http://schemas.openxmlformats.org/drawingml/2006/main">
              <a:ext uri="{FF2B5EF4-FFF2-40B4-BE49-F238E27FC236}">
                <a16:creationId xmlns:a16="http://schemas.microsoft.com/office/drawing/2014/main" id="{BD2B6089-6177-4D2F-AFD3-6D89327060A5}"/>
              </a:ext>
            </a:extLst>
          </p:cNvPr>
          <p:cNvSpPr>
            <a:spLocks xmlns:a="http://schemas.openxmlformats.org/drawingml/2006/main" noGrp="1"/>
          </p:cNvSpPr>
          <p:nvPr/>
        </p:nvSpPr>
        <p:spPr>
          <a:xfrm xmlns:a="http://schemas.openxmlformats.org/drawingml/2006/main">
            <a:off x="67246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7" name="">
            <a:extLst xmlns:a="http://schemas.openxmlformats.org/drawingml/2006/main">
              <a:ext uri="{FF2B5EF4-FFF2-40B4-BE49-F238E27FC236}">
                <a16:creationId xmlns:a16="http://schemas.microsoft.com/office/drawing/2014/main" id="{AE27FDFA-5D0D-4D74-BA0F-FA7FDFE3F36A}"/>
              </a:ext>
            </a:extLst>
          </p:cNvPr>
          <p:cNvSpPr>
            <a:spLocks xmlns:a="http://schemas.openxmlformats.org/drawingml/2006/main" noGrp="1"/>
          </p:cNvSpPr>
          <p:nvPr/>
        </p:nvSpPr>
        <p:spPr>
          <a:xfrm xmlns:a="http://schemas.openxmlformats.org/drawingml/2006/main">
            <a:off x="88582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6FA8D2E3-F33F-442A-A477-EF3CECFE4059}"/>
              </a:ext>
            </a:extLst>
          </p:cNvPr>
          <p:cNvSpPr>
            <a:spLocks xmlns:a="http://schemas.openxmlformats.org/drawingml/2006/main" noGrp="1"/>
          </p:cNvSpPr>
          <p:nvPr/>
        </p:nvSpPr>
        <p:spPr>
          <a:xfrm xmlns:a="http://schemas.openxmlformats.org/drawingml/2006/main">
            <a:off x="7429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85FAC507-243B-45F5-9FB6-3E7403B0CD4B}"/>
              </a:ext>
            </a:extLst>
          </p:cNvPr>
          <p:cNvSpPr>
            <a:spLocks xmlns:a="http://schemas.openxmlformats.org/drawingml/2006/main" noGrp="1"/>
          </p:cNvSpPr>
          <p:nvPr/>
        </p:nvSpPr>
        <p:spPr>
          <a:xfrm xmlns:a="http://schemas.openxmlformats.org/drawingml/2006/main">
            <a:off x="8763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Literal path</a:t>
            </a:r>
          </a:p>
        </p:txBody>
      </p:sp>
      <p:sp>
        <p:nvSpPr>
          <p:cNvPr id="20" name="">
            <a:extLst xmlns:a="http://schemas.openxmlformats.org/drawingml/2006/main">
              <a:ext uri="{FF2B5EF4-FFF2-40B4-BE49-F238E27FC236}">
                <a16:creationId xmlns:a16="http://schemas.microsoft.com/office/drawing/2014/main" id="{06653A2D-471B-445D-8C38-8679B0EB94C7}"/>
              </a:ext>
            </a:extLst>
          </p:cNvPr>
          <p:cNvSpPr>
            <a:spLocks xmlns:a="http://schemas.openxmlformats.org/drawingml/2006/main" noGrp="1"/>
          </p:cNvSpPr>
          <p:nvPr/>
        </p:nvSpPr>
        <p:spPr>
          <a:xfrm xmlns:a="http://schemas.openxmlformats.org/drawingml/2006/main">
            <a:off x="8763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organizer test path</a:t>
            </a:r>
          </a:p>
        </p:txBody>
      </p:sp>
      <p:sp>
        <p:nvSpPr>
          <p:cNvPr id="21" name="">
            <a:extLst xmlns:a="http://schemas.openxmlformats.org/drawingml/2006/main">
              <a:ext uri="{FF2B5EF4-FFF2-40B4-BE49-F238E27FC236}">
                <a16:creationId xmlns:a16="http://schemas.microsoft.com/office/drawing/2014/main" id="{CC0C5B61-1E1D-457F-B2E1-FFEEA5675179}"/>
              </a:ext>
            </a:extLst>
          </p:cNvPr>
          <p:cNvSpPr>
            <a:spLocks xmlns:a="http://schemas.openxmlformats.org/drawingml/2006/main" noGrp="1"/>
          </p:cNvSpPr>
          <p:nvPr/>
        </p:nvSpPr>
        <p:spPr>
          <a:xfrm xmlns:a="http://schemas.openxmlformats.org/drawingml/2006/main">
            <a:off x="28765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2" name="">
            <a:extLst xmlns:a="http://schemas.openxmlformats.org/drawingml/2006/main">
              <a:ext uri="{FF2B5EF4-FFF2-40B4-BE49-F238E27FC236}">
                <a16:creationId xmlns:a16="http://schemas.microsoft.com/office/drawing/2014/main" id="{13AF7728-E64D-4A47-B229-2AD4932B324D}"/>
              </a:ext>
            </a:extLst>
          </p:cNvPr>
          <p:cNvSpPr>
            <a:spLocks xmlns:a="http://schemas.openxmlformats.org/drawingml/2006/main" noGrp="1"/>
          </p:cNvSpPr>
          <p:nvPr/>
        </p:nvSpPr>
        <p:spPr>
          <a:xfrm xmlns:a="http://schemas.openxmlformats.org/drawingml/2006/main">
            <a:off x="30099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Pinned assets</a:t>
            </a:r>
          </a:p>
        </p:txBody>
      </p:sp>
      <p:sp>
        <p:nvSpPr>
          <p:cNvPr id="23" name="">
            <a:extLst xmlns:a="http://schemas.openxmlformats.org/drawingml/2006/main">
              <a:ext uri="{FF2B5EF4-FFF2-40B4-BE49-F238E27FC236}">
                <a16:creationId xmlns:a16="http://schemas.microsoft.com/office/drawing/2014/main" id="{375A5280-EC9F-4D70-B7E6-CDB50D4ED65B}"/>
              </a:ext>
            </a:extLst>
          </p:cNvPr>
          <p:cNvSpPr>
            <a:spLocks xmlns:a="http://schemas.openxmlformats.org/drawingml/2006/main" noGrp="1"/>
          </p:cNvSpPr>
          <p:nvPr/>
        </p:nvSpPr>
        <p:spPr>
          <a:xfrm xmlns:a="http://schemas.openxmlformats.org/drawingml/2006/main">
            <a:off x="30099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model + runtime + evidence</a:t>
            </a:r>
          </a:p>
        </p:txBody>
      </p:sp>
      <p:sp>
        <p:nvSpPr>
          <p:cNvPr id="24" name="">
            <a:extLst xmlns:a="http://schemas.openxmlformats.org/drawingml/2006/main">
              <a:ext uri="{FF2B5EF4-FFF2-40B4-BE49-F238E27FC236}">
                <a16:creationId xmlns:a16="http://schemas.microsoft.com/office/drawing/2014/main" id="{E564E088-86FB-4B00-ACA6-707780E24F97}"/>
              </a:ext>
            </a:extLst>
          </p:cNvPr>
          <p:cNvSpPr>
            <a:spLocks xmlns:a="http://schemas.openxmlformats.org/drawingml/2006/main" noGrp="1"/>
          </p:cNvSpPr>
          <p:nvPr/>
        </p:nvSpPr>
        <p:spPr>
          <a:xfrm xmlns:a="http://schemas.openxmlformats.org/drawingml/2006/main">
            <a:off x="50101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5" name="">
            <a:extLst xmlns:a="http://schemas.openxmlformats.org/drawingml/2006/main">
              <a:ext uri="{FF2B5EF4-FFF2-40B4-BE49-F238E27FC236}">
                <a16:creationId xmlns:a16="http://schemas.microsoft.com/office/drawing/2014/main" id="{8C7611AC-ADF7-44AE-9DB6-17FD7144F0B9}"/>
              </a:ext>
            </a:extLst>
          </p:cNvPr>
          <p:cNvSpPr>
            <a:spLocks xmlns:a="http://schemas.openxmlformats.org/drawingml/2006/main" noGrp="1"/>
          </p:cNvSpPr>
          <p:nvPr/>
        </p:nvSpPr>
        <p:spPr>
          <a:xfrm xmlns:a="http://schemas.openxmlformats.org/drawingml/2006/main">
            <a:off x="51435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Fixed schedule</a:t>
            </a:r>
          </a:p>
        </p:txBody>
      </p:sp>
      <p:sp>
        <p:nvSpPr>
          <p:cNvPr id="26" name="">
            <a:extLst xmlns:a="http://schemas.openxmlformats.org/drawingml/2006/main">
              <a:ext uri="{FF2B5EF4-FFF2-40B4-BE49-F238E27FC236}">
                <a16:creationId xmlns:a16="http://schemas.microsoft.com/office/drawing/2014/main" id="{FC78B84C-7EC7-4962-8407-09CA6DACC0BF}"/>
              </a:ext>
            </a:extLst>
          </p:cNvPr>
          <p:cNvSpPr>
            <a:spLocks xmlns:a="http://schemas.openxmlformats.org/drawingml/2006/main" noGrp="1"/>
          </p:cNvSpPr>
          <p:nvPr/>
        </p:nvSpPr>
        <p:spPr>
          <a:xfrm xmlns:a="http://schemas.openxmlformats.org/drawingml/2006/main">
            <a:off x="51435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rows + prompts + batches</a:t>
            </a:r>
          </a:p>
        </p:txBody>
      </p:sp>
      <p:sp>
        <p:nvSpPr>
          <p:cNvPr id="27" name="">
            <a:extLst xmlns:a="http://schemas.openxmlformats.org/drawingml/2006/main">
              <a:ext uri="{FF2B5EF4-FFF2-40B4-BE49-F238E27FC236}">
                <a16:creationId xmlns:a16="http://schemas.microsoft.com/office/drawing/2014/main" id="{533904A5-743B-41F1-A58B-43C5E77DA6BF}"/>
              </a:ext>
            </a:extLst>
          </p:cNvPr>
          <p:cNvSpPr>
            <a:spLocks xmlns:a="http://schemas.openxmlformats.org/drawingml/2006/main" noGrp="1"/>
          </p:cNvSpPr>
          <p:nvPr/>
        </p:nvSpPr>
        <p:spPr>
          <a:xfrm xmlns:a="http://schemas.openxmlformats.org/drawingml/2006/main">
            <a:off x="71437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8" name="">
            <a:extLst xmlns:a="http://schemas.openxmlformats.org/drawingml/2006/main">
              <a:ext uri="{FF2B5EF4-FFF2-40B4-BE49-F238E27FC236}">
                <a16:creationId xmlns:a16="http://schemas.microsoft.com/office/drawing/2014/main" id="{09C81864-2CB0-43B7-8A47-A68C1C005237}"/>
              </a:ext>
            </a:extLst>
          </p:cNvPr>
          <p:cNvSpPr>
            <a:spLocks xmlns:a="http://schemas.openxmlformats.org/drawingml/2006/main" noGrp="1"/>
          </p:cNvSpPr>
          <p:nvPr/>
        </p:nvSpPr>
        <p:spPr>
          <a:xfrm xmlns:a="http://schemas.openxmlformats.org/drawingml/2006/main">
            <a:off x="72771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T4×2 inference</a:t>
            </a:r>
          </a:p>
        </p:txBody>
      </p:sp>
      <p:sp>
        <p:nvSpPr>
          <p:cNvPr id="29" name="">
            <a:extLst xmlns:a="http://schemas.openxmlformats.org/drawingml/2006/main">
              <a:ext uri="{FF2B5EF4-FFF2-40B4-BE49-F238E27FC236}">
                <a16:creationId xmlns:a16="http://schemas.microsoft.com/office/drawing/2014/main" id="{49980477-90FD-4BAA-8CF9-6363F296D606}"/>
              </a:ext>
            </a:extLst>
          </p:cNvPr>
          <p:cNvSpPr>
            <a:spLocks xmlns:a="http://schemas.openxmlformats.org/drawingml/2006/main" noGrp="1"/>
          </p:cNvSpPr>
          <p:nvPr/>
        </p:nvSpPr>
        <p:spPr>
          <a:xfrm xmlns:a="http://schemas.openxmlformats.org/drawingml/2006/main">
            <a:off x="72771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one tensor-split server</a:t>
            </a:r>
          </a:p>
        </p:txBody>
      </p:sp>
      <p:sp>
        <p:nvSpPr>
          <p:cNvPr id="30" name="">
            <a:extLst xmlns:a="http://schemas.openxmlformats.org/drawingml/2006/main">
              <a:ext uri="{FF2B5EF4-FFF2-40B4-BE49-F238E27FC236}">
                <a16:creationId xmlns:a16="http://schemas.microsoft.com/office/drawing/2014/main" id="{DAFC78E8-8B93-4CFA-B394-C1EFECCCFE78}"/>
              </a:ext>
            </a:extLst>
          </p:cNvPr>
          <p:cNvSpPr>
            <a:spLocks xmlns:a="http://schemas.openxmlformats.org/drawingml/2006/main" noGrp="1"/>
          </p:cNvSpPr>
          <p:nvPr/>
        </p:nvSpPr>
        <p:spPr>
          <a:xfrm xmlns:a="http://schemas.openxmlformats.org/drawingml/2006/main">
            <a:off x="9277350" y="4057650"/>
            <a:ext cx="1714500" cy="1047750"/>
          </a:xfrm>
          <a:prstGeom xmlns:a="http://schemas.openxmlformats.org/drawingml/2006/main" prst="roundRect">
            <a:avLst>
              <a:gd name="adj" fmla="val 12727"/>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ECC142BB-B95E-47C3-8AC5-D719E2CF1714}"/>
              </a:ext>
            </a:extLst>
          </p:cNvPr>
          <p:cNvSpPr>
            <a:spLocks xmlns:a="http://schemas.openxmlformats.org/drawingml/2006/main" noGrp="1"/>
          </p:cNvSpPr>
          <p:nvPr/>
        </p:nvSpPr>
        <p:spPr>
          <a:xfrm xmlns:a="http://schemas.openxmlformats.org/drawingml/2006/main">
            <a:off x="94107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D59B32"/>
                </a:solidFill>
              </a:defRPr>
            </a:pPr>
            <a:r>
              <a:rPr sz="1425" b="1">
                <a:solidFill>
                  <a:srgbClr val="D59B32"/>
                </a:solidFill>
              </a:rPr>
              <a:t>Validated CSV</a:t>
            </a:r>
          </a:p>
        </p:txBody>
      </p:sp>
      <p:sp>
        <p:nvSpPr>
          <p:cNvPr id="32" name="">
            <a:extLst xmlns:a="http://schemas.openxmlformats.org/drawingml/2006/main">
              <a:ext uri="{FF2B5EF4-FFF2-40B4-BE49-F238E27FC236}">
                <a16:creationId xmlns:a16="http://schemas.microsoft.com/office/drawing/2014/main" id="{16BC243C-310A-40F1-A23F-0BF4410891B4}"/>
              </a:ext>
            </a:extLst>
          </p:cNvPr>
          <p:cNvSpPr>
            <a:spLocks xmlns:a="http://schemas.openxmlformats.org/drawingml/2006/main" noGrp="1"/>
          </p:cNvSpPr>
          <p:nvPr/>
        </p:nvSpPr>
        <p:spPr>
          <a:xfrm xmlns:a="http://schemas.openxmlformats.org/drawingml/2006/main">
            <a:off x="94107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ordered id,label</a:t>
            </a:r>
          </a:p>
        </p:txBody>
      </p:sp>
      <p:sp>
        <p:nvSpPr>
          <p:cNvPr id="33" name="">
            <a:extLst xmlns:a="http://schemas.openxmlformats.org/drawingml/2006/main">
              <a:ext uri="{FF2B5EF4-FFF2-40B4-BE49-F238E27FC236}">
                <a16:creationId xmlns:a16="http://schemas.microsoft.com/office/drawing/2014/main" id="{A3AC2E9A-D42A-4A34-9DDA-ABA050314487}"/>
              </a:ext>
            </a:extLst>
          </p:cNvPr>
          <p:cNvSpPr>
            <a:spLocks xmlns:a="http://schemas.openxmlformats.org/drawingml/2006/main" noGrp="1"/>
          </p:cNvSpPr>
          <p:nvPr/>
        </p:nvSpPr>
        <p:spPr>
          <a:xfrm xmlns:a="http://schemas.openxmlformats.org/drawingml/2006/main">
            <a:off x="1524000" y="5543550"/>
            <a:ext cx="9144000" cy="514350"/>
          </a:xfrm>
          <a:prstGeom xmlns:a="http://schemas.openxmlformats.org/drawingml/2006/main" prst="roundRect">
            <a:avLst>
              <a:gd name="adj" fmla="val 22222"/>
            </a:avLst>
          </a:prstGeom>
          <a:solidFill xmlns:a="http://schemas.openxmlformats.org/drawingml/2006/main">
            <a:srgbClr val="E7EEF4"/>
          </a:solidFill>
          <a:ln xmlns:a="http://schemas.openxmlformats.org/drawingml/2006/main" w="9525">
            <a:solidFill>
              <a:srgbClr val="1F5A7A"/>
            </a:solidFill>
            <a:prstDash val="solid"/>
          </a:ln>
        </p:spPr>
      </p:sp>
      <p:sp>
        <p:nvSpPr>
          <p:cNvPr id="34" name="">
            <a:extLst xmlns:a="http://schemas.openxmlformats.org/drawingml/2006/main">
              <a:ext uri="{FF2B5EF4-FFF2-40B4-BE49-F238E27FC236}">
                <a16:creationId xmlns:a16="http://schemas.microsoft.com/office/drawing/2014/main" id="{889EFA5D-820B-45C1-BF34-43618FD75B69}"/>
              </a:ext>
            </a:extLst>
          </p:cNvPr>
          <p:cNvSpPr>
            <a:spLocks xmlns:a="http://schemas.openxmlformats.org/drawingml/2006/main" noGrp="1"/>
          </p:cNvSpPr>
          <p:nvPr/>
        </p:nvSpPr>
        <p:spPr>
          <a:xfrm xmlns:a="http://schemas.openxmlformats.org/drawingml/2006/main">
            <a:off x="1752600" y="5686425"/>
            <a:ext cx="8686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3 runs matched byte-for-byte  •  scored CSV hash matched  •  5,000 Phase 2 rows validated in 3:52:02</a:t>
            </a:r>
          </a:p>
        </p:txBody>
      </p:sp>
      <p:sp>
        <p:nvSpPr>
          <p:cNvPr id="35" name="">
            <a:extLst xmlns:a="http://schemas.openxmlformats.org/drawingml/2006/main">
              <a:ext uri="{FF2B5EF4-FFF2-40B4-BE49-F238E27FC236}">
                <a16:creationId xmlns:a16="http://schemas.microsoft.com/office/drawing/2014/main" id="{66E131D1-0821-437A-9046-5B6D7076AA4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source-12">
            <a:extLst xmlns:a="http://schemas.openxmlformats.org/drawingml/2006/main">
              <a:ext uri="{FF2B5EF4-FFF2-40B4-BE49-F238E27FC236}">
                <a16:creationId xmlns:a16="http://schemas.microsoft.com/office/drawing/2014/main" id="{0EE445F5-A6B8-4771-8E53-AF9BF4D9763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Regression suite, freeze manifest, evaluation ledger  [8] Phase 2 runtime evidence</a:t>
            </a:r>
          </a:p>
        </p:txBody>
      </p:sp>
      <p:sp>
        <p:nvSpPr>
          <p:cNvPr id="37" name="page-12">
            <a:extLst xmlns:a="http://schemas.openxmlformats.org/drawingml/2006/main">
              <a:ext uri="{FF2B5EF4-FFF2-40B4-BE49-F238E27FC236}">
                <a16:creationId xmlns:a16="http://schemas.microsoft.com/office/drawing/2014/main" id="{F85D3633-A603-4AAD-A9E8-B6A038D9750F}"/>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12</a:t>
            </a:r>
          </a:p>
        </p:txBody>
      </p:sp>
    </p:spTree>
    <p:extLst>
      <p:ext uri="{BB962C8B-B14F-4D97-AF65-F5344CB8AC3E}">
        <p14:creationId xmlns:p14="http://schemas.microsoft.com/office/powerpoint/2010/main" val="1722569808"/>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13">
            <a:extLst xmlns:a="http://schemas.openxmlformats.org/drawingml/2006/main">
              <a:ext uri="{FF2B5EF4-FFF2-40B4-BE49-F238E27FC236}">
                <a16:creationId xmlns:a16="http://schemas.microsoft.com/office/drawing/2014/main" id="{1515D7EA-7C1E-424C-9365-9E703170CF46}"/>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3">
            <a:extLst xmlns:a="http://schemas.openxmlformats.org/drawingml/2006/main">
              <a:ext uri="{FF2B5EF4-FFF2-40B4-BE49-F238E27FC236}">
                <a16:creationId xmlns:a16="http://schemas.microsoft.com/office/drawing/2014/main" id="{9CBDE1AC-996D-4140-B259-DE951A849DF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Phase 2 ranked 7/32 with an official score of 0.90144</a:t>
            </a:r>
          </a:p>
        </p:txBody>
      </p:sp>
      <p:sp>
        <p:nvSpPr>
          <p:cNvPr id="3" name="">
            <a:extLst xmlns:a="http://schemas.openxmlformats.org/drawingml/2006/main">
              <a:ext uri="{FF2B5EF4-FFF2-40B4-BE49-F238E27FC236}">
                <a16:creationId xmlns:a16="http://schemas.microsoft.com/office/drawing/2014/main" id="{3F85B47B-9034-4171-8DE0-E26C64512BE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9A8B2D2-345A-4001-ACFB-90DD8BD36ED4}"/>
              </a:ext>
            </a:extLst>
          </p:cNvPr>
          <p:cNvSpPr>
            <a:spLocks xmlns:a="http://schemas.openxmlformats.org/drawingml/2006/main" noGrp="1"/>
          </p:cNvSpPr>
          <p:nvPr/>
        </p:nvSpPr>
        <p:spPr>
          <a:xfrm xmlns:a="http://schemas.openxmlformats.org/drawingml/2006/main">
            <a:off x="685800" y="1390650"/>
            <a:ext cx="971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Official 5,000-row evaluation on Kaggle Tesla T4 x2; runtime 3 h 52 min.</a:t>
            </a:r>
          </a:p>
        </p:txBody>
      </p:sp>
      <p:sp>
        <p:nvSpPr>
          <p:cNvPr id="5" name="">
            <a:extLst xmlns:a="http://schemas.openxmlformats.org/drawingml/2006/main">
              <a:ext uri="{FF2B5EF4-FFF2-40B4-BE49-F238E27FC236}">
                <a16:creationId xmlns:a16="http://schemas.microsoft.com/office/drawing/2014/main" id="{F4F23D1D-E1EF-47E0-9F17-AA0FF61629CA}"/>
              </a:ext>
            </a:extLst>
          </p:cNvPr>
          <p:cNvSpPr>
            <a:spLocks xmlns:a="http://schemas.openxmlformats.org/drawingml/2006/main" noGrp="1"/>
          </p:cNvSpPr>
          <p:nvPr/>
        </p:nvSpPr>
        <p:spPr>
          <a:xfrm xmlns:a="http://schemas.openxmlformats.org/drawingml/2006/main">
            <a:off x="8382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0.90144</a:t>
            </a:r>
          </a:p>
        </p:txBody>
      </p:sp>
      <p:sp>
        <p:nvSpPr>
          <p:cNvPr id="6" name="">
            <a:extLst xmlns:a="http://schemas.openxmlformats.org/drawingml/2006/main">
              <a:ext uri="{FF2B5EF4-FFF2-40B4-BE49-F238E27FC236}">
                <a16:creationId xmlns:a16="http://schemas.microsoft.com/office/drawing/2014/main" id="{DDEC418C-6FEF-49FC-ABD6-5D70DA6E4243}"/>
              </a:ext>
            </a:extLst>
          </p:cNvPr>
          <p:cNvSpPr>
            <a:spLocks xmlns:a="http://schemas.openxmlformats.org/drawingml/2006/main" noGrp="1"/>
          </p:cNvSpPr>
          <p:nvPr/>
        </p:nvSpPr>
        <p:spPr>
          <a:xfrm xmlns:a="http://schemas.openxmlformats.org/drawingml/2006/main">
            <a:off x="8382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official score</a:t>
            </a:r>
          </a:p>
        </p:txBody>
      </p:sp>
      <p:sp>
        <p:nvSpPr>
          <p:cNvPr id="7" name="">
            <a:extLst xmlns:a="http://schemas.openxmlformats.org/drawingml/2006/main">
              <a:ext uri="{FF2B5EF4-FFF2-40B4-BE49-F238E27FC236}">
                <a16:creationId xmlns:a16="http://schemas.microsoft.com/office/drawing/2014/main" id="{67F1B708-C6AE-4794-AB6B-C81E80CFAAD7}"/>
              </a:ext>
            </a:extLst>
          </p:cNvPr>
          <p:cNvSpPr>
            <a:spLocks xmlns:a="http://schemas.openxmlformats.org/drawingml/2006/main" noGrp="1"/>
          </p:cNvSpPr>
          <p:nvPr/>
        </p:nvSpPr>
        <p:spPr>
          <a:xfrm xmlns:a="http://schemas.openxmlformats.org/drawingml/2006/main">
            <a:off x="35433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7 / 32</a:t>
            </a:r>
          </a:p>
        </p:txBody>
      </p:sp>
      <p:sp>
        <p:nvSpPr>
          <p:cNvPr id="8" name="">
            <a:extLst xmlns:a="http://schemas.openxmlformats.org/drawingml/2006/main">
              <a:ext uri="{FF2B5EF4-FFF2-40B4-BE49-F238E27FC236}">
                <a16:creationId xmlns:a16="http://schemas.microsoft.com/office/drawing/2014/main" id="{361C308C-08C1-423D-A8FF-BDA70BBAB123}"/>
              </a:ext>
            </a:extLst>
          </p:cNvPr>
          <p:cNvSpPr>
            <a:spLocks xmlns:a="http://schemas.openxmlformats.org/drawingml/2006/main" noGrp="1"/>
          </p:cNvSpPr>
          <p:nvPr/>
        </p:nvSpPr>
        <p:spPr>
          <a:xfrm xmlns:a="http://schemas.openxmlformats.org/drawingml/2006/main">
            <a:off x="35433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official rank</a:t>
            </a:r>
          </a:p>
        </p:txBody>
      </p:sp>
      <p:sp>
        <p:nvSpPr>
          <p:cNvPr id="9" name="">
            <a:extLst xmlns:a="http://schemas.openxmlformats.org/drawingml/2006/main">
              <a:ext uri="{FF2B5EF4-FFF2-40B4-BE49-F238E27FC236}">
                <a16:creationId xmlns:a16="http://schemas.microsoft.com/office/drawing/2014/main" id="{0DE803D9-85D5-4C74-8917-D21B6D2B8322}"/>
              </a:ext>
            </a:extLst>
          </p:cNvPr>
          <p:cNvSpPr>
            <a:spLocks xmlns:a="http://schemas.openxmlformats.org/drawingml/2006/main" noGrp="1"/>
          </p:cNvSpPr>
          <p:nvPr/>
        </p:nvSpPr>
        <p:spPr>
          <a:xfrm xmlns:a="http://schemas.openxmlformats.org/drawingml/2006/main">
            <a:off x="6248400" y="19812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4,793</a:t>
            </a:r>
          </a:p>
        </p:txBody>
      </p:sp>
      <p:sp>
        <p:nvSpPr>
          <p:cNvPr id="10" name="">
            <a:extLst xmlns:a="http://schemas.openxmlformats.org/drawingml/2006/main">
              <a:ext uri="{FF2B5EF4-FFF2-40B4-BE49-F238E27FC236}">
                <a16:creationId xmlns:a16="http://schemas.microsoft.com/office/drawing/2014/main" id="{81A1FF96-D508-482B-B3E1-50C3C04F1BE8}"/>
              </a:ext>
            </a:extLst>
          </p:cNvPr>
          <p:cNvSpPr>
            <a:spLocks xmlns:a="http://schemas.openxmlformats.org/drawingml/2006/main" noGrp="1"/>
          </p:cNvSpPr>
          <p:nvPr/>
        </p:nvSpPr>
        <p:spPr>
          <a:xfrm xmlns:a="http://schemas.openxmlformats.org/drawingml/2006/main">
            <a:off x="6248400" y="26670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Qwen judge (95.86%)</a:t>
            </a:r>
          </a:p>
        </p:txBody>
      </p:sp>
      <p:sp>
        <p:nvSpPr>
          <p:cNvPr id="11" name="">
            <a:extLst xmlns:a="http://schemas.openxmlformats.org/drawingml/2006/main">
              <a:ext uri="{FF2B5EF4-FFF2-40B4-BE49-F238E27FC236}">
                <a16:creationId xmlns:a16="http://schemas.microsoft.com/office/drawing/2014/main" id="{80A785F7-F043-46DD-B629-5563143EA3F8}"/>
              </a:ext>
            </a:extLst>
          </p:cNvPr>
          <p:cNvSpPr>
            <a:spLocks xmlns:a="http://schemas.openxmlformats.org/drawingml/2006/main" noGrp="1"/>
          </p:cNvSpPr>
          <p:nvPr/>
        </p:nvSpPr>
        <p:spPr>
          <a:xfrm xmlns:a="http://schemas.openxmlformats.org/drawingml/2006/main">
            <a:off x="9201150" y="1981200"/>
            <a:ext cx="228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3:52:02</a:t>
            </a:r>
          </a:p>
        </p:txBody>
      </p:sp>
      <p:sp>
        <p:nvSpPr>
          <p:cNvPr id="12" name="">
            <a:extLst xmlns:a="http://schemas.openxmlformats.org/drawingml/2006/main">
              <a:ext uri="{FF2B5EF4-FFF2-40B4-BE49-F238E27FC236}">
                <a16:creationId xmlns:a16="http://schemas.microsoft.com/office/drawing/2014/main" id="{9745065D-18A3-49F5-B422-FE791C5815D4}"/>
              </a:ext>
            </a:extLst>
          </p:cNvPr>
          <p:cNvSpPr>
            <a:spLocks xmlns:a="http://schemas.openxmlformats.org/drawingml/2006/main" noGrp="1"/>
          </p:cNvSpPr>
          <p:nvPr/>
        </p:nvSpPr>
        <p:spPr>
          <a:xfrm xmlns:a="http://schemas.openxmlformats.org/drawingml/2006/main">
            <a:off x="9201150" y="266700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end-to-end runtime</a:t>
            </a:r>
          </a:p>
        </p:txBody>
      </p:sp>
      <p:sp>
        <p:nvSpPr>
          <p:cNvPr id="13" name="">
            <a:extLst xmlns:a="http://schemas.openxmlformats.org/drawingml/2006/main">
              <a:ext uri="{FF2B5EF4-FFF2-40B4-BE49-F238E27FC236}">
                <a16:creationId xmlns:a16="http://schemas.microsoft.com/office/drawing/2014/main" id="{F13DCB45-6328-46C7-9F78-A93788098544}"/>
              </a:ext>
            </a:extLst>
          </p:cNvPr>
          <p:cNvSpPr>
            <a:spLocks xmlns:a="http://schemas.openxmlformats.org/drawingml/2006/main" noGrp="1"/>
          </p:cNvSpPr>
          <p:nvPr/>
        </p:nvSpPr>
        <p:spPr>
          <a:xfrm xmlns:a="http://schemas.openxmlformats.org/drawingml/2006/main">
            <a:off x="914400" y="35814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0F172A"/>
                </a:solidFill>
              </a:defRPr>
            </a:pPr>
            <a:r>
              <a:rPr sz="1650" b="1">
                <a:solidFill>
                  <a:srgbClr val="0F172A"/>
                </a:solidFill>
              </a:rPr>
              <a:t>Measured milestones</a:t>
            </a:r>
          </a:p>
        </p:txBody>
      </p:sp>
      <p:sp>
        <p:nvSpPr>
          <p:cNvPr id="14" name="">
            <a:extLst xmlns:a="http://schemas.openxmlformats.org/drawingml/2006/main">
              <a:ext uri="{FF2B5EF4-FFF2-40B4-BE49-F238E27FC236}">
                <a16:creationId xmlns:a16="http://schemas.microsoft.com/office/drawing/2014/main" id="{B818CCB0-86F6-442F-BFD2-A4A73F082115}"/>
              </a:ext>
            </a:extLst>
          </p:cNvPr>
          <p:cNvSpPr>
            <a:spLocks xmlns:a="http://schemas.openxmlformats.org/drawingml/2006/main" noGrp="1"/>
          </p:cNvSpPr>
          <p:nvPr/>
        </p:nvSpPr>
        <p:spPr>
          <a:xfrm xmlns:a="http://schemas.openxmlformats.org/drawingml/2006/main">
            <a:off x="4210050" y="35814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Elapsed</a:t>
            </a:r>
          </a:p>
        </p:txBody>
      </p:sp>
      <p:sp>
        <p:nvSpPr>
          <p:cNvPr id="15" name="">
            <a:extLst xmlns:a="http://schemas.openxmlformats.org/drawingml/2006/main">
              <a:ext uri="{FF2B5EF4-FFF2-40B4-BE49-F238E27FC236}">
                <a16:creationId xmlns:a16="http://schemas.microsoft.com/office/drawing/2014/main" id="{AC90211E-356E-4FF0-8C9C-8F3F3A8B5F66}"/>
              </a:ext>
            </a:extLst>
          </p:cNvPr>
          <p:cNvSpPr>
            <a:spLocks xmlns:a="http://schemas.openxmlformats.org/drawingml/2006/main" noGrp="1"/>
          </p:cNvSpPr>
          <p:nvPr/>
        </p:nvSpPr>
        <p:spPr>
          <a:xfrm xmlns:a="http://schemas.openxmlformats.org/drawingml/2006/main">
            <a:off x="6076950" y="35814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Observation</a:t>
            </a:r>
          </a:p>
        </p:txBody>
      </p:sp>
      <p:sp>
        <p:nvSpPr>
          <p:cNvPr id="16" name="">
            <a:extLst xmlns:a="http://schemas.openxmlformats.org/drawingml/2006/main">
              <a:ext uri="{FF2B5EF4-FFF2-40B4-BE49-F238E27FC236}">
                <a16:creationId xmlns:a16="http://schemas.microsoft.com/office/drawing/2014/main" id="{6A46EC01-E823-45CA-9BF2-4838B5F9BFC8}"/>
              </a:ext>
            </a:extLst>
          </p:cNvPr>
          <p:cNvSpPr>
            <a:spLocks xmlns:a="http://schemas.openxmlformats.org/drawingml/2006/main" noGrp="1"/>
          </p:cNvSpPr>
          <p:nvPr/>
        </p:nvSpPr>
        <p:spPr>
          <a:xfrm xmlns:a="http://schemas.openxmlformats.org/drawingml/2006/main">
            <a:off x="914400" y="3943350"/>
            <a:ext cx="99822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7" name="">
            <a:extLst xmlns:a="http://schemas.openxmlformats.org/drawingml/2006/main">
              <a:ext uri="{FF2B5EF4-FFF2-40B4-BE49-F238E27FC236}">
                <a16:creationId xmlns:a16="http://schemas.microsoft.com/office/drawing/2014/main" id="{C29F6B35-5C93-49F3-9D28-CAF25BF70D11}"/>
              </a:ext>
            </a:extLst>
          </p:cNvPr>
          <p:cNvSpPr>
            <a:spLocks xmlns:a="http://schemas.openxmlformats.org/drawingml/2006/main" noGrp="1"/>
          </p:cNvSpPr>
          <p:nvPr/>
        </p:nvSpPr>
        <p:spPr>
          <a:xfrm xmlns:a="http://schemas.openxmlformats.org/drawingml/2006/main">
            <a:off x="990600" y="4057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Router complete</a:t>
            </a:r>
          </a:p>
        </p:txBody>
      </p:sp>
      <p:sp>
        <p:nvSpPr>
          <p:cNvPr id="18" name="">
            <a:extLst xmlns:a="http://schemas.openxmlformats.org/drawingml/2006/main">
              <a:ext uri="{FF2B5EF4-FFF2-40B4-BE49-F238E27FC236}">
                <a16:creationId xmlns:a16="http://schemas.microsoft.com/office/drawing/2014/main" id="{8CC1E3D9-14ED-44EB-97B0-4F749CA76901}"/>
              </a:ext>
            </a:extLst>
          </p:cNvPr>
          <p:cNvSpPr>
            <a:spLocks xmlns:a="http://schemas.openxmlformats.org/drawingml/2006/main" noGrp="1"/>
          </p:cNvSpPr>
          <p:nvPr/>
        </p:nvSpPr>
        <p:spPr>
          <a:xfrm xmlns:a="http://schemas.openxmlformats.org/drawingml/2006/main">
            <a:off x="4210050" y="40576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2A8C82"/>
                </a:solidFill>
              </a:defRPr>
            </a:pPr>
            <a:r>
              <a:rPr sz="1350" b="1">
                <a:solidFill>
                  <a:srgbClr val="2A8C82"/>
                </a:solidFill>
              </a:rPr>
              <a:t>1:13.18</a:t>
            </a:r>
          </a:p>
        </p:txBody>
      </p:sp>
      <p:sp>
        <p:nvSpPr>
          <p:cNvPr id="19" name="">
            <a:extLst xmlns:a="http://schemas.openxmlformats.org/drawingml/2006/main">
              <a:ext uri="{FF2B5EF4-FFF2-40B4-BE49-F238E27FC236}">
                <a16:creationId xmlns:a16="http://schemas.microsoft.com/office/drawing/2014/main" id="{78220494-A5A4-48E8-80F9-A264D5CAF2ED}"/>
              </a:ext>
            </a:extLst>
          </p:cNvPr>
          <p:cNvSpPr>
            <a:spLocks xmlns:a="http://schemas.openxmlformats.org/drawingml/2006/main" noGrp="1"/>
          </p:cNvSpPr>
          <p:nvPr/>
        </p:nvSpPr>
        <p:spPr>
          <a:xfrm xmlns:a="http://schemas.openxmlformats.org/drawingml/2006/main">
            <a:off x="6076950" y="40576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207 resolved; 4,793 abstained</a:t>
            </a:r>
          </a:p>
        </p:txBody>
      </p:sp>
      <p:sp>
        <p:nvSpPr>
          <p:cNvPr id="20" name="">
            <a:extLst xmlns:a="http://schemas.openxmlformats.org/drawingml/2006/main">
              <a:ext uri="{FF2B5EF4-FFF2-40B4-BE49-F238E27FC236}">
                <a16:creationId xmlns:a16="http://schemas.microsoft.com/office/drawing/2014/main" id="{1696F7E3-707D-428A-8F7C-18B3B033B65F}"/>
              </a:ext>
            </a:extLst>
          </p:cNvPr>
          <p:cNvSpPr>
            <a:spLocks xmlns:a="http://schemas.openxmlformats.org/drawingml/2006/main" noGrp="1"/>
          </p:cNvSpPr>
          <p:nvPr/>
        </p:nvSpPr>
        <p:spPr>
          <a:xfrm xmlns:a="http://schemas.openxmlformats.org/drawingml/2006/main">
            <a:off x="914400" y="44005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D92A2359-2E7A-4443-8169-79B97E0C2059}"/>
              </a:ext>
            </a:extLst>
          </p:cNvPr>
          <p:cNvSpPr>
            <a:spLocks xmlns:a="http://schemas.openxmlformats.org/drawingml/2006/main" noGrp="1"/>
          </p:cNvSpPr>
          <p:nvPr/>
        </p:nvSpPr>
        <p:spPr>
          <a:xfrm xmlns:a="http://schemas.openxmlformats.org/drawingml/2006/main">
            <a:off x="990600" y="45148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Model ready</a:t>
            </a:r>
          </a:p>
        </p:txBody>
      </p:sp>
      <p:sp>
        <p:nvSpPr>
          <p:cNvPr id="22" name="">
            <a:extLst xmlns:a="http://schemas.openxmlformats.org/drawingml/2006/main">
              <a:ext uri="{FF2B5EF4-FFF2-40B4-BE49-F238E27FC236}">
                <a16:creationId xmlns:a16="http://schemas.microsoft.com/office/drawing/2014/main" id="{6B385DE0-BA4A-471A-B834-285082D85A1D}"/>
              </a:ext>
            </a:extLst>
          </p:cNvPr>
          <p:cNvSpPr>
            <a:spLocks xmlns:a="http://schemas.openxmlformats.org/drawingml/2006/main" noGrp="1"/>
          </p:cNvSpPr>
          <p:nvPr/>
        </p:nvSpPr>
        <p:spPr>
          <a:xfrm xmlns:a="http://schemas.openxmlformats.org/drawingml/2006/main">
            <a:off x="4210050" y="45148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2A8C82"/>
                </a:solidFill>
              </a:defRPr>
            </a:pPr>
            <a:r>
              <a:rPr sz="1350" b="1">
                <a:solidFill>
                  <a:srgbClr val="2A8C82"/>
                </a:solidFill>
              </a:rPr>
              <a:t>2:51.25</a:t>
            </a:r>
          </a:p>
        </p:txBody>
      </p:sp>
      <p:sp>
        <p:nvSpPr>
          <p:cNvPr id="23" name="">
            <a:extLst xmlns:a="http://schemas.openxmlformats.org/drawingml/2006/main">
              <a:ext uri="{FF2B5EF4-FFF2-40B4-BE49-F238E27FC236}">
                <a16:creationId xmlns:a16="http://schemas.microsoft.com/office/drawing/2014/main" id="{9E799F49-DE36-456A-8043-2345AB2A4E41}"/>
              </a:ext>
            </a:extLst>
          </p:cNvPr>
          <p:cNvSpPr>
            <a:spLocks xmlns:a="http://schemas.openxmlformats.org/drawingml/2006/main" noGrp="1"/>
          </p:cNvSpPr>
          <p:nvPr/>
        </p:nvSpPr>
        <p:spPr>
          <a:xfrm xmlns:a="http://schemas.openxmlformats.org/drawingml/2006/main">
            <a:off x="6076950" y="45148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16.332 GiB Qwen across two T4 GPUs</a:t>
            </a:r>
          </a:p>
        </p:txBody>
      </p:sp>
      <p:sp>
        <p:nvSpPr>
          <p:cNvPr id="24" name="">
            <a:extLst xmlns:a="http://schemas.openxmlformats.org/drawingml/2006/main">
              <a:ext uri="{FF2B5EF4-FFF2-40B4-BE49-F238E27FC236}">
                <a16:creationId xmlns:a16="http://schemas.microsoft.com/office/drawing/2014/main" id="{301E4E6E-0361-460F-A7F6-EADE60375C1D}"/>
              </a:ext>
            </a:extLst>
          </p:cNvPr>
          <p:cNvSpPr>
            <a:spLocks xmlns:a="http://schemas.openxmlformats.org/drawingml/2006/main" noGrp="1"/>
          </p:cNvSpPr>
          <p:nvPr/>
        </p:nvSpPr>
        <p:spPr>
          <a:xfrm xmlns:a="http://schemas.openxmlformats.org/drawingml/2006/main">
            <a:off x="914400" y="48577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A6E36677-D556-495A-8379-7F9A40FA2D6F}"/>
              </a:ext>
            </a:extLst>
          </p:cNvPr>
          <p:cNvSpPr>
            <a:spLocks xmlns:a="http://schemas.openxmlformats.org/drawingml/2006/main" noGrp="1"/>
          </p:cNvSpPr>
          <p:nvPr/>
        </p:nvSpPr>
        <p:spPr>
          <a:xfrm xmlns:a="http://schemas.openxmlformats.org/drawingml/2006/main">
            <a:off x="990600" y="49720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Judge complete</a:t>
            </a:r>
          </a:p>
        </p:txBody>
      </p:sp>
      <p:sp>
        <p:nvSpPr>
          <p:cNvPr id="26" name="">
            <a:extLst xmlns:a="http://schemas.openxmlformats.org/drawingml/2006/main">
              <a:ext uri="{FF2B5EF4-FFF2-40B4-BE49-F238E27FC236}">
                <a16:creationId xmlns:a16="http://schemas.microsoft.com/office/drawing/2014/main" id="{EA15D5F2-CF9F-4A69-B1AB-FDCFC0CF9CBE}"/>
              </a:ext>
            </a:extLst>
          </p:cNvPr>
          <p:cNvSpPr>
            <a:spLocks xmlns:a="http://schemas.openxmlformats.org/drawingml/2006/main" noGrp="1"/>
          </p:cNvSpPr>
          <p:nvPr/>
        </p:nvSpPr>
        <p:spPr>
          <a:xfrm xmlns:a="http://schemas.openxmlformats.org/drawingml/2006/main">
            <a:off x="4210050" y="49720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59B32"/>
                </a:solidFill>
              </a:defRPr>
            </a:pPr>
            <a:r>
              <a:rPr sz="1350" b="1">
                <a:solidFill>
                  <a:srgbClr val="D59B32"/>
                </a:solidFill>
              </a:rPr>
              <a:t>3:52:01.91</a:t>
            </a:r>
          </a:p>
        </p:txBody>
      </p:sp>
      <p:sp>
        <p:nvSpPr>
          <p:cNvPr id="27" name="">
            <a:extLst xmlns:a="http://schemas.openxmlformats.org/drawingml/2006/main">
              <a:ext uri="{FF2B5EF4-FFF2-40B4-BE49-F238E27FC236}">
                <a16:creationId xmlns:a16="http://schemas.microsoft.com/office/drawing/2014/main" id="{77AFDDF9-CB7A-43A3-9D9E-6ED4A10C3A7B}"/>
              </a:ext>
            </a:extLst>
          </p:cNvPr>
          <p:cNvSpPr>
            <a:spLocks xmlns:a="http://schemas.openxmlformats.org/drawingml/2006/main" noGrp="1"/>
          </p:cNvSpPr>
          <p:nvPr/>
        </p:nvSpPr>
        <p:spPr>
          <a:xfrm xmlns:a="http://schemas.openxmlformats.org/drawingml/2006/main">
            <a:off x="6076950" y="4972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13,747.50 s; 0.349 rows/s</a:t>
            </a:r>
          </a:p>
        </p:txBody>
      </p:sp>
      <p:sp>
        <p:nvSpPr>
          <p:cNvPr id="28" name="">
            <a:extLst xmlns:a="http://schemas.openxmlformats.org/drawingml/2006/main">
              <a:ext uri="{FF2B5EF4-FFF2-40B4-BE49-F238E27FC236}">
                <a16:creationId xmlns:a16="http://schemas.microsoft.com/office/drawing/2014/main" id="{C16E0CB5-88DB-4755-B5D3-7D0910A9EB32}"/>
              </a:ext>
            </a:extLst>
          </p:cNvPr>
          <p:cNvSpPr>
            <a:spLocks xmlns:a="http://schemas.openxmlformats.org/drawingml/2006/main" noGrp="1"/>
          </p:cNvSpPr>
          <p:nvPr/>
        </p:nvSpPr>
        <p:spPr>
          <a:xfrm xmlns:a="http://schemas.openxmlformats.org/drawingml/2006/main">
            <a:off x="914400" y="53149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
            <a:extLst xmlns:a="http://schemas.openxmlformats.org/drawingml/2006/main">
              <a:ext uri="{FF2B5EF4-FFF2-40B4-BE49-F238E27FC236}">
                <a16:creationId xmlns:a16="http://schemas.microsoft.com/office/drawing/2014/main" id="{C6C40E55-62DE-4F90-A086-92F2D927155B}"/>
              </a:ext>
            </a:extLst>
          </p:cNvPr>
          <p:cNvSpPr>
            <a:spLocks xmlns:a="http://schemas.openxmlformats.org/drawingml/2006/main" noGrp="1"/>
          </p:cNvSpPr>
          <p:nvPr/>
        </p:nvSpPr>
        <p:spPr>
          <a:xfrm xmlns:a="http://schemas.openxmlformats.org/drawingml/2006/main">
            <a:off x="1143000" y="5638800"/>
            <a:ext cx="9906000" cy="476250"/>
          </a:xfrm>
          <a:prstGeom xmlns:a="http://schemas.openxmlformats.org/drawingml/2006/main" prst="roundRect">
            <a:avLst>
              <a:gd name="adj" fmla="val 28000"/>
            </a:avLst>
          </a:prstGeom>
          <a:solidFill xmlns:a="http://schemas.openxmlformats.org/drawingml/2006/main">
            <a:srgbClr val="E7EEF4"/>
          </a:solidFill>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18ED38FA-5DAA-4734-A0DC-F859F6756EF2}"/>
              </a:ext>
            </a:extLst>
          </p:cNvPr>
          <p:cNvSpPr>
            <a:spLocks xmlns:a="http://schemas.openxmlformats.org/drawingml/2006/main" noGrp="1"/>
          </p:cNvSpPr>
          <p:nvPr/>
        </p:nvSpPr>
        <p:spPr>
          <a:xfrm xmlns:a="http://schemas.openxmlformats.org/drawingml/2006/main">
            <a:off x="1143000" y="5638800"/>
            <a:ext cx="4257675" cy="476250"/>
          </a:xfrm>
          <a:prstGeom xmlns:a="http://schemas.openxmlformats.org/drawingml/2006/main" prst="roundRect">
            <a:avLst>
              <a:gd name="adj" fmla="val 28000"/>
            </a:avLst>
          </a:prstGeom>
          <a:solidFill xmlns:a="http://schemas.openxmlformats.org/drawingml/2006/main">
            <a:srgbClr val="2A8C82"/>
          </a:solidFill>
          <a:ln xmlns:a="http://schemas.openxmlformats.org/drawingml/2006/main" w="0">
            <a:solidFill>
              <a:srgbClr val="2A8C82"/>
            </a:solidFill>
            <a:prstDash val="solid"/>
          </a:ln>
        </p:spPr>
      </p:sp>
      <p:sp>
        <p:nvSpPr>
          <p:cNvPr id="31" name="">
            <a:extLst xmlns:a="http://schemas.openxmlformats.org/drawingml/2006/main">
              <a:ext uri="{FF2B5EF4-FFF2-40B4-BE49-F238E27FC236}">
                <a16:creationId xmlns:a16="http://schemas.microsoft.com/office/drawing/2014/main" id="{63C8B2DA-DDDF-4534-B6FF-EE531BB7D501}"/>
              </a:ext>
            </a:extLst>
          </p:cNvPr>
          <p:cNvSpPr>
            <a:spLocks xmlns:a="http://schemas.openxmlformats.org/drawingml/2006/main" noGrp="1"/>
          </p:cNvSpPr>
          <p:nvPr/>
        </p:nvSpPr>
        <p:spPr>
          <a:xfrm xmlns:a="http://schemas.openxmlformats.org/drawingml/2006/main">
            <a:off x="1352550" y="5762625"/>
            <a:ext cx="3790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FFFFFF"/>
                </a:solidFill>
              </a:defRPr>
            </a:pPr>
            <a:r>
              <a:rPr sz="1275" b="1">
                <a:solidFill>
                  <a:srgbClr val="FFFFFF"/>
                </a:solidFill>
              </a:rPr>
              <a:t>42.97% of the 9-hour budget used</a:t>
            </a:r>
          </a:p>
        </p:txBody>
      </p:sp>
      <p:sp>
        <p:nvSpPr>
          <p:cNvPr id="32" name="">
            <a:extLst xmlns:a="http://schemas.openxmlformats.org/drawingml/2006/main">
              <a:ext uri="{FF2B5EF4-FFF2-40B4-BE49-F238E27FC236}">
                <a16:creationId xmlns:a16="http://schemas.microsoft.com/office/drawing/2014/main" id="{A36BCA44-7F28-4598-BBA0-4707B77B62A5}"/>
              </a:ext>
            </a:extLst>
          </p:cNvPr>
          <p:cNvSpPr>
            <a:spLocks xmlns:a="http://schemas.openxmlformats.org/drawingml/2006/main" noGrp="1"/>
          </p:cNvSpPr>
          <p:nvPr/>
        </p:nvSpPr>
        <p:spPr>
          <a:xfrm xmlns:a="http://schemas.openxmlformats.org/drawingml/2006/main">
            <a:off x="7010400" y="576262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5:07:58 headroom</a:t>
            </a:r>
          </a:p>
        </p:txBody>
      </p:sp>
      <p:sp>
        <p:nvSpPr>
          <p:cNvPr id="33" name="">
            <a:extLst xmlns:a="http://schemas.openxmlformats.org/drawingml/2006/main">
              <a:ext uri="{FF2B5EF4-FFF2-40B4-BE49-F238E27FC236}">
                <a16:creationId xmlns:a16="http://schemas.microsoft.com/office/drawing/2014/main" id="{35FBF6CB-E886-4974-846F-255370A4F36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13">
            <a:extLst xmlns:a="http://schemas.openxmlformats.org/drawingml/2006/main">
              <a:ext uri="{FF2B5EF4-FFF2-40B4-BE49-F238E27FC236}">
                <a16:creationId xmlns:a16="http://schemas.microsoft.com/office/drawing/2014/main" id="{BFC6A061-DF5B-495E-A48F-0FFD1211856D}"/>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[8] Organizer-run notebook and runtime  [9] Official Phase 2 results</a:t>
            </a:r>
          </a:p>
        </p:txBody>
      </p:sp>
      <p:sp>
        <p:nvSpPr>
          <p:cNvPr id="35" name="page-13">
            <a:extLst xmlns:a="http://schemas.openxmlformats.org/drawingml/2006/main">
              <a:ext uri="{FF2B5EF4-FFF2-40B4-BE49-F238E27FC236}">
                <a16:creationId xmlns:a16="http://schemas.microsoft.com/office/drawing/2014/main" id="{54D3B0D4-1D47-428C-9E2B-904D05515CA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13</a:t>
            </a:r>
          </a:p>
        </p:txBody>
      </p:sp>
    </p:spTree>
    <p:extLst>
      <p:ext uri="{BB962C8B-B14F-4D97-AF65-F5344CB8AC3E}">
        <p14:creationId xmlns:p14="http://schemas.microsoft.com/office/powerpoint/2010/main" val="79480487"/>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kicker-14">
            <a:extLst xmlns:a="http://schemas.openxmlformats.org/drawingml/2006/main">
              <a:ext uri="{FF2B5EF4-FFF2-40B4-BE49-F238E27FC236}">
                <a16:creationId xmlns:a16="http://schemas.microsoft.com/office/drawing/2014/main" id="{7898B36C-2C17-4FA9-BC6A-0D01F26EC5F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4">
            <a:extLst xmlns:a="http://schemas.openxmlformats.org/drawingml/2006/main">
              <a:ext uri="{FF2B5EF4-FFF2-40B4-BE49-F238E27FC236}">
                <a16:creationId xmlns:a16="http://schemas.microsoft.com/office/drawing/2014/main" id="{E1FA00B2-9F61-4CD6-8714-670B1604275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Phase 2 source shift collapsed deterministic coverage</a:t>
            </a:r>
          </a:p>
        </p:txBody>
      </p:sp>
      <p:sp>
        <p:nvSpPr>
          <p:cNvPr id="3" name="">
            <a:extLst xmlns:a="http://schemas.openxmlformats.org/drawingml/2006/main">
              <a:ext uri="{FF2B5EF4-FFF2-40B4-BE49-F238E27FC236}">
                <a16:creationId xmlns:a16="http://schemas.microsoft.com/office/drawing/2014/main" id="{F1D2DA00-8135-4FC2-8DD1-5ED1F949EC55}"/>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37652AF-533C-46B0-936E-4DDE5982FAC1}"/>
              </a:ext>
            </a:extLst>
          </p:cNvPr>
          <p:cNvSpPr>
            <a:spLocks xmlns:a="http://schemas.openxmlformats.org/drawingml/2006/main" noGrp="1"/>
          </p:cNvSpPr>
          <p:nvPr/>
        </p:nvSpPr>
        <p:spPr>
          <a:xfrm xmlns:a="http://schemas.openxmlformats.org/drawingml/2006/main">
            <a:off x="685800" y="1390650"/>
            <a:ext cx="1000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Exact Phase 1 lineage will cover less. The fallback must remain safe when coverage drops.</a:t>
            </a:r>
          </a:p>
        </p:txBody>
      </p:sp>
      <p:sp>
        <p:nvSpPr>
          <p:cNvPr id="5" name="">
            <a:extLst xmlns:a="http://schemas.openxmlformats.org/drawingml/2006/main">
              <a:ext uri="{FF2B5EF4-FFF2-40B4-BE49-F238E27FC236}">
                <a16:creationId xmlns:a16="http://schemas.microsoft.com/office/drawing/2014/main" id="{D86C0F2D-5369-48DE-B292-43C5413DBC76}"/>
              </a:ext>
            </a:extLst>
          </p:cNvPr>
          <p:cNvSpPr>
            <a:spLocks xmlns:a="http://schemas.openxmlformats.org/drawingml/2006/main" noGrp="1"/>
          </p:cNvSpPr>
          <p:nvPr/>
        </p:nvSpPr>
        <p:spPr>
          <a:xfrm xmlns:a="http://schemas.openxmlformats.org/drawingml/2006/main">
            <a:off x="914400" y="21526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Web and news</a:t>
            </a:r>
          </a:p>
        </p:txBody>
      </p:sp>
      <p:sp>
        <p:nvSpPr>
          <p:cNvPr id="6" name="">
            <a:extLst xmlns:a="http://schemas.openxmlformats.org/drawingml/2006/main">
              <a:ext uri="{FF2B5EF4-FFF2-40B4-BE49-F238E27FC236}">
                <a16:creationId xmlns:a16="http://schemas.microsoft.com/office/drawing/2014/main" id="{DBA22544-F6E8-40A1-99A7-97BD1413F865}"/>
              </a:ext>
            </a:extLst>
          </p:cNvPr>
          <p:cNvSpPr>
            <a:spLocks xmlns:a="http://schemas.openxmlformats.org/drawingml/2006/main" noGrp="1"/>
          </p:cNvSpPr>
          <p:nvPr/>
        </p:nvSpPr>
        <p:spPr>
          <a:xfrm xmlns:a="http://schemas.openxmlformats.org/drawingml/2006/main">
            <a:off x="914400" y="24765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Common Crawl, recent newspapers</a:t>
            </a:r>
          </a:p>
        </p:txBody>
      </p:sp>
      <p:sp>
        <p:nvSpPr>
          <p:cNvPr id="7" name="">
            <a:extLst xmlns:a="http://schemas.openxmlformats.org/drawingml/2006/main">
              <a:ext uri="{FF2B5EF4-FFF2-40B4-BE49-F238E27FC236}">
                <a16:creationId xmlns:a16="http://schemas.microsoft.com/office/drawing/2014/main" id="{66837C75-E250-448F-8CC1-81F0EA41F4BA}"/>
              </a:ext>
            </a:extLst>
          </p:cNvPr>
          <p:cNvSpPr>
            <a:spLocks xmlns:a="http://schemas.openxmlformats.org/drawingml/2006/main" noGrp="1"/>
          </p:cNvSpPr>
          <p:nvPr/>
        </p:nvSpPr>
        <p:spPr>
          <a:xfrm xmlns:a="http://schemas.openxmlformats.org/drawingml/2006/main">
            <a:off x="914400" y="28956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F48A290B-F30C-48FA-9CC3-300B0EF9B466}"/>
              </a:ext>
            </a:extLst>
          </p:cNvPr>
          <p:cNvSpPr>
            <a:spLocks xmlns:a="http://schemas.openxmlformats.org/drawingml/2006/main" noGrp="1"/>
          </p:cNvSpPr>
          <p:nvPr/>
        </p:nvSpPr>
        <p:spPr>
          <a:xfrm xmlns:a="http://schemas.openxmlformats.org/drawingml/2006/main">
            <a:off x="914400" y="30289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Knowledge</a:t>
            </a:r>
          </a:p>
        </p:txBody>
      </p:sp>
      <p:sp>
        <p:nvSpPr>
          <p:cNvPr id="9" name="">
            <a:extLst xmlns:a="http://schemas.openxmlformats.org/drawingml/2006/main">
              <a:ext uri="{FF2B5EF4-FFF2-40B4-BE49-F238E27FC236}">
                <a16:creationId xmlns:a16="http://schemas.microsoft.com/office/drawing/2014/main" id="{1A516C28-5D76-4721-BF70-C535191608A1}"/>
              </a:ext>
            </a:extLst>
          </p:cNvPr>
          <p:cNvSpPr>
            <a:spLocks xmlns:a="http://schemas.openxmlformats.org/drawingml/2006/main" noGrp="1"/>
          </p:cNvSpPr>
          <p:nvPr/>
        </p:nvSpPr>
        <p:spPr>
          <a:xfrm xmlns:a="http://schemas.openxmlformats.org/drawingml/2006/main">
            <a:off x="914400" y="33528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Wikipedia and Banglapedia</a:t>
            </a:r>
          </a:p>
        </p:txBody>
      </p:sp>
      <p:sp>
        <p:nvSpPr>
          <p:cNvPr id="10" name="">
            <a:extLst xmlns:a="http://schemas.openxmlformats.org/drawingml/2006/main">
              <a:ext uri="{FF2B5EF4-FFF2-40B4-BE49-F238E27FC236}">
                <a16:creationId xmlns:a16="http://schemas.microsoft.com/office/drawing/2014/main" id="{94941702-B6A1-4DF5-974A-723D57DFF41F}"/>
              </a:ext>
            </a:extLst>
          </p:cNvPr>
          <p:cNvSpPr>
            <a:spLocks xmlns:a="http://schemas.openxmlformats.org/drawingml/2006/main" noGrp="1"/>
          </p:cNvSpPr>
          <p:nvPr/>
        </p:nvSpPr>
        <p:spPr>
          <a:xfrm xmlns:a="http://schemas.openxmlformats.org/drawingml/2006/main">
            <a:off x="914400" y="37719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4EDA2D85-3F9B-4AA6-B5B6-DBF722A2E122}"/>
              </a:ext>
            </a:extLst>
          </p:cNvPr>
          <p:cNvSpPr>
            <a:spLocks xmlns:a="http://schemas.openxmlformats.org/drawingml/2006/main" noGrp="1"/>
          </p:cNvSpPr>
          <p:nvPr/>
        </p:nvSpPr>
        <p:spPr>
          <a:xfrm xmlns:a="http://schemas.openxmlformats.org/drawingml/2006/main">
            <a:off x="914400" y="39052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Civic and legal</a:t>
            </a:r>
          </a:p>
        </p:txBody>
      </p:sp>
      <p:sp>
        <p:nvSpPr>
          <p:cNvPr id="12" name="">
            <a:extLst xmlns:a="http://schemas.openxmlformats.org/drawingml/2006/main">
              <a:ext uri="{FF2B5EF4-FFF2-40B4-BE49-F238E27FC236}">
                <a16:creationId xmlns:a16="http://schemas.microsoft.com/office/drawing/2014/main" id="{AD340C7F-F4D1-402B-B31B-49A49F24DA1F}"/>
              </a:ext>
            </a:extLst>
          </p:cNvPr>
          <p:cNvSpPr>
            <a:spLocks xmlns:a="http://schemas.openxmlformats.org/drawingml/2006/main" noGrp="1"/>
          </p:cNvSpPr>
          <p:nvPr/>
        </p:nvSpPr>
        <p:spPr>
          <a:xfrm xmlns:a="http://schemas.openxmlformats.org/drawingml/2006/main">
            <a:off x="914400" y="4229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government services and bdlaws</a:t>
            </a:r>
          </a:p>
        </p:txBody>
      </p:sp>
      <p:sp>
        <p:nvSpPr>
          <p:cNvPr id="13" name="">
            <a:extLst xmlns:a="http://schemas.openxmlformats.org/drawingml/2006/main">
              <a:ext uri="{FF2B5EF4-FFF2-40B4-BE49-F238E27FC236}">
                <a16:creationId xmlns:a16="http://schemas.microsoft.com/office/drawing/2014/main" id="{1280E1E0-4F88-4641-98FB-BD649F4B9E64}"/>
              </a:ext>
            </a:extLst>
          </p:cNvPr>
          <p:cNvSpPr>
            <a:spLocks xmlns:a="http://schemas.openxmlformats.org/drawingml/2006/main" noGrp="1"/>
          </p:cNvSpPr>
          <p:nvPr/>
        </p:nvSpPr>
        <p:spPr>
          <a:xfrm xmlns:a="http://schemas.openxmlformats.org/drawingml/2006/main">
            <a:off x="914400" y="46482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927C0264-7C1E-408F-8AF4-BF346F231730}"/>
              </a:ext>
            </a:extLst>
          </p:cNvPr>
          <p:cNvSpPr>
            <a:spLocks xmlns:a="http://schemas.openxmlformats.org/drawingml/2006/main" noGrp="1"/>
          </p:cNvSpPr>
          <p:nvPr/>
        </p:nvSpPr>
        <p:spPr>
          <a:xfrm xmlns:a="http://schemas.openxmlformats.org/drawingml/2006/main">
            <a:off x="914400" y="4781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Education and culture</a:t>
            </a:r>
          </a:p>
        </p:txBody>
      </p:sp>
      <p:sp>
        <p:nvSpPr>
          <p:cNvPr id="15" name="">
            <a:extLst xmlns:a="http://schemas.openxmlformats.org/drawingml/2006/main">
              <a:ext uri="{FF2B5EF4-FFF2-40B4-BE49-F238E27FC236}">
                <a16:creationId xmlns:a16="http://schemas.microsoft.com/office/drawing/2014/main" id="{10F51C8C-3815-4750-BB05-4CBBE3068C20}"/>
              </a:ext>
            </a:extLst>
          </p:cNvPr>
          <p:cNvSpPr>
            <a:spLocks xmlns:a="http://schemas.openxmlformats.org/drawingml/2006/main" noGrp="1"/>
          </p:cNvSpPr>
          <p:nvPr/>
        </p:nvSpPr>
        <p:spPr>
          <a:xfrm xmlns:a="http://schemas.openxmlformats.org/drawingml/2006/main">
            <a:off x="9144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NCTB textbooks and literature</a:t>
            </a:r>
          </a:p>
        </p:txBody>
      </p:sp>
      <p:sp>
        <p:nvSpPr>
          <p:cNvPr id="16" name="">
            <a:extLst xmlns:a="http://schemas.openxmlformats.org/drawingml/2006/main">
              <a:ext uri="{FF2B5EF4-FFF2-40B4-BE49-F238E27FC236}">
                <a16:creationId xmlns:a16="http://schemas.microsoft.com/office/drawing/2014/main" id="{C9AEC63A-FD5C-453C-8CD6-60CD5E7A6069}"/>
              </a:ext>
            </a:extLst>
          </p:cNvPr>
          <p:cNvSpPr>
            <a:spLocks xmlns:a="http://schemas.openxmlformats.org/drawingml/2006/main" noGrp="1"/>
          </p:cNvSpPr>
          <p:nvPr/>
        </p:nvSpPr>
        <p:spPr>
          <a:xfrm xmlns:a="http://schemas.openxmlformats.org/drawingml/2006/main">
            <a:off x="914400" y="55245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D1723AA7-B375-477F-AB07-268AE8F2EFE5}"/>
              </a:ext>
            </a:extLst>
          </p:cNvPr>
          <p:cNvSpPr>
            <a:spLocks xmlns:a="http://schemas.openxmlformats.org/drawingml/2006/main" noGrp="1"/>
          </p:cNvSpPr>
          <p:nvPr/>
        </p:nvSpPr>
        <p:spPr>
          <a:xfrm xmlns:a="http://schemas.openxmlformats.org/drawingml/2006/main">
            <a:off x="44005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FEF20AA6-0E65-4BA0-8217-AA867FE18D93}"/>
              </a:ext>
            </a:extLst>
          </p:cNvPr>
          <p:cNvSpPr>
            <a:spLocks xmlns:a="http://schemas.openxmlformats.org/drawingml/2006/main" noGrp="1"/>
          </p:cNvSpPr>
          <p:nvPr/>
        </p:nvSpPr>
        <p:spPr>
          <a:xfrm xmlns:a="http://schemas.openxmlformats.org/drawingml/2006/main">
            <a:off x="80962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9" name="">
            <a:extLst xmlns:a="http://schemas.openxmlformats.org/drawingml/2006/main">
              <a:ext uri="{FF2B5EF4-FFF2-40B4-BE49-F238E27FC236}">
                <a16:creationId xmlns:a16="http://schemas.microsoft.com/office/drawing/2014/main" id="{93B6DF69-081D-4B90-86C6-FD19C42EDCDF}"/>
              </a:ext>
            </a:extLst>
          </p:cNvPr>
          <p:cNvSpPr>
            <a:spLocks xmlns:a="http://schemas.openxmlformats.org/drawingml/2006/main" noGrp="1"/>
          </p:cNvSpPr>
          <p:nvPr/>
        </p:nvSpPr>
        <p:spPr>
          <a:xfrm xmlns:a="http://schemas.openxmlformats.org/drawingml/2006/main">
            <a:off x="5334000" y="2324100"/>
            <a:ext cx="272415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8EED23B5-0773-4A3A-AC6E-6E175D1178C9}"/>
              </a:ext>
            </a:extLst>
          </p:cNvPr>
          <p:cNvSpPr>
            <a:spLocks xmlns:a="http://schemas.openxmlformats.org/drawingml/2006/main" noGrp="1"/>
          </p:cNvSpPr>
          <p:nvPr/>
        </p:nvSpPr>
        <p:spPr>
          <a:xfrm xmlns:a="http://schemas.openxmlformats.org/drawingml/2006/main">
            <a:off x="5619750" y="2628900"/>
            <a:ext cx="2152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75" b="1">
                <a:solidFill>
                  <a:srgbClr val="2A8C82"/>
                </a:solidFill>
              </a:defRPr>
            </a:pPr>
            <a:r>
              <a:rPr sz="1875" b="1">
                <a:solidFill>
                  <a:srgbClr val="2A8C82"/>
                </a:solidFill>
              </a:rPr>
              <a:t>Try exact routing</a:t>
            </a:r>
          </a:p>
        </p:txBody>
      </p:sp>
      <p:sp>
        <p:nvSpPr>
          <p:cNvPr id="21" name="">
            <a:extLst xmlns:a="http://schemas.openxmlformats.org/drawingml/2006/main">
              <a:ext uri="{FF2B5EF4-FFF2-40B4-BE49-F238E27FC236}">
                <a16:creationId xmlns:a16="http://schemas.microsoft.com/office/drawing/2014/main" id="{79E4F740-8365-4B46-A6FA-859377D5F35B}"/>
              </a:ext>
            </a:extLst>
          </p:cNvPr>
          <p:cNvSpPr>
            <a:spLocks xmlns:a="http://schemas.openxmlformats.org/drawingml/2006/main" noGrp="1"/>
          </p:cNvSpPr>
          <p:nvPr/>
        </p:nvSpPr>
        <p:spPr>
          <a:xfrm xmlns:a="http://schemas.openxmlformats.org/drawingml/2006/main">
            <a:off x="5657850" y="3143250"/>
            <a:ext cx="20764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0">
                <a:solidFill>
                  <a:srgbClr val="526174"/>
                </a:solidFill>
              </a:defRPr>
            </a:pPr>
            <a:r>
              <a:rPr sz="1425" b="0">
                <a:solidFill>
                  <a:srgbClr val="526174"/>
                </a:solidFill>
              </a:rPr>
              <a:t>context clauses</a:t>
            </a:r>
          </a:p>
          <a:p xmlns:a="http://schemas.openxmlformats.org/drawingml/2006/main">
            <a:pPr algn="ctr">
              <a:buNone/>
              <a:defRPr sz="1425" b="0">
                <a:solidFill>
                  <a:srgbClr val="526174"/>
                </a:solidFill>
              </a:defRPr>
            </a:pPr>
            <a:r>
              <a:rPr sz="1425" b="0">
                <a:solidFill>
                  <a:srgbClr val="526174"/>
                </a:solidFill>
              </a:rPr>
              <a:t>structured solvers</a:t>
            </a:r>
          </a:p>
          <a:p xmlns:a="http://schemas.openxmlformats.org/drawingml/2006/main">
            <a:pPr algn="ctr">
              <a:buNone/>
              <a:defRPr sz="1425" b="0">
                <a:solidFill>
                  <a:srgbClr val="526174"/>
                </a:solidFill>
              </a:defRPr>
            </a:pPr>
            <a:r>
              <a:rPr sz="1425" b="0">
                <a:solidFill>
                  <a:srgbClr val="526174"/>
                </a:solidFill>
              </a:rPr>
              <a:t>entity-relation checks</a:t>
            </a:r>
          </a:p>
        </p:txBody>
      </p:sp>
      <p:sp>
        <p:nvSpPr>
          <p:cNvPr id="22" name="">
            <a:extLst xmlns:a="http://schemas.openxmlformats.org/drawingml/2006/main">
              <a:ext uri="{FF2B5EF4-FFF2-40B4-BE49-F238E27FC236}">
                <a16:creationId xmlns:a16="http://schemas.microsoft.com/office/drawing/2014/main" id="{B7FC16EF-370C-4042-B77A-FE7F4B05B1B4}"/>
              </a:ext>
            </a:extLst>
          </p:cNvPr>
          <p:cNvSpPr>
            <a:spLocks xmlns:a="http://schemas.openxmlformats.org/drawingml/2006/main" noGrp="1"/>
          </p:cNvSpPr>
          <p:nvPr/>
        </p:nvSpPr>
        <p:spPr>
          <a:xfrm xmlns:a="http://schemas.openxmlformats.org/drawingml/2006/main">
            <a:off x="9029700" y="2324100"/>
            <a:ext cx="2247900" cy="2095500"/>
          </a:xfrm>
          <a:prstGeom xmlns:a="http://schemas.openxmlformats.org/drawingml/2006/main" prst="roundRect">
            <a:avLst>
              <a:gd name="adj" fmla="val 8182"/>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A2543E8D-C76C-4378-8C70-6CB3AD1BED34}"/>
              </a:ext>
            </a:extLst>
          </p:cNvPr>
          <p:cNvSpPr>
            <a:spLocks xmlns:a="http://schemas.openxmlformats.org/drawingml/2006/main" noGrp="1"/>
          </p:cNvSpPr>
          <p:nvPr/>
        </p:nvSpPr>
        <p:spPr>
          <a:xfrm xmlns:a="http://schemas.openxmlformats.org/drawingml/2006/main">
            <a:off x="9296400" y="2628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75" b="1">
                <a:solidFill>
                  <a:srgbClr val="D59B32"/>
                </a:solidFill>
              </a:defRPr>
            </a:pPr>
            <a:r>
              <a:rPr sz="1875" b="1">
                <a:solidFill>
                  <a:srgbClr val="D59B32"/>
                </a:solidFill>
              </a:rPr>
              <a:t>If uncertain</a:t>
            </a:r>
          </a:p>
        </p:txBody>
      </p:sp>
      <p:sp>
        <p:nvSpPr>
          <p:cNvPr id="24" name="">
            <a:extLst xmlns:a="http://schemas.openxmlformats.org/drawingml/2006/main">
              <a:ext uri="{FF2B5EF4-FFF2-40B4-BE49-F238E27FC236}">
                <a16:creationId xmlns:a16="http://schemas.microsoft.com/office/drawing/2014/main" id="{8C5E981E-3684-4EDC-890A-D3FF2122BFF8}"/>
              </a:ext>
            </a:extLst>
          </p:cNvPr>
          <p:cNvSpPr>
            <a:spLocks xmlns:a="http://schemas.openxmlformats.org/drawingml/2006/main" noGrp="1"/>
          </p:cNvSpPr>
          <p:nvPr/>
        </p:nvSpPr>
        <p:spPr>
          <a:xfrm xmlns:a="http://schemas.openxmlformats.org/drawingml/2006/main">
            <a:off x="9296400" y="3143250"/>
            <a:ext cx="171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skip lineage</a:t>
            </a:r>
          </a:p>
          <a:p xmlns:a="http://schemas.openxmlformats.org/drawingml/2006/main">
            <a:pPr algn="ctr">
              <a:buNone/>
              <a:defRPr sz="1350" b="0">
                <a:solidFill>
                  <a:srgbClr val="526174"/>
                </a:solidFill>
              </a:defRPr>
            </a:pPr>
            <a:r>
              <a:rPr sz="1350" b="0">
                <a:solidFill>
                  <a:srgbClr val="526174"/>
                </a:solidFill>
              </a:rPr>
              <a:t>use the fixed judge</a:t>
            </a:r>
          </a:p>
          <a:p xmlns:a="http://schemas.openxmlformats.org/drawingml/2006/main">
            <a:pPr algn="ctr">
              <a:buNone/>
              <a:defRPr sz="1350" b="0">
                <a:solidFill>
                  <a:srgbClr val="526174"/>
                </a:solidFill>
              </a:defRPr>
            </a:pPr>
            <a:r>
              <a:rPr sz="1350" b="0">
                <a:solidFill>
                  <a:srgbClr val="526174"/>
                </a:solidFill>
              </a:rPr>
              <a:t>keep the same vote rule</a:t>
            </a:r>
          </a:p>
        </p:txBody>
      </p:sp>
      <p:sp>
        <p:nvSpPr>
          <p:cNvPr id="25" name="">
            <a:extLst xmlns:a="http://schemas.openxmlformats.org/drawingml/2006/main">
              <a:ext uri="{FF2B5EF4-FFF2-40B4-BE49-F238E27FC236}">
                <a16:creationId xmlns:a16="http://schemas.microsoft.com/office/drawing/2014/main" id="{751B1260-DF46-4828-B92D-B2C29E05BEDE}"/>
              </a:ext>
            </a:extLst>
          </p:cNvPr>
          <p:cNvSpPr>
            <a:spLocks xmlns:a="http://schemas.openxmlformats.org/drawingml/2006/main" noGrp="1"/>
          </p:cNvSpPr>
          <p:nvPr/>
        </p:nvSpPr>
        <p:spPr>
          <a:xfrm xmlns:a="http://schemas.openxmlformats.org/drawingml/2006/main">
            <a:off x="4857750" y="5029200"/>
            <a:ext cx="6286500" cy="819150"/>
          </a:xfrm>
          <a:prstGeom xmlns:a="http://schemas.openxmlformats.org/drawingml/2006/main" prst="roundRect">
            <a:avLst>
              <a:gd name="adj" fmla="val 18605"/>
            </a:avLst>
          </a:prstGeom>
          <a:solidFill xmlns:a="http://schemas.openxmlformats.org/drawingml/2006/main">
            <a:srgbClr val="E7EEF4"/>
          </a:solidFill>
          <a:ln xmlns:a="http://schemas.openxmlformats.org/drawingml/2006/main" w="9525">
            <a:solidFill>
              <a:srgbClr val="1F5A7A"/>
            </a:solidFill>
            <a:prstDash val="solid"/>
          </a:ln>
        </p:spPr>
      </p:sp>
      <p:sp>
        <p:nvSpPr>
          <p:cNvPr id="26" name="">
            <a:extLst xmlns:a="http://schemas.openxmlformats.org/drawingml/2006/main">
              <a:ext uri="{FF2B5EF4-FFF2-40B4-BE49-F238E27FC236}">
                <a16:creationId xmlns:a16="http://schemas.microsoft.com/office/drawing/2014/main" id="{B6547CB1-52FC-4436-9DBE-F5FC4BE55915}"/>
              </a:ext>
            </a:extLst>
          </p:cNvPr>
          <p:cNvSpPr>
            <a:spLocks xmlns:a="http://schemas.openxmlformats.org/drawingml/2006/main" noGrp="1"/>
          </p:cNvSpPr>
          <p:nvPr/>
        </p:nvSpPr>
        <p:spPr>
          <a:xfrm xmlns:a="http://schemas.openxmlformats.org/drawingml/2006/main">
            <a:off x="5086350" y="5181600"/>
            <a:ext cx="582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Deterministic coverage: 93.72% in Phase 1 -&gt; 4.14% in Phase 2</a:t>
            </a:r>
          </a:p>
        </p:txBody>
      </p:sp>
      <p:sp>
        <p:nvSpPr>
          <p:cNvPr id="27" name="">
            <a:extLst xmlns:a="http://schemas.openxmlformats.org/drawingml/2006/main">
              <a:ext uri="{FF2B5EF4-FFF2-40B4-BE49-F238E27FC236}">
                <a16:creationId xmlns:a16="http://schemas.microsoft.com/office/drawing/2014/main" id="{C4387042-6B0B-4701-B898-EDC0B5A37C7C}"/>
              </a:ext>
            </a:extLst>
          </p:cNvPr>
          <p:cNvSpPr>
            <a:spLocks xmlns:a="http://schemas.openxmlformats.org/drawingml/2006/main" noGrp="1"/>
          </p:cNvSpPr>
          <p:nvPr/>
        </p:nvSpPr>
        <p:spPr>
          <a:xfrm xmlns:a="http://schemas.openxmlformats.org/drawingml/2006/main">
            <a:off x="5086350" y="5505450"/>
            <a:ext cx="582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Official score 0.90144; rank 7/32; completed in 3:52:02.</a:t>
            </a:r>
          </a:p>
        </p:txBody>
      </p:sp>
      <p:sp>
        <p:nvSpPr>
          <p:cNvPr id="28" name="">
            <a:extLst xmlns:a="http://schemas.openxmlformats.org/drawingml/2006/main">
              <a:ext uri="{FF2B5EF4-FFF2-40B4-BE49-F238E27FC236}">
                <a16:creationId xmlns:a16="http://schemas.microsoft.com/office/drawing/2014/main" id="{20E05A06-5957-4BD6-A7F7-9AAD3AB3A09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source-14">
            <a:extLst xmlns:a="http://schemas.openxmlformats.org/drawingml/2006/main">
              <a:ext uri="{FF2B5EF4-FFF2-40B4-BE49-F238E27FC236}">
                <a16:creationId xmlns:a16="http://schemas.microsoft.com/office/drawing/2014/main" id="{93F53662-130E-413B-975B-D87C85E9E30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[2] Source preview  [8] Held-out runtime  [9] Official Phase 2 results</a:t>
            </a:r>
          </a:p>
        </p:txBody>
      </p:sp>
      <p:sp>
        <p:nvSpPr>
          <p:cNvPr id="30" name="page-14">
            <a:extLst xmlns:a="http://schemas.openxmlformats.org/drawingml/2006/main">
              <a:ext uri="{FF2B5EF4-FFF2-40B4-BE49-F238E27FC236}">
                <a16:creationId xmlns:a16="http://schemas.microsoft.com/office/drawing/2014/main" id="{68315756-396F-4268-A6A1-DE3FE1C54A5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14</a:t>
            </a:r>
          </a:p>
        </p:txBody>
      </p:sp>
    </p:spTree>
    <p:extLst>
      <p:ext uri="{BB962C8B-B14F-4D97-AF65-F5344CB8AC3E}">
        <p14:creationId xmlns:p14="http://schemas.microsoft.com/office/powerpoint/2010/main" val="624765838"/>
      </p:ext>
    </p:extLst>
  </p:cSld>
</p:sld>
</file>

<file path=ppt/slides/slide1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C6C590-AC8D-4D41-809E-7E46F3144D4D}"/>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
            <a:extLst xmlns:a="http://schemas.openxmlformats.org/drawingml/2006/main">
              <a:ext uri="{FF2B5EF4-FFF2-40B4-BE49-F238E27FC236}">
                <a16:creationId xmlns:a16="http://schemas.microsoft.com/office/drawing/2014/main" id="{7701A439-0284-41A8-82FA-93596169CFD0}"/>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0F172A"/>
                </a:solidFill>
              </a:defRPr>
            </a:pPr>
            <a:r>
              <a:rPr sz="3300" b="1">
                <a:solidFill>
                  <a:srgbClr val="0F172A"/>
                </a:solidFill>
              </a:rPr>
              <a:t>What the experiments support—</a:t>
            </a:r>
          </a:p>
          <a:p xmlns:a="http://schemas.openxmlformats.org/drawingml/2006/main">
            <a:pPr algn="l">
              <a:buNone/>
              <a:defRPr sz="3300" b="1">
                <a:solidFill>
                  <a:srgbClr val="0F172A"/>
                </a:solidFill>
              </a:defRPr>
            </a:pPr>
            <a:r>
              <a:rPr sz="3300" b="1">
                <a:solidFill>
                  <a:srgbClr val="0F172A"/>
                </a:solidFill>
              </a:rPr>
              <a:t>and what remains open</a:t>
            </a:r>
          </a:p>
        </p:txBody>
      </p:sp>
      <p:sp>
        <p:nvSpPr>
          <p:cNvPr id="3" name="">
            <a:extLst xmlns:a="http://schemas.openxmlformats.org/drawingml/2006/main">
              <a:ext uri="{FF2B5EF4-FFF2-40B4-BE49-F238E27FC236}">
                <a16:creationId xmlns:a16="http://schemas.microsoft.com/office/drawing/2014/main" id="{E39312FA-DAE7-402C-9B1B-72ABD0FA420F}"/>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9C9F5B7B-F077-4CFB-99B4-3607107AEA6E}"/>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2A8C82"/>
                </a:solidFill>
              </a:defRPr>
            </a:pPr>
            <a:r>
              <a:rPr sz="1650" b="1">
                <a:solidFill>
                  <a:srgbClr val="2A8C82"/>
                </a:solidFill>
              </a:rPr>
              <a:t>Supported</a:t>
            </a:r>
          </a:p>
        </p:txBody>
      </p:sp>
      <p:sp>
        <p:nvSpPr>
          <p:cNvPr id="5" name="">
            <a:extLst xmlns:a="http://schemas.openxmlformats.org/drawingml/2006/main">
              <a:ext uri="{FF2B5EF4-FFF2-40B4-BE49-F238E27FC236}">
                <a16:creationId xmlns:a16="http://schemas.microsoft.com/office/drawing/2014/main" id="{A34508EC-ADC8-47BD-944D-F8E4B8A94CBA}"/>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Task families need separate policies.</a:t>
            </a:r>
          </a:p>
          <a:p xmlns:a="http://schemas.openxmlformats.org/drawingml/2006/main">
            <a:pPr algn="l">
              <a:buNone/>
              <a:defRPr sz="1275" b="0">
                <a:solidFill>
                  <a:srgbClr val="0F172A"/>
                </a:solidFill>
              </a:defRPr>
            </a:pPr>
            <a:r>
              <a:rPr sz="1275" b="0">
                <a:solidFill>
                  <a:srgbClr val="0F172A"/>
                </a:solidFill>
              </a:rPr>
              <a:t>Predicate alignment prevents relation swaps.</a:t>
            </a:r>
          </a:p>
          <a:p xmlns:a="http://schemas.openxmlformats.org/drawingml/2006/main">
            <a:pPr algn="l">
              <a:buNone/>
              <a:defRPr sz="1275" b="0">
                <a:solidFill>
                  <a:srgbClr val="0F172A"/>
                </a:solidFill>
              </a:defRPr>
            </a:pPr>
            <a:r>
              <a:rPr sz="1275" b="0">
                <a:solidFill>
                  <a:srgbClr val="0F172A"/>
                </a:solidFill>
              </a:rPr>
              <a:t>Abstention protected runtime under shift.</a:t>
            </a:r>
          </a:p>
        </p:txBody>
      </p:sp>
      <p:sp>
        <p:nvSpPr>
          <p:cNvPr id="6" name="">
            <a:extLst xmlns:a="http://schemas.openxmlformats.org/drawingml/2006/main">
              <a:ext uri="{FF2B5EF4-FFF2-40B4-BE49-F238E27FC236}">
                <a16:creationId xmlns:a16="http://schemas.microsoft.com/office/drawing/2014/main" id="{6C419DA7-6A87-4599-97A5-DC8565EA9D06}"/>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6D87793E-5438-4392-A581-FB5DDAEC7C1C}"/>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B5483A"/>
                </a:solidFill>
              </a:defRPr>
            </a:pPr>
            <a:r>
              <a:rPr sz="1650" b="1">
                <a:solidFill>
                  <a:srgbClr val="B5483A"/>
                </a:solidFill>
              </a:rPr>
              <a:t>Limitations</a:t>
            </a:r>
          </a:p>
        </p:txBody>
      </p:sp>
      <p:sp>
        <p:nvSpPr>
          <p:cNvPr id="8" name="">
            <a:extLst xmlns:a="http://schemas.openxmlformats.org/drawingml/2006/main">
              <a:ext uri="{FF2B5EF4-FFF2-40B4-BE49-F238E27FC236}">
                <a16:creationId xmlns:a16="http://schemas.microsoft.com/office/drawing/2014/main" id="{F9D7D7CC-E901-4166-8780-28A3997F008B}"/>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Only 299 released labels.</a:t>
            </a:r>
          </a:p>
          <a:p xmlns:a="http://schemas.openxmlformats.org/drawingml/2006/main">
            <a:pPr algn="l">
              <a:buNone/>
              <a:defRPr sz="1275" b="0">
                <a:solidFill>
                  <a:srgbClr val="0F172A"/>
                </a:solidFill>
              </a:defRPr>
            </a:pPr>
            <a:r>
              <a:rPr sz="1275" b="0">
                <a:solidFill>
                  <a:srgbClr val="0F172A"/>
                </a:solidFill>
              </a:rPr>
              <a:t>Phase 2 result is aggregate only.</a:t>
            </a:r>
          </a:p>
          <a:p xmlns:a="http://schemas.openxmlformats.org/drawingml/2006/main">
            <a:pPr algn="l">
              <a:buNone/>
              <a:defRPr sz="1275" b="0">
                <a:solidFill>
                  <a:srgbClr val="0F172A"/>
                </a:solidFill>
              </a:defRPr>
            </a:pPr>
            <a:r>
              <a:rPr sz="1275" b="0">
                <a:solidFill>
                  <a:srgbClr val="0F172A"/>
                </a:solidFill>
              </a:rPr>
              <a:t>No Phase 2 row-level errors.</a:t>
            </a:r>
          </a:p>
        </p:txBody>
      </p:sp>
      <p:sp>
        <p:nvSpPr>
          <p:cNvPr id="9" name="">
            <a:extLst xmlns:a="http://schemas.openxmlformats.org/drawingml/2006/main">
              <a:ext uri="{FF2B5EF4-FFF2-40B4-BE49-F238E27FC236}">
                <a16:creationId xmlns:a16="http://schemas.microsoft.com/office/drawing/2014/main" id="{8DE7FAC4-CFA3-447F-9C4E-1476C1FCDEB3}"/>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E87CC63-2335-46D0-A6C8-2AD8472D2D98}"/>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D59B32"/>
                </a:solidFill>
              </a:defRPr>
            </a:pPr>
            <a:r>
              <a:rPr sz="1650" b="1">
                <a:solidFill>
                  <a:srgbClr val="D59B32"/>
                </a:solidFill>
              </a:rPr>
              <a:t>Next analyses</a:t>
            </a:r>
          </a:p>
        </p:txBody>
      </p:sp>
      <p:sp>
        <p:nvSpPr>
          <p:cNvPr id="11" name="">
            <a:extLst xmlns:a="http://schemas.openxmlformats.org/drawingml/2006/main">
              <a:ext uri="{FF2B5EF4-FFF2-40B4-BE49-F238E27FC236}">
                <a16:creationId xmlns:a16="http://schemas.microsoft.com/office/drawing/2014/main" id="{538A2B92-C66B-49B4-9A54-4B7E3F42E171}"/>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If labels are released, inspect Phase 2 errors.</a:t>
            </a:r>
          </a:p>
          <a:p xmlns:a="http://schemas.openxmlformats.org/drawingml/2006/main">
            <a:pPr algn="l">
              <a:buNone/>
              <a:defRPr sz="1275" b="0">
                <a:solidFill>
                  <a:srgbClr val="0F172A"/>
                </a:solidFill>
              </a:defRPr>
            </a:pPr>
            <a:r>
              <a:rPr sz="1275" b="0">
                <a:solidFill>
                  <a:srgbClr val="0F172A"/>
                </a:solidFill>
              </a:rPr>
              <a:t>Calibrate the judged tail.</a:t>
            </a:r>
          </a:p>
          <a:p xmlns:a="http://schemas.openxmlformats.org/drawingml/2006/main">
            <a:pPr algn="l">
              <a:buNone/>
              <a:defRPr sz="1275" b="0">
                <a:solidFill>
                  <a:srgbClr val="0F172A"/>
                </a:solidFill>
              </a:defRPr>
            </a:pPr>
            <a:r>
              <a:rPr sz="1275" b="0">
                <a:solidFill>
                  <a:srgbClr val="0F172A"/>
                </a:solidFill>
              </a:rPr>
              <a:t>Expand licensed civic and news evidence.</a:t>
            </a:r>
          </a:p>
        </p:txBody>
      </p:sp>
      <p:sp>
        <p:nvSpPr>
          <p:cNvPr id="12" name="">
            <a:extLst xmlns:a="http://schemas.openxmlformats.org/drawingml/2006/main">
              <a:ext uri="{FF2B5EF4-FFF2-40B4-BE49-F238E27FC236}">
                <a16:creationId xmlns:a16="http://schemas.microsoft.com/office/drawing/2014/main" id="{8744B878-38BB-41E7-9CDB-A47574C43C45}"/>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1F5A7A"/>
                </a:solidFill>
              </a:defRPr>
            </a:pPr>
            <a:r>
              <a:rPr sz="2700" b="1">
                <a:solidFill>
                  <a:srgbClr val="1F5A7A"/>
                </a:solidFill>
              </a:rPr>
              <a:t>Questions</a:t>
            </a:r>
          </a:p>
        </p:txBody>
      </p:sp>
      <p:sp>
        <p:nvSpPr>
          <p:cNvPr id="13" name="">
            <a:extLst xmlns:a="http://schemas.openxmlformats.org/drawingml/2006/main">
              <a:ext uri="{FF2B5EF4-FFF2-40B4-BE49-F238E27FC236}">
                <a16:creationId xmlns:a16="http://schemas.microsoft.com/office/drawing/2014/main" id="{B5222930-A972-4E65-8A69-CFE761388F8B}"/>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350" b="1">
                <a:solidFill>
                  <a:srgbClr val="526174"/>
                </a:solidFill>
              </a:defRPr>
            </a:pPr>
            <a:r>
              <a:rPr sz="1350" b="1">
                <a:solidFill>
                  <a:srgbClr val="526174"/>
                </a:solidFill>
              </a:rPr>
              <a:t>Held-out result: 0.90144, rank 7/32; runtime: 3 h 52 min.</a:t>
            </a:r>
          </a:p>
        </p:txBody>
      </p:sp>
      <p:sp>
        <p:nvSpPr>
          <p:cNvPr id="14" name="">
            <a:extLst xmlns:a="http://schemas.openxmlformats.org/drawingml/2006/main">
              <a:ext uri="{FF2B5EF4-FFF2-40B4-BE49-F238E27FC236}">
                <a16:creationId xmlns:a16="http://schemas.microsoft.com/office/drawing/2014/main" id="{F8781430-71AC-4AC8-AAE8-227D6612A7A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9D17B9C4-5AFB-4BEB-9DA4-65B1E25650A8}"/>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Final system  [8] Runtime evidence  [9] Official Phase 2 results</a:t>
            </a:r>
          </a:p>
        </p:txBody>
      </p:sp>
      <p:sp>
        <p:nvSpPr>
          <p:cNvPr id="16" name="">
            <a:extLst xmlns:a="http://schemas.openxmlformats.org/drawingml/2006/main">
              <a:ext uri="{FF2B5EF4-FFF2-40B4-BE49-F238E27FC236}">
                <a16:creationId xmlns:a16="http://schemas.microsoft.com/office/drawing/2014/main" id="{37D8D58A-E0D4-4368-A6D1-D7F564E3069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15</a:t>
            </a:r>
          </a:p>
        </p:txBody>
      </p:sp>
    </p:spTree>
    <p:extLst>
      <p:ext uri="{BB962C8B-B14F-4D97-AF65-F5344CB8AC3E}">
        <p14:creationId xmlns:p14="http://schemas.microsoft.com/office/powerpoint/2010/main" val="1877395611"/>
      </p:ext>
    </p:extLst>
  </p:cSld>
</p:sld>
</file>

<file path=ppt/slides/slide1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618A35C3-47C4-48F6-A39A-BF754085859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5">
            <a:extLst xmlns:a="http://schemas.openxmlformats.org/drawingml/2006/main">
              <a:ext uri="{FF2B5EF4-FFF2-40B4-BE49-F238E27FC236}">
                <a16:creationId xmlns:a16="http://schemas.microsoft.com/office/drawing/2014/main" id="{929C1CE2-E695-47E4-A694-83011D1A876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Evidence standards changed with the row type</a:t>
            </a:r>
          </a:p>
        </p:txBody>
      </p:sp>
      <p:sp>
        <p:nvSpPr>
          <p:cNvPr id="3" name="">
            <a:extLst xmlns:a="http://schemas.openxmlformats.org/drawingml/2006/main">
              <a:ext uri="{FF2B5EF4-FFF2-40B4-BE49-F238E27FC236}">
                <a16:creationId xmlns:a16="http://schemas.microsoft.com/office/drawing/2014/main" id="{042A1347-FE9D-43D3-893B-5EAD4AA415B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A5E9D00-EF1F-4D55-9AE4-D81B295C68DB}"/>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binary label stayed fixed; the support test changed with the task and available evidence.</a:t>
            </a:r>
          </a:p>
        </p:txBody>
      </p:sp>
      <p:sp>
        <p:nvSpPr>
          <p:cNvPr id="5" name="">
            <a:extLst xmlns:a="http://schemas.openxmlformats.org/drawingml/2006/main">
              <a:ext uri="{FF2B5EF4-FFF2-40B4-BE49-F238E27FC236}">
                <a16:creationId xmlns:a16="http://schemas.microsoft.com/office/drawing/2014/main" id="{EED90EB8-F55C-4460-8A13-A501F78E0060}"/>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10B8C89-8FC4-4790-8C34-84172DB5FE54}"/>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Context</a:t>
            </a:r>
          </a:p>
        </p:txBody>
      </p:sp>
      <p:sp>
        <p:nvSpPr>
          <p:cNvPr id="7" name="">
            <a:extLst xmlns:a="http://schemas.openxmlformats.org/drawingml/2006/main">
              <a:ext uri="{FF2B5EF4-FFF2-40B4-BE49-F238E27FC236}">
                <a16:creationId xmlns:a16="http://schemas.microsoft.com/office/drawing/2014/main" id="{1355E712-AC15-4DED-9D35-25A08FF1B3E0}"/>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6E507E20-8586-46A7-836E-4C0B73834D68}"/>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split response claims</a:t>
            </a:r>
          </a:p>
        </p:txBody>
      </p:sp>
      <p:sp>
        <p:nvSpPr>
          <p:cNvPr id="9" name="">
            <a:extLst xmlns:a="http://schemas.openxmlformats.org/drawingml/2006/main">
              <a:ext uri="{FF2B5EF4-FFF2-40B4-BE49-F238E27FC236}">
                <a16:creationId xmlns:a16="http://schemas.microsoft.com/office/drawing/2014/main" id="{AE467811-FC93-4158-9BA3-3781BFC53D49}"/>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A75D73B8-BA07-4BE0-A075-93BB10F7773A}"/>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check passage support</a:t>
            </a:r>
          </a:p>
        </p:txBody>
      </p:sp>
      <p:sp>
        <p:nvSpPr>
          <p:cNvPr id="11" name="">
            <a:extLst xmlns:a="http://schemas.openxmlformats.org/drawingml/2006/main">
              <a:ext uri="{FF2B5EF4-FFF2-40B4-BE49-F238E27FC236}">
                <a16:creationId xmlns:a16="http://schemas.microsoft.com/office/drawing/2014/main" id="{7C524ADE-CD38-4284-AF6B-41DB71A46F1D}"/>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FC7CCE28-F4AB-4028-A3A5-24A9A3FAC690}"/>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reject extra claims</a:t>
            </a:r>
          </a:p>
        </p:txBody>
      </p:sp>
      <p:sp>
        <p:nvSpPr>
          <p:cNvPr id="13" name="">
            <a:extLst xmlns:a="http://schemas.openxmlformats.org/drawingml/2006/main">
              <a:ext uri="{FF2B5EF4-FFF2-40B4-BE49-F238E27FC236}">
                <a16:creationId xmlns:a16="http://schemas.microsoft.com/office/drawing/2014/main" id="{A07B4E95-ACEB-489F-8094-78BE2AD71B1B}"/>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FD4B71B-9175-4345-ACBB-7B4DA70FBD1C}"/>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Closed form</a:t>
            </a:r>
          </a:p>
        </p:txBody>
      </p:sp>
      <p:sp>
        <p:nvSpPr>
          <p:cNvPr id="15" name="">
            <a:extLst xmlns:a="http://schemas.openxmlformats.org/drawingml/2006/main">
              <a:ext uri="{FF2B5EF4-FFF2-40B4-BE49-F238E27FC236}">
                <a16:creationId xmlns:a16="http://schemas.microsoft.com/office/drawing/2014/main" id="{187FB47C-845B-45E6-84ED-964B06B639B6}"/>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3DDB91DA-D18D-4292-BB47-E5641A7945F4}"/>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parse number / option</a:t>
            </a:r>
          </a:p>
        </p:txBody>
      </p:sp>
      <p:sp>
        <p:nvSpPr>
          <p:cNvPr id="17" name="">
            <a:extLst xmlns:a="http://schemas.openxmlformats.org/drawingml/2006/main">
              <a:ext uri="{FF2B5EF4-FFF2-40B4-BE49-F238E27FC236}">
                <a16:creationId xmlns:a16="http://schemas.microsoft.com/office/drawing/2014/main" id="{7E1E3E31-74EC-4429-B379-9B3D415BC0FF}"/>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F0FC9A51-4584-4AC8-803A-96348FA59FD3}"/>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apply requested operation</a:t>
            </a:r>
          </a:p>
        </p:txBody>
      </p:sp>
      <p:sp>
        <p:nvSpPr>
          <p:cNvPr id="19" name="">
            <a:extLst xmlns:a="http://schemas.openxmlformats.org/drawingml/2006/main">
              <a:ext uri="{FF2B5EF4-FFF2-40B4-BE49-F238E27FC236}">
                <a16:creationId xmlns:a16="http://schemas.microsoft.com/office/drawing/2014/main" id="{0E3C90E9-3DBD-4E2F-B683-4AC4F32FED35}"/>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C2313B14-671F-4421-BE8C-E5C3DDED62D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verify exact result</a:t>
            </a:r>
          </a:p>
        </p:txBody>
      </p:sp>
      <p:sp>
        <p:nvSpPr>
          <p:cNvPr id="21" name="">
            <a:extLst xmlns:a="http://schemas.openxmlformats.org/drawingml/2006/main">
              <a:ext uri="{FF2B5EF4-FFF2-40B4-BE49-F238E27FC236}">
                <a16:creationId xmlns:a16="http://schemas.microsoft.com/office/drawing/2014/main" id="{CECB8BC6-F6BA-4ED8-AD90-EE7CEBCCCB2C}"/>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D598A079-97B4-4730-B30A-6139C0D571ED}"/>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59B32"/>
                </a:solidFill>
              </a:defRPr>
            </a:pPr>
            <a:r>
              <a:rPr sz="1650" b="1">
                <a:solidFill>
                  <a:srgbClr val="D59B32"/>
                </a:solidFill>
              </a:rPr>
              <a:t>Language</a:t>
            </a:r>
          </a:p>
        </p:txBody>
      </p:sp>
      <p:sp>
        <p:nvSpPr>
          <p:cNvPr id="23" name="">
            <a:extLst xmlns:a="http://schemas.openxmlformats.org/drawingml/2006/main">
              <a:ext uri="{FF2B5EF4-FFF2-40B4-BE49-F238E27FC236}">
                <a16:creationId xmlns:a16="http://schemas.microsoft.com/office/drawing/2014/main" id="{25B6E4C2-6906-488F-9E0F-41703D94AC62}"/>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75EE1D62-4C42-427E-9798-1AF849425FCC}"/>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624A71BB-5E7A-42E2-8688-04E42520BF1E}"/>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263A4C6-AE77-4C2D-9562-A621B395F31D}"/>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resolve idiom sense</a:t>
            </a:r>
          </a:p>
        </p:txBody>
      </p:sp>
      <p:sp>
        <p:nvSpPr>
          <p:cNvPr id="27" name="">
            <a:extLst xmlns:a="http://schemas.openxmlformats.org/drawingml/2006/main">
              <a:ext uri="{FF2B5EF4-FFF2-40B4-BE49-F238E27FC236}">
                <a16:creationId xmlns:a16="http://schemas.microsoft.com/office/drawing/2014/main" id="{0C3DE6BF-071E-451A-9FBF-C039E5379692}"/>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DB4D1CFC-5FBB-4639-B5A2-2C159D2A5864}"/>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meaning</a:t>
            </a:r>
          </a:p>
        </p:txBody>
      </p:sp>
      <p:sp>
        <p:nvSpPr>
          <p:cNvPr id="29" name="">
            <a:extLst xmlns:a="http://schemas.openxmlformats.org/drawingml/2006/main">
              <a:ext uri="{FF2B5EF4-FFF2-40B4-BE49-F238E27FC236}">
                <a16:creationId xmlns:a16="http://schemas.microsoft.com/office/drawing/2014/main" id="{B2715886-AFE9-4E27-B173-9C55CA1795ED}"/>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2B7EB13F-123E-4A63-952C-11D03B164556}"/>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Knowledge</a:t>
            </a:r>
          </a:p>
        </p:txBody>
      </p:sp>
      <p:sp>
        <p:nvSpPr>
          <p:cNvPr id="31" name="">
            <a:extLst xmlns:a="http://schemas.openxmlformats.org/drawingml/2006/main">
              <a:ext uri="{FF2B5EF4-FFF2-40B4-BE49-F238E27FC236}">
                <a16:creationId xmlns:a16="http://schemas.microsoft.com/office/drawing/2014/main" id="{7388AA65-AB7B-4A90-8617-D29FB6F7F84B}"/>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4A14B5C4-943A-46B9-8766-6D0187E36836}"/>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match source lineage</a:t>
            </a:r>
          </a:p>
        </p:txBody>
      </p:sp>
      <p:sp>
        <p:nvSpPr>
          <p:cNvPr id="33" name="">
            <a:extLst xmlns:a="http://schemas.openxmlformats.org/drawingml/2006/main">
              <a:ext uri="{FF2B5EF4-FFF2-40B4-BE49-F238E27FC236}">
                <a16:creationId xmlns:a16="http://schemas.microsoft.com/office/drawing/2014/main" id="{85493658-E4EF-4AD9-A95F-629AE027FB4F}"/>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98FCB2CF-1EE7-497A-B286-045814546142}"/>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align entity + predicate</a:t>
            </a:r>
          </a:p>
        </p:txBody>
      </p:sp>
      <p:sp>
        <p:nvSpPr>
          <p:cNvPr id="35" name="">
            <a:extLst xmlns:a="http://schemas.openxmlformats.org/drawingml/2006/main">
              <a:ext uri="{FF2B5EF4-FFF2-40B4-BE49-F238E27FC236}">
                <a16:creationId xmlns:a16="http://schemas.microsoft.com/office/drawing/2014/main" id="{BB1014E1-2CAF-4C22-90C5-68763CD5C692}"/>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7143EFC3-B83B-4C0F-B1F6-2A038B37FE08}"/>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verify typed value</a:t>
            </a:r>
          </a:p>
        </p:txBody>
      </p:sp>
      <p:sp>
        <p:nvSpPr>
          <p:cNvPr id="37" name="">
            <a:extLst xmlns:a="http://schemas.openxmlformats.org/drawingml/2006/main">
              <a:ext uri="{FF2B5EF4-FFF2-40B4-BE49-F238E27FC236}">
                <a16:creationId xmlns:a16="http://schemas.microsoft.com/office/drawing/2014/main" id="{82C9C97A-FA13-44C0-88EA-E7CB3D941CC1}"/>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8936C3D0-A7A2-4B99-AAED-96BB4E6E1D18}"/>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Common contract</a:t>
            </a:r>
          </a:p>
        </p:txBody>
      </p:sp>
      <p:sp>
        <p:nvSpPr>
          <p:cNvPr id="39" name="">
            <a:extLst xmlns:a="http://schemas.openxmlformats.org/drawingml/2006/main">
              <a:ext uri="{FF2B5EF4-FFF2-40B4-BE49-F238E27FC236}">
                <a16:creationId xmlns:a16="http://schemas.microsoft.com/office/drawing/2014/main" id="{CD973F10-E094-4278-8BC6-AFABB4541FBC}"/>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0F172A"/>
                </a:solidFill>
              </a:defRPr>
            </a:pPr>
            <a:r>
              <a:rPr sz="1275" b="0">
                <a:solidFill>
                  <a:srgbClr val="0F172A"/>
                </a:solidFill>
              </a:rPr>
              <a:t>{label 0, label 1, abstain, route, evidence}  —  uncertainty never becomes a guessed label</a:t>
            </a:r>
          </a:p>
        </p:txBody>
      </p:sp>
      <p:sp>
        <p:nvSpPr>
          <p:cNvPr id="40" name="">
            <a:extLst xmlns:a="http://schemas.openxmlformats.org/drawingml/2006/main">
              <a:ext uri="{FF2B5EF4-FFF2-40B4-BE49-F238E27FC236}">
                <a16:creationId xmlns:a16="http://schemas.microsoft.com/office/drawing/2014/main" id="{CB798A52-0FFA-4905-998A-47D62BA2A5A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58B1EABB-07CA-4A7D-BF3A-158969B1B08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Label definition  [3,4] task families  [7] v91 trace contract</a:t>
            </a:r>
          </a:p>
        </p:txBody>
      </p:sp>
      <p:sp>
        <p:nvSpPr>
          <p:cNvPr id="42" name="page-5">
            <a:extLst xmlns:a="http://schemas.openxmlformats.org/drawingml/2006/main">
              <a:ext uri="{FF2B5EF4-FFF2-40B4-BE49-F238E27FC236}">
                <a16:creationId xmlns:a16="http://schemas.microsoft.com/office/drawing/2014/main" id="{F98A9595-74B4-418D-A2AB-9414F3B855F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16</a:t>
            </a:r>
          </a:p>
        </p:txBody>
      </p:sp>
    </p:spTree>
    <p:extLst>
      <p:ext uri="{BB962C8B-B14F-4D97-AF65-F5344CB8AC3E}">
        <p14:creationId xmlns:p14="http://schemas.microsoft.com/office/powerpoint/2010/main" val="1248703227"/>
      </p:ext>
    </p:extLst>
  </p:cSld>
</p:sld>
</file>

<file path=ppt/slides/slide1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9F3A29E2-1221-4468-9114-7CE5D9E89E5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4">
            <a:extLst xmlns:a="http://schemas.openxmlformats.org/drawingml/2006/main">
              <a:ext uri="{FF2B5EF4-FFF2-40B4-BE49-F238E27FC236}">
                <a16:creationId xmlns:a16="http://schemas.microsoft.com/office/drawing/2014/main" id="{2B0C3459-5559-4C4D-A634-289E195EFC5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Decision precedence kept uncertainty out of labels</a:t>
            </a:r>
          </a:p>
        </p:txBody>
      </p:sp>
      <p:sp>
        <p:nvSpPr>
          <p:cNvPr id="3" name="">
            <a:extLst xmlns:a="http://schemas.openxmlformats.org/drawingml/2006/main">
              <a:ext uri="{FF2B5EF4-FFF2-40B4-BE49-F238E27FC236}">
                <a16:creationId xmlns:a16="http://schemas.microsoft.com/office/drawing/2014/main" id="{7FF0CF03-89CE-4D31-97E5-90C4D54152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2CFD87-2786-49E4-9E4F-E650B08F9E42}"/>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Contradiction can decide zero; complete support can decide one; every ambiguous case abstains.</a:t>
            </a:r>
          </a:p>
        </p:txBody>
      </p:sp>
      <p:sp>
        <p:nvSpPr>
          <p:cNvPr id="5" name="">
            <a:extLst xmlns:a="http://schemas.openxmlformats.org/drawingml/2006/main">
              <a:ext uri="{FF2B5EF4-FFF2-40B4-BE49-F238E27FC236}">
                <a16:creationId xmlns:a16="http://schemas.microsoft.com/office/drawing/2014/main" id="{D34C3FE4-5F11-47A0-AA4E-BADE0B3DB655}"/>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11245FD-0B7E-4D70-81A9-3DEB252C7FCF}"/>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8B47B91-D37D-46CE-B12E-0FA40E89D44F}"/>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527E705D-5DC8-42B1-8C3D-A1790195D05A}"/>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3615CE5E-20BA-411A-B9F4-8155EB90FEEF}"/>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FF512F77-0CC5-44B8-B192-E4568CB4ABF1}"/>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59B66290-E55E-44E6-A36D-A205887DD27D}"/>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8369D14A-B57F-40D3-AE7B-D10869BBBE2E}"/>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1A0133B5-F642-4C94-9E94-5E1A68C21DA8}"/>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E880372-1C2D-4CB8-9DCC-7002FD4715DE}"/>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DEB854DF-94FC-49B0-AE7F-5A76B79B7293}"/>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input</a:t>
            </a:r>
          </a:p>
        </p:txBody>
      </p:sp>
      <p:sp>
        <p:nvSpPr>
          <p:cNvPr id="16" name="">
            <a:extLst xmlns:a="http://schemas.openxmlformats.org/drawingml/2006/main">
              <a:ext uri="{FF2B5EF4-FFF2-40B4-BE49-F238E27FC236}">
                <a16:creationId xmlns:a16="http://schemas.microsoft.com/office/drawing/2014/main" id="{CE5C03C8-AACB-45E3-9306-D6A9D9CDF95C}"/>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664F09DA-B9C6-49E4-8464-006A551A00D1}"/>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Conflict?</a:t>
            </a:r>
          </a:p>
        </p:txBody>
      </p:sp>
      <p:sp>
        <p:nvSpPr>
          <p:cNvPr id="18" name="">
            <a:extLst xmlns:a="http://schemas.openxmlformats.org/drawingml/2006/main">
              <a:ext uri="{FF2B5EF4-FFF2-40B4-BE49-F238E27FC236}">
                <a16:creationId xmlns:a16="http://schemas.microsoft.com/office/drawing/2014/main" id="{36488B1E-5E64-4D66-82A3-0349A8B5FDA3}"/>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851D6612-13E6-45A2-9F0D-12BCD8724060}"/>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Complete</a:t>
            </a:r>
          </a:p>
          <a:p xmlns:a="http://schemas.openxmlformats.org/drawingml/2006/main">
            <a:pPr algn="ctr">
              <a:buNone/>
              <a:defRPr sz="1200" b="1">
                <a:solidFill>
                  <a:srgbClr val="0F172A"/>
                </a:solidFill>
              </a:defRPr>
            </a:pPr>
            <a:r>
              <a:rPr sz="1200" b="1">
                <a:solidFill>
                  <a:srgbClr val="0F172A"/>
                </a:solidFill>
              </a:rPr>
              <a:t>support?</a:t>
            </a:r>
          </a:p>
        </p:txBody>
      </p:sp>
      <p:sp>
        <p:nvSpPr>
          <p:cNvPr id="20" name="">
            <a:extLst xmlns:a="http://schemas.openxmlformats.org/drawingml/2006/main">
              <a:ext uri="{FF2B5EF4-FFF2-40B4-BE49-F238E27FC236}">
                <a16:creationId xmlns:a16="http://schemas.microsoft.com/office/drawing/2014/main" id="{D04359D0-40A4-4ABA-8957-FFF1B78FD945}"/>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5BA6E8FF-30EB-403D-8BE1-8910960A68E9}"/>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Evidence</a:t>
            </a:r>
          </a:p>
          <a:p xmlns:a="http://schemas.openxmlformats.org/drawingml/2006/main">
            <a:pPr algn="ctr">
              <a:buNone/>
              <a:defRPr sz="1200" b="1">
                <a:solidFill>
                  <a:srgbClr val="0F172A"/>
                </a:solidFill>
              </a:defRPr>
            </a:pPr>
            <a:r>
              <a:rPr sz="1200" b="1">
                <a:solidFill>
                  <a:srgbClr val="0F172A"/>
                </a:solidFill>
              </a:rPr>
              <a:t>complete?</a:t>
            </a:r>
          </a:p>
        </p:txBody>
      </p:sp>
      <p:sp>
        <p:nvSpPr>
          <p:cNvPr id="22" name="">
            <a:extLst xmlns:a="http://schemas.openxmlformats.org/drawingml/2006/main">
              <a:ext uri="{FF2B5EF4-FFF2-40B4-BE49-F238E27FC236}">
                <a16:creationId xmlns:a16="http://schemas.microsoft.com/office/drawing/2014/main" id="{73A21A85-17BE-4FE5-A061-673601D29F31}"/>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3" name="">
            <a:extLst xmlns:a="http://schemas.openxmlformats.org/drawingml/2006/main">
              <a:ext uri="{FF2B5EF4-FFF2-40B4-BE49-F238E27FC236}">
                <a16:creationId xmlns:a16="http://schemas.microsoft.com/office/drawing/2014/main" id="{A1327364-6007-4F9D-87EF-CFDA47E15BC9}"/>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4" name="">
            <a:extLst xmlns:a="http://schemas.openxmlformats.org/drawingml/2006/main">
              <a:ext uri="{FF2B5EF4-FFF2-40B4-BE49-F238E27FC236}">
                <a16:creationId xmlns:a16="http://schemas.microsoft.com/office/drawing/2014/main" id="{51263DDE-1994-4FCA-9E86-7B71F11993E5}"/>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5" name="">
            <a:extLst xmlns:a="http://schemas.openxmlformats.org/drawingml/2006/main">
              <a:ext uri="{FF2B5EF4-FFF2-40B4-BE49-F238E27FC236}">
                <a16:creationId xmlns:a16="http://schemas.microsoft.com/office/drawing/2014/main" id="{558718BA-9EC3-453C-A9F2-E35D7945EA27}"/>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6" name="">
            <a:extLst xmlns:a="http://schemas.openxmlformats.org/drawingml/2006/main">
              <a:ext uri="{FF2B5EF4-FFF2-40B4-BE49-F238E27FC236}">
                <a16:creationId xmlns:a16="http://schemas.microsoft.com/office/drawing/2014/main" id="{1613C312-C23D-4BBD-BC20-539BB89BF4C5}"/>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7" name="">
            <a:extLst xmlns:a="http://schemas.openxmlformats.org/drawingml/2006/main">
              <a:ext uri="{FF2B5EF4-FFF2-40B4-BE49-F238E27FC236}">
                <a16:creationId xmlns:a16="http://schemas.microsoft.com/office/drawing/2014/main" id="{ED5A6609-CA18-4390-8A74-3B017871116B}"/>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8" name="">
            <a:extLst xmlns:a="http://schemas.openxmlformats.org/drawingml/2006/main">
              <a:ext uri="{FF2B5EF4-FFF2-40B4-BE49-F238E27FC236}">
                <a16:creationId xmlns:a16="http://schemas.microsoft.com/office/drawing/2014/main" id="{EE05702A-0C67-420F-80D9-4479CE0C2442}"/>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288650ED-888C-4EDF-A74A-FB6D22CD71ED}"/>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Label 0</a:t>
            </a:r>
          </a:p>
        </p:txBody>
      </p:sp>
      <p:sp>
        <p:nvSpPr>
          <p:cNvPr id="30" name="">
            <a:extLst xmlns:a="http://schemas.openxmlformats.org/drawingml/2006/main">
              <a:ext uri="{FF2B5EF4-FFF2-40B4-BE49-F238E27FC236}">
                <a16:creationId xmlns:a16="http://schemas.microsoft.com/office/drawing/2014/main" id="{D6CE71F1-8CB5-4444-950C-8D6B01BB390C}"/>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wrong value /</a:t>
            </a:r>
          </a:p>
          <a:p xmlns:a="http://schemas.openxmlformats.org/drawingml/2006/main">
            <a:pPr algn="ctr">
              <a:buNone/>
              <a:defRPr sz="1200" b="0">
                <a:solidFill>
                  <a:srgbClr val="526174"/>
                </a:solidFill>
              </a:defRPr>
            </a:pPr>
            <a:r>
              <a:rPr sz="1200" b="0">
                <a:solidFill>
                  <a:srgbClr val="526174"/>
                </a:solidFill>
              </a:rPr>
              <a:t>relation / claim</a:t>
            </a:r>
          </a:p>
        </p:txBody>
      </p:sp>
      <p:sp>
        <p:nvSpPr>
          <p:cNvPr id="31" name="">
            <a:extLst xmlns:a="http://schemas.openxmlformats.org/drawingml/2006/main">
              <a:ext uri="{FF2B5EF4-FFF2-40B4-BE49-F238E27FC236}">
                <a16:creationId xmlns:a16="http://schemas.microsoft.com/office/drawing/2014/main" id="{0F415C97-59F0-476F-B107-0AA5D8405279}"/>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73FD6DAE-0D6D-4490-AC83-0B81E2F0F129}"/>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Label 1</a:t>
            </a:r>
          </a:p>
        </p:txBody>
      </p:sp>
      <p:sp>
        <p:nvSpPr>
          <p:cNvPr id="33" name="">
            <a:extLst xmlns:a="http://schemas.openxmlformats.org/drawingml/2006/main">
              <a:ext uri="{FF2B5EF4-FFF2-40B4-BE49-F238E27FC236}">
                <a16:creationId xmlns:a16="http://schemas.microsoft.com/office/drawing/2014/main" id="{37360508-0719-4A8D-9580-68C0CF5158BA}"/>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all factual claims</a:t>
            </a:r>
          </a:p>
          <a:p xmlns:a="http://schemas.openxmlformats.org/drawingml/2006/main">
            <a:pPr algn="ctr">
              <a:buNone/>
              <a:defRPr sz="1200" b="0">
                <a:solidFill>
                  <a:srgbClr val="526174"/>
                </a:solidFill>
              </a:defRPr>
            </a:pPr>
            <a:r>
              <a:rPr sz="1200" b="0">
                <a:solidFill>
                  <a:srgbClr val="526174"/>
                </a:solidFill>
              </a:rPr>
              <a:t>supported</a:t>
            </a:r>
          </a:p>
        </p:txBody>
      </p:sp>
      <p:sp>
        <p:nvSpPr>
          <p:cNvPr id="34" name="">
            <a:extLst xmlns:a="http://schemas.openxmlformats.org/drawingml/2006/main">
              <a:ext uri="{FF2B5EF4-FFF2-40B4-BE49-F238E27FC236}">
                <a16:creationId xmlns:a16="http://schemas.microsoft.com/office/drawing/2014/main" id="{35727961-A64C-46A8-B5AD-4D3DB00E40E6}"/>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B6A9D03F-EA33-4C78-B06B-A80E5E9B1CE8}"/>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Typed</a:t>
            </a:r>
          </a:p>
          <a:p xmlns:a="http://schemas.openxmlformats.org/drawingml/2006/main">
            <a:pPr algn="ctr">
              <a:buNone/>
              <a:defRPr sz="1350" b="1">
                <a:solidFill>
                  <a:srgbClr val="0F172A"/>
                </a:solidFill>
              </a:defRPr>
            </a:pPr>
            <a:r>
              <a:rPr sz="1350" b="1">
                <a:solidFill>
                  <a:srgbClr val="0F172A"/>
                </a:solidFill>
              </a:rPr>
              <a:t>verdict</a:t>
            </a:r>
          </a:p>
        </p:txBody>
      </p:sp>
      <p:sp>
        <p:nvSpPr>
          <p:cNvPr id="36" name="">
            <a:extLst xmlns:a="http://schemas.openxmlformats.org/drawingml/2006/main">
              <a:ext uri="{FF2B5EF4-FFF2-40B4-BE49-F238E27FC236}">
                <a16:creationId xmlns:a16="http://schemas.microsoft.com/office/drawing/2014/main" id="{DD58D856-F908-4FE3-988D-1F310A84837F}"/>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entity + predicate</a:t>
            </a:r>
          </a:p>
          <a:p xmlns:a="http://schemas.openxmlformats.org/drawingml/2006/main">
            <a:pPr algn="ctr">
              <a:buNone/>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54ECC40C-34ED-4F4F-9CAE-A63396500667}"/>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6D63C5D2-571E-4814-BCD7-119021C6703F}"/>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59B32"/>
                </a:solidFill>
              </a:defRPr>
            </a:pPr>
            <a:r>
              <a:rPr sz="1350" b="1">
                <a:solidFill>
                  <a:srgbClr val="D59B32"/>
                </a:solidFill>
              </a:rPr>
              <a:t>Abstain</a:t>
            </a:r>
          </a:p>
        </p:txBody>
      </p:sp>
      <p:sp>
        <p:nvSpPr>
          <p:cNvPr id="39" name="">
            <a:extLst xmlns:a="http://schemas.openxmlformats.org/drawingml/2006/main">
              <a:ext uri="{FF2B5EF4-FFF2-40B4-BE49-F238E27FC236}">
                <a16:creationId xmlns:a16="http://schemas.microsoft.com/office/drawing/2014/main" id="{B0CF0BF7-017A-47DE-9258-A0FA95711CA1}"/>
              </a:ext>
            </a:extLst>
          </p:cNvPr>
          <p:cNvSpPr>
            <a:spLocks xmlns:a="http://schemas.openxmlformats.org/drawingml/2006/main" noGrp="1"/>
          </p:cNvSpPr>
          <p:nvPr/>
        </p:nvSpPr>
        <p:spPr>
          <a:xfrm xmlns:a="http://schemas.openxmlformats.org/drawingml/2006/main">
            <a:off x="7924800" y="26384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uncertain</a:t>
            </a:r>
          </a:p>
        </p:txBody>
      </p:sp>
      <p:sp>
        <p:nvSpPr>
          <p:cNvPr id="40" name="">
            <a:extLst xmlns:a="http://schemas.openxmlformats.org/drawingml/2006/main">
              <a:ext uri="{FF2B5EF4-FFF2-40B4-BE49-F238E27FC236}">
                <a16:creationId xmlns:a16="http://schemas.microsoft.com/office/drawing/2014/main" id="{DB69F0D2-2055-4FD8-81D1-473530B16FE0}"/>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46A7AE90-E3ED-4CBF-A7F6-1F6523577072}"/>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A42723E5-DD2F-42AC-AEF8-819A612D311A}"/>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a:t>
            </a:r>
          </a:p>
        </p:txBody>
      </p:sp>
      <p:sp>
        <p:nvSpPr>
          <p:cNvPr id="43" name="">
            <a:extLst xmlns:a="http://schemas.openxmlformats.org/drawingml/2006/main">
              <a:ext uri="{FF2B5EF4-FFF2-40B4-BE49-F238E27FC236}">
                <a16:creationId xmlns:a16="http://schemas.microsoft.com/office/drawing/2014/main" id="{6D222451-F7BC-4BAB-BABB-E10DCB7F95D1}"/>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D10C1A1C-5300-4A4E-BF97-B162438F21E0}"/>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Precedence contract</a:t>
            </a:r>
          </a:p>
        </p:txBody>
      </p:sp>
      <p:sp>
        <p:nvSpPr>
          <p:cNvPr id="45" name="">
            <a:extLst xmlns:a="http://schemas.openxmlformats.org/drawingml/2006/main">
              <a:ext uri="{FF2B5EF4-FFF2-40B4-BE49-F238E27FC236}">
                <a16:creationId xmlns:a16="http://schemas.microsoft.com/office/drawing/2014/main" id="{128EBB01-95D5-4B32-BACF-C6ABE50B4FFD}"/>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F172A"/>
                </a:solidFill>
              </a:defRPr>
            </a:pPr>
            <a:r>
              <a:rPr sz="1350" b="0">
                <a:solidFill>
                  <a:srgbClr val="0F172A"/>
                </a:solidFill>
              </a:rPr>
              <a:t>contradiction → 0; complete support → 1; exact typed evidence may decide; otherwise null → judge</a:t>
            </a:r>
          </a:p>
        </p:txBody>
      </p:sp>
      <p:sp>
        <p:nvSpPr>
          <p:cNvPr id="46" name="">
            <a:extLst xmlns:a="http://schemas.openxmlformats.org/drawingml/2006/main">
              <a:ext uri="{FF2B5EF4-FFF2-40B4-BE49-F238E27FC236}">
                <a16:creationId xmlns:a16="http://schemas.microsoft.com/office/drawing/2014/main" id="{D229B867-44D1-47ED-B0A8-16AB8F4EFBF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30A32FBD-7239-42BE-A526-C57BC539297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v91 router, conflict audit, and decision trace</a:t>
            </a:r>
          </a:p>
        </p:txBody>
      </p:sp>
      <p:sp>
        <p:nvSpPr>
          <p:cNvPr id="48" name="page-4">
            <a:extLst xmlns:a="http://schemas.openxmlformats.org/drawingml/2006/main">
              <a:ext uri="{FF2B5EF4-FFF2-40B4-BE49-F238E27FC236}">
                <a16:creationId xmlns:a16="http://schemas.microsoft.com/office/drawing/2014/main" id="{C2A1892B-BBE5-435E-BBA7-2ECD4120E2B4}"/>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17</a:t>
            </a:r>
          </a:p>
        </p:txBody>
      </p:sp>
    </p:spTree>
    <p:extLst>
      <p:ext uri="{BB962C8B-B14F-4D97-AF65-F5344CB8AC3E}">
        <p14:creationId xmlns:p14="http://schemas.microsoft.com/office/powerpoint/2010/main" val="471816339"/>
      </p:ext>
    </p:extLst>
  </p:cSld>
</p:sld>
</file>

<file path=ppt/slides/slide1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FD4F8904-FDEF-425C-BF0E-468CED38900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9">
            <a:extLst xmlns:a="http://schemas.openxmlformats.org/drawingml/2006/main">
              <a:ext uri="{FF2B5EF4-FFF2-40B4-BE49-F238E27FC236}">
                <a16:creationId xmlns:a16="http://schemas.microsoft.com/office/drawing/2014/main" id="{E7EB26C2-5775-4AB0-B293-137EBE47D67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One trace exposes the exact reason behind a verdict</a:t>
            </a:r>
          </a:p>
        </p:txBody>
      </p:sp>
      <p:sp>
        <p:nvSpPr>
          <p:cNvPr id="3" name="">
            <a:extLst xmlns:a="http://schemas.openxmlformats.org/drawingml/2006/main">
              <a:ext uri="{FF2B5EF4-FFF2-40B4-BE49-F238E27FC236}">
                <a16:creationId xmlns:a16="http://schemas.microsoft.com/office/drawing/2014/main" id="{A0EB5D59-35D0-4815-A45D-5AAAE1E342F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B259D92-7CD9-41EC-A78E-9D9F608D8939}"/>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Released example: the response names the film when the prompt asks for its release year.</a:t>
            </a:r>
          </a:p>
        </p:txBody>
      </p:sp>
      <p:sp>
        <p:nvSpPr>
          <p:cNvPr id="5" name="">
            <a:extLst xmlns:a="http://schemas.openxmlformats.org/drawingml/2006/main">
              <a:ext uri="{FF2B5EF4-FFF2-40B4-BE49-F238E27FC236}">
                <a16:creationId xmlns:a16="http://schemas.microsoft.com/office/drawing/2014/main" id="{BFFB90A3-84FF-4531-9E8F-5C8823A440B2}"/>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9D837823-B34C-463A-AEF5-2C921A493580}"/>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798B6E4-865C-4753-B194-8506BC670E34}"/>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4C73B597-FD6E-4FAC-B210-7B5DCF4C5936}"/>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F5A7A"/>
                </a:solidFill>
              </a:defRPr>
            </a:pPr>
            <a:r>
              <a:rPr sz="1575" b="1">
                <a:solidFill>
                  <a:srgbClr val="1F5A7A"/>
                </a:solidFill>
              </a:rPr>
              <a:t>Released row</a:t>
            </a:r>
          </a:p>
          <a:p xmlns:a="http://schemas.openxmlformats.org/drawingml/2006/main">
            <a:pPr algn="ctr">
              <a:buNone/>
              <a:defRPr sz="1575" b="1">
                <a:solidFill>
                  <a:srgbClr val="1F5A7A"/>
                </a:solidFill>
              </a:defRPr>
            </a:pPr>
            <a:r>
              <a:rPr sz="1575" b="1">
                <a:solidFill>
                  <a:srgbClr val="1F5A7A"/>
                </a:solidFill>
              </a:rPr>
              <a:t>trace</a:t>
            </a:r>
          </a:p>
        </p:txBody>
      </p:sp>
      <p:sp>
        <p:nvSpPr>
          <p:cNvPr id="9" name="">
            <a:extLst xmlns:a="http://schemas.openxmlformats.org/drawingml/2006/main">
              <a:ext uri="{FF2B5EF4-FFF2-40B4-BE49-F238E27FC236}">
                <a16:creationId xmlns:a16="http://schemas.microsoft.com/office/drawing/2014/main" id="{8E0C503D-8A45-449A-9505-15B7FDE62E5F}"/>
              </a:ext>
            </a:extLst>
          </p:cNvPr>
          <p:cNvSpPr>
            <a:spLocks xmlns:a="http://schemas.openxmlformats.org/drawingml/2006/main" noGrp="1"/>
          </p:cNvSpPr>
          <p:nvPr/>
        </p:nvSpPr>
        <p:spPr>
          <a:xfrm xmlns:a="http://schemas.openxmlformats.org/drawingml/2006/main">
            <a:off x="971550" y="27813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example</a:t>
            </a:r>
          </a:p>
        </p:txBody>
      </p:sp>
      <p:sp>
        <p:nvSpPr>
          <p:cNvPr id="10" name="">
            <a:extLst xmlns:a="http://schemas.openxmlformats.org/drawingml/2006/main">
              <a:ext uri="{FF2B5EF4-FFF2-40B4-BE49-F238E27FC236}">
                <a16:creationId xmlns:a16="http://schemas.microsoft.com/office/drawing/2014/main" id="{A3CD7114-594C-4C21-B564-93FDD58C0458}"/>
              </a:ext>
            </a:extLst>
          </p:cNvPr>
          <p:cNvSpPr>
            <a:spLocks xmlns:a="http://schemas.openxmlformats.org/drawingml/2006/main" noGrp="1"/>
          </p:cNvSpPr>
          <p:nvPr/>
        </p:nvSpPr>
        <p:spPr>
          <a:xfrm xmlns:a="http://schemas.openxmlformats.org/drawingml/2006/main">
            <a:off x="2114550" y="27813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sample 4</a:t>
            </a:r>
          </a:p>
        </p:txBody>
      </p:sp>
      <p:sp>
        <p:nvSpPr>
          <p:cNvPr id="11" name="">
            <a:extLst xmlns:a="http://schemas.openxmlformats.org/drawingml/2006/main">
              <a:ext uri="{FF2B5EF4-FFF2-40B4-BE49-F238E27FC236}">
                <a16:creationId xmlns:a16="http://schemas.microsoft.com/office/drawing/2014/main" id="{037399B5-B7E8-4AE0-A434-341B6DF5B1F4}"/>
              </a:ext>
            </a:extLst>
          </p:cNvPr>
          <p:cNvSpPr>
            <a:spLocks xmlns:a="http://schemas.openxmlformats.org/drawingml/2006/main" noGrp="1"/>
          </p:cNvSpPr>
          <p:nvPr/>
        </p:nvSpPr>
        <p:spPr>
          <a:xfrm xmlns:a="http://schemas.openxmlformats.org/drawingml/2006/main">
            <a:off x="971550" y="31432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family</a:t>
            </a:r>
          </a:p>
        </p:txBody>
      </p:sp>
      <p:sp>
        <p:nvSpPr>
          <p:cNvPr id="12" name="">
            <a:extLst xmlns:a="http://schemas.openxmlformats.org/drawingml/2006/main">
              <a:ext uri="{FF2B5EF4-FFF2-40B4-BE49-F238E27FC236}">
                <a16:creationId xmlns:a16="http://schemas.microsoft.com/office/drawing/2014/main" id="{539C45A1-5AD9-4752-A7C2-F8C7F5A11A0B}"/>
              </a:ext>
            </a:extLst>
          </p:cNvPr>
          <p:cNvSpPr>
            <a:spLocks xmlns:a="http://schemas.openxmlformats.org/drawingml/2006/main" noGrp="1"/>
          </p:cNvSpPr>
          <p:nvPr/>
        </p:nvSpPr>
        <p:spPr>
          <a:xfrm xmlns:a="http://schemas.openxmlformats.org/drawingml/2006/main">
            <a:off x="2114550" y="3143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context row</a:t>
            </a:r>
          </a:p>
        </p:txBody>
      </p:sp>
      <p:sp>
        <p:nvSpPr>
          <p:cNvPr id="13" name="">
            <a:extLst xmlns:a="http://schemas.openxmlformats.org/drawingml/2006/main">
              <a:ext uri="{FF2B5EF4-FFF2-40B4-BE49-F238E27FC236}">
                <a16:creationId xmlns:a16="http://schemas.microsoft.com/office/drawing/2014/main" id="{31D9D124-62F9-4D2C-BEBD-08F87079FD45}"/>
              </a:ext>
            </a:extLst>
          </p:cNvPr>
          <p:cNvSpPr>
            <a:spLocks xmlns:a="http://schemas.openxmlformats.org/drawingml/2006/main" noGrp="1"/>
          </p:cNvSpPr>
          <p:nvPr/>
        </p:nvSpPr>
        <p:spPr>
          <a:xfrm xmlns:a="http://schemas.openxmlformats.org/drawingml/2006/main">
            <a:off x="971550" y="35052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entity</a:t>
            </a:r>
          </a:p>
        </p:txBody>
      </p:sp>
      <p:sp>
        <p:nvSpPr>
          <p:cNvPr id="14" name="">
            <a:extLst xmlns:a="http://schemas.openxmlformats.org/drawingml/2006/main">
              <a:ext uri="{FF2B5EF4-FFF2-40B4-BE49-F238E27FC236}">
                <a16:creationId xmlns:a16="http://schemas.microsoft.com/office/drawing/2014/main" id="{26578B0F-E77B-41E4-BCB1-B7966D4397CA}"/>
              </a:ext>
            </a:extLst>
          </p:cNvPr>
          <p:cNvSpPr>
            <a:spLocks xmlns:a="http://schemas.openxmlformats.org/drawingml/2006/main" noGrp="1"/>
          </p:cNvSpPr>
          <p:nvPr/>
        </p:nvSpPr>
        <p:spPr>
          <a:xfrm xmlns:a="http://schemas.openxmlformats.org/drawingml/2006/main">
            <a:off x="2114550" y="35052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Tareque Masud</a:t>
            </a:r>
          </a:p>
        </p:txBody>
      </p:sp>
      <p:sp>
        <p:nvSpPr>
          <p:cNvPr id="15" name="">
            <a:extLst xmlns:a="http://schemas.openxmlformats.org/drawingml/2006/main">
              <a:ext uri="{FF2B5EF4-FFF2-40B4-BE49-F238E27FC236}">
                <a16:creationId xmlns:a16="http://schemas.microsoft.com/office/drawing/2014/main" id="{6110DCF0-0612-42C6-8154-E42FEB27E457}"/>
              </a:ext>
            </a:extLst>
          </p:cNvPr>
          <p:cNvSpPr>
            <a:spLocks xmlns:a="http://schemas.openxmlformats.org/drawingml/2006/main" noGrp="1"/>
          </p:cNvSpPr>
          <p:nvPr/>
        </p:nvSpPr>
        <p:spPr>
          <a:xfrm xmlns:a="http://schemas.openxmlformats.org/drawingml/2006/main">
            <a:off x="971550" y="38671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A712A859-9040-4990-AB35-D8E0D177C8C6}"/>
              </a:ext>
            </a:extLst>
          </p:cNvPr>
          <p:cNvSpPr>
            <a:spLocks xmlns:a="http://schemas.openxmlformats.org/drawingml/2006/main" noGrp="1"/>
          </p:cNvSpPr>
          <p:nvPr/>
        </p:nvSpPr>
        <p:spPr>
          <a:xfrm xmlns:a="http://schemas.openxmlformats.org/drawingml/2006/main">
            <a:off x="2114550" y="3867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release year</a:t>
            </a:r>
          </a:p>
        </p:txBody>
      </p:sp>
      <p:sp>
        <p:nvSpPr>
          <p:cNvPr id="17" name="">
            <a:extLst xmlns:a="http://schemas.openxmlformats.org/drawingml/2006/main">
              <a:ext uri="{FF2B5EF4-FFF2-40B4-BE49-F238E27FC236}">
                <a16:creationId xmlns:a16="http://schemas.microsoft.com/office/drawing/2014/main" id="{65A3423E-4738-402F-AEDC-C2349387C68A}"/>
              </a:ext>
            </a:extLst>
          </p:cNvPr>
          <p:cNvSpPr>
            <a:spLocks xmlns:a="http://schemas.openxmlformats.org/drawingml/2006/main" noGrp="1"/>
          </p:cNvSpPr>
          <p:nvPr/>
        </p:nvSpPr>
        <p:spPr>
          <a:xfrm xmlns:a="http://schemas.openxmlformats.org/drawingml/2006/main">
            <a:off x="971550" y="42291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observed</a:t>
            </a:r>
          </a:p>
        </p:txBody>
      </p:sp>
      <p:sp>
        <p:nvSpPr>
          <p:cNvPr id="18" name="">
            <a:extLst xmlns:a="http://schemas.openxmlformats.org/drawingml/2006/main">
              <a:ext uri="{FF2B5EF4-FFF2-40B4-BE49-F238E27FC236}">
                <a16:creationId xmlns:a16="http://schemas.microsoft.com/office/drawing/2014/main" id="{2D5A5E45-D642-482A-8DC1-0549C94459D8}"/>
              </a:ext>
            </a:extLst>
          </p:cNvPr>
          <p:cNvSpPr>
            <a:spLocks xmlns:a="http://schemas.openxmlformats.org/drawingml/2006/main" noGrp="1"/>
          </p:cNvSpPr>
          <p:nvPr/>
        </p:nvSpPr>
        <p:spPr>
          <a:xfrm xmlns:a="http://schemas.openxmlformats.org/drawingml/2006/main">
            <a:off x="2114550" y="42291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Runway (title)</a:t>
            </a:r>
          </a:p>
        </p:txBody>
      </p:sp>
      <p:sp>
        <p:nvSpPr>
          <p:cNvPr id="19" name="">
            <a:extLst xmlns:a="http://schemas.openxmlformats.org/drawingml/2006/main">
              <a:ext uri="{FF2B5EF4-FFF2-40B4-BE49-F238E27FC236}">
                <a16:creationId xmlns:a16="http://schemas.microsoft.com/office/drawing/2014/main" id="{A90400D4-CD85-42A3-B214-A49FB259DFA1}"/>
              </a:ext>
            </a:extLst>
          </p:cNvPr>
          <p:cNvSpPr>
            <a:spLocks xmlns:a="http://schemas.openxmlformats.org/drawingml/2006/main" noGrp="1"/>
          </p:cNvSpPr>
          <p:nvPr/>
        </p:nvSpPr>
        <p:spPr>
          <a:xfrm xmlns:a="http://schemas.openxmlformats.org/drawingml/2006/main">
            <a:off x="971550" y="45910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context</a:t>
            </a:r>
          </a:p>
        </p:txBody>
      </p:sp>
      <p:sp>
        <p:nvSpPr>
          <p:cNvPr id="20" name="">
            <a:extLst xmlns:a="http://schemas.openxmlformats.org/drawingml/2006/main">
              <a:ext uri="{FF2B5EF4-FFF2-40B4-BE49-F238E27FC236}">
                <a16:creationId xmlns:a16="http://schemas.microsoft.com/office/drawing/2014/main" id="{B2D37EA2-B2C7-4956-A8FE-00BC39BF52B5}"/>
              </a:ext>
            </a:extLst>
          </p:cNvPr>
          <p:cNvSpPr>
            <a:spLocks xmlns:a="http://schemas.openxmlformats.org/drawingml/2006/main" noGrp="1"/>
          </p:cNvSpPr>
          <p:nvPr/>
        </p:nvSpPr>
        <p:spPr>
          <a:xfrm xmlns:a="http://schemas.openxmlformats.org/drawingml/2006/main">
            <a:off x="2114550" y="45910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supplied passage</a:t>
            </a:r>
          </a:p>
        </p:txBody>
      </p:sp>
      <p:sp>
        <p:nvSpPr>
          <p:cNvPr id="21" name="">
            <a:extLst xmlns:a="http://schemas.openxmlformats.org/drawingml/2006/main">
              <a:ext uri="{FF2B5EF4-FFF2-40B4-BE49-F238E27FC236}">
                <a16:creationId xmlns:a16="http://schemas.microsoft.com/office/drawing/2014/main" id="{2A885726-8256-43EC-8312-7EED0137FA10}"/>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B479C039-487A-4B6D-BBC1-4D55D56A7B4A}"/>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9C3A9493-E36E-4E94-A189-ECF56BA4C7CC}"/>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39CECD32-B24A-4DF4-A909-35DA87D37995}"/>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0B7EC195-D941-4E15-A6AF-6C80EF179BAB}"/>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film identity</a:t>
            </a:r>
          </a:p>
        </p:txBody>
      </p:sp>
      <p:sp>
        <p:nvSpPr>
          <p:cNvPr id="26" name="">
            <a:extLst xmlns:a="http://schemas.openxmlformats.org/drawingml/2006/main">
              <a:ext uri="{FF2B5EF4-FFF2-40B4-BE49-F238E27FC236}">
                <a16:creationId xmlns:a16="http://schemas.microsoft.com/office/drawing/2014/main" id="{3FFBB91E-F55A-4964-9480-83AC5BFE1B26}"/>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47791DBE-9170-4E0D-8082-95138C83A9A8}"/>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FE7BCCDA-E71B-4FF5-A836-DFD261B778A9}"/>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0F6B292F-19EB-434C-B90B-98EB7607B13D}"/>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expected: year</a:t>
            </a:r>
          </a:p>
        </p:txBody>
      </p:sp>
      <p:sp>
        <p:nvSpPr>
          <p:cNvPr id="30" name="">
            <a:extLst xmlns:a="http://schemas.openxmlformats.org/drawingml/2006/main">
              <a:ext uri="{FF2B5EF4-FFF2-40B4-BE49-F238E27FC236}">
                <a16:creationId xmlns:a16="http://schemas.microsoft.com/office/drawing/2014/main" id="{D9215995-2AE3-43C5-A1D6-37CB1CB7ABCF}"/>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4224C003-782E-4265-BD94-0998CF314423}"/>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3533A3F9-B210-4C8B-9CC8-39C376DDDB0D}"/>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Value type</a:t>
            </a:r>
          </a:p>
        </p:txBody>
      </p:sp>
      <p:sp>
        <p:nvSpPr>
          <p:cNvPr id="33" name="">
            <a:extLst xmlns:a="http://schemas.openxmlformats.org/drawingml/2006/main">
              <a:ext uri="{FF2B5EF4-FFF2-40B4-BE49-F238E27FC236}">
                <a16:creationId xmlns:a16="http://schemas.microsoft.com/office/drawing/2014/main" id="{80D4CF0A-7F0B-4D51-A864-63A788D57534}"/>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observed: title</a:t>
            </a:r>
          </a:p>
        </p:txBody>
      </p:sp>
      <p:sp>
        <p:nvSpPr>
          <p:cNvPr id="34" name="">
            <a:extLst xmlns:a="http://schemas.openxmlformats.org/drawingml/2006/main">
              <a:ext uri="{FF2B5EF4-FFF2-40B4-BE49-F238E27FC236}">
                <a16:creationId xmlns:a16="http://schemas.microsoft.com/office/drawing/2014/main" id="{F31A5AEB-4924-482C-B0F7-C0A3E10D4AF7}"/>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4BA607CD-7F77-4168-9B05-64A1D9CFEDA9}"/>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B014E69B-04A2-4072-8BAA-CE80552DB8BF}"/>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EDDE125B-F49E-435F-9BF6-76B85996B193}"/>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predicate / type mismatch</a:t>
            </a:r>
          </a:p>
        </p:txBody>
      </p:sp>
      <p:sp>
        <p:nvSpPr>
          <p:cNvPr id="38" name="">
            <a:extLst xmlns:a="http://schemas.openxmlformats.org/drawingml/2006/main">
              <a:ext uri="{FF2B5EF4-FFF2-40B4-BE49-F238E27FC236}">
                <a16:creationId xmlns:a16="http://schemas.microsoft.com/office/drawing/2014/main" id="{90B11AF7-04D8-45F0-8010-678165A0AB62}"/>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accept = entity AND predicate AND value_type AND no_conflict</a:t>
            </a:r>
          </a:p>
        </p:txBody>
      </p:sp>
      <p:sp>
        <p:nvSpPr>
          <p:cNvPr id="39" name="">
            <a:extLst xmlns:a="http://schemas.openxmlformats.org/drawingml/2006/main">
              <a:ext uri="{FF2B5EF4-FFF2-40B4-BE49-F238E27FC236}">
                <a16:creationId xmlns:a16="http://schemas.microsoft.com/office/drawing/2014/main" id="{B507EBC2-B869-4B51-86F1-D1A3DAA56D75}"/>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6F021255-AA67-465D-8792-FDE63762A1E6}"/>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471FC09E-66FF-41AF-B8E5-35D7EC9A5827}"/>
              </a:ext>
            </a:extLst>
          </p:cNvPr>
          <p:cNvSpPr>
            <a:spLocks xmlns:a="http://schemas.openxmlformats.org/drawingml/2006/main" noGrp="1"/>
          </p:cNvSpPr>
          <p:nvPr/>
        </p:nvSpPr>
        <p:spPr>
          <a:xfrm xmlns:a="http://schemas.openxmlformats.org/drawingml/2006/main">
            <a:off x="8610600" y="28194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route</a:t>
            </a:r>
          </a:p>
        </p:txBody>
      </p:sp>
      <p:sp>
        <p:nvSpPr>
          <p:cNvPr id="42" name="">
            <a:extLst xmlns:a="http://schemas.openxmlformats.org/drawingml/2006/main">
              <a:ext uri="{FF2B5EF4-FFF2-40B4-BE49-F238E27FC236}">
                <a16:creationId xmlns:a16="http://schemas.microsoft.com/office/drawing/2014/main" id="{AA1A7357-AAD5-4C1E-A367-FA1E90AFBB7A}"/>
              </a:ext>
            </a:extLst>
          </p:cNvPr>
          <p:cNvSpPr>
            <a:spLocks xmlns:a="http://schemas.openxmlformats.org/drawingml/2006/main" noGrp="1"/>
          </p:cNvSpPr>
          <p:nvPr/>
        </p:nvSpPr>
        <p:spPr>
          <a:xfrm xmlns:a="http://schemas.openxmlformats.org/drawingml/2006/main">
            <a:off x="9639300" y="28194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context_verifier</a:t>
            </a:r>
          </a:p>
        </p:txBody>
      </p:sp>
      <p:sp>
        <p:nvSpPr>
          <p:cNvPr id="43" name="">
            <a:extLst xmlns:a="http://schemas.openxmlformats.org/drawingml/2006/main">
              <a:ext uri="{FF2B5EF4-FFF2-40B4-BE49-F238E27FC236}">
                <a16:creationId xmlns:a16="http://schemas.microsoft.com/office/drawing/2014/main" id="{4B29C1E1-4D16-4D12-B6F4-E41042CAE0A7}"/>
              </a:ext>
            </a:extLst>
          </p:cNvPr>
          <p:cNvSpPr>
            <a:spLocks xmlns:a="http://schemas.openxmlformats.org/drawingml/2006/main" noGrp="1"/>
          </p:cNvSpPr>
          <p:nvPr/>
        </p:nvSpPr>
        <p:spPr>
          <a:xfrm xmlns:a="http://schemas.openxmlformats.org/drawingml/2006/main">
            <a:off x="8610600" y="31813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source</a:t>
            </a:r>
          </a:p>
        </p:txBody>
      </p:sp>
      <p:sp>
        <p:nvSpPr>
          <p:cNvPr id="44" name="">
            <a:extLst xmlns:a="http://schemas.openxmlformats.org/drawingml/2006/main">
              <a:ext uri="{FF2B5EF4-FFF2-40B4-BE49-F238E27FC236}">
                <a16:creationId xmlns:a16="http://schemas.microsoft.com/office/drawing/2014/main" id="{BEA81012-4DB7-41DB-ABE6-90915FDF05E3}"/>
              </a:ext>
            </a:extLst>
          </p:cNvPr>
          <p:cNvSpPr>
            <a:spLocks xmlns:a="http://schemas.openxmlformats.org/drawingml/2006/main" noGrp="1"/>
          </p:cNvSpPr>
          <p:nvPr/>
        </p:nvSpPr>
        <p:spPr>
          <a:xfrm xmlns:a="http://schemas.openxmlformats.org/drawingml/2006/main">
            <a:off x="9639300" y="31813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supplied_context</a:t>
            </a:r>
          </a:p>
        </p:txBody>
      </p:sp>
      <p:sp>
        <p:nvSpPr>
          <p:cNvPr id="45" name="">
            <a:extLst xmlns:a="http://schemas.openxmlformats.org/drawingml/2006/main">
              <a:ext uri="{FF2B5EF4-FFF2-40B4-BE49-F238E27FC236}">
                <a16:creationId xmlns:a16="http://schemas.microsoft.com/office/drawing/2014/main" id="{D4604A52-3ECC-4B2A-996D-A02F5D678400}"/>
              </a:ext>
            </a:extLst>
          </p:cNvPr>
          <p:cNvSpPr>
            <a:spLocks xmlns:a="http://schemas.openxmlformats.org/drawingml/2006/main" noGrp="1"/>
          </p:cNvSpPr>
          <p:nvPr/>
        </p:nvSpPr>
        <p:spPr>
          <a:xfrm xmlns:a="http://schemas.openxmlformats.org/drawingml/2006/main">
            <a:off x="8610600" y="35433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FB2FE8C7-1F9B-4F75-9F60-A2EB22E3582A}"/>
              </a:ext>
            </a:extLst>
          </p:cNvPr>
          <p:cNvSpPr>
            <a:spLocks xmlns:a="http://schemas.openxmlformats.org/drawingml/2006/main" noGrp="1"/>
          </p:cNvSpPr>
          <p:nvPr/>
        </p:nvSpPr>
        <p:spPr>
          <a:xfrm xmlns:a="http://schemas.openxmlformats.org/drawingml/2006/main">
            <a:off x="9639300" y="35433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release_year</a:t>
            </a:r>
          </a:p>
        </p:txBody>
      </p:sp>
      <p:sp>
        <p:nvSpPr>
          <p:cNvPr id="47" name="">
            <a:extLst xmlns:a="http://schemas.openxmlformats.org/drawingml/2006/main">
              <a:ext uri="{FF2B5EF4-FFF2-40B4-BE49-F238E27FC236}">
                <a16:creationId xmlns:a16="http://schemas.microsoft.com/office/drawing/2014/main" id="{D24013D8-8175-45F5-AC4D-5F82D3B269C3}"/>
              </a:ext>
            </a:extLst>
          </p:cNvPr>
          <p:cNvSpPr>
            <a:spLocks xmlns:a="http://schemas.openxmlformats.org/drawingml/2006/main" noGrp="1"/>
          </p:cNvSpPr>
          <p:nvPr/>
        </p:nvSpPr>
        <p:spPr>
          <a:xfrm xmlns:a="http://schemas.openxmlformats.org/drawingml/2006/main">
            <a:off x="8610600" y="39052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verdict</a:t>
            </a:r>
          </a:p>
        </p:txBody>
      </p:sp>
      <p:sp>
        <p:nvSpPr>
          <p:cNvPr id="48" name="">
            <a:extLst xmlns:a="http://schemas.openxmlformats.org/drawingml/2006/main">
              <a:ext uri="{FF2B5EF4-FFF2-40B4-BE49-F238E27FC236}">
                <a16:creationId xmlns:a16="http://schemas.microsoft.com/office/drawing/2014/main" id="{9027CD96-7C4B-4D62-BBA2-5E7C94C384B6}"/>
              </a:ext>
            </a:extLst>
          </p:cNvPr>
          <p:cNvSpPr>
            <a:spLocks xmlns:a="http://schemas.openxmlformats.org/drawingml/2006/main" noGrp="1"/>
          </p:cNvSpPr>
          <p:nvPr/>
        </p:nvSpPr>
        <p:spPr>
          <a:xfrm xmlns:a="http://schemas.openxmlformats.org/drawingml/2006/main">
            <a:off x="9639300" y="39052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0</a:t>
            </a:r>
          </a:p>
        </p:txBody>
      </p:sp>
      <p:sp>
        <p:nvSpPr>
          <p:cNvPr id="49" name="">
            <a:extLst xmlns:a="http://schemas.openxmlformats.org/drawingml/2006/main">
              <a:ext uri="{FF2B5EF4-FFF2-40B4-BE49-F238E27FC236}">
                <a16:creationId xmlns:a16="http://schemas.microsoft.com/office/drawing/2014/main" id="{54F3827E-5F0C-46F3-A20A-6C80E8825CE6}"/>
              </a:ext>
            </a:extLst>
          </p:cNvPr>
          <p:cNvSpPr>
            <a:spLocks xmlns:a="http://schemas.openxmlformats.org/drawingml/2006/main" noGrp="1"/>
          </p:cNvSpPr>
          <p:nvPr/>
        </p:nvSpPr>
        <p:spPr>
          <a:xfrm xmlns:a="http://schemas.openxmlformats.org/drawingml/2006/main">
            <a:off x="8515350" y="45148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B5483A"/>
                </a:solidFill>
              </a:defRPr>
            </a:pPr>
            <a:r>
              <a:rPr sz="1200" b="1">
                <a:solidFill>
                  <a:srgbClr val="B5483A"/>
                </a:solidFill>
              </a:rPr>
              <a:t>Gate 2/3 fail: film title ≠ release year → label 0</a:t>
            </a:r>
          </a:p>
        </p:txBody>
      </p:sp>
      <p:sp>
        <p:nvSpPr>
          <p:cNvPr id="50" name="">
            <a:extLst xmlns:a="http://schemas.openxmlformats.org/drawingml/2006/main">
              <a:ext uri="{FF2B5EF4-FFF2-40B4-BE49-F238E27FC236}">
                <a16:creationId xmlns:a16="http://schemas.microsoft.com/office/drawing/2014/main" id="{203DDBB5-0E35-414B-8AAA-F4F2CB33958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A6431AA1-8957-41EB-A43C-F915B8BFB872}"/>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Released competition sample  [7] predicate-alignment trace</a:t>
            </a:r>
          </a:p>
        </p:txBody>
      </p:sp>
      <p:sp>
        <p:nvSpPr>
          <p:cNvPr id="52" name="page-9">
            <a:extLst xmlns:a="http://schemas.openxmlformats.org/drawingml/2006/main">
              <a:ext uri="{FF2B5EF4-FFF2-40B4-BE49-F238E27FC236}">
                <a16:creationId xmlns:a16="http://schemas.microsoft.com/office/drawing/2014/main" id="{E7E35BE0-9965-4622-B65C-4EC702FB9889}"/>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18</a:t>
            </a:r>
          </a:p>
        </p:txBody>
      </p:sp>
      <p:sp>
        <p:nvSpPr>
          <p:cNvPr id="54" name="technical-appendix-kicker-overlay">
            <a:extLst xmlns:a="http://schemas.openxmlformats.org/drawingml/2006/main">
              <a:ext uri="{FF2B5EF4-FFF2-40B4-BE49-F238E27FC236}">
                <a16:creationId xmlns:a16="http://schemas.microsoft.com/office/drawing/2014/main" id="{D704946B-E996-44F8-8F69-90BE41D6B6CA}"/>
              </a:ext>
            </a:extLst>
          </p:cNvPr>
          <p:cNvSpPr>
            <a:spLocks xmlns:a="http://schemas.openxmlformats.org/drawingml/2006/main" noGrp="1"/>
          </p:cNvSpPr>
          <p:nvPr/>
        </p:nvSpPr>
        <p:spPr>
          <a:xfrm xmlns:a="http://schemas.openxmlformats.org/drawingml/2006/main">
            <a:off x="68580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1F5A7A"/>
                </a:solidFill>
                <a:latin typeface="Calibri"/>
                <a:ea typeface="Calibri"/>
                <a:cs typeface="Calibri"/>
              </a:defRPr>
            </a:pPr>
            <a:r>
              <a:rPr sz="1125" b="1">
                <a:solidFill>
                  <a:srgbClr val="1F5A7A"/>
                </a:solidFill>
                <a:latin typeface="Calibri"/>
                <a:ea typeface="Calibri"/>
                <a:cs typeface="Calibri"/>
              </a:rPr>
              <a:t>TECHNICAL APPENDIX</a:t>
            </a:r>
          </a:p>
        </p:txBody>
      </p:sp>
    </p:spTree>
    <p:extLst>
      <p:ext uri="{BB962C8B-B14F-4D97-AF65-F5344CB8AC3E}">
        <p14:creationId xmlns:p14="http://schemas.microsoft.com/office/powerpoint/2010/main" val="1439275797"/>
      </p:ext>
    </p:extLst>
  </p:cSld>
</p:sld>
</file>

<file path=ppt/slides/slide1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8" name="kicker-12">
            <a:extLst xmlns:a="http://schemas.openxmlformats.org/drawingml/2006/main">
              <a:ext uri="{FF2B5EF4-FFF2-40B4-BE49-F238E27FC236}">
                <a16:creationId xmlns:a16="http://schemas.microsoft.com/office/drawing/2014/main" id="{F660AC61-5E47-4BC2-83AF-4DD649132A8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12">
            <a:extLst xmlns:a="http://schemas.openxmlformats.org/drawingml/2006/main">
              <a:ext uri="{FF2B5EF4-FFF2-40B4-BE49-F238E27FC236}">
                <a16:creationId xmlns:a16="http://schemas.microsoft.com/office/drawing/2014/main" id="{99DAA247-2AA8-45DE-B216-3587BDB9321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Five evidence layers answer five different questions</a:t>
            </a:r>
          </a:p>
        </p:txBody>
      </p:sp>
      <p:sp>
        <p:nvSpPr>
          <p:cNvPr id="3" name="">
            <a:extLst xmlns:a="http://schemas.openxmlformats.org/drawingml/2006/main">
              <a:ext uri="{FF2B5EF4-FFF2-40B4-BE49-F238E27FC236}">
                <a16:creationId xmlns:a16="http://schemas.microsoft.com/office/drawing/2014/main" id="{25EFA620-8FF6-47B9-BD17-7C606C939C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3792FF5-2CF9-407D-971C-4C2B98D6FC63}"/>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Only labeled rows measure classification quality; software and runtime checks establish other properties.</a:t>
            </a:r>
          </a:p>
        </p:txBody>
      </p:sp>
      <p:sp>
        <p:nvSpPr>
          <p:cNvPr id="5" name="">
            <a:extLst xmlns:a="http://schemas.openxmlformats.org/drawingml/2006/main">
              <a:ext uri="{FF2B5EF4-FFF2-40B4-BE49-F238E27FC236}">
                <a16:creationId xmlns:a16="http://schemas.microsoft.com/office/drawing/2014/main" id="{E91B8C04-A6A5-40F0-A67D-06296EFC8C79}"/>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299</a:t>
            </a:r>
          </a:p>
        </p:txBody>
      </p:sp>
      <p:sp>
        <p:nvSpPr>
          <p:cNvPr id="6" name="">
            <a:extLst xmlns:a="http://schemas.openxmlformats.org/drawingml/2006/main">
              <a:ext uri="{FF2B5EF4-FFF2-40B4-BE49-F238E27FC236}">
                <a16:creationId xmlns:a16="http://schemas.microsoft.com/office/drawing/2014/main" id="{05049A46-07B5-450A-9D97-9AB90827F5CD}"/>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released labeled rows</a:t>
            </a:r>
          </a:p>
        </p:txBody>
      </p:sp>
      <p:sp>
        <p:nvSpPr>
          <p:cNvPr id="7" name="">
            <a:extLst xmlns:a="http://schemas.openxmlformats.org/drawingml/2006/main">
              <a:ext uri="{FF2B5EF4-FFF2-40B4-BE49-F238E27FC236}">
                <a16:creationId xmlns:a16="http://schemas.microsoft.com/office/drawing/2014/main" id="{9A1AA8E5-D4AB-4C10-9269-0391D0919160}"/>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249</a:t>
            </a:r>
          </a:p>
        </p:txBody>
      </p:sp>
      <p:sp>
        <p:nvSpPr>
          <p:cNvPr id="8" name="">
            <a:extLst xmlns:a="http://schemas.openxmlformats.org/drawingml/2006/main">
              <a:ext uri="{FF2B5EF4-FFF2-40B4-BE49-F238E27FC236}">
                <a16:creationId xmlns:a16="http://schemas.microsoft.com/office/drawing/2014/main" id="{264B21FE-76D4-48C7-917B-E1AF42BFBDBA}"/>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automated regression tests</a:t>
            </a:r>
          </a:p>
        </p:txBody>
      </p:sp>
      <p:sp>
        <p:nvSpPr>
          <p:cNvPr id="9" name="">
            <a:extLst xmlns:a="http://schemas.openxmlformats.org/drawingml/2006/main">
              <a:ext uri="{FF2B5EF4-FFF2-40B4-BE49-F238E27FC236}">
                <a16:creationId xmlns:a16="http://schemas.microsoft.com/office/drawing/2014/main" id="{3D0AC9AA-B7BF-4895-AB08-541EB4024DEB}"/>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3</a:t>
            </a:r>
          </a:p>
        </p:txBody>
      </p:sp>
      <p:sp>
        <p:nvSpPr>
          <p:cNvPr id="10" name="">
            <a:extLst xmlns:a="http://schemas.openxmlformats.org/drawingml/2006/main">
              <a:ext uri="{FF2B5EF4-FFF2-40B4-BE49-F238E27FC236}">
                <a16:creationId xmlns:a16="http://schemas.microsoft.com/office/drawing/2014/main" id="{4B703288-FB36-4BB7-A351-19BC27DB1DB6}"/>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byte-identical inference runs</a:t>
            </a:r>
          </a:p>
        </p:txBody>
      </p:sp>
      <p:sp>
        <p:nvSpPr>
          <p:cNvPr id="11" name="">
            <a:extLst xmlns:a="http://schemas.openxmlformats.org/drawingml/2006/main">
              <a:ext uri="{FF2B5EF4-FFF2-40B4-BE49-F238E27FC236}">
                <a16:creationId xmlns:a16="http://schemas.microsoft.com/office/drawing/2014/main" id="{588BDC76-8B0B-403A-B801-28D1B7ED4A40}"/>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7829D50C-D8A2-45A8-897C-10082E6554D1}"/>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0AC59BB1-EA8F-42E7-8421-3851A1715F5C}"/>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397DAD1-EA95-4861-BAF1-4B8568438CA7}"/>
              </a:ext>
            </a:extLst>
          </p:cNvPr>
          <p:cNvSpPr>
            <a:spLocks xmlns:a="http://schemas.openxmlformats.org/drawingml/2006/main" noGrp="1"/>
          </p:cNvSpPr>
          <p:nvPr/>
        </p:nvSpPr>
        <p:spPr>
          <a:xfrm xmlns:a="http://schemas.openxmlformats.org/drawingml/2006/main">
            <a:off x="24574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5" name="">
            <a:extLst xmlns:a="http://schemas.openxmlformats.org/drawingml/2006/main">
              <a:ext uri="{FF2B5EF4-FFF2-40B4-BE49-F238E27FC236}">
                <a16:creationId xmlns:a16="http://schemas.microsoft.com/office/drawing/2014/main" id="{C031D5D7-F883-4015-9C07-297919EE7431}"/>
              </a:ext>
            </a:extLst>
          </p:cNvPr>
          <p:cNvSpPr>
            <a:spLocks xmlns:a="http://schemas.openxmlformats.org/drawingml/2006/main" noGrp="1"/>
          </p:cNvSpPr>
          <p:nvPr/>
        </p:nvSpPr>
        <p:spPr>
          <a:xfrm xmlns:a="http://schemas.openxmlformats.org/drawingml/2006/main">
            <a:off x="45910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6" name="">
            <a:extLst xmlns:a="http://schemas.openxmlformats.org/drawingml/2006/main">
              <a:ext uri="{FF2B5EF4-FFF2-40B4-BE49-F238E27FC236}">
                <a16:creationId xmlns:a16="http://schemas.microsoft.com/office/drawing/2014/main" id="{BD2B6089-6177-4D2F-AFD3-6D89327060A5}"/>
              </a:ext>
            </a:extLst>
          </p:cNvPr>
          <p:cNvSpPr>
            <a:spLocks xmlns:a="http://schemas.openxmlformats.org/drawingml/2006/main" noGrp="1"/>
          </p:cNvSpPr>
          <p:nvPr/>
        </p:nvSpPr>
        <p:spPr>
          <a:xfrm xmlns:a="http://schemas.openxmlformats.org/drawingml/2006/main">
            <a:off x="67246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7" name="">
            <a:extLst xmlns:a="http://schemas.openxmlformats.org/drawingml/2006/main">
              <a:ext uri="{FF2B5EF4-FFF2-40B4-BE49-F238E27FC236}">
                <a16:creationId xmlns:a16="http://schemas.microsoft.com/office/drawing/2014/main" id="{AE27FDFA-5D0D-4D74-BA0F-FA7FDFE3F36A}"/>
              </a:ext>
            </a:extLst>
          </p:cNvPr>
          <p:cNvSpPr>
            <a:spLocks xmlns:a="http://schemas.openxmlformats.org/drawingml/2006/main" noGrp="1"/>
          </p:cNvSpPr>
          <p:nvPr/>
        </p:nvSpPr>
        <p:spPr>
          <a:xfrm xmlns:a="http://schemas.openxmlformats.org/drawingml/2006/main">
            <a:off x="88582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6FA8D2E3-F33F-442A-A477-EF3CECFE4059}"/>
              </a:ext>
            </a:extLst>
          </p:cNvPr>
          <p:cNvSpPr>
            <a:spLocks xmlns:a="http://schemas.openxmlformats.org/drawingml/2006/main" noGrp="1"/>
          </p:cNvSpPr>
          <p:nvPr/>
        </p:nvSpPr>
        <p:spPr>
          <a:xfrm xmlns:a="http://schemas.openxmlformats.org/drawingml/2006/main">
            <a:off x="7429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85FAC507-243B-45F5-9FB6-3E7403B0CD4B}"/>
              </a:ext>
            </a:extLst>
          </p:cNvPr>
          <p:cNvSpPr>
            <a:spLocks xmlns:a="http://schemas.openxmlformats.org/drawingml/2006/main" noGrp="1"/>
          </p:cNvSpPr>
          <p:nvPr/>
        </p:nvSpPr>
        <p:spPr>
          <a:xfrm xmlns:a="http://schemas.openxmlformats.org/drawingml/2006/main">
            <a:off x="8763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Released labels</a:t>
            </a:r>
          </a:p>
        </p:txBody>
      </p:sp>
      <p:sp>
        <p:nvSpPr>
          <p:cNvPr id="20" name="">
            <a:extLst xmlns:a="http://schemas.openxmlformats.org/drawingml/2006/main">
              <a:ext uri="{FF2B5EF4-FFF2-40B4-BE49-F238E27FC236}">
                <a16:creationId xmlns:a16="http://schemas.microsoft.com/office/drawing/2014/main" id="{06653A2D-471B-445D-8C38-8679B0EB94C7}"/>
              </a:ext>
            </a:extLst>
          </p:cNvPr>
          <p:cNvSpPr>
            <a:spLocks xmlns:a="http://schemas.openxmlformats.org/drawingml/2006/main" noGrp="1"/>
          </p:cNvSpPr>
          <p:nvPr/>
        </p:nvSpPr>
        <p:spPr>
          <a:xfrm xmlns:a="http://schemas.openxmlformats.org/drawingml/2006/main">
            <a:off x="8763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macro-F1 + label 0</a:t>
            </a:r>
          </a:p>
        </p:txBody>
      </p:sp>
      <p:sp>
        <p:nvSpPr>
          <p:cNvPr id="21" name="">
            <a:extLst xmlns:a="http://schemas.openxmlformats.org/drawingml/2006/main">
              <a:ext uri="{FF2B5EF4-FFF2-40B4-BE49-F238E27FC236}">
                <a16:creationId xmlns:a16="http://schemas.microsoft.com/office/drawing/2014/main" id="{CC0C5B61-1E1D-457F-B2E1-FFEEA5675179}"/>
              </a:ext>
            </a:extLst>
          </p:cNvPr>
          <p:cNvSpPr>
            <a:spLocks xmlns:a="http://schemas.openxmlformats.org/drawingml/2006/main" noGrp="1"/>
          </p:cNvSpPr>
          <p:nvPr/>
        </p:nvSpPr>
        <p:spPr>
          <a:xfrm xmlns:a="http://schemas.openxmlformats.org/drawingml/2006/main">
            <a:off x="28765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2" name="">
            <a:extLst xmlns:a="http://schemas.openxmlformats.org/drawingml/2006/main">
              <a:ext uri="{FF2B5EF4-FFF2-40B4-BE49-F238E27FC236}">
                <a16:creationId xmlns:a16="http://schemas.microsoft.com/office/drawing/2014/main" id="{13AF7728-E64D-4A47-B229-2AD4932B324D}"/>
              </a:ext>
            </a:extLst>
          </p:cNvPr>
          <p:cNvSpPr>
            <a:spLocks xmlns:a="http://schemas.openxmlformats.org/drawingml/2006/main" noGrp="1"/>
          </p:cNvSpPr>
          <p:nvPr/>
        </p:nvSpPr>
        <p:spPr>
          <a:xfrm xmlns:a="http://schemas.openxmlformats.org/drawingml/2006/main">
            <a:off x="30099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Regression suite</a:t>
            </a:r>
          </a:p>
        </p:txBody>
      </p:sp>
      <p:sp>
        <p:nvSpPr>
          <p:cNvPr id="23" name="">
            <a:extLst xmlns:a="http://schemas.openxmlformats.org/drawingml/2006/main">
              <a:ext uri="{FF2B5EF4-FFF2-40B4-BE49-F238E27FC236}">
                <a16:creationId xmlns:a16="http://schemas.microsoft.com/office/drawing/2014/main" id="{375A5280-EC9F-4D70-B7E6-CDB50D4ED65B}"/>
              </a:ext>
            </a:extLst>
          </p:cNvPr>
          <p:cNvSpPr>
            <a:spLocks xmlns:a="http://schemas.openxmlformats.org/drawingml/2006/main" noGrp="1"/>
          </p:cNvSpPr>
          <p:nvPr/>
        </p:nvSpPr>
        <p:spPr>
          <a:xfrm xmlns:a="http://schemas.openxmlformats.org/drawingml/2006/main">
            <a:off x="30099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behavior preserved</a:t>
            </a:r>
          </a:p>
        </p:txBody>
      </p:sp>
      <p:sp>
        <p:nvSpPr>
          <p:cNvPr id="24" name="">
            <a:extLst xmlns:a="http://schemas.openxmlformats.org/drawingml/2006/main">
              <a:ext uri="{FF2B5EF4-FFF2-40B4-BE49-F238E27FC236}">
                <a16:creationId xmlns:a16="http://schemas.microsoft.com/office/drawing/2014/main" id="{E564E088-86FB-4B00-ACA6-707780E24F97}"/>
              </a:ext>
            </a:extLst>
          </p:cNvPr>
          <p:cNvSpPr>
            <a:spLocks xmlns:a="http://schemas.openxmlformats.org/drawingml/2006/main" noGrp="1"/>
          </p:cNvSpPr>
          <p:nvPr/>
        </p:nvSpPr>
        <p:spPr>
          <a:xfrm xmlns:a="http://schemas.openxmlformats.org/drawingml/2006/main">
            <a:off x="50101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5" name="">
            <a:extLst xmlns:a="http://schemas.openxmlformats.org/drawingml/2006/main">
              <a:ext uri="{FF2B5EF4-FFF2-40B4-BE49-F238E27FC236}">
                <a16:creationId xmlns:a16="http://schemas.microsoft.com/office/drawing/2014/main" id="{8C7611AC-ADF7-44AE-9DB6-17FD7144F0B9}"/>
              </a:ext>
            </a:extLst>
          </p:cNvPr>
          <p:cNvSpPr>
            <a:spLocks xmlns:a="http://schemas.openxmlformats.org/drawingml/2006/main" noGrp="1"/>
          </p:cNvSpPr>
          <p:nvPr/>
        </p:nvSpPr>
        <p:spPr>
          <a:xfrm xmlns:a="http://schemas.openxmlformats.org/drawingml/2006/main">
            <a:off x="51435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Hash equality</a:t>
            </a:r>
          </a:p>
        </p:txBody>
      </p:sp>
      <p:sp>
        <p:nvSpPr>
          <p:cNvPr id="26" name="">
            <a:extLst xmlns:a="http://schemas.openxmlformats.org/drawingml/2006/main">
              <a:ext uri="{FF2B5EF4-FFF2-40B4-BE49-F238E27FC236}">
                <a16:creationId xmlns:a16="http://schemas.microsoft.com/office/drawing/2014/main" id="{FC78B84C-7EC7-4962-8407-09CA6DACC0BF}"/>
              </a:ext>
            </a:extLst>
          </p:cNvPr>
          <p:cNvSpPr>
            <a:spLocks xmlns:a="http://schemas.openxmlformats.org/drawingml/2006/main" noGrp="1"/>
          </p:cNvSpPr>
          <p:nvPr/>
        </p:nvSpPr>
        <p:spPr>
          <a:xfrm xmlns:a="http://schemas.openxmlformats.org/drawingml/2006/main">
            <a:off x="51435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predictions</a:t>
            </a:r>
          </a:p>
        </p:txBody>
      </p:sp>
      <p:sp>
        <p:nvSpPr>
          <p:cNvPr id="27" name="">
            <a:extLst xmlns:a="http://schemas.openxmlformats.org/drawingml/2006/main">
              <a:ext uri="{FF2B5EF4-FFF2-40B4-BE49-F238E27FC236}">
                <a16:creationId xmlns:a16="http://schemas.microsoft.com/office/drawing/2014/main" id="{533904A5-743B-41F1-A58B-43C5E77DA6BF}"/>
              </a:ext>
            </a:extLst>
          </p:cNvPr>
          <p:cNvSpPr>
            <a:spLocks xmlns:a="http://schemas.openxmlformats.org/drawingml/2006/main" noGrp="1"/>
          </p:cNvSpPr>
          <p:nvPr/>
        </p:nvSpPr>
        <p:spPr>
          <a:xfrm xmlns:a="http://schemas.openxmlformats.org/drawingml/2006/main">
            <a:off x="71437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8" name="">
            <a:extLst xmlns:a="http://schemas.openxmlformats.org/drawingml/2006/main">
              <a:ext uri="{FF2B5EF4-FFF2-40B4-BE49-F238E27FC236}">
                <a16:creationId xmlns:a16="http://schemas.microsoft.com/office/drawing/2014/main" id="{09C81864-2CB0-43B7-8A47-A68C1C005237}"/>
              </a:ext>
            </a:extLst>
          </p:cNvPr>
          <p:cNvSpPr>
            <a:spLocks xmlns:a="http://schemas.openxmlformats.org/drawingml/2006/main" noGrp="1"/>
          </p:cNvSpPr>
          <p:nvPr/>
        </p:nvSpPr>
        <p:spPr>
          <a:xfrm xmlns:a="http://schemas.openxmlformats.org/drawingml/2006/main">
            <a:off x="72771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T4×2 runtime</a:t>
            </a:r>
          </a:p>
        </p:txBody>
      </p:sp>
      <p:sp>
        <p:nvSpPr>
          <p:cNvPr id="29" name="">
            <a:extLst xmlns:a="http://schemas.openxmlformats.org/drawingml/2006/main">
              <a:ext uri="{FF2B5EF4-FFF2-40B4-BE49-F238E27FC236}">
                <a16:creationId xmlns:a16="http://schemas.microsoft.com/office/drawing/2014/main" id="{49980477-90FD-4BAA-8CF9-6363F296D606}"/>
              </a:ext>
            </a:extLst>
          </p:cNvPr>
          <p:cNvSpPr>
            <a:spLocks xmlns:a="http://schemas.openxmlformats.org/drawingml/2006/main" noGrp="1"/>
          </p:cNvSpPr>
          <p:nvPr/>
        </p:nvSpPr>
        <p:spPr>
          <a:xfrm xmlns:a="http://schemas.openxmlformats.org/drawingml/2006/main">
            <a:off x="72771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5,000 rows in 3:52:02</a:t>
            </a:r>
          </a:p>
        </p:txBody>
      </p:sp>
      <p:sp>
        <p:nvSpPr>
          <p:cNvPr id="30" name="">
            <a:extLst xmlns:a="http://schemas.openxmlformats.org/drawingml/2006/main">
              <a:ext uri="{FF2B5EF4-FFF2-40B4-BE49-F238E27FC236}">
                <a16:creationId xmlns:a16="http://schemas.microsoft.com/office/drawing/2014/main" id="{DAFC78E8-8B93-4CFA-B394-C1EFECCCFE78}"/>
              </a:ext>
            </a:extLst>
          </p:cNvPr>
          <p:cNvSpPr>
            <a:spLocks xmlns:a="http://schemas.openxmlformats.org/drawingml/2006/main" noGrp="1"/>
          </p:cNvSpPr>
          <p:nvPr/>
        </p:nvSpPr>
        <p:spPr>
          <a:xfrm xmlns:a="http://schemas.openxmlformats.org/drawingml/2006/main">
            <a:off x="9277350" y="4057650"/>
            <a:ext cx="1714500" cy="1047750"/>
          </a:xfrm>
          <a:prstGeom xmlns:a="http://schemas.openxmlformats.org/drawingml/2006/main" prst="roundRect">
            <a:avLst>
              <a:gd name="adj" fmla="val 12727"/>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ECC142BB-B95E-47C3-8AC5-D719E2CF1714}"/>
              </a:ext>
            </a:extLst>
          </p:cNvPr>
          <p:cNvSpPr>
            <a:spLocks xmlns:a="http://schemas.openxmlformats.org/drawingml/2006/main" noGrp="1"/>
          </p:cNvSpPr>
          <p:nvPr/>
        </p:nvSpPr>
        <p:spPr>
          <a:xfrm xmlns:a="http://schemas.openxmlformats.org/drawingml/2006/main">
            <a:off x="94107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D59B32"/>
                </a:solidFill>
              </a:defRPr>
            </a:pPr>
            <a:r>
              <a:rPr sz="1425" b="1">
                <a:solidFill>
                  <a:srgbClr val="D59B32"/>
                </a:solidFill>
              </a:rPr>
              <a:t>Leaderboard</a:t>
            </a:r>
          </a:p>
        </p:txBody>
      </p:sp>
      <p:sp>
        <p:nvSpPr>
          <p:cNvPr id="32" name="">
            <a:extLst xmlns:a="http://schemas.openxmlformats.org/drawingml/2006/main">
              <a:ext uri="{FF2B5EF4-FFF2-40B4-BE49-F238E27FC236}">
                <a16:creationId xmlns:a16="http://schemas.microsoft.com/office/drawing/2014/main" id="{16BC243C-310A-40F1-A23F-0BF4410891B4}"/>
              </a:ext>
            </a:extLst>
          </p:cNvPr>
          <p:cNvSpPr>
            <a:spLocks xmlns:a="http://schemas.openxmlformats.org/drawingml/2006/main" noGrp="1"/>
          </p:cNvSpPr>
          <p:nvPr/>
        </p:nvSpPr>
        <p:spPr>
          <a:xfrm xmlns:a="http://schemas.openxmlformats.org/drawingml/2006/main">
            <a:off x="94107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0.90144; rank 7/32</a:t>
            </a:r>
          </a:p>
        </p:txBody>
      </p:sp>
      <p:sp>
        <p:nvSpPr>
          <p:cNvPr id="33" name="">
            <a:extLst xmlns:a="http://schemas.openxmlformats.org/drawingml/2006/main">
              <a:ext uri="{FF2B5EF4-FFF2-40B4-BE49-F238E27FC236}">
                <a16:creationId xmlns:a16="http://schemas.microsoft.com/office/drawing/2014/main" id="{A3AC2E9A-D42A-4A34-9DDA-ABA050314487}"/>
              </a:ext>
            </a:extLst>
          </p:cNvPr>
          <p:cNvSpPr>
            <a:spLocks xmlns:a="http://schemas.openxmlformats.org/drawingml/2006/main" noGrp="1"/>
          </p:cNvSpPr>
          <p:nvPr/>
        </p:nvSpPr>
        <p:spPr>
          <a:xfrm xmlns:a="http://schemas.openxmlformats.org/drawingml/2006/main">
            <a:off x="1524000" y="5543550"/>
            <a:ext cx="9144000" cy="514350"/>
          </a:xfrm>
          <a:prstGeom xmlns:a="http://schemas.openxmlformats.org/drawingml/2006/main" prst="roundRect">
            <a:avLst>
              <a:gd name="adj" fmla="val 22222"/>
            </a:avLst>
          </a:prstGeom>
          <a:solidFill xmlns:a="http://schemas.openxmlformats.org/drawingml/2006/main">
            <a:srgbClr val="E7EEF4"/>
          </a:solidFill>
          <a:ln xmlns:a="http://schemas.openxmlformats.org/drawingml/2006/main" w="9525">
            <a:solidFill>
              <a:srgbClr val="1F5A7A"/>
            </a:solidFill>
            <a:prstDash val="solid"/>
          </a:ln>
        </p:spPr>
      </p:sp>
      <p:sp>
        <p:nvSpPr>
          <p:cNvPr id="34" name="">
            <a:extLst xmlns:a="http://schemas.openxmlformats.org/drawingml/2006/main">
              <a:ext uri="{FF2B5EF4-FFF2-40B4-BE49-F238E27FC236}">
                <a16:creationId xmlns:a16="http://schemas.microsoft.com/office/drawing/2014/main" id="{889EFA5D-820B-45C1-BF34-43618FD75B69}"/>
              </a:ext>
            </a:extLst>
          </p:cNvPr>
          <p:cNvSpPr>
            <a:spLocks xmlns:a="http://schemas.openxmlformats.org/drawingml/2006/main" noGrp="1"/>
          </p:cNvSpPr>
          <p:nvPr/>
        </p:nvSpPr>
        <p:spPr>
          <a:xfrm xmlns:a="http://schemas.openxmlformats.org/drawingml/2006/main">
            <a:off x="1752600" y="5686425"/>
            <a:ext cx="8686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Accuracy ≠ reproducibility ≠ output integrity ≠ runtime; each claim needs its own evidence.</a:t>
            </a:r>
          </a:p>
        </p:txBody>
      </p:sp>
      <p:sp>
        <p:nvSpPr>
          <p:cNvPr id="35" name="">
            <a:extLst xmlns:a="http://schemas.openxmlformats.org/drawingml/2006/main">
              <a:ext uri="{FF2B5EF4-FFF2-40B4-BE49-F238E27FC236}">
                <a16:creationId xmlns:a16="http://schemas.microsoft.com/office/drawing/2014/main" id="{66E131D1-0821-437A-9046-5B6D7076AA4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source-12">
            <a:extLst xmlns:a="http://schemas.openxmlformats.org/drawingml/2006/main">
              <a:ext uri="{FF2B5EF4-FFF2-40B4-BE49-F238E27FC236}">
                <a16:creationId xmlns:a16="http://schemas.microsoft.com/office/drawing/2014/main" id="{0EE445F5-A6B8-4771-8E53-AF9BF4D9763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Released labels  [7] regressions  [8] runtime  [9] Phase 2 results</a:t>
            </a:r>
          </a:p>
        </p:txBody>
      </p:sp>
      <p:sp>
        <p:nvSpPr>
          <p:cNvPr id="37" name="page-12">
            <a:extLst xmlns:a="http://schemas.openxmlformats.org/drawingml/2006/main">
              <a:ext uri="{FF2B5EF4-FFF2-40B4-BE49-F238E27FC236}">
                <a16:creationId xmlns:a16="http://schemas.microsoft.com/office/drawing/2014/main" id="{F85D3633-A603-4AAD-A9E8-B6A038D9750F}"/>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19</a:t>
            </a:r>
          </a:p>
        </p:txBody>
      </p:sp>
    </p:spTree>
    <p:extLst>
      <p:ext uri="{BB962C8B-B14F-4D97-AF65-F5344CB8AC3E}">
        <p14:creationId xmlns:p14="http://schemas.microsoft.com/office/powerpoint/2010/main" val="1722569808"/>
      </p:ext>
    </p:extLst>
  </p:cSld>
</p:sld>
</file>

<file path=ppt/slides/slide2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C6C590-AC8D-4D41-809E-7E46F3144D4D}"/>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
            <a:extLst xmlns:a="http://schemas.openxmlformats.org/drawingml/2006/main">
              <a:ext uri="{FF2B5EF4-FFF2-40B4-BE49-F238E27FC236}">
                <a16:creationId xmlns:a16="http://schemas.microsoft.com/office/drawing/2014/main" id="{7701A439-0284-41A8-82FA-93596169CFD0}"/>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0F172A"/>
                </a:solidFill>
              </a:defRPr>
            </a:pPr>
            <a:r>
              <a:rPr sz="3300" b="1">
                <a:solidFill>
                  <a:srgbClr val="0F172A"/>
                </a:solidFill>
              </a:rPr>
              <a:t>Phase 2 defines a focused</a:t>
            </a:r>
          </a:p>
          <a:p xmlns:a="http://schemas.openxmlformats.org/drawingml/2006/main">
            <a:pPr algn="l">
              <a:buNone/>
              <a:defRPr sz="3300" b="1">
                <a:solidFill>
                  <a:srgbClr val="0F172A"/>
                </a:solidFill>
              </a:defRPr>
            </a:pPr>
            <a:r>
              <a:rPr sz="3300" b="1">
                <a:solidFill>
                  <a:srgbClr val="0F172A"/>
                </a:solidFill>
              </a:rPr>
              <a:t>next-experiment queue</a:t>
            </a:r>
          </a:p>
        </p:txBody>
      </p:sp>
      <p:sp>
        <p:nvSpPr>
          <p:cNvPr id="3" name="">
            <a:extLst xmlns:a="http://schemas.openxmlformats.org/drawingml/2006/main">
              <a:ext uri="{FF2B5EF4-FFF2-40B4-BE49-F238E27FC236}">
                <a16:creationId xmlns:a16="http://schemas.microsoft.com/office/drawing/2014/main" id="{E39312FA-DAE7-402C-9B1B-72ABD0FA420F}"/>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9C9F5B7B-F077-4CFB-99B4-3607107AEA6E}"/>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2A8C82"/>
                </a:solidFill>
              </a:defRPr>
            </a:pPr>
            <a:r>
              <a:rPr sz="1650" b="1">
                <a:solidFill>
                  <a:srgbClr val="2A8C82"/>
                </a:solidFill>
              </a:rPr>
              <a:t>Observed shift</a:t>
            </a:r>
          </a:p>
        </p:txBody>
      </p:sp>
      <p:sp>
        <p:nvSpPr>
          <p:cNvPr id="5" name="">
            <a:extLst xmlns:a="http://schemas.openxmlformats.org/drawingml/2006/main">
              <a:ext uri="{FF2B5EF4-FFF2-40B4-BE49-F238E27FC236}">
                <a16:creationId xmlns:a16="http://schemas.microsoft.com/office/drawing/2014/main" id="{A34508EC-ADC8-47BD-944D-F8E4B8A94CBA}"/>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Deterministic coverage: 93.72% → 4.14%.</a:t>
            </a:r>
          </a:p>
          <a:p xmlns:a="http://schemas.openxmlformats.org/drawingml/2006/main">
            <a:pPr algn="l">
              <a:buNone/>
              <a:defRPr sz="1275" b="0">
                <a:solidFill>
                  <a:srgbClr val="0F172A"/>
                </a:solidFill>
              </a:defRPr>
            </a:pPr>
            <a:r>
              <a:rPr sz="1275" b="0">
                <a:solidFill>
                  <a:srgbClr val="0F172A"/>
                </a:solidFill>
              </a:rPr>
              <a:t>Judge handled 4,793 / 5,000 rows.</a:t>
            </a:r>
          </a:p>
          <a:p xmlns:a="http://schemas.openxmlformats.org/drawingml/2006/main">
            <a:pPr algn="l">
              <a:buNone/>
              <a:defRPr sz="1275" b="0">
                <a:solidFill>
                  <a:srgbClr val="0F172A"/>
                </a:solidFill>
              </a:defRPr>
            </a:pPr>
            <a:r>
              <a:rPr sz="1275" b="0">
                <a:solidFill>
                  <a:srgbClr val="0F172A"/>
                </a:solidFill>
              </a:rPr>
              <a:t>Official score: 0.90144; rank 7/32.</a:t>
            </a:r>
          </a:p>
        </p:txBody>
      </p:sp>
      <p:sp>
        <p:nvSpPr>
          <p:cNvPr id="6" name="">
            <a:extLst xmlns:a="http://schemas.openxmlformats.org/drawingml/2006/main">
              <a:ext uri="{FF2B5EF4-FFF2-40B4-BE49-F238E27FC236}">
                <a16:creationId xmlns:a16="http://schemas.microsoft.com/office/drawing/2014/main" id="{6C419DA7-6A87-4599-97A5-DC8565EA9D06}"/>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6D87793E-5438-4392-A581-FB5DDAEC7C1C}"/>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B5483A"/>
                </a:solidFill>
              </a:defRPr>
            </a:pPr>
            <a:r>
              <a:rPr sz="1650" b="1">
                <a:solidFill>
                  <a:srgbClr val="B5483A"/>
                </a:solidFill>
              </a:rPr>
              <a:t>Next experiments</a:t>
            </a:r>
          </a:p>
        </p:txBody>
      </p:sp>
      <p:sp>
        <p:nvSpPr>
          <p:cNvPr id="8" name="">
            <a:extLst xmlns:a="http://schemas.openxmlformats.org/drawingml/2006/main">
              <a:ext uri="{FF2B5EF4-FFF2-40B4-BE49-F238E27FC236}">
                <a16:creationId xmlns:a16="http://schemas.microsoft.com/office/drawing/2014/main" id="{F9D7D7CC-E901-4166-8780-28A3997F008B}"/>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If labels are released, cluster judged-tail errors.</a:t>
            </a:r>
          </a:p>
          <a:p xmlns:a="http://schemas.openxmlformats.org/drawingml/2006/main">
            <a:pPr algn="l">
              <a:buNone/>
              <a:defRPr sz="1275" b="0">
                <a:solidFill>
                  <a:srgbClr val="0F172A"/>
                </a:solidFill>
              </a:defRPr>
            </a:pPr>
            <a:r>
              <a:rPr sz="1275" b="0">
                <a:solidFill>
                  <a:srgbClr val="0F172A"/>
                </a:solidFill>
              </a:rPr>
              <a:t>Calibrate abstention and judge votes.</a:t>
            </a:r>
          </a:p>
          <a:p xmlns:a="http://schemas.openxmlformats.org/drawingml/2006/main">
            <a:pPr algn="l">
              <a:buNone/>
              <a:defRPr sz="1275" b="0">
                <a:solidFill>
                  <a:srgbClr val="0F172A"/>
                </a:solidFill>
              </a:defRPr>
            </a:pPr>
            <a:r>
              <a:rPr sz="1275" b="0">
                <a:solidFill>
                  <a:srgbClr val="0F172A"/>
                </a:solidFill>
              </a:rPr>
              <a:t>Add licensed civic and news evidence.</a:t>
            </a:r>
          </a:p>
        </p:txBody>
      </p:sp>
      <p:sp>
        <p:nvSpPr>
          <p:cNvPr id="9" name="">
            <a:extLst xmlns:a="http://schemas.openxmlformats.org/drawingml/2006/main">
              <a:ext uri="{FF2B5EF4-FFF2-40B4-BE49-F238E27FC236}">
                <a16:creationId xmlns:a16="http://schemas.microsoft.com/office/drawing/2014/main" id="{8DE7FAC4-CFA3-447F-9C4E-1476C1FCDEB3}"/>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E87CC63-2335-46D0-A6C8-2AD8472D2D98}"/>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D59B32"/>
                </a:solidFill>
              </a:defRPr>
            </a:pPr>
            <a:r>
              <a:rPr sz="1650" b="1">
                <a:solidFill>
                  <a:srgbClr val="D59B32"/>
                </a:solidFill>
              </a:rPr>
              <a:t>Rejected shortcuts</a:t>
            </a:r>
          </a:p>
        </p:txBody>
      </p:sp>
      <p:sp>
        <p:nvSpPr>
          <p:cNvPr id="11" name="">
            <a:extLst xmlns:a="http://schemas.openxmlformats.org/drawingml/2006/main">
              <a:ext uri="{FF2B5EF4-FFF2-40B4-BE49-F238E27FC236}">
                <a16:creationId xmlns:a16="http://schemas.microsoft.com/office/drawing/2014/main" id="{538A2B92-C66B-49B4-9A54-4B7E3F42E171}"/>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Do not force fuzzy matches.</a:t>
            </a:r>
          </a:p>
          <a:p xmlns:a="http://schemas.openxmlformats.org/drawingml/2006/main">
            <a:pPr algn="l">
              <a:buNone/>
              <a:defRPr sz="1275" b="0">
                <a:solidFill>
                  <a:srgbClr val="0F172A"/>
                </a:solidFill>
              </a:defRPr>
            </a:pPr>
            <a:r>
              <a:rPr sz="1275" b="0">
                <a:solidFill>
                  <a:srgbClr val="0F172A"/>
                </a:solidFill>
              </a:rPr>
              <a:t>Do not fine-tune on only 299 labels.</a:t>
            </a:r>
          </a:p>
          <a:p xmlns:a="http://schemas.openxmlformats.org/drawingml/2006/main">
            <a:pPr algn="l">
              <a:buNone/>
              <a:defRPr sz="1275" b="0">
                <a:solidFill>
                  <a:srgbClr val="0F172A"/>
                </a:solidFill>
              </a:defRPr>
            </a:pPr>
            <a:r>
              <a:rPr sz="1275" b="0">
                <a:solidFill>
                  <a:srgbClr val="0F172A"/>
                </a:solidFill>
              </a:rPr>
              <a:t>Do not call runtime an accuracy result.</a:t>
            </a:r>
          </a:p>
        </p:txBody>
      </p:sp>
      <p:sp>
        <p:nvSpPr>
          <p:cNvPr id="12" name="">
            <a:extLst xmlns:a="http://schemas.openxmlformats.org/drawingml/2006/main">
              <a:ext uri="{FF2B5EF4-FFF2-40B4-BE49-F238E27FC236}">
                <a16:creationId xmlns:a16="http://schemas.microsoft.com/office/drawing/2014/main" id="{8744B878-38BB-41E7-9CDB-A47574C43C45}"/>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1F5A7A"/>
                </a:solidFill>
              </a:defRPr>
            </a:pPr>
            <a:r>
              <a:rPr sz="2700" b="1">
                <a:solidFill>
                  <a:srgbClr val="1F5A7A"/>
                </a:solidFill>
              </a:rPr>
              <a:t>Decision</a:t>
            </a:r>
          </a:p>
        </p:txBody>
      </p:sp>
      <p:sp>
        <p:nvSpPr>
          <p:cNvPr id="13" name="">
            <a:extLst xmlns:a="http://schemas.openxmlformats.org/drawingml/2006/main">
              <a:ext uri="{FF2B5EF4-FFF2-40B4-BE49-F238E27FC236}">
                <a16:creationId xmlns:a16="http://schemas.microsoft.com/office/drawing/2014/main" id="{B5222930-A972-4E65-8A69-CFE761388F8B}"/>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350" b="1">
                <a:solidFill>
                  <a:srgbClr val="526174"/>
                </a:solidFill>
              </a:defRPr>
            </a:pPr>
            <a:r>
              <a:rPr sz="1350" b="1">
                <a:solidFill>
                  <a:srgbClr val="526174"/>
                </a:solidFill>
              </a:rPr>
              <a:t>Keep the conservative admission contract; optimize the judge tail only after Phase 2 error labels exist.</a:t>
            </a:r>
          </a:p>
        </p:txBody>
      </p:sp>
      <p:sp>
        <p:nvSpPr>
          <p:cNvPr id="14" name="">
            <a:extLst xmlns:a="http://schemas.openxmlformats.org/drawingml/2006/main">
              <a:ext uri="{FF2B5EF4-FFF2-40B4-BE49-F238E27FC236}">
                <a16:creationId xmlns:a16="http://schemas.microsoft.com/office/drawing/2014/main" id="{F8781430-71AC-4AC8-AAE8-227D6612A7A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9D17B9C4-5AFB-4BEB-9DA4-65B1E25650A8}"/>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Frozen v91  [8] Runtime report  [9] Official Phase 2 results</a:t>
            </a:r>
          </a:p>
        </p:txBody>
      </p:sp>
      <p:sp>
        <p:nvSpPr>
          <p:cNvPr id="16" name="">
            <a:extLst xmlns:a="http://schemas.openxmlformats.org/drawingml/2006/main">
              <a:ext uri="{FF2B5EF4-FFF2-40B4-BE49-F238E27FC236}">
                <a16:creationId xmlns:a16="http://schemas.microsoft.com/office/drawing/2014/main" id="{37D8D58A-E0D4-4368-A6D1-D7F564E3069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20</a:t>
            </a:r>
          </a:p>
        </p:txBody>
      </p:sp>
    </p:spTree>
    <p:extLst>
      <p:ext uri="{BB962C8B-B14F-4D97-AF65-F5344CB8AC3E}">
        <p14:creationId xmlns:p14="http://schemas.microsoft.com/office/powerpoint/2010/main" val="18773956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2026-07-23T10:26:04.9840000Z</dcterms:created>
  <dcterms:modified xsi:type="dcterms:W3CDTF">2026-07-23T10:26:04.9840000Z</dcterms:modified>
</coreProperties>
</file>